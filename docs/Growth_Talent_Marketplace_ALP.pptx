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3-year total cost, ₱ millions</c:v>
                </c:pt>
              </c:strCache>
            </c:strRef>
          </c:tx>
          <c:spPr>
            <a:solidFill>
              <a:srgbClr val="C00000"/>
            </a:solidFill>
            <a:effectLst/>
          </c:spPr>
          <c:invertIfNegative val="0"/>
          <c:dLbls>
            <c:numFmt formatCode="&quot;₱&quot;0.00&quot;M&quot;" sourceLinked="0"/>
            <c:txPr>
              <a:bodyPr/>
              <a:lstStyle/>
              <a:p>
                <a:pPr>
                  <a:defRPr b="1" i="0" strike="noStrike" sz="14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94A3B8"/>
              </a:solidFill>
              <a:effectLst/>
            </c:spPr>
          </c:dPt>
          <c:dPt>
            <c:idx val="2"/>
            <c:invertIfNegative val="0"/>
            <c:bubble3D val="0"/>
            <c:spPr>
              <a:solidFill>
                <a:srgbClr val="94A3B8"/>
              </a:solidFill>
              <a:effectLst/>
            </c:spPr>
          </c:dPt>
          <c:cat>
            <c:multiLvlStrRef>
              <c:f>Sheet1!$A$2:$A$4</c:f>
              <c:multiLvlStrCache>
                <c:ptCount val="3"/>
                <c:lvl>
                  <c:pt idx="0">
                    <c:v>Growth — build in-house</c:v>
                  </c:pt>
                  <c:pt idx="1">
                    <c:v>External platform — low band</c:v>
                  </c:pt>
                  <c:pt idx="2">
                    <c:v>External platform — high band</c:v>
                  </c:pt>
                </c:lvl>
              </c:multiLvlStrCache>
            </c:multiLvlStrRef>
          </c:cat>
          <c:val>
            <c:numRef>
              <c:f>Sheet1!$B$2:$B$4</c:f>
              <c:numCache>
                <c:formatCode>General</c:formatCode>
                <c:ptCount val="3"/>
                <c:pt idx="0">
                  <c:v>2.05</c:v>
                </c:pt>
                <c:pt idx="1">
                  <c:v>10.68</c:v>
                </c:pt>
                <c:pt idx="2">
                  <c:v>29.28</c:v>
                </c:pt>
              </c:numCache>
            </c:numRef>
          </c:val>
        </c:ser>
        <c:dLbls>
          <c:numFmt formatCode="&quot;₱&quot;0.00&quot;M&quot;" sourceLinked="0"/>
          <c:txPr>
            <a:bodyPr/>
            <a:lstStyle/>
            <a:p>
              <a:pPr>
                <a:defRPr b="1" i="0" strike="noStrike" sz="1400" u="none">
                  <a:solidFill>
                    <a:srgbClr val="0F172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3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the product. "Growth is already available at Home Credit — you just cannot see it." Everything after this slide is about the plumbing that makes it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reads nothing else, this is the slide. Lead with the fill rate, not engagement — our eNPS is healthy and saying so first buys credibility. Land on the one-liner.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eNPS number out loud before the CPO does. The credibility of the whole deck rests on not overclaiming an engagement problem we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37% figure is the one that reframes the argument. When our people do apply internally, more than a third are hired — so the screening bar is not the obstacle. Almost nobody applies. That is a visibility and readiness problem, and it is fixable.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now". Every number here is a cost we are already paying. Nothing on it depends on the project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₱3.9M/yr is the gross avoided-cost prize on Bands B and C at the 30% benchmark. The cost-benefit slides later use a more conservative, attribution-safe subset of this. Say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pre-empt "is this just an HR fashion". The answer is that half the market is already doing it, and the published failure mode — intent without a route — is exactly what our own funnel data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eight — not six. People &amp; Culture, Deep Focus on Tech, and Expand Horizons all depend on internal talent supply. Say which three and why,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CPO. Four of five HR priorities, and it lands as Tier 0 self-service rather than new headcount for HR to absorb.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build-versus-duplicate decision is the most defensible thing in the design. We deliberately gave up owning the vacancy flow so that we do not fragment recruitment — and we solved the attribution problem that decision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once, slowly. The panel needs to believe an employee can get from nothing to a match in a lunch break, and that a manager is never bypassed.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a two-minute live walkthrough here if the panel wants it. The point of showing the real thing is that the build estimate on the next slides is not hypothetical — a working version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the buy case properly. Speed and maturity are genuinely theirs. Then make the cost and ownership argument, which is genuinely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IDP number is the strongest demand evidence in the deck because our own people wrote it down unprompted: 630 of 1,249 asked for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deck carried a ₱4.2M placeholder with "IT to scope" against it. This replaces it with a bottom-up estimate from a completed BRD, which is why the number moved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two italic rows. Volunteering that the softest input can be deleted entirely and the case still clears at 2.0 is what makes the other numbers believable. If challenged on the drop from the earlier 6.8: that used our planning estimate; this uses IT's costed man-hours, and the case still clears every stress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scrupulous that the vendor band is a planning estimate, not a quote — none of them publish per-seat pricing and at 1,113 seats the binding constraint is minimum contract value. The break-even framing survives even if the band is wrong by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presses on one risk, it will be this one. Do not defend it with communications. Defend it with the incentive change, and say plainly that we will report Talent Exporter numbers to ExCo.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a stop condition out loud is worth more than any target on this slide. It tells the panel this is a measured pilot, not a programme looking for a reason to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two gates. Saying "we will not start the build until recruitment and the DPO have both said yes in writing" is the single most reassuring sentence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two free asks. They are what make the third one safe: if either gate fails, we have spent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not on a summary.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ratio jumps at 1,991: attributed hires scale with the non-mass population while the build does not move at all. That is the least tested assumption in the model — say so before someone else does, and offer the 1,113 number as the one we are actually asking approval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"can people really jump into management?". Band B is a reachable step up; Band C is a sideways move by people who are already managers. Neither requires a heroic leap.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4000"/>
          </a:blip>
          <a:stretch>
            <a:fillRect/>
          </a:stretch>
        </p:blipFill>
        <p:spPr>
          <a:xfrm>
            <a:off x="502920" y="1481328"/>
            <a:ext cx="868680" cy="868680"/>
          </a:xfrm>
          <a:prstGeom prst="rect">
            <a:avLst/>
          </a:prstGeom>
        </p:spPr>
      </p:pic>
      <p:sp>
        <p:nvSpPr>
          <p:cNvPr id="3" name="Text 0"/>
          <p:cNvSpPr txBox="1"/>
          <p:nvPr/>
        </p:nvSpPr>
        <p:spPr>
          <a:xfrm>
            <a:off x="502920" y="2487168"/>
            <a:ext cx="10058400" cy="960120"/>
          </a:xfrm>
          <a:prstGeom prst="rect">
            <a:avLst/>
          </a:prstGeom>
          <a:noFill/>
          <a:ln/>
        </p:spPr>
        <p:txBody>
          <a:bodyPr wrap="square" lIns="0" tIns="0" rIns="0" bIns="0" rtlCol="0" anchor="ctr"/>
          <a:lstStyle/>
          <a:p>
            <a:pPr indent="0" marL="0">
              <a:buNone/>
            </a:pPr>
            <a:r>
              <a:rPr lang="en-US" sz="6000" b="1" spc="200" kern="0" dirty="0">
                <a:solidFill>
                  <a:srgbClr val="FFFFFF"/>
                </a:solidFill>
                <a:latin typeface="Arial" pitchFamily="34" charset="0"/>
                <a:ea typeface="Arial" pitchFamily="34" charset="-122"/>
                <a:cs typeface="Arial" pitchFamily="34" charset="-120"/>
              </a:rPr>
              <a:t>GROWTH</a:t>
            </a:r>
            <a:endParaRPr lang="en-US" sz="6000" dirty="0"/>
          </a:p>
        </p:txBody>
      </p:sp>
      <p:sp>
        <p:nvSpPr>
          <p:cNvPr id="4" name="Text 1"/>
          <p:cNvSpPr txBox="1"/>
          <p:nvPr/>
        </p:nvSpPr>
        <p:spPr>
          <a:xfrm>
            <a:off x="502920" y="3493008"/>
            <a:ext cx="9692640" cy="457200"/>
          </a:xfrm>
          <a:prstGeom prst="rect">
            <a:avLst/>
          </a:prstGeom>
          <a:noFill/>
          <a:ln/>
        </p:spPr>
        <p:txBody>
          <a:bodyPr wrap="square" lIns="0" tIns="0" rIns="0" bIns="0" rtlCol="0" anchor="ctr"/>
          <a:lstStyle/>
          <a:p>
            <a:pPr indent="0" marL="0">
              <a:buNone/>
            </a:pPr>
            <a:r>
              <a:rPr lang="en-US" sz="2400" dirty="0">
                <a:solidFill>
                  <a:srgbClr val="E2E8F0"/>
                </a:solidFill>
                <a:latin typeface="Arial" pitchFamily="34" charset="0"/>
                <a:ea typeface="Arial" pitchFamily="34" charset="-122"/>
                <a:cs typeface="Arial" pitchFamily="34" charset="-120"/>
              </a:rPr>
              <a:t>Find your next move — without leaving Home Credit.</a:t>
            </a:r>
            <a:endParaRPr lang="en-US" sz="2400" dirty="0"/>
          </a:p>
        </p:txBody>
      </p:sp>
      <p:sp>
        <p:nvSpPr>
          <p:cNvPr id="5" name="Text 2"/>
          <p:cNvSpPr txBox="1"/>
          <p:nvPr/>
        </p:nvSpPr>
        <p:spPr>
          <a:xfrm>
            <a:off x="502920" y="3968496"/>
            <a:ext cx="9692640" cy="329184"/>
          </a:xfrm>
          <a:prstGeom prst="rect">
            <a:avLst/>
          </a:prstGeom>
          <a:noFill/>
          <a:ln/>
        </p:spPr>
        <p:txBody>
          <a:bodyPr wrap="square" lIns="0" tIns="0" rIns="0" bIns="0" rtlCol="0" anchor="ctr"/>
          <a:lstStyle/>
          <a:p>
            <a:pPr indent="0" marL="0">
              <a:buNone/>
            </a:pPr>
            <a:r>
              <a:rPr lang="en-US" sz="1700" dirty="0">
                <a:solidFill>
                  <a:srgbClr val="94A3B8"/>
                </a:solidFill>
                <a:latin typeface="Arial" pitchFamily="34" charset="0"/>
                <a:ea typeface="Arial" pitchFamily="34" charset="-122"/>
                <a:cs typeface="Arial" pitchFamily="34" charset="-120"/>
              </a:rPr>
              <a:t>An internal talent marketplace for Home Credit Philippines</a:t>
            </a:r>
            <a:endParaRPr lang="en-US" sz="1700" dirty="0"/>
          </a:p>
        </p:txBody>
      </p:sp>
      <p:sp>
        <p:nvSpPr>
          <p:cNvPr id="6" name="Shape 3"/>
          <p:cNvSpPr/>
          <p:nvPr/>
        </p:nvSpPr>
        <p:spPr>
          <a:xfrm>
            <a:off x="502920" y="4828032"/>
            <a:ext cx="4937760" cy="0"/>
          </a:xfrm>
          <a:prstGeom prst="line">
            <a:avLst/>
          </a:prstGeom>
          <a:noFill/>
          <a:ln w="38100">
            <a:solidFill>
              <a:srgbClr val="C00000"/>
            </a:solidFill>
            <a:prstDash val="solid"/>
          </a:ln>
        </p:spPr>
      </p:sp>
      <p:sp>
        <p:nvSpPr>
          <p:cNvPr id="7" name="Text 4"/>
          <p:cNvSpPr txBox="1"/>
          <p:nvPr/>
        </p:nvSpPr>
        <p:spPr>
          <a:xfrm>
            <a:off x="502920" y="5010912"/>
            <a:ext cx="10058400" cy="2743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Ruffa Gayla Gonzales</a:t>
            </a:r>
            <a:pPr indent="0" marL="0">
              <a:buNone/>
            </a:pPr>
            <a:r>
              <a:rPr lang="en-US" sz="1700" dirty="0">
                <a:solidFill>
                  <a:srgbClr val="94A3B8"/>
                </a:solidFill>
                <a:latin typeface="Arial" pitchFamily="34" charset="0"/>
                <a:ea typeface="Arial" pitchFamily="34" charset="-122"/>
                <a:cs typeface="Arial" pitchFamily="34" charset="-120"/>
              </a:rPr>
              <a:t>   ·   HR Organizational Effectiveness</a:t>
            </a:r>
            <a:endParaRPr lang="en-US" sz="1700" dirty="0"/>
          </a:p>
        </p:txBody>
      </p:sp>
      <p:sp>
        <p:nvSpPr>
          <p:cNvPr id="8" name="Text 5"/>
          <p:cNvSpPr txBox="1"/>
          <p:nvPr/>
        </p:nvSpPr>
        <p:spPr>
          <a:xfrm>
            <a:off x="502920" y="5321808"/>
            <a:ext cx="10607040" cy="27432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Sponsor: Barbs Mecua   ·   LIFT Management Development Programme   ·   Action Learning Project</a:t>
            </a:r>
            <a:endParaRPr lang="en-US" sz="1500" dirty="0"/>
          </a:p>
        </p:txBody>
      </p:sp>
      <p:sp>
        <p:nvSpPr>
          <p:cNvPr id="9" name="Text 6"/>
          <p:cNvSpPr txBox="1"/>
          <p:nvPr/>
        </p:nvSpPr>
        <p:spPr>
          <a:xfrm>
            <a:off x="502920" y="6272784"/>
            <a:ext cx="7315200" cy="274320"/>
          </a:xfrm>
          <a:prstGeom prst="rect">
            <a:avLst/>
          </a:prstGeom>
          <a:noFill/>
          <a:ln/>
        </p:spPr>
        <p:txBody>
          <a:bodyPr wrap="square" lIns="0" tIns="0" rIns="0" bIns="0" rtlCol="0" anchor="ctr"/>
          <a:lstStyle/>
          <a:p>
            <a:pPr indent="0" marL="0">
              <a:buNone/>
            </a:pPr>
            <a:r>
              <a:rPr lang="en-US" sz="1400" dirty="0">
                <a:solidFill>
                  <a:srgbClr val="475569"/>
                </a:solidFill>
                <a:latin typeface="Arial" pitchFamily="34" charset="0"/>
                <a:ea typeface="Arial" pitchFamily="34" charset="-122"/>
                <a:cs typeface="Arial" pitchFamily="34" charset="-120"/>
              </a:rPr>
              <a:t>Internal — do not distribute outside the organization.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EXECUTIVE SUMMARY</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One page, four numbers, one decision.</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Everything that follows is evidence for this slide.</a:t>
            </a:r>
            <a:endParaRPr lang="en-US" sz="1600" dirty="0"/>
          </a:p>
        </p:txBody>
      </p:sp>
      <p:sp>
        <p:nvSpPr>
          <p:cNvPr id="5" name="Shape 3"/>
          <p:cNvSpPr/>
          <p:nvPr/>
        </p:nvSpPr>
        <p:spPr>
          <a:xfrm>
            <a:off x="502920" y="1664208"/>
            <a:ext cx="2631872" cy="3547872"/>
          </a:xfrm>
          <a:prstGeom prst="roundRect">
            <a:avLst>
              <a:gd name="adj" fmla="val 2085"/>
            </a:avLst>
          </a:prstGeom>
          <a:solidFill>
            <a:srgbClr val="FDF1F1"/>
          </a:solidFill>
          <a:ln w="12700">
            <a:solidFill>
              <a:srgbClr val="333333"/>
            </a:solidFill>
            <a:prstDash val="solid"/>
          </a:ln>
        </p:spPr>
      </p:sp>
      <p:sp>
        <p:nvSpPr>
          <p:cNvPr id="6" name="Text 4"/>
          <p:cNvSpPr txBox="1"/>
          <p:nvPr/>
        </p:nvSpPr>
        <p:spPr>
          <a:xfrm>
            <a:off x="722376" y="1828800"/>
            <a:ext cx="2192960" cy="237744"/>
          </a:xfrm>
          <a:prstGeom prst="rect">
            <a:avLst/>
          </a:prstGeom>
          <a:noFill/>
          <a:ln/>
        </p:spPr>
        <p:txBody>
          <a:bodyPr wrap="square" lIns="0" tIns="0" rIns="0" bIns="0" rtlCol="0" anchor="ctr"/>
          <a:lstStyle/>
          <a:p>
            <a:pPr indent="0" marL="0">
              <a:buNone/>
            </a:pPr>
            <a:r>
              <a:rPr lang="en-US" sz="1400" b="1" spc="160" kern="0" dirty="0">
                <a:solidFill>
                  <a:srgbClr val="C00000"/>
                </a:solidFill>
                <a:latin typeface="Arial" pitchFamily="34" charset="0"/>
                <a:ea typeface="Arial" pitchFamily="34" charset="-122"/>
                <a:cs typeface="Arial" pitchFamily="34" charset="-120"/>
              </a:rPr>
              <a:t>THE PROBLEM</a:t>
            </a:r>
            <a:endParaRPr lang="en-US" sz="1400" dirty="0"/>
          </a:p>
        </p:txBody>
      </p:sp>
      <p:sp>
        <p:nvSpPr>
          <p:cNvPr id="7" name="Text 5"/>
          <p:cNvSpPr txBox="1"/>
          <p:nvPr/>
        </p:nvSpPr>
        <p:spPr>
          <a:xfrm>
            <a:off x="722376" y="2157984"/>
            <a:ext cx="2192960" cy="2889504"/>
          </a:xfrm>
          <a:prstGeom prst="rect">
            <a:avLst/>
          </a:prstGeom>
          <a:noFill/>
          <a:ln/>
        </p:spPr>
        <p:txBody>
          <a:bodyPr wrap="square" lIns="0" tIns="0" rIns="0" bIns="0" rtlCol="0" anchor="t"/>
          <a:lstStyle/>
          <a:p>
            <a:pPr indent="0" marL="0">
              <a:lnSpc>
                <a:spcPts val="2000"/>
              </a:lnSpc>
              <a:buNone/>
            </a:pPr>
            <a:r>
              <a:rPr lang="en-US" sz="1400" dirty="0">
                <a:solidFill>
                  <a:srgbClr val="374151"/>
                </a:solidFill>
                <a:latin typeface="Arial" pitchFamily="34" charset="0"/>
                <a:ea typeface="Arial" pitchFamily="34" charset="-122"/>
                <a:cs typeface="Arial" pitchFamily="34" charset="-120"/>
              </a:rPr>
              <a:t>We fill 16.9% of roles internally against a ~30% benchmark. In 2025 we spent ₱13.4M hiring, ₱6.1M of it to headhunters for Band C alone — while 88% of our people say they can grow here.</a:t>
            </a:r>
            <a:endParaRPr lang="en-US" sz="1400" dirty="0"/>
          </a:p>
        </p:txBody>
      </p:sp>
      <p:sp>
        <p:nvSpPr>
          <p:cNvPr id="8" name="Shape 6"/>
          <p:cNvSpPr/>
          <p:nvPr/>
        </p:nvSpPr>
        <p:spPr>
          <a:xfrm>
            <a:off x="3354248" y="1664208"/>
            <a:ext cx="2631872" cy="3547872"/>
          </a:xfrm>
          <a:prstGeom prst="roundRect">
            <a:avLst>
              <a:gd name="adj" fmla="val 2085"/>
            </a:avLst>
          </a:prstGeom>
          <a:solidFill>
            <a:srgbClr val="EFF6FF"/>
          </a:solidFill>
          <a:ln w="12700">
            <a:solidFill>
              <a:srgbClr val="333333"/>
            </a:solidFill>
            <a:prstDash val="solid"/>
          </a:ln>
        </p:spPr>
      </p:sp>
      <p:sp>
        <p:nvSpPr>
          <p:cNvPr id="9" name="Text 7"/>
          <p:cNvSpPr txBox="1"/>
          <p:nvPr/>
        </p:nvSpPr>
        <p:spPr>
          <a:xfrm>
            <a:off x="3573704" y="1828800"/>
            <a:ext cx="2192960" cy="237744"/>
          </a:xfrm>
          <a:prstGeom prst="rect">
            <a:avLst/>
          </a:prstGeom>
          <a:noFill/>
          <a:ln/>
        </p:spPr>
        <p:txBody>
          <a:bodyPr wrap="square" lIns="0" tIns="0" rIns="0" bIns="0" rtlCol="0" anchor="ctr"/>
          <a:lstStyle/>
          <a:p>
            <a:pPr indent="0" marL="0">
              <a:buNone/>
            </a:pPr>
            <a:r>
              <a:rPr lang="en-US" sz="1400" b="1" spc="160" kern="0" dirty="0">
                <a:solidFill>
                  <a:srgbClr val="1D4ED8"/>
                </a:solidFill>
                <a:latin typeface="Arial" pitchFamily="34" charset="0"/>
                <a:ea typeface="Arial" pitchFamily="34" charset="-122"/>
                <a:cs typeface="Arial" pitchFamily="34" charset="-120"/>
              </a:rPr>
              <a:t>THE SOLUTION</a:t>
            </a:r>
            <a:endParaRPr lang="en-US" sz="1400" dirty="0"/>
          </a:p>
        </p:txBody>
      </p:sp>
      <p:sp>
        <p:nvSpPr>
          <p:cNvPr id="10" name="Text 8"/>
          <p:cNvSpPr txBox="1"/>
          <p:nvPr/>
        </p:nvSpPr>
        <p:spPr>
          <a:xfrm>
            <a:off x="3573704" y="2157984"/>
            <a:ext cx="2192960" cy="2889504"/>
          </a:xfrm>
          <a:prstGeom prst="rect">
            <a:avLst/>
          </a:prstGeom>
          <a:noFill/>
          <a:ln/>
        </p:spPr>
        <p:txBody>
          <a:bodyPr wrap="square" lIns="0" tIns="0" rIns="0" bIns="0" rtlCol="0" anchor="t"/>
          <a:lstStyle/>
          <a:p>
            <a:pPr indent="0" marL="0">
              <a:lnSpc>
                <a:spcPts val="2000"/>
              </a:lnSpc>
              <a:buNone/>
            </a:pPr>
            <a:r>
              <a:rPr lang="en-US" sz="1400" dirty="0">
                <a:solidFill>
                  <a:srgbClr val="374151"/>
                </a:solidFill>
                <a:latin typeface="Arial" pitchFamily="34" charset="0"/>
                <a:ea typeface="Arial" pitchFamily="34" charset="-122"/>
                <a:cs typeface="Arial" pitchFamily="34" charset="-120"/>
              </a:rPr>
              <a:t>One internal marketplace for gigs, immersions and service offers, with AI matching. It promotes HC Connect vacancies rather than duplicating them — and proves which applications it caused.</a:t>
            </a:r>
            <a:endParaRPr lang="en-US" sz="1400" dirty="0"/>
          </a:p>
        </p:txBody>
      </p:sp>
      <p:sp>
        <p:nvSpPr>
          <p:cNvPr id="11" name="Shape 9"/>
          <p:cNvSpPr/>
          <p:nvPr/>
        </p:nvSpPr>
        <p:spPr>
          <a:xfrm>
            <a:off x="6205576" y="1664208"/>
            <a:ext cx="2631872" cy="3547872"/>
          </a:xfrm>
          <a:prstGeom prst="roundRect">
            <a:avLst>
              <a:gd name="adj" fmla="val 2085"/>
            </a:avLst>
          </a:prstGeom>
          <a:solidFill>
            <a:srgbClr val="F0FDF4"/>
          </a:solidFill>
          <a:ln w="12700">
            <a:solidFill>
              <a:srgbClr val="333333"/>
            </a:solidFill>
            <a:prstDash val="solid"/>
          </a:ln>
        </p:spPr>
      </p:sp>
      <p:sp>
        <p:nvSpPr>
          <p:cNvPr id="12" name="Text 10"/>
          <p:cNvSpPr txBox="1"/>
          <p:nvPr/>
        </p:nvSpPr>
        <p:spPr>
          <a:xfrm>
            <a:off x="6425032" y="1828800"/>
            <a:ext cx="2192960" cy="237744"/>
          </a:xfrm>
          <a:prstGeom prst="rect">
            <a:avLst/>
          </a:prstGeom>
          <a:noFill/>
          <a:ln/>
        </p:spPr>
        <p:txBody>
          <a:bodyPr wrap="square" lIns="0" tIns="0" rIns="0" bIns="0" rtlCol="0" anchor="ctr"/>
          <a:lstStyle/>
          <a:p>
            <a:pPr indent="0" marL="0">
              <a:buNone/>
            </a:pPr>
            <a:r>
              <a:rPr lang="en-US" sz="1400" b="1" spc="160" kern="0" dirty="0">
                <a:solidFill>
                  <a:srgbClr val="15803D"/>
                </a:solidFill>
                <a:latin typeface="Arial" pitchFamily="34" charset="0"/>
                <a:ea typeface="Arial" pitchFamily="34" charset="-122"/>
                <a:cs typeface="Arial" pitchFamily="34" charset="-120"/>
              </a:rPr>
              <a:t>THE MONEY</a:t>
            </a:r>
            <a:endParaRPr lang="en-US" sz="1400" dirty="0"/>
          </a:p>
        </p:txBody>
      </p:sp>
      <p:sp>
        <p:nvSpPr>
          <p:cNvPr id="13" name="Text 11"/>
          <p:cNvSpPr txBox="1"/>
          <p:nvPr/>
        </p:nvSpPr>
        <p:spPr>
          <a:xfrm>
            <a:off x="6425032" y="2157984"/>
            <a:ext cx="2192960" cy="2889504"/>
          </a:xfrm>
          <a:prstGeom prst="rect">
            <a:avLst/>
          </a:prstGeom>
          <a:noFill/>
          <a:ln/>
        </p:spPr>
        <p:txBody>
          <a:bodyPr wrap="square" lIns="0" tIns="0" rIns="0" bIns="0" rtlCol="0" anchor="t"/>
          <a:lstStyle/>
          <a:p>
            <a:pPr indent="0" marL="0">
              <a:lnSpc>
                <a:spcPts val="2000"/>
              </a:lnSpc>
              <a:buNone/>
            </a:pPr>
            <a:r>
              <a:rPr lang="en-US" sz="1400" dirty="0">
                <a:solidFill>
                  <a:srgbClr val="374151"/>
                </a:solidFill>
                <a:latin typeface="Arial" pitchFamily="34" charset="0"/>
                <a:ea typeface="Arial" pitchFamily="34" charset="-122"/>
                <a:cs typeface="Arial" pitchFamily="34" charset="-120"/>
              </a:rPr>
              <a:t>₱2.05M over three years for 1,113 people — the pilot plus mass operations — on IT's costed build. Benefit ₱7.88M, benefit–cost ratio 3.8, payback in 14 months. Buying Gloat or Fuel50 costs ₱10.7M–₱29.3M.</a:t>
            </a:r>
            <a:endParaRPr lang="en-US" sz="1400" dirty="0"/>
          </a:p>
        </p:txBody>
      </p:sp>
      <p:sp>
        <p:nvSpPr>
          <p:cNvPr id="14" name="Shape 12"/>
          <p:cNvSpPr/>
          <p:nvPr/>
        </p:nvSpPr>
        <p:spPr>
          <a:xfrm>
            <a:off x="9056903" y="1664208"/>
            <a:ext cx="2631872" cy="3547872"/>
          </a:xfrm>
          <a:prstGeom prst="roundRect">
            <a:avLst>
              <a:gd name="adj" fmla="val 2085"/>
            </a:avLst>
          </a:prstGeom>
          <a:solidFill>
            <a:srgbClr val="F7F8FA"/>
          </a:solidFill>
          <a:ln w="12700">
            <a:solidFill>
              <a:srgbClr val="333333"/>
            </a:solidFill>
            <a:prstDash val="solid"/>
          </a:ln>
        </p:spPr>
      </p:sp>
      <p:sp>
        <p:nvSpPr>
          <p:cNvPr id="15" name="Text 13"/>
          <p:cNvSpPr txBox="1"/>
          <p:nvPr/>
        </p:nvSpPr>
        <p:spPr>
          <a:xfrm>
            <a:off x="9276359" y="1828800"/>
            <a:ext cx="2192960" cy="237744"/>
          </a:xfrm>
          <a:prstGeom prst="rect">
            <a:avLst/>
          </a:prstGeom>
          <a:noFill/>
          <a:ln/>
        </p:spPr>
        <p:txBody>
          <a:bodyPr wrap="square" lIns="0" tIns="0" rIns="0" bIns="0" rtlCol="0" anchor="ctr"/>
          <a:lstStyle/>
          <a:p>
            <a:pPr indent="0" marL="0">
              <a:buNone/>
            </a:pPr>
            <a:r>
              <a:rPr lang="en-US" sz="1400" b="1" spc="160" kern="0" dirty="0">
                <a:solidFill>
                  <a:srgbClr val="0F172A"/>
                </a:solidFill>
                <a:latin typeface="Arial" pitchFamily="34" charset="0"/>
                <a:ea typeface="Arial" pitchFamily="34" charset="-122"/>
                <a:cs typeface="Arial" pitchFamily="34" charset="-120"/>
              </a:rPr>
              <a:t>THE ASK</a:t>
            </a:r>
            <a:endParaRPr lang="en-US" sz="1400" dirty="0"/>
          </a:p>
        </p:txBody>
      </p:sp>
      <p:sp>
        <p:nvSpPr>
          <p:cNvPr id="16" name="Text 14"/>
          <p:cNvSpPr txBox="1"/>
          <p:nvPr/>
        </p:nvSpPr>
        <p:spPr>
          <a:xfrm>
            <a:off x="9276359" y="2157984"/>
            <a:ext cx="2192960" cy="2889504"/>
          </a:xfrm>
          <a:prstGeom prst="rect">
            <a:avLst/>
          </a:prstGeom>
          <a:noFill/>
          <a:ln/>
        </p:spPr>
        <p:txBody>
          <a:bodyPr wrap="square" lIns="0" tIns="0" rIns="0" bIns="0" rtlCol="0" anchor="t"/>
          <a:lstStyle/>
          <a:p>
            <a:pPr indent="0" marL="0">
              <a:lnSpc>
                <a:spcPts val="2000"/>
              </a:lnSpc>
              <a:buNone/>
            </a:pPr>
            <a:r>
              <a:rPr lang="en-US" sz="1400" dirty="0">
                <a:solidFill>
                  <a:srgbClr val="374151"/>
                </a:solidFill>
                <a:latin typeface="Arial" pitchFamily="34" charset="0"/>
                <a:ea typeface="Arial" pitchFamily="34" charset="-122"/>
                <a:cs typeface="Arial" pitchFamily="34" charset="-120"/>
              </a:rPr>
              <a:t>Approve the ₱1.54M year one: a three-month pilot in IT, Operations and HR, extended to mass operations in wave two. And ask recruitment for one new source value in HC Connect — free to them, and what makes the benefit provable.</a:t>
            </a:r>
            <a:endParaRPr lang="en-US" sz="1400" dirty="0"/>
          </a:p>
        </p:txBody>
      </p:sp>
      <p:sp>
        <p:nvSpPr>
          <p:cNvPr id="17" name="Shape 15"/>
          <p:cNvSpPr/>
          <p:nvPr/>
        </p:nvSpPr>
        <p:spPr>
          <a:xfrm>
            <a:off x="502920" y="5376672"/>
            <a:ext cx="11185855" cy="786384"/>
          </a:xfrm>
          <a:prstGeom prst="roundRect">
            <a:avLst>
              <a:gd name="adj" fmla="val 6977"/>
            </a:avLst>
          </a:prstGeom>
          <a:solidFill>
            <a:srgbClr val="0F172A"/>
          </a:solidFill>
          <a:ln w="12700">
            <a:solidFill>
              <a:srgbClr val="333333"/>
            </a:solidFill>
            <a:prstDash val="solid"/>
          </a:ln>
        </p:spPr>
      </p:sp>
      <p:sp>
        <p:nvSpPr>
          <p:cNvPr id="18" name="Text 16"/>
          <p:cNvSpPr txBox="1"/>
          <p:nvPr/>
        </p:nvSpPr>
        <p:spPr>
          <a:xfrm>
            <a:off x="813816" y="5376672"/>
            <a:ext cx="10564063" cy="786384"/>
          </a:xfrm>
          <a:prstGeom prst="rect">
            <a:avLst/>
          </a:prstGeom>
          <a:noFill/>
          <a:ln/>
        </p:spPr>
        <p:txBody>
          <a:bodyPr wrap="square" lIns="0" tIns="0" rIns="0" bIns="0" rtlCol="0" anchor="ctr"/>
          <a:lstStyle/>
          <a:p>
            <a:pPr indent="0" marL="0">
              <a:buNone/>
            </a:pPr>
            <a:r>
              <a:rPr lang="en-US" sz="2100" b="1" dirty="0">
                <a:solidFill>
                  <a:srgbClr val="94A3B8"/>
                </a:solidFill>
                <a:latin typeface="Arial" pitchFamily="34" charset="0"/>
                <a:ea typeface="Arial" pitchFamily="34" charset="-122"/>
                <a:cs typeface="Arial" pitchFamily="34" charset="-120"/>
              </a:rPr>
              <a:t>In one line:  </a:t>
            </a:r>
            <a:pPr indent="0" marL="0">
              <a:buNone/>
            </a:pPr>
            <a:r>
              <a:rPr lang="en-US" sz="2100" b="1" dirty="0">
                <a:solidFill>
                  <a:srgbClr val="FFFFFF"/>
                </a:solidFill>
                <a:latin typeface="Arial" pitchFamily="34" charset="0"/>
                <a:ea typeface="Arial" pitchFamily="34" charset="-122"/>
                <a:cs typeface="Arial" pitchFamily="34" charset="-120"/>
              </a:rPr>
              <a:t>We are paying headhunters to find people we may already employ.</a:t>
            </a:r>
            <a:endParaRPr lang="en-US" sz="2100" dirty="0"/>
          </a:p>
        </p:txBody>
      </p:sp>
      <p:sp>
        <p:nvSpPr>
          <p:cNvPr id="19" name="Shape 17"/>
          <p:cNvSpPr/>
          <p:nvPr/>
        </p:nvSpPr>
        <p:spPr>
          <a:xfrm>
            <a:off x="502920" y="6291072"/>
            <a:ext cx="11185855" cy="0"/>
          </a:xfrm>
          <a:prstGeom prst="line">
            <a:avLst/>
          </a:prstGeom>
          <a:noFill/>
          <a:ln w="12700">
            <a:solidFill>
              <a:srgbClr val="E5E7EB"/>
            </a:solidFill>
            <a:prstDash val="solid"/>
          </a:ln>
        </p:spPr>
      </p:sp>
      <p:sp>
        <p:nvSpPr>
          <p:cNvPr id="20" name="Text 18"/>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Sources: TA hiring data 2024–2026 · HCPH exit survey and eNPS · v2 cost–benefit model.</a:t>
            </a:r>
            <a:endParaRPr lang="en-US" sz="1400" dirty="0"/>
          </a:p>
        </p:txBody>
      </p:sp>
      <p:sp>
        <p:nvSpPr>
          <p:cNvPr id="21" name="Text 19"/>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THE BUSINESS PROBLEM</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The problem isn't ambition. It's plumbing.</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Our people believe they can grow here. The data says they mostly do not get to.</a:t>
            </a:r>
            <a:endParaRPr lang="en-US" sz="1600" dirty="0"/>
          </a:p>
        </p:txBody>
      </p:sp>
      <p:sp>
        <p:nvSpPr>
          <p:cNvPr id="5" name="Shape 3"/>
          <p:cNvSpPr/>
          <p:nvPr/>
        </p:nvSpPr>
        <p:spPr>
          <a:xfrm>
            <a:off x="502920" y="1645920"/>
            <a:ext cx="2631872" cy="1645920"/>
          </a:xfrm>
          <a:prstGeom prst="roundRect">
            <a:avLst>
              <a:gd name="adj" fmla="val 333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04088" y="1755648"/>
            <a:ext cx="2229536" cy="457200"/>
          </a:xfrm>
          <a:prstGeom prst="rect">
            <a:avLst/>
          </a:prstGeom>
          <a:noFill/>
          <a:ln/>
        </p:spPr>
        <p:txBody>
          <a:bodyPr wrap="square" lIns="0" tIns="0" rIns="0" bIns="0" rtlCol="0" anchor="ctr"/>
          <a:lstStyle/>
          <a:p>
            <a:pPr indent="0" marL="0">
              <a:buNone/>
            </a:pPr>
            <a:r>
              <a:rPr lang="en-US" sz="3000" b="1" dirty="0">
                <a:solidFill>
                  <a:srgbClr val="15803D"/>
                </a:solidFill>
                <a:latin typeface="Arial" pitchFamily="34" charset="0"/>
                <a:ea typeface="Arial" pitchFamily="34" charset="-122"/>
                <a:cs typeface="Arial" pitchFamily="34" charset="-120"/>
              </a:rPr>
              <a:t>88%</a:t>
            </a:r>
            <a:endParaRPr lang="en-US" sz="3000" dirty="0"/>
          </a:p>
        </p:txBody>
      </p:sp>
      <p:sp>
        <p:nvSpPr>
          <p:cNvPr id="7" name="Text 5"/>
          <p:cNvSpPr txBox="1"/>
          <p:nvPr/>
        </p:nvSpPr>
        <p:spPr>
          <a:xfrm>
            <a:off x="704088" y="2194560"/>
            <a:ext cx="2229536"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believe they can grow here</a:t>
            </a:r>
            <a:endParaRPr lang="en-US" sz="1500" dirty="0"/>
          </a:p>
        </p:txBody>
      </p:sp>
      <p:sp>
        <p:nvSpPr>
          <p:cNvPr id="8" name="Text 6"/>
          <p:cNvSpPr txBox="1"/>
          <p:nvPr/>
        </p:nvSpPr>
        <p:spPr>
          <a:xfrm>
            <a:off x="704088" y="2651760"/>
            <a:ext cx="2229536" cy="603504"/>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Our eNPS on growth opportunity is healthy</a:t>
            </a:r>
            <a:endParaRPr lang="en-US" sz="1400" dirty="0"/>
          </a:p>
        </p:txBody>
      </p:sp>
      <p:sp>
        <p:nvSpPr>
          <p:cNvPr id="9" name="Shape 7"/>
          <p:cNvSpPr/>
          <p:nvPr/>
        </p:nvSpPr>
        <p:spPr>
          <a:xfrm>
            <a:off x="3354248" y="1645920"/>
            <a:ext cx="2631872" cy="1645920"/>
          </a:xfrm>
          <a:prstGeom prst="roundRect">
            <a:avLst>
              <a:gd name="adj" fmla="val 333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8"/>
          <p:cNvSpPr txBox="1"/>
          <p:nvPr/>
        </p:nvSpPr>
        <p:spPr>
          <a:xfrm>
            <a:off x="3555416" y="1755648"/>
            <a:ext cx="2229536" cy="457200"/>
          </a:xfrm>
          <a:prstGeom prst="rect">
            <a:avLst/>
          </a:prstGeom>
          <a:noFill/>
          <a:ln/>
        </p:spPr>
        <p:txBody>
          <a:bodyPr wrap="square" lIns="0" tIns="0" rIns="0" bIns="0" rtlCol="0" anchor="ctr"/>
          <a:lstStyle/>
          <a:p>
            <a:pPr indent="0" marL="0">
              <a:buNone/>
            </a:pPr>
            <a:r>
              <a:rPr lang="en-US" sz="3000" b="1" dirty="0">
                <a:solidFill>
                  <a:srgbClr val="C00000"/>
                </a:solidFill>
                <a:latin typeface="Arial" pitchFamily="34" charset="0"/>
                <a:ea typeface="Arial" pitchFamily="34" charset="-122"/>
                <a:cs typeface="Arial" pitchFamily="34" charset="-120"/>
              </a:rPr>
              <a:t>16.9%</a:t>
            </a:r>
            <a:endParaRPr lang="en-US" sz="3000" dirty="0"/>
          </a:p>
        </p:txBody>
      </p:sp>
      <p:sp>
        <p:nvSpPr>
          <p:cNvPr id="11" name="Text 9"/>
          <p:cNvSpPr txBox="1"/>
          <p:nvPr/>
        </p:nvSpPr>
        <p:spPr>
          <a:xfrm>
            <a:off x="3555416" y="2194560"/>
            <a:ext cx="2229536"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of roles filled internally</a:t>
            </a:r>
            <a:endParaRPr lang="en-US" sz="1500" dirty="0"/>
          </a:p>
        </p:txBody>
      </p:sp>
      <p:sp>
        <p:nvSpPr>
          <p:cNvPr id="12" name="Text 10"/>
          <p:cNvSpPr txBox="1"/>
          <p:nvPr/>
        </p:nvSpPr>
        <p:spPr>
          <a:xfrm>
            <a:off x="3555416" y="2651760"/>
            <a:ext cx="2229536" cy="603504"/>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vs a ~30% benchmark, 50%+ for leaders</a:t>
            </a:r>
            <a:endParaRPr lang="en-US" sz="1400" dirty="0"/>
          </a:p>
        </p:txBody>
      </p:sp>
      <p:sp>
        <p:nvSpPr>
          <p:cNvPr id="13" name="Shape 11"/>
          <p:cNvSpPr/>
          <p:nvPr/>
        </p:nvSpPr>
        <p:spPr>
          <a:xfrm>
            <a:off x="6205576" y="1645920"/>
            <a:ext cx="2631872" cy="1645920"/>
          </a:xfrm>
          <a:prstGeom prst="roundRect">
            <a:avLst>
              <a:gd name="adj" fmla="val 333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4" name="Text 12"/>
          <p:cNvSpPr txBox="1"/>
          <p:nvPr/>
        </p:nvSpPr>
        <p:spPr>
          <a:xfrm>
            <a:off x="6406744" y="1755648"/>
            <a:ext cx="2229536" cy="4572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₱13.4M</a:t>
            </a:r>
            <a:endParaRPr lang="en-US" sz="3000" dirty="0"/>
          </a:p>
        </p:txBody>
      </p:sp>
      <p:sp>
        <p:nvSpPr>
          <p:cNvPr id="15" name="Text 13"/>
          <p:cNvSpPr txBox="1"/>
          <p:nvPr/>
        </p:nvSpPr>
        <p:spPr>
          <a:xfrm>
            <a:off x="6406744" y="2194560"/>
            <a:ext cx="2229536"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spent hiring in 2025</a:t>
            </a:r>
            <a:endParaRPr lang="en-US" sz="1500" dirty="0"/>
          </a:p>
        </p:txBody>
      </p:sp>
      <p:sp>
        <p:nvSpPr>
          <p:cNvPr id="16" name="Text 14"/>
          <p:cNvSpPr txBox="1"/>
          <p:nvPr/>
        </p:nvSpPr>
        <p:spPr>
          <a:xfrm>
            <a:off x="6406744" y="2651760"/>
            <a:ext cx="2229536" cy="603504"/>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324 roles at ₱41k blended per hire</a:t>
            </a:r>
            <a:endParaRPr lang="en-US" sz="1400" dirty="0"/>
          </a:p>
        </p:txBody>
      </p:sp>
      <p:sp>
        <p:nvSpPr>
          <p:cNvPr id="17" name="Shape 15"/>
          <p:cNvSpPr/>
          <p:nvPr/>
        </p:nvSpPr>
        <p:spPr>
          <a:xfrm>
            <a:off x="9056903" y="1645920"/>
            <a:ext cx="2631872" cy="1645920"/>
          </a:xfrm>
          <a:prstGeom prst="roundRect">
            <a:avLst>
              <a:gd name="adj" fmla="val 333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8" name="Text 16"/>
          <p:cNvSpPr txBox="1"/>
          <p:nvPr/>
        </p:nvSpPr>
        <p:spPr>
          <a:xfrm>
            <a:off x="9258071" y="1755648"/>
            <a:ext cx="2229536" cy="457200"/>
          </a:xfrm>
          <a:prstGeom prst="rect">
            <a:avLst/>
          </a:prstGeom>
          <a:noFill/>
          <a:ln/>
        </p:spPr>
        <p:txBody>
          <a:bodyPr wrap="square" lIns="0" tIns="0" rIns="0" bIns="0" rtlCol="0" anchor="ctr"/>
          <a:lstStyle/>
          <a:p>
            <a:pPr indent="0" marL="0">
              <a:buNone/>
            </a:pPr>
            <a:r>
              <a:rPr lang="en-US" sz="3000" b="1" dirty="0">
                <a:solidFill>
                  <a:srgbClr val="C00000"/>
                </a:solidFill>
                <a:latin typeface="Arial" pitchFamily="34" charset="0"/>
                <a:ea typeface="Arial" pitchFamily="34" charset="-122"/>
                <a:cs typeface="Arial" pitchFamily="34" charset="-120"/>
              </a:rPr>
              <a:t>#1</a:t>
            </a:r>
            <a:endParaRPr lang="en-US" sz="3000" dirty="0"/>
          </a:p>
        </p:txBody>
      </p:sp>
      <p:sp>
        <p:nvSpPr>
          <p:cNvPr id="19" name="Text 17"/>
          <p:cNvSpPr txBox="1"/>
          <p:nvPr/>
        </p:nvSpPr>
        <p:spPr>
          <a:xfrm>
            <a:off x="9258071" y="2194560"/>
            <a:ext cx="2229536"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controllable reason for leaving</a:t>
            </a:r>
            <a:endParaRPr lang="en-US" sz="1500" dirty="0"/>
          </a:p>
        </p:txBody>
      </p:sp>
      <p:sp>
        <p:nvSpPr>
          <p:cNvPr id="20" name="Text 18"/>
          <p:cNvSpPr txBox="1"/>
          <p:nvPr/>
        </p:nvSpPr>
        <p:spPr>
          <a:xfrm>
            <a:off x="9258071" y="2651760"/>
            <a:ext cx="2229536" cy="603504"/>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Career &amp; Better Opportunity: 22% of exits</a:t>
            </a:r>
            <a:endParaRPr lang="en-US" sz="1400" dirty="0"/>
          </a:p>
        </p:txBody>
      </p:sp>
      <p:sp>
        <p:nvSpPr>
          <p:cNvPr id="21" name="Shape 19"/>
          <p:cNvSpPr/>
          <p:nvPr/>
        </p:nvSpPr>
        <p:spPr>
          <a:xfrm>
            <a:off x="502920" y="3456432"/>
            <a:ext cx="6879301" cy="1755648"/>
          </a:xfrm>
          <a:prstGeom prst="roundRect">
            <a:avLst>
              <a:gd name="adj" fmla="val 3125"/>
            </a:avLst>
          </a:prstGeom>
          <a:solidFill>
            <a:srgbClr val="F7F8FA"/>
          </a:solidFill>
          <a:ln w="12700">
            <a:solidFill>
              <a:srgbClr val="333333"/>
            </a:solidFill>
            <a:prstDash val="solid"/>
          </a:ln>
        </p:spPr>
      </p:sp>
      <p:sp>
        <p:nvSpPr>
          <p:cNvPr id="22" name="Text 20"/>
          <p:cNvSpPr txBox="1"/>
          <p:nvPr/>
        </p:nvSpPr>
        <p:spPr>
          <a:xfrm>
            <a:off x="777240" y="3602736"/>
            <a:ext cx="6330661" cy="274320"/>
          </a:xfrm>
          <a:prstGeom prst="rect">
            <a:avLst/>
          </a:prstGeom>
          <a:noFill/>
          <a:ln/>
        </p:spPr>
        <p:txBody>
          <a:bodyPr wrap="square" lIns="0" tIns="0" rIns="0" bIns="0" rtlCol="0" anchor="ctr"/>
          <a:lstStyle/>
          <a:p>
            <a:pPr indent="0" marL="0">
              <a:buNone/>
            </a:pPr>
            <a:r>
              <a:rPr lang="en-US" sz="1900" b="1" dirty="0">
                <a:solidFill>
                  <a:srgbClr val="0F172A"/>
                </a:solidFill>
                <a:latin typeface="Arial" pitchFamily="34" charset="0"/>
                <a:ea typeface="Arial" pitchFamily="34" charset="-122"/>
                <a:cs typeface="Arial" pitchFamily="34" charset="-120"/>
              </a:rPr>
              <a:t>The gap is between belief and mechanism</a:t>
            </a:r>
            <a:endParaRPr lang="en-US" sz="1900" dirty="0"/>
          </a:p>
        </p:txBody>
      </p:sp>
      <p:sp>
        <p:nvSpPr>
          <p:cNvPr id="23" name="Text 21"/>
          <p:cNvSpPr txBox="1"/>
          <p:nvPr/>
        </p:nvSpPr>
        <p:spPr>
          <a:xfrm>
            <a:off x="777240" y="3931920"/>
            <a:ext cx="6330661" cy="1170432"/>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When a role opens here it goes to an outsider four times out of five. That is not a morale problem — our people say they want to grow here and believe they can. It is a connection problem: nothing reliably shows an employee an opportunity they would fit, and nothing tells a hiring manager the person they need is already on payroll.</a:t>
            </a:r>
            <a:endParaRPr lang="en-US" sz="1400" dirty="0"/>
          </a:p>
        </p:txBody>
      </p:sp>
      <p:sp>
        <p:nvSpPr>
          <p:cNvPr id="24" name="Shape 22"/>
          <p:cNvSpPr/>
          <p:nvPr/>
        </p:nvSpPr>
        <p:spPr>
          <a:xfrm>
            <a:off x="7619965" y="3456432"/>
            <a:ext cx="4068810" cy="1755648"/>
          </a:xfrm>
          <a:prstGeom prst="roundRect">
            <a:avLst>
              <a:gd name="adj" fmla="val 3125"/>
            </a:avLst>
          </a:prstGeom>
          <a:solidFill>
            <a:srgbClr val="FDF1F1"/>
          </a:solidFill>
          <a:ln w="12700">
            <a:solidFill>
              <a:srgbClr val="333333"/>
            </a:solidFill>
            <a:prstDash val="solid"/>
          </a:ln>
        </p:spPr>
      </p:sp>
      <p:sp>
        <p:nvSpPr>
          <p:cNvPr id="25" name="Text 23"/>
          <p:cNvSpPr txBox="1"/>
          <p:nvPr/>
        </p:nvSpPr>
        <p:spPr>
          <a:xfrm>
            <a:off x="7894285" y="3602736"/>
            <a:ext cx="3520170" cy="274320"/>
          </a:xfrm>
          <a:prstGeom prst="rect">
            <a:avLst/>
          </a:prstGeom>
          <a:noFill/>
          <a:ln/>
        </p:spPr>
        <p:txBody>
          <a:bodyPr wrap="square" lIns="0" tIns="0" rIns="0" bIns="0" rtlCol="0" anchor="ctr"/>
          <a:lstStyle/>
          <a:p>
            <a:pPr indent="0" marL="0">
              <a:buNone/>
            </a:pPr>
            <a:r>
              <a:rPr lang="en-US" sz="1900" b="1" dirty="0">
                <a:solidFill>
                  <a:srgbClr val="C00000"/>
                </a:solidFill>
                <a:latin typeface="Arial" pitchFamily="34" charset="0"/>
                <a:ea typeface="Arial" pitchFamily="34" charset="-122"/>
                <a:cs typeface="Arial" pitchFamily="34" charset="-120"/>
              </a:rPr>
              <a:t>The industry says the same</a:t>
            </a:r>
            <a:endParaRPr lang="en-US" sz="1900" dirty="0"/>
          </a:p>
        </p:txBody>
      </p:sp>
      <p:sp>
        <p:nvSpPr>
          <p:cNvPr id="26" name="Text 24"/>
          <p:cNvSpPr txBox="1"/>
          <p:nvPr/>
        </p:nvSpPr>
        <p:spPr>
          <a:xfrm>
            <a:off x="7894285" y="3931920"/>
            <a:ext cx="3520170" cy="1170432"/>
          </a:xfrm>
          <a:prstGeom prst="rect">
            <a:avLst/>
          </a:prstGeom>
          <a:noFill/>
          <a:ln/>
        </p:spPr>
        <p:txBody>
          <a:bodyPr wrap="square" lIns="0" tIns="0" rIns="0" bIns="0" rtlCol="0" anchor="t"/>
          <a:lstStyle/>
          <a:p>
            <a:pPr indent="0" marL="0">
              <a:lnSpc>
                <a:spcPts val="1900"/>
              </a:lnSpc>
              <a:buNone/>
            </a:pPr>
            <a:r>
              <a:rPr lang="en-US" sz="1400" b="1" dirty="0">
                <a:solidFill>
                  <a:srgbClr val="0F172A"/>
                </a:solidFill>
                <a:latin typeface="Arial" pitchFamily="34" charset="0"/>
                <a:ea typeface="Arial" pitchFamily="34" charset="-122"/>
                <a:cs typeface="Arial" pitchFamily="34" charset="-120"/>
              </a:rPr>
              <a:t>50%</a:t>
            </a:r>
            <a:pPr indent="0" marL="0">
              <a:lnSpc>
                <a:spcPts val="1900"/>
              </a:lnSpc>
              <a:buNone/>
            </a:pPr>
            <a:r>
              <a:rPr lang="en-US" sz="1400" dirty="0">
                <a:solidFill>
                  <a:srgbClr val="374151"/>
                </a:solidFill>
                <a:latin typeface="Arial" pitchFamily="34" charset="0"/>
                <a:ea typeface="Arial" pitchFamily="34" charset="-122"/>
                <a:cs typeface="Arial" pitchFamily="34" charset="-120"/>
              </a:rPr>
              <a:t> of employees do not know internal opportunities exist.</a:t>
            </a:r>
            <a:pPr indent="0" marL="0">
              <a:lnSpc>
                <a:spcPts val="1900"/>
              </a:lnSpc>
              <a:buNone/>
            </a:pPr>
            <a:endParaRPr lang="en-US" sz="1400" dirty="0"/>
          </a:p>
          <a:p>
            <a:pPr indent="0" marL="0">
              <a:lnSpc>
                <a:spcPts val="1900"/>
              </a:lnSpc>
              <a:buNone/>
            </a:pPr>
            <a:endParaRPr lang="en-US" sz="1400" dirty="0"/>
          </a:p>
          <a:p>
            <a:pPr indent="0" marL="0">
              <a:lnSpc>
                <a:spcPts val="1900"/>
              </a:lnSpc>
              <a:buNone/>
            </a:pPr>
            <a:r>
              <a:rPr lang="en-US" sz="1400" dirty="0">
                <a:solidFill>
                  <a:srgbClr val="374151"/>
                </a:solidFill>
                <a:latin typeface="Arial" pitchFamily="34" charset="0"/>
                <a:ea typeface="Arial" pitchFamily="34" charset="-122"/>
                <a:cs typeface="Arial" pitchFamily="34" charset="-120"/>
              </a:rPr>
              <a:t>Only </a:t>
            </a:r>
            <a:endParaRPr lang="en-US" sz="1400" dirty="0"/>
          </a:p>
          <a:p>
            <a:pPr indent="0" marL="0">
              <a:lnSpc>
                <a:spcPts val="1900"/>
              </a:lnSpc>
              <a:buNone/>
            </a:pPr>
            <a:r>
              <a:rPr lang="en-US" sz="1400" b="1" dirty="0">
                <a:solidFill>
                  <a:srgbClr val="0F172A"/>
                </a:solidFill>
                <a:latin typeface="Arial" pitchFamily="34" charset="0"/>
                <a:ea typeface="Arial" pitchFamily="34" charset="-122"/>
                <a:cs typeface="Arial" pitchFamily="34" charset="-120"/>
              </a:rPr>
              <a:t>1 in 5</a:t>
            </a:r>
            <a:pPr indent="0" marL="0">
              <a:lnSpc>
                <a:spcPts val="1900"/>
              </a:lnSpc>
              <a:buNone/>
            </a:pPr>
            <a:r>
              <a:rPr lang="en-US" sz="1400" dirty="0">
                <a:solidFill>
                  <a:srgbClr val="374151"/>
                </a:solidFill>
                <a:latin typeface="Arial" pitchFamily="34" charset="0"/>
                <a:ea typeface="Arial" pitchFamily="34" charset="-122"/>
                <a:cs typeface="Arial" pitchFamily="34" charset="-120"/>
              </a:rPr>
              <a:t> feels confident making an internal move.</a:t>
            </a:r>
            <a:endParaRPr lang="en-US" sz="1400" dirty="0"/>
          </a:p>
        </p:txBody>
      </p:sp>
      <p:sp>
        <p:nvSpPr>
          <p:cNvPr id="27" name="Text 25"/>
          <p:cNvSpPr txBox="1"/>
          <p:nvPr/>
        </p:nvSpPr>
        <p:spPr>
          <a:xfrm>
            <a:off x="502920" y="5358384"/>
            <a:ext cx="11185855" cy="658368"/>
          </a:xfrm>
          <a:prstGeom prst="rect">
            <a:avLst/>
          </a:prstGeom>
          <a:noFill/>
          <a:ln/>
        </p:spPr>
        <p:txBody>
          <a:bodyPr wrap="square" lIns="0" tIns="0" rIns="0" bIns="0" rtlCol="0" anchor="ctr"/>
          <a:lstStyle/>
          <a:p>
            <a:pPr indent="0" marL="0">
              <a:lnSpc>
                <a:spcPts val="2400"/>
              </a:lnSpc>
              <a:buNone/>
            </a:pPr>
            <a:r>
              <a:rPr lang="en-US" sz="1700" b="1" dirty="0">
                <a:solidFill>
                  <a:srgbClr val="0F172A"/>
                </a:solidFill>
                <a:latin typeface="Arial" pitchFamily="34" charset="0"/>
                <a:ea typeface="Arial" pitchFamily="34" charset="-122"/>
                <a:cs typeface="Arial" pitchFamily="34" charset="-120"/>
              </a:rPr>
              <a:t>Business problem:  raise internal mobility from 16.9% to the 30% benchmark by making opportunities visible and matching people to them intelligently.</a:t>
            </a:r>
            <a:endParaRPr lang="en-US" sz="1700" dirty="0"/>
          </a:p>
        </p:txBody>
      </p:sp>
      <p:sp>
        <p:nvSpPr>
          <p:cNvPr id="28" name="Shape 26"/>
          <p:cNvSpPr/>
          <p:nvPr/>
        </p:nvSpPr>
        <p:spPr>
          <a:xfrm>
            <a:off x="502920" y="6291072"/>
            <a:ext cx="11185855" cy="0"/>
          </a:xfrm>
          <a:prstGeom prst="line">
            <a:avLst/>
          </a:prstGeom>
          <a:noFill/>
          <a:ln w="12700">
            <a:solidFill>
              <a:srgbClr val="E5E7EB"/>
            </a:solidFill>
            <a:prstDash val="solid"/>
          </a:ln>
        </p:spPr>
      </p:sp>
      <p:sp>
        <p:nvSpPr>
          <p:cNvPr id="29" name="Text 27"/>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Sources: HCPH TA data · exit survey · eNPS · LinkedIn and Veris Insights internal-mobility research.</a:t>
            </a:r>
            <a:endParaRPr lang="en-US" sz="1400" dirty="0"/>
          </a:p>
        </p:txBody>
      </p:sp>
      <p:sp>
        <p:nvSpPr>
          <p:cNvPr id="30" name="Text 28"/>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ROOT CAUSE</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Three failures. Only one is a technology problem.</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Three years of vacancy data show where the funnel actually leaks.</a:t>
            </a:r>
            <a:endParaRPr lang="en-US" sz="1600" dirty="0"/>
          </a:p>
        </p:txBody>
      </p:sp>
      <p:sp>
        <p:nvSpPr>
          <p:cNvPr id="5" name="Shape 3"/>
          <p:cNvSpPr/>
          <p:nvPr/>
        </p:nvSpPr>
        <p:spPr>
          <a:xfrm>
            <a:off x="502920" y="1700784"/>
            <a:ext cx="2245753" cy="2157984"/>
          </a:xfrm>
          <a:prstGeom prst="roundRect">
            <a:avLst>
              <a:gd name="adj" fmla="val 254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Shape 4"/>
          <p:cNvSpPr/>
          <p:nvPr/>
        </p:nvSpPr>
        <p:spPr>
          <a:xfrm>
            <a:off x="722376" y="1865376"/>
            <a:ext cx="384048" cy="384048"/>
          </a:xfrm>
          <a:prstGeom prst="ellipse">
            <a:avLst/>
          </a:prstGeom>
          <a:solidFill>
            <a:srgbClr val="C00000"/>
          </a:solidFill>
          <a:ln w="12700">
            <a:solidFill>
              <a:srgbClr val="333333"/>
            </a:solidFill>
            <a:prstDash val="solid"/>
          </a:ln>
        </p:spPr>
      </p:sp>
      <p:sp>
        <p:nvSpPr>
          <p:cNvPr id="7" name="Text 5"/>
          <p:cNvSpPr txBox="1"/>
          <p:nvPr/>
        </p:nvSpPr>
        <p:spPr>
          <a:xfrm>
            <a:off x="722376" y="18699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722376" y="2340864"/>
            <a:ext cx="1806841" cy="548640"/>
          </a:xfrm>
          <a:prstGeom prst="rect">
            <a:avLst/>
          </a:prstGeom>
          <a:noFill/>
          <a:ln/>
        </p:spPr>
        <p:txBody>
          <a:bodyPr wrap="square" lIns="0" tIns="0" rIns="0" bIns="0" rtlCol="0" anchor="t"/>
          <a:lstStyle/>
          <a:p>
            <a:pPr indent="0" marL="0">
              <a:lnSpc>
                <a:spcPts val="2000"/>
              </a:lnSpc>
              <a:buNone/>
            </a:pPr>
            <a:r>
              <a:rPr lang="en-US" sz="1600" b="1" dirty="0">
                <a:solidFill>
                  <a:srgbClr val="0F172A"/>
                </a:solidFill>
                <a:latin typeface="Arial" pitchFamily="34" charset="0"/>
                <a:ea typeface="Arial" pitchFamily="34" charset="-122"/>
                <a:cs typeface="Arial" pitchFamily="34" charset="-120"/>
              </a:rPr>
              <a:t>Opportunities are invisible</a:t>
            </a:r>
            <a:endParaRPr lang="en-US" sz="1600" dirty="0"/>
          </a:p>
        </p:txBody>
      </p:sp>
      <p:sp>
        <p:nvSpPr>
          <p:cNvPr id="9" name="Text 7"/>
          <p:cNvSpPr txBox="1"/>
          <p:nvPr/>
        </p:nvSpPr>
        <p:spPr>
          <a:xfrm>
            <a:off x="722376" y="2926080"/>
            <a:ext cx="1806841" cy="914400"/>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The HC Connect board is the only channel. For 10 vacancies, 4–5 people apply.</a:t>
            </a:r>
            <a:endParaRPr lang="en-US" sz="1400" dirty="0"/>
          </a:p>
        </p:txBody>
      </p:sp>
      <p:sp>
        <p:nvSpPr>
          <p:cNvPr id="10" name="Shape 8"/>
          <p:cNvSpPr/>
          <p:nvPr/>
        </p:nvSpPr>
        <p:spPr>
          <a:xfrm>
            <a:off x="2931553" y="1700784"/>
            <a:ext cx="2245753" cy="2157984"/>
          </a:xfrm>
          <a:prstGeom prst="roundRect">
            <a:avLst>
              <a:gd name="adj" fmla="val 254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1" name="Shape 9"/>
          <p:cNvSpPr/>
          <p:nvPr/>
        </p:nvSpPr>
        <p:spPr>
          <a:xfrm>
            <a:off x="3151009" y="1865376"/>
            <a:ext cx="384048" cy="384048"/>
          </a:xfrm>
          <a:prstGeom prst="ellipse">
            <a:avLst/>
          </a:prstGeom>
          <a:solidFill>
            <a:srgbClr val="C00000"/>
          </a:solidFill>
          <a:ln w="12700">
            <a:solidFill>
              <a:srgbClr val="333333"/>
            </a:solidFill>
            <a:prstDash val="solid"/>
          </a:ln>
        </p:spPr>
      </p:sp>
      <p:sp>
        <p:nvSpPr>
          <p:cNvPr id="12" name="Text 10"/>
          <p:cNvSpPr txBox="1"/>
          <p:nvPr/>
        </p:nvSpPr>
        <p:spPr>
          <a:xfrm>
            <a:off x="3151009" y="18699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3151009" y="2340864"/>
            <a:ext cx="1806841" cy="548640"/>
          </a:xfrm>
          <a:prstGeom prst="rect">
            <a:avLst/>
          </a:prstGeom>
          <a:noFill/>
          <a:ln/>
        </p:spPr>
        <p:txBody>
          <a:bodyPr wrap="square" lIns="0" tIns="0" rIns="0" bIns="0" rtlCol="0" anchor="t"/>
          <a:lstStyle/>
          <a:p>
            <a:pPr indent="0" marL="0">
              <a:lnSpc>
                <a:spcPts val="2000"/>
              </a:lnSpc>
              <a:buNone/>
            </a:pPr>
            <a:r>
              <a:rPr lang="en-US" sz="1600" b="1" dirty="0">
                <a:solidFill>
                  <a:srgbClr val="0F172A"/>
                </a:solidFill>
                <a:latin typeface="Arial" pitchFamily="34" charset="0"/>
                <a:ea typeface="Arial" pitchFamily="34" charset="-122"/>
                <a:cs typeface="Arial" pitchFamily="34" charset="-120"/>
              </a:rPr>
              <a:t>People do not feel ready</a:t>
            </a:r>
            <a:endParaRPr lang="en-US" sz="1600" dirty="0"/>
          </a:p>
        </p:txBody>
      </p:sp>
      <p:sp>
        <p:nvSpPr>
          <p:cNvPr id="14" name="Text 12"/>
          <p:cNvSpPr txBox="1"/>
          <p:nvPr/>
        </p:nvSpPr>
        <p:spPr>
          <a:xfrm>
            <a:off x="3151009" y="2926080"/>
            <a:ext cx="1806841" cy="914400"/>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Seeing a role is not seeing a path to it. Without a signal, people opt out.</a:t>
            </a:r>
            <a:endParaRPr lang="en-US" sz="1400" dirty="0"/>
          </a:p>
        </p:txBody>
      </p:sp>
      <p:sp>
        <p:nvSpPr>
          <p:cNvPr id="15" name="Shape 13"/>
          <p:cNvSpPr/>
          <p:nvPr/>
        </p:nvSpPr>
        <p:spPr>
          <a:xfrm>
            <a:off x="5360185" y="1700784"/>
            <a:ext cx="2245753" cy="2157984"/>
          </a:xfrm>
          <a:prstGeom prst="roundRect">
            <a:avLst>
              <a:gd name="adj" fmla="val 254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6" name="Shape 14"/>
          <p:cNvSpPr/>
          <p:nvPr/>
        </p:nvSpPr>
        <p:spPr>
          <a:xfrm>
            <a:off x="5579641" y="1865376"/>
            <a:ext cx="384048" cy="384048"/>
          </a:xfrm>
          <a:prstGeom prst="ellipse">
            <a:avLst/>
          </a:prstGeom>
          <a:solidFill>
            <a:srgbClr val="C00000"/>
          </a:solidFill>
          <a:ln w="12700">
            <a:solidFill>
              <a:srgbClr val="333333"/>
            </a:solidFill>
            <a:prstDash val="solid"/>
          </a:ln>
        </p:spPr>
      </p:sp>
      <p:sp>
        <p:nvSpPr>
          <p:cNvPr id="17" name="Text 15"/>
          <p:cNvSpPr txBox="1"/>
          <p:nvPr/>
        </p:nvSpPr>
        <p:spPr>
          <a:xfrm>
            <a:off x="5579641" y="18699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6"/>
          <p:cNvSpPr txBox="1"/>
          <p:nvPr/>
        </p:nvSpPr>
        <p:spPr>
          <a:xfrm>
            <a:off x="5579641" y="2340864"/>
            <a:ext cx="1806841" cy="548640"/>
          </a:xfrm>
          <a:prstGeom prst="rect">
            <a:avLst/>
          </a:prstGeom>
          <a:noFill/>
          <a:ln/>
        </p:spPr>
        <p:txBody>
          <a:bodyPr wrap="square" lIns="0" tIns="0" rIns="0" bIns="0" rtlCol="0" anchor="t"/>
          <a:lstStyle/>
          <a:p>
            <a:pPr indent="0" marL="0">
              <a:lnSpc>
                <a:spcPts val="2000"/>
              </a:lnSpc>
              <a:buNone/>
            </a:pPr>
            <a:r>
              <a:rPr lang="en-US" sz="1600" b="1" dirty="0">
                <a:solidFill>
                  <a:srgbClr val="0F172A"/>
                </a:solidFill>
                <a:latin typeface="Arial" pitchFamily="34" charset="0"/>
                <a:ea typeface="Arial" pitchFamily="34" charset="-122"/>
                <a:cs typeface="Arial" pitchFamily="34" charset="-120"/>
              </a:rPr>
              <a:t>Nothing matches or prepares</a:t>
            </a:r>
            <a:endParaRPr lang="en-US" sz="1600" dirty="0"/>
          </a:p>
        </p:txBody>
      </p:sp>
      <p:sp>
        <p:nvSpPr>
          <p:cNvPr id="19" name="Text 17"/>
          <p:cNvSpPr txBox="1"/>
          <p:nvPr/>
        </p:nvSpPr>
        <p:spPr>
          <a:xfrm>
            <a:off x="5579641" y="2926080"/>
            <a:ext cx="1806841" cy="914400"/>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Nothing connects what a person can do to what an opening needs.</a:t>
            </a:r>
            <a:endParaRPr lang="en-US" sz="1400" dirty="0"/>
          </a:p>
        </p:txBody>
      </p:sp>
      <p:sp>
        <p:nvSpPr>
          <p:cNvPr id="20" name="Shape 18"/>
          <p:cNvSpPr/>
          <p:nvPr/>
        </p:nvSpPr>
        <p:spPr>
          <a:xfrm>
            <a:off x="7825394" y="1700784"/>
            <a:ext cx="3863381" cy="2157984"/>
          </a:xfrm>
          <a:prstGeom prst="roundRect">
            <a:avLst>
              <a:gd name="adj" fmla="val 254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1" name="Text 19"/>
          <p:cNvSpPr txBox="1"/>
          <p:nvPr/>
        </p:nvSpPr>
        <p:spPr>
          <a:xfrm>
            <a:off x="8044850" y="1847088"/>
            <a:ext cx="3424469" cy="256032"/>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Internal applications, 2024–26</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044850" y="2176272"/>
          <a:ext cx="3424469" cy="914400"/>
        </p:xfrm>
        <a:graphic>
          <a:graphicData uri="http://schemas.openxmlformats.org/drawingml/2006/table">
            <a:tbl>
              <a:tblPr/>
              <a:tblGrid>
                <a:gridCol w="731520"/>
                <a:gridCol w="914400"/>
                <a:gridCol w="1005840"/>
                <a:gridCol w="777240"/>
              </a:tblGrid>
              <a:tr h="237744">
                <a:tc>
                  <a:txBody>
                    <a:bodyPr/>
                    <a:lstStyle/>
                    <a:p>
                      <a:pPr indent="0" marL="0">
                        <a:buNone/>
                      </a:pPr>
                      <a:r>
                        <a:rPr lang="en-US" sz="1400" b="1" dirty="0">
                          <a:solidFill>
                            <a:srgbClr val="374151"/>
                          </a:solidFill>
                          <a:latin typeface="Arial" pitchFamily="34" charset="0"/>
                          <a:ea typeface="Arial" pitchFamily="34" charset="-122"/>
                          <a:cs typeface="Arial" pitchFamily="34" charset="-120"/>
                        </a:rPr>
                        <a:t>Year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Vacancies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Internal</a:t>
                      </a:r>
                      <a:endParaRPr lang="en-US" sz="1400" dirty="0">
                        <a:latin typeface="Arial" charset="0"/>
                        <a:ea typeface="Arial" charset="0"/>
                        <a:cs typeface="Arial" charset="0"/>
                      </a:endParaRPr>
                    </a:p>
                    <a:p>
                      <a:pPr algn="r" indent="0" marL="0">
                        <a:buNone/>
                      </a:pPr>
                      <a:r>
                        <a:rPr lang="en-US" sz="1400" b="1" dirty="0">
                          <a:solidFill>
                            <a:srgbClr val="374151"/>
                          </a:solidFill>
                          <a:latin typeface="Arial" pitchFamily="34" charset="0"/>
                          <a:ea typeface="Arial" pitchFamily="34" charset="-122"/>
                          <a:cs typeface="Arial" pitchFamily="34" charset="-120"/>
                        </a:rPr>
                        <a:t>applicants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Accepted</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2024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355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116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65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2025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302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121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54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2026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351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226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51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b="1" dirty="0">
                          <a:solidFill>
                            <a:srgbClr val="374151"/>
                          </a:solidFill>
                          <a:latin typeface="Arial" pitchFamily="34" charset="0"/>
                          <a:ea typeface="Arial" pitchFamily="34" charset="-122"/>
                          <a:cs typeface="Arial" pitchFamily="34" charset="-120"/>
                        </a:rPr>
                        <a:t>Total</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1,008</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463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C00000"/>
                          </a:solidFill>
                          <a:latin typeface="Arial" pitchFamily="34" charset="0"/>
                          <a:ea typeface="Arial" pitchFamily="34" charset="-122"/>
                          <a:cs typeface="Arial" pitchFamily="34" charset="-120"/>
                        </a:rPr>
                        <a:t>170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bl>
          </a:graphicData>
        </a:graphic>
      </p:graphicFrame>
      <p:sp>
        <p:nvSpPr>
          <p:cNvPr id="23" name="Shape 20"/>
          <p:cNvSpPr/>
          <p:nvPr/>
        </p:nvSpPr>
        <p:spPr>
          <a:xfrm>
            <a:off x="502920" y="4023360"/>
            <a:ext cx="11185855" cy="1993392"/>
          </a:xfrm>
          <a:prstGeom prst="roundRect">
            <a:avLst>
              <a:gd name="adj" fmla="val 2752"/>
            </a:avLst>
          </a:prstGeom>
          <a:solidFill>
            <a:srgbClr val="0F172A"/>
          </a:solidFill>
          <a:ln w="12700">
            <a:solidFill>
              <a:srgbClr val="333333"/>
            </a:solidFill>
            <a:prstDash val="solid"/>
          </a:ln>
        </p:spPr>
      </p:sp>
      <p:sp>
        <p:nvSpPr>
          <p:cNvPr id="24" name="Text 21"/>
          <p:cNvSpPr txBox="1"/>
          <p:nvPr/>
        </p:nvSpPr>
        <p:spPr>
          <a:xfrm>
            <a:off x="832104" y="4206240"/>
            <a:ext cx="10527487" cy="31089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leak is at the top of the funnel, not the bottom</a:t>
            </a:r>
            <a:endParaRPr lang="en-US" sz="2000" dirty="0"/>
          </a:p>
        </p:txBody>
      </p:sp>
      <p:sp>
        <p:nvSpPr>
          <p:cNvPr id="25" name="Text 22"/>
          <p:cNvSpPr txBox="1"/>
          <p:nvPr/>
        </p:nvSpPr>
        <p:spPr>
          <a:xfrm>
            <a:off x="832104" y="4608576"/>
            <a:ext cx="3326282" cy="420624"/>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0.46</a:t>
            </a:r>
            <a:endParaRPr lang="en-US" sz="2800" dirty="0"/>
          </a:p>
        </p:txBody>
      </p:sp>
      <p:sp>
        <p:nvSpPr>
          <p:cNvPr id="26" name="Text 23"/>
          <p:cNvSpPr txBox="1"/>
          <p:nvPr/>
        </p:nvSpPr>
        <p:spPr>
          <a:xfrm>
            <a:off x="832104" y="5047488"/>
            <a:ext cx="3326282" cy="256032"/>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internal applicants per vacancy</a:t>
            </a:r>
            <a:endParaRPr lang="en-US" sz="1500" dirty="0"/>
          </a:p>
        </p:txBody>
      </p:sp>
      <p:sp>
        <p:nvSpPr>
          <p:cNvPr id="27" name="Text 24"/>
          <p:cNvSpPr txBox="1"/>
          <p:nvPr/>
        </p:nvSpPr>
        <p:spPr>
          <a:xfrm>
            <a:off x="832104" y="5321808"/>
            <a:ext cx="3326282" cy="475488"/>
          </a:xfrm>
          <a:prstGeom prst="rect">
            <a:avLst/>
          </a:prstGeom>
          <a:noFill/>
          <a:ln/>
        </p:spPr>
        <p:txBody>
          <a:bodyPr wrap="square" lIns="0" tIns="0" rIns="0" bIns="0" rtlCol="0" anchor="t"/>
          <a:lstStyle/>
          <a:p>
            <a:pPr indent="0" marL="0">
              <a:lnSpc>
                <a:spcPts val="1800"/>
              </a:lnSpc>
              <a:buNone/>
            </a:pPr>
            <a:r>
              <a:rPr lang="en-US" sz="1400" dirty="0">
                <a:solidFill>
                  <a:srgbClr val="94A3B8"/>
                </a:solidFill>
                <a:latin typeface="Arial" pitchFamily="34" charset="0"/>
                <a:ea typeface="Arial" pitchFamily="34" charset="-122"/>
                <a:cs typeface="Arial" pitchFamily="34" charset="-120"/>
              </a:rPr>
              <a:t>463 applicants across 1,008 openings</a:t>
            </a:r>
            <a:endParaRPr lang="en-US" sz="1400" dirty="0"/>
          </a:p>
        </p:txBody>
      </p:sp>
      <p:sp>
        <p:nvSpPr>
          <p:cNvPr id="28" name="Text 25"/>
          <p:cNvSpPr txBox="1"/>
          <p:nvPr/>
        </p:nvSpPr>
        <p:spPr>
          <a:xfrm>
            <a:off x="4432706" y="4608576"/>
            <a:ext cx="3326282" cy="420624"/>
          </a:xfrm>
          <a:prstGeom prst="rect">
            <a:avLst/>
          </a:prstGeom>
          <a:noFill/>
          <a:ln/>
        </p:spPr>
        <p:txBody>
          <a:bodyPr wrap="square" lIns="0" tIns="0" rIns="0" bIns="0" rtlCol="0" anchor="ctr"/>
          <a:lstStyle/>
          <a:p>
            <a:pPr indent="0" marL="0">
              <a:buNone/>
            </a:pPr>
            <a:r>
              <a:rPr lang="en-US" sz="2800" b="1" dirty="0">
                <a:solidFill>
                  <a:srgbClr val="4ADE80"/>
                </a:solidFill>
                <a:latin typeface="Arial" pitchFamily="34" charset="0"/>
                <a:ea typeface="Arial" pitchFamily="34" charset="-122"/>
                <a:cs typeface="Arial" pitchFamily="34" charset="-120"/>
              </a:rPr>
              <a:t>37%</a:t>
            </a:r>
            <a:endParaRPr lang="en-US" sz="2800" dirty="0"/>
          </a:p>
        </p:txBody>
      </p:sp>
      <p:sp>
        <p:nvSpPr>
          <p:cNvPr id="29" name="Text 26"/>
          <p:cNvSpPr txBox="1"/>
          <p:nvPr/>
        </p:nvSpPr>
        <p:spPr>
          <a:xfrm>
            <a:off x="4432706" y="5047488"/>
            <a:ext cx="3326282" cy="256032"/>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of internal applicants are hired</a:t>
            </a:r>
            <a:endParaRPr lang="en-US" sz="1500" dirty="0"/>
          </a:p>
        </p:txBody>
      </p:sp>
      <p:sp>
        <p:nvSpPr>
          <p:cNvPr id="30" name="Text 27"/>
          <p:cNvSpPr txBox="1"/>
          <p:nvPr/>
        </p:nvSpPr>
        <p:spPr>
          <a:xfrm>
            <a:off x="4432706" y="5321808"/>
            <a:ext cx="3326282" cy="475488"/>
          </a:xfrm>
          <a:prstGeom prst="rect">
            <a:avLst/>
          </a:prstGeom>
          <a:noFill/>
          <a:ln/>
        </p:spPr>
        <p:txBody>
          <a:bodyPr wrap="square" lIns="0" tIns="0" rIns="0" bIns="0" rtlCol="0" anchor="t"/>
          <a:lstStyle/>
          <a:p>
            <a:pPr indent="0" marL="0">
              <a:lnSpc>
                <a:spcPts val="1800"/>
              </a:lnSpc>
              <a:buNone/>
            </a:pPr>
            <a:r>
              <a:rPr lang="en-US" sz="1400" dirty="0">
                <a:solidFill>
                  <a:srgbClr val="94A3B8"/>
                </a:solidFill>
                <a:latin typeface="Arial" pitchFamily="34" charset="0"/>
                <a:ea typeface="Arial" pitchFamily="34" charset="-122"/>
                <a:cs typeface="Arial" pitchFamily="34" charset="-120"/>
              </a:rPr>
              <a:t>170 of 463 — the bar is not the problem</a:t>
            </a:r>
            <a:endParaRPr lang="en-US" sz="1400" dirty="0"/>
          </a:p>
        </p:txBody>
      </p:sp>
      <p:sp>
        <p:nvSpPr>
          <p:cNvPr id="31" name="Text 28"/>
          <p:cNvSpPr txBox="1"/>
          <p:nvPr/>
        </p:nvSpPr>
        <p:spPr>
          <a:xfrm>
            <a:off x="8033309" y="4608576"/>
            <a:ext cx="3326282" cy="420624"/>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16.9%</a:t>
            </a:r>
            <a:endParaRPr lang="en-US" sz="2800" dirty="0"/>
          </a:p>
        </p:txBody>
      </p:sp>
      <p:sp>
        <p:nvSpPr>
          <p:cNvPr id="32" name="Text 29"/>
          <p:cNvSpPr txBox="1"/>
          <p:nvPr/>
        </p:nvSpPr>
        <p:spPr>
          <a:xfrm>
            <a:off x="8033309" y="5047488"/>
            <a:ext cx="3326282" cy="256032"/>
          </a:xfrm>
          <a:prstGeom prst="rect">
            <a:avLst/>
          </a:prstGeom>
          <a:noFill/>
          <a:ln/>
        </p:spPr>
        <p:txBody>
          <a:bodyPr wrap="square" lIns="0" tIns="0" rIns="0" bIns="0" rtlCol="0" anchor="ctr"/>
          <a:lstStyle/>
          <a:p>
            <a:pPr indent="0" marL="0">
              <a:buNone/>
            </a:pPr>
            <a:r>
              <a:rPr lang="en-US" sz="1500" b="1" dirty="0">
                <a:solidFill>
                  <a:srgbClr val="E2E8F0"/>
                </a:solidFill>
                <a:latin typeface="Arial" pitchFamily="34" charset="0"/>
                <a:ea typeface="Arial" pitchFamily="34" charset="-122"/>
                <a:cs typeface="Arial" pitchFamily="34" charset="-120"/>
              </a:rPr>
              <a:t>of vacancies filled internally</a:t>
            </a:r>
            <a:endParaRPr lang="en-US" sz="1500" dirty="0"/>
          </a:p>
        </p:txBody>
      </p:sp>
      <p:sp>
        <p:nvSpPr>
          <p:cNvPr id="33" name="Text 30"/>
          <p:cNvSpPr txBox="1"/>
          <p:nvPr/>
        </p:nvSpPr>
        <p:spPr>
          <a:xfrm>
            <a:off x="8033309" y="5321808"/>
            <a:ext cx="3326282" cy="475488"/>
          </a:xfrm>
          <a:prstGeom prst="rect">
            <a:avLst/>
          </a:prstGeom>
          <a:noFill/>
          <a:ln/>
        </p:spPr>
        <p:txBody>
          <a:bodyPr wrap="square" lIns="0" tIns="0" rIns="0" bIns="0" rtlCol="0" anchor="t"/>
          <a:lstStyle/>
          <a:p>
            <a:pPr indent="0" marL="0">
              <a:lnSpc>
                <a:spcPts val="1800"/>
              </a:lnSpc>
              <a:buNone/>
            </a:pPr>
            <a:r>
              <a:rPr lang="en-US" sz="1400" dirty="0">
                <a:solidFill>
                  <a:srgbClr val="94A3B8"/>
                </a:solidFill>
                <a:latin typeface="Arial" pitchFamily="34" charset="0"/>
                <a:ea typeface="Arial" pitchFamily="34" charset="-122"/>
                <a:cs typeface="Arial" pitchFamily="34" charset="-120"/>
              </a:rPr>
              <a:t>the number we are trying to move</a:t>
            </a:r>
            <a:endParaRPr lang="en-US" sz="1400" dirty="0"/>
          </a:p>
        </p:txBody>
      </p:sp>
      <p:sp>
        <p:nvSpPr>
          <p:cNvPr id="34" name="Shape 31"/>
          <p:cNvSpPr/>
          <p:nvPr/>
        </p:nvSpPr>
        <p:spPr>
          <a:xfrm>
            <a:off x="502920" y="6291072"/>
            <a:ext cx="11185855" cy="0"/>
          </a:xfrm>
          <a:prstGeom prst="line">
            <a:avLst/>
          </a:prstGeom>
          <a:noFill/>
          <a:ln w="12700">
            <a:solidFill>
              <a:srgbClr val="E5E7EB"/>
            </a:solidFill>
            <a:prstDash val="solid"/>
          </a:ln>
        </p:spPr>
      </p:sp>
      <p:sp>
        <p:nvSpPr>
          <p:cNvPr id="35" name="Text 32"/>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 HCPH internal job posting data, 2024–2026 (1,008 vacancies).</a:t>
            </a:r>
            <a:endParaRPr lang="en-US" sz="1400" dirty="0"/>
          </a:p>
        </p:txBody>
      </p:sp>
      <p:sp>
        <p:nvSpPr>
          <p:cNvPr id="36" name="Text 33"/>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THE PAIN</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What it costs us to leave this alone.</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Five costs we are already paying, every year, for a problem we can see.</a:t>
            </a:r>
            <a:endParaRPr lang="en-US" sz="1600" dirty="0"/>
          </a:p>
        </p:txBody>
      </p:sp>
      <p:sp>
        <p:nvSpPr>
          <p:cNvPr id="5" name="Shape 3"/>
          <p:cNvSpPr/>
          <p:nvPr/>
        </p:nvSpPr>
        <p:spPr>
          <a:xfrm>
            <a:off x="502920" y="1700784"/>
            <a:ext cx="3582314" cy="2048256"/>
          </a:xfrm>
          <a:prstGeom prst="roundRect">
            <a:avLst>
              <a:gd name="adj" fmla="val 267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40664" y="1883664"/>
            <a:ext cx="3106826" cy="475488"/>
          </a:xfrm>
          <a:prstGeom prst="rect">
            <a:avLst/>
          </a:prstGeom>
          <a:noFill/>
          <a:ln/>
        </p:spPr>
        <p:txBody>
          <a:bodyPr wrap="square" lIns="0" tIns="0" rIns="0" bIns="0" rtlCol="0" anchor="ctr"/>
          <a:lstStyle/>
          <a:p>
            <a:pPr indent="0" marL="0">
              <a:buNone/>
            </a:pPr>
            <a:r>
              <a:rPr lang="en-US" sz="3400" b="1" dirty="0">
                <a:solidFill>
                  <a:srgbClr val="C00000"/>
                </a:solidFill>
                <a:latin typeface="Arial" pitchFamily="34" charset="0"/>
                <a:ea typeface="Arial" pitchFamily="34" charset="-122"/>
                <a:cs typeface="Arial" pitchFamily="34" charset="-120"/>
              </a:rPr>
              <a:t>₱6.1M</a:t>
            </a:r>
            <a:endParaRPr lang="en-US" sz="3400" dirty="0"/>
          </a:p>
        </p:txBody>
      </p:sp>
      <p:sp>
        <p:nvSpPr>
          <p:cNvPr id="7" name="Text 5"/>
          <p:cNvSpPr txBox="1"/>
          <p:nvPr/>
        </p:nvSpPr>
        <p:spPr>
          <a:xfrm>
            <a:off x="740664" y="2359152"/>
            <a:ext cx="3106826" cy="475488"/>
          </a:xfrm>
          <a:prstGeom prst="rect">
            <a:avLst/>
          </a:prstGeom>
          <a:noFill/>
          <a:ln/>
        </p:spPr>
        <p:txBody>
          <a:bodyPr wrap="square" lIns="0" tIns="0" rIns="0" bIns="0" rtlCol="0" anchor="t"/>
          <a:lstStyle/>
          <a:p>
            <a:pPr indent="0" marL="0">
              <a:lnSpc>
                <a:spcPts val="2000"/>
              </a:lnSpc>
              <a:buNone/>
            </a:pPr>
            <a:r>
              <a:rPr lang="en-US" sz="1600" b="1" dirty="0">
                <a:solidFill>
                  <a:srgbClr val="0F172A"/>
                </a:solidFill>
                <a:latin typeface="Arial" pitchFamily="34" charset="0"/>
                <a:ea typeface="Arial" pitchFamily="34" charset="-122"/>
                <a:cs typeface="Arial" pitchFamily="34" charset="-120"/>
              </a:rPr>
              <a:t>a year to headhunters, Band C alone</a:t>
            </a:r>
            <a:endParaRPr lang="en-US" sz="1600" dirty="0"/>
          </a:p>
        </p:txBody>
      </p:sp>
      <p:sp>
        <p:nvSpPr>
          <p:cNvPr id="8" name="Text 6"/>
          <p:cNvSpPr txBox="1"/>
          <p:nvPr/>
        </p:nvSpPr>
        <p:spPr>
          <a:xfrm>
            <a:off x="740664" y="2871216"/>
            <a:ext cx="3106826" cy="80467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₱58,823 per hire — 68% of the cost of filling a Band C role. Every internal fill returns that fee.</a:t>
            </a:r>
            <a:endParaRPr lang="en-US" sz="1400" dirty="0"/>
          </a:p>
        </p:txBody>
      </p:sp>
      <p:sp>
        <p:nvSpPr>
          <p:cNvPr id="9" name="Shape 7"/>
          <p:cNvSpPr/>
          <p:nvPr/>
        </p:nvSpPr>
        <p:spPr>
          <a:xfrm>
            <a:off x="4304690" y="1700784"/>
            <a:ext cx="3582314" cy="2048256"/>
          </a:xfrm>
          <a:prstGeom prst="roundRect">
            <a:avLst>
              <a:gd name="adj" fmla="val 267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8"/>
          <p:cNvSpPr txBox="1"/>
          <p:nvPr/>
        </p:nvSpPr>
        <p:spPr>
          <a:xfrm>
            <a:off x="4542434" y="1883664"/>
            <a:ext cx="3106826" cy="475488"/>
          </a:xfrm>
          <a:prstGeom prst="rect">
            <a:avLst/>
          </a:prstGeom>
          <a:noFill/>
          <a:ln/>
        </p:spPr>
        <p:txBody>
          <a:bodyPr wrap="square" lIns="0" tIns="0" rIns="0" bIns="0" rtlCol="0" anchor="ctr"/>
          <a:lstStyle/>
          <a:p>
            <a:pPr indent="0" marL="0">
              <a:buNone/>
            </a:pPr>
            <a:r>
              <a:rPr lang="en-US" sz="3400" b="1" dirty="0">
                <a:solidFill>
                  <a:srgbClr val="B45309"/>
                </a:solidFill>
                <a:latin typeface="Arial" pitchFamily="34" charset="0"/>
                <a:ea typeface="Arial" pitchFamily="34" charset="-122"/>
                <a:cs typeface="Arial" pitchFamily="34" charset="-120"/>
              </a:rPr>
              <a:t>37 days</a:t>
            </a:r>
            <a:endParaRPr lang="en-US" sz="3400" dirty="0"/>
          </a:p>
        </p:txBody>
      </p:sp>
      <p:sp>
        <p:nvSpPr>
          <p:cNvPr id="11" name="Text 9"/>
          <p:cNvSpPr txBox="1"/>
          <p:nvPr/>
        </p:nvSpPr>
        <p:spPr>
          <a:xfrm>
            <a:off x="4542434" y="2359152"/>
            <a:ext cx="3106826" cy="475488"/>
          </a:xfrm>
          <a:prstGeom prst="rect">
            <a:avLst/>
          </a:prstGeom>
          <a:noFill/>
          <a:ln/>
        </p:spPr>
        <p:txBody>
          <a:bodyPr wrap="square" lIns="0" tIns="0" rIns="0" bIns="0" rtlCol="0" anchor="t"/>
          <a:lstStyle/>
          <a:p>
            <a:pPr indent="0" marL="0">
              <a:lnSpc>
                <a:spcPts val="2000"/>
              </a:lnSpc>
              <a:buNone/>
            </a:pPr>
            <a:r>
              <a:rPr lang="en-US" sz="1600" b="1" dirty="0">
                <a:solidFill>
                  <a:srgbClr val="0F172A"/>
                </a:solidFill>
                <a:latin typeface="Arial" pitchFamily="34" charset="0"/>
                <a:ea typeface="Arial" pitchFamily="34" charset="-122"/>
                <a:cs typeface="Arial" pitchFamily="34" charset="-120"/>
              </a:rPr>
              <a:t>of lost output per external hire</a:t>
            </a:r>
            <a:endParaRPr lang="en-US" sz="1600" dirty="0"/>
          </a:p>
        </p:txBody>
      </p:sp>
      <p:sp>
        <p:nvSpPr>
          <p:cNvPr id="12" name="Text 10"/>
          <p:cNvSpPr txBox="1"/>
          <p:nvPr/>
        </p:nvSpPr>
        <p:spPr>
          <a:xfrm>
            <a:off x="4542434" y="2871216"/>
            <a:ext cx="3106826" cy="80467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58 days to fill externally against 21 internally, on 289 Band B and C roles a year.</a:t>
            </a:r>
            <a:endParaRPr lang="en-US" sz="1400" dirty="0"/>
          </a:p>
        </p:txBody>
      </p:sp>
      <p:sp>
        <p:nvSpPr>
          <p:cNvPr id="13" name="Shape 11"/>
          <p:cNvSpPr/>
          <p:nvPr/>
        </p:nvSpPr>
        <p:spPr>
          <a:xfrm>
            <a:off x="8106461" y="1700784"/>
            <a:ext cx="3582314" cy="2048256"/>
          </a:xfrm>
          <a:prstGeom prst="roundRect">
            <a:avLst>
              <a:gd name="adj" fmla="val 267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4" name="Text 12"/>
          <p:cNvSpPr txBox="1"/>
          <p:nvPr/>
        </p:nvSpPr>
        <p:spPr>
          <a:xfrm>
            <a:off x="8344205" y="1883664"/>
            <a:ext cx="3106826" cy="475488"/>
          </a:xfrm>
          <a:prstGeom prst="rect">
            <a:avLst/>
          </a:prstGeom>
          <a:noFill/>
          <a:ln/>
        </p:spPr>
        <p:txBody>
          <a:bodyPr wrap="square" lIns="0" tIns="0" rIns="0" bIns="0" rtlCol="0" anchor="ctr"/>
          <a:lstStyle/>
          <a:p>
            <a:pPr indent="0" marL="0">
              <a:buNone/>
            </a:pPr>
            <a:r>
              <a:rPr lang="en-US" sz="3400" b="1" dirty="0">
                <a:solidFill>
                  <a:srgbClr val="C00000"/>
                </a:solidFill>
                <a:latin typeface="Arial" pitchFamily="34" charset="0"/>
                <a:ea typeface="Arial" pitchFamily="34" charset="-122"/>
                <a:cs typeface="Arial" pitchFamily="34" charset="-120"/>
              </a:rPr>
              <a:t>22%</a:t>
            </a:r>
            <a:endParaRPr lang="en-US" sz="3400" dirty="0"/>
          </a:p>
        </p:txBody>
      </p:sp>
      <p:sp>
        <p:nvSpPr>
          <p:cNvPr id="15" name="Text 13"/>
          <p:cNvSpPr txBox="1"/>
          <p:nvPr/>
        </p:nvSpPr>
        <p:spPr>
          <a:xfrm>
            <a:off x="8344205" y="2359152"/>
            <a:ext cx="3106826" cy="475488"/>
          </a:xfrm>
          <a:prstGeom prst="rect">
            <a:avLst/>
          </a:prstGeom>
          <a:noFill/>
          <a:ln/>
        </p:spPr>
        <p:txBody>
          <a:bodyPr wrap="square" lIns="0" tIns="0" rIns="0" bIns="0" rtlCol="0" anchor="t"/>
          <a:lstStyle/>
          <a:p>
            <a:pPr indent="0" marL="0">
              <a:lnSpc>
                <a:spcPts val="2000"/>
              </a:lnSpc>
              <a:buNone/>
            </a:pPr>
            <a:r>
              <a:rPr lang="en-US" sz="1600" b="1" dirty="0">
                <a:solidFill>
                  <a:srgbClr val="0F172A"/>
                </a:solidFill>
                <a:latin typeface="Arial" pitchFamily="34" charset="0"/>
                <a:ea typeface="Arial" pitchFamily="34" charset="-122"/>
                <a:cs typeface="Arial" pitchFamily="34" charset="-120"/>
              </a:rPr>
              <a:t>of exits cite career opportunity</a:t>
            </a:r>
            <a:endParaRPr lang="en-US" sz="1600" dirty="0"/>
          </a:p>
        </p:txBody>
      </p:sp>
      <p:sp>
        <p:nvSpPr>
          <p:cNvPr id="16" name="Text 14"/>
          <p:cNvSpPr txBox="1"/>
          <p:nvPr/>
        </p:nvSpPr>
        <p:spPr>
          <a:xfrm>
            <a:off x="8344205" y="2871216"/>
            <a:ext cx="3106826" cy="80467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The top controllable reason people leave. Replacing one costs 50–200% of annual salary.</a:t>
            </a:r>
            <a:endParaRPr lang="en-US" sz="1400" dirty="0"/>
          </a:p>
        </p:txBody>
      </p:sp>
      <p:sp>
        <p:nvSpPr>
          <p:cNvPr id="17" name="Shape 15"/>
          <p:cNvSpPr/>
          <p:nvPr/>
        </p:nvSpPr>
        <p:spPr>
          <a:xfrm>
            <a:off x="502920" y="3913632"/>
            <a:ext cx="5483200" cy="1170432"/>
          </a:xfrm>
          <a:prstGeom prst="roundRect">
            <a:avLst>
              <a:gd name="adj" fmla="val 4688"/>
            </a:avLst>
          </a:prstGeom>
          <a:solidFill>
            <a:srgbClr val="F7F8FA"/>
          </a:solidFill>
          <a:ln w="12700">
            <a:solidFill>
              <a:srgbClr val="333333"/>
            </a:solidFill>
            <a:prstDash val="solid"/>
          </a:ln>
        </p:spPr>
      </p:sp>
      <p:sp>
        <p:nvSpPr>
          <p:cNvPr id="18" name="Text 16"/>
          <p:cNvSpPr txBox="1"/>
          <p:nvPr/>
        </p:nvSpPr>
        <p:spPr>
          <a:xfrm>
            <a:off x="740664" y="4078224"/>
            <a:ext cx="5007712"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Priority work waits</a:t>
            </a:r>
            <a:endParaRPr lang="en-US" sz="1700" dirty="0"/>
          </a:p>
        </p:txBody>
      </p:sp>
      <p:sp>
        <p:nvSpPr>
          <p:cNvPr id="19" name="Text 17"/>
          <p:cNvSpPr txBox="1"/>
          <p:nvPr/>
        </p:nvSpPr>
        <p:spPr>
          <a:xfrm>
            <a:off x="740664" y="4389120"/>
            <a:ext cx="5007712" cy="56692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ExCo initiatives get staffed by contractors, because we cannot see who inside could do the work.</a:t>
            </a:r>
            <a:endParaRPr lang="en-US" sz="1400" dirty="0"/>
          </a:p>
        </p:txBody>
      </p:sp>
      <p:sp>
        <p:nvSpPr>
          <p:cNvPr id="20" name="Shape 18"/>
          <p:cNvSpPr/>
          <p:nvPr/>
        </p:nvSpPr>
        <p:spPr>
          <a:xfrm>
            <a:off x="6205576" y="3913632"/>
            <a:ext cx="5483200" cy="1170432"/>
          </a:xfrm>
          <a:prstGeom prst="roundRect">
            <a:avLst>
              <a:gd name="adj" fmla="val 4688"/>
            </a:avLst>
          </a:prstGeom>
          <a:solidFill>
            <a:srgbClr val="F7F8FA"/>
          </a:solidFill>
          <a:ln w="12700">
            <a:solidFill>
              <a:srgbClr val="333333"/>
            </a:solidFill>
            <a:prstDash val="solid"/>
          </a:ln>
        </p:spPr>
      </p:sp>
      <p:sp>
        <p:nvSpPr>
          <p:cNvPr id="21" name="Text 19"/>
          <p:cNvSpPr txBox="1"/>
          <p:nvPr/>
        </p:nvSpPr>
        <p:spPr>
          <a:xfrm>
            <a:off x="6443320" y="4078224"/>
            <a:ext cx="5007712"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We cannot answer "who can do X?"</a:t>
            </a:r>
            <a:endParaRPr lang="en-US" sz="1700" dirty="0"/>
          </a:p>
        </p:txBody>
      </p:sp>
      <p:sp>
        <p:nvSpPr>
          <p:cNvPr id="22" name="Text 20"/>
          <p:cNvSpPr txBox="1"/>
          <p:nvPr/>
        </p:nvSpPr>
        <p:spPr>
          <a:xfrm>
            <a:off x="6443320" y="4389120"/>
            <a:ext cx="5007712" cy="56692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There is no skills inventory, so workforce planning runs on assumption rather than data.</a:t>
            </a:r>
            <a:endParaRPr lang="en-US" sz="1400" dirty="0"/>
          </a:p>
        </p:txBody>
      </p:sp>
      <p:sp>
        <p:nvSpPr>
          <p:cNvPr id="23" name="Shape 21"/>
          <p:cNvSpPr/>
          <p:nvPr/>
        </p:nvSpPr>
        <p:spPr>
          <a:xfrm>
            <a:off x="502920" y="5248656"/>
            <a:ext cx="11185855" cy="786384"/>
          </a:xfrm>
          <a:prstGeom prst="roundRect">
            <a:avLst>
              <a:gd name="adj" fmla="val 6977"/>
            </a:avLst>
          </a:prstGeom>
          <a:solidFill>
            <a:srgbClr val="FDF1F1"/>
          </a:solidFill>
          <a:ln w="12700">
            <a:solidFill>
              <a:srgbClr val="333333"/>
            </a:solidFill>
            <a:prstDash val="solid"/>
          </a:ln>
        </p:spPr>
      </p:sp>
      <p:sp>
        <p:nvSpPr>
          <p:cNvPr id="24" name="Text 22"/>
          <p:cNvSpPr txBox="1"/>
          <p:nvPr/>
        </p:nvSpPr>
        <p:spPr>
          <a:xfrm>
            <a:off x="813816" y="5248656"/>
            <a:ext cx="10564063" cy="786384"/>
          </a:xfrm>
          <a:prstGeom prst="rect">
            <a:avLst/>
          </a:prstGeom>
          <a:noFill/>
          <a:ln/>
        </p:spPr>
        <p:txBody>
          <a:bodyPr wrap="square" lIns="0" tIns="0" rIns="0" bIns="0" rtlCol="0" anchor="ctr"/>
          <a:lstStyle/>
          <a:p>
            <a:pPr indent="0" marL="0">
              <a:lnSpc>
                <a:spcPts val="2200"/>
              </a:lnSpc>
              <a:buNone/>
            </a:pPr>
            <a:r>
              <a:rPr lang="en-US" sz="1600" b="1" dirty="0">
                <a:solidFill>
                  <a:srgbClr val="C00000"/>
                </a:solidFill>
                <a:latin typeface="Arial" pitchFamily="34" charset="0"/>
                <a:ea typeface="Arial" pitchFamily="34" charset="-122"/>
                <a:cs typeface="Arial" pitchFamily="34" charset="-120"/>
              </a:rPr>
              <a:t>The cost of doing nothing is not zero. </a:t>
            </a:r>
            <a:pPr indent="0" marL="0">
              <a:lnSpc>
                <a:spcPts val="2200"/>
              </a:lnSpc>
              <a:buNone/>
            </a:pPr>
            <a:r>
              <a:rPr lang="en-US" sz="1600" dirty="0">
                <a:solidFill>
                  <a:srgbClr val="374151"/>
                </a:solidFill>
                <a:latin typeface="Arial" pitchFamily="34" charset="0"/>
                <a:ea typeface="Arial" pitchFamily="34" charset="-122"/>
                <a:cs typeface="Arial" pitchFamily="34" charset="-120"/>
              </a:rPr>
              <a:t>₱6.1M a year in avoidable fees, plus the people we will replace at 50–200% of salary — for want of a mechanism that costs ₱550 per employee a year.</a:t>
            </a:r>
            <a:endParaRPr lang="en-US" sz="1600" dirty="0"/>
          </a:p>
        </p:txBody>
      </p:sp>
      <p:sp>
        <p:nvSpPr>
          <p:cNvPr id="25" name="Shape 23"/>
          <p:cNvSpPr/>
          <p:nvPr/>
        </p:nvSpPr>
        <p:spPr>
          <a:xfrm>
            <a:off x="502920" y="6291072"/>
            <a:ext cx="11185855" cy="0"/>
          </a:xfrm>
          <a:prstGeom prst="line">
            <a:avLst/>
          </a:prstGeom>
          <a:noFill/>
          <a:ln w="12700">
            <a:solidFill>
              <a:srgbClr val="E5E7EB"/>
            </a:solidFill>
            <a:prstDash val="solid"/>
          </a:ln>
        </p:spPr>
      </p:sp>
      <p:sp>
        <p:nvSpPr>
          <p:cNvPr id="26" name="Text 24"/>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Sources: 2024 cost-per-hire · 2025 hiring volumes · HCPH exit survey · SHRM replacement-cost range.</a:t>
            </a:r>
            <a:endParaRPr lang="en-US" sz="1400" dirty="0"/>
          </a:p>
        </p:txBody>
      </p:sp>
      <p:sp>
        <p:nvSpPr>
          <p:cNvPr id="27" name="Text 25"/>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THE PRIZE</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What we get back — beyond the fee we stop paying.</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One hard number, four compounding ones.</a:t>
            </a:r>
            <a:endParaRPr lang="en-US" sz="1600" dirty="0"/>
          </a:p>
        </p:txBody>
      </p:sp>
      <p:sp>
        <p:nvSpPr>
          <p:cNvPr id="5" name="Shape 3"/>
          <p:cNvSpPr/>
          <p:nvPr/>
        </p:nvSpPr>
        <p:spPr>
          <a:xfrm>
            <a:off x="502920" y="1700784"/>
            <a:ext cx="4026908" cy="2286000"/>
          </a:xfrm>
          <a:prstGeom prst="roundRect">
            <a:avLst>
              <a:gd name="adj" fmla="val 2400"/>
            </a:avLst>
          </a:prstGeom>
          <a:solidFill>
            <a:srgbClr val="0F172A"/>
          </a:solidFill>
          <a:ln w="12700">
            <a:solidFill>
              <a:srgbClr val="333333"/>
            </a:solidFill>
            <a:prstDash val="solid"/>
          </a:ln>
        </p:spPr>
      </p:sp>
      <p:sp>
        <p:nvSpPr>
          <p:cNvPr id="6" name="Text 4"/>
          <p:cNvSpPr txBox="1"/>
          <p:nvPr/>
        </p:nvSpPr>
        <p:spPr>
          <a:xfrm>
            <a:off x="813816" y="1956816"/>
            <a:ext cx="3405116" cy="731520"/>
          </a:xfrm>
          <a:prstGeom prst="rect">
            <a:avLst/>
          </a:prstGeom>
          <a:noFill/>
          <a:ln/>
        </p:spPr>
        <p:txBody>
          <a:bodyPr wrap="square" lIns="0" tIns="0" rIns="0" bIns="0" rtlCol="0" anchor="ctr"/>
          <a:lstStyle/>
          <a:p>
            <a:pPr indent="0" marL="0">
              <a:buNone/>
            </a:pPr>
            <a:r>
              <a:rPr lang="en-US" sz="5200" b="1" dirty="0">
                <a:solidFill>
                  <a:srgbClr val="4ADE80"/>
                </a:solidFill>
                <a:latin typeface="Arial" pitchFamily="34" charset="0"/>
                <a:ea typeface="Arial" pitchFamily="34" charset="-122"/>
                <a:cs typeface="Arial" pitchFamily="34" charset="-120"/>
              </a:rPr>
              <a:t>₱3.9M</a:t>
            </a:r>
            <a:endParaRPr lang="en-US" sz="5200" dirty="0"/>
          </a:p>
        </p:txBody>
      </p:sp>
      <p:sp>
        <p:nvSpPr>
          <p:cNvPr id="7" name="Text 5"/>
          <p:cNvSpPr txBox="1"/>
          <p:nvPr/>
        </p:nvSpPr>
        <p:spPr>
          <a:xfrm>
            <a:off x="813816" y="2706624"/>
            <a:ext cx="3405116" cy="749808"/>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Arial" pitchFamily="34" charset="0"/>
                <a:ea typeface="Arial" pitchFamily="34" charset="-122"/>
                <a:cs typeface="Arial" pitchFamily="34" charset="-120"/>
              </a:rPr>
              <a:t>a year, if Band B and Band C internal fill reaches the 30% benchmark</a:t>
            </a:r>
            <a:endParaRPr lang="en-US" sz="1600" dirty="0"/>
          </a:p>
        </p:txBody>
      </p:sp>
      <p:sp>
        <p:nvSpPr>
          <p:cNvPr id="8" name="Text 6"/>
          <p:cNvSpPr txBox="1"/>
          <p:nvPr/>
        </p:nvSpPr>
        <p:spPr>
          <a:xfrm>
            <a:off x="813816" y="3493008"/>
            <a:ext cx="3405116" cy="566928"/>
          </a:xfrm>
          <a:prstGeom prst="rect">
            <a:avLst/>
          </a:prstGeom>
          <a:noFill/>
          <a:ln/>
        </p:spPr>
        <p:txBody>
          <a:bodyPr wrap="square" lIns="0" tIns="0" rIns="0" bIns="0" rtlCol="0" anchor="t"/>
          <a:lstStyle/>
          <a:p>
            <a:pPr indent="0" marL="0">
              <a:lnSpc>
                <a:spcPts val="1900"/>
              </a:lnSpc>
              <a:buNone/>
            </a:pPr>
            <a:r>
              <a:rPr lang="en-US" sz="1400" dirty="0">
                <a:solidFill>
                  <a:srgbClr val="94A3B8"/>
                </a:solidFill>
                <a:latin typeface="Arial" pitchFamily="34" charset="0"/>
                <a:ea typeface="Arial" pitchFamily="34" charset="-122"/>
                <a:cs typeface="Arial" pitchFamily="34" charset="-120"/>
              </a:rPr>
              <a:t>≈ 87 internal fills a year: 56 Band B, 31 Band C.</a:t>
            </a:r>
            <a:endParaRPr lang="en-US" sz="1400" dirty="0"/>
          </a:p>
        </p:txBody>
      </p:sp>
      <p:sp>
        <p:nvSpPr>
          <p:cNvPr id="9" name="Shape 7"/>
          <p:cNvSpPr/>
          <p:nvPr/>
        </p:nvSpPr>
        <p:spPr>
          <a:xfrm>
            <a:off x="4767572" y="1700784"/>
            <a:ext cx="3350874" cy="1088136"/>
          </a:xfrm>
          <a:prstGeom prst="roundRect">
            <a:avLst>
              <a:gd name="adj" fmla="val 504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8"/>
          <p:cNvSpPr txBox="1"/>
          <p:nvPr/>
        </p:nvSpPr>
        <p:spPr>
          <a:xfrm>
            <a:off x="4987028" y="1828800"/>
            <a:ext cx="2911962" cy="274320"/>
          </a:xfrm>
          <a:prstGeom prst="rect">
            <a:avLst/>
          </a:prstGeom>
          <a:noFill/>
          <a:ln/>
        </p:spPr>
        <p:txBody>
          <a:bodyPr wrap="square" lIns="0" tIns="0" rIns="0" bIns="0" rtlCol="0" anchor="ctr"/>
          <a:lstStyle/>
          <a:p>
            <a:pPr indent="0" marL="0">
              <a:buNone/>
            </a:pPr>
            <a:r>
              <a:rPr lang="en-US" sz="1500" b="1" dirty="0">
                <a:solidFill>
                  <a:srgbClr val="15803D"/>
                </a:solidFill>
                <a:latin typeface="Arial" pitchFamily="34" charset="0"/>
                <a:ea typeface="Arial" pitchFamily="34" charset="-122"/>
                <a:cs typeface="Arial" pitchFamily="34" charset="-120"/>
              </a:rPr>
              <a:t>Retention</a:t>
            </a:r>
            <a:endParaRPr lang="en-US" sz="1500" dirty="0"/>
          </a:p>
        </p:txBody>
      </p:sp>
      <p:sp>
        <p:nvSpPr>
          <p:cNvPr id="11" name="Text 9"/>
          <p:cNvSpPr txBox="1"/>
          <p:nvPr/>
        </p:nvSpPr>
        <p:spPr>
          <a:xfrm>
            <a:off x="4987028" y="2121408"/>
            <a:ext cx="2911962" cy="566928"/>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Internal movers stay materially longer than static peers.</a:t>
            </a:r>
            <a:endParaRPr lang="en-US" sz="1400" dirty="0"/>
          </a:p>
        </p:txBody>
      </p:sp>
      <p:sp>
        <p:nvSpPr>
          <p:cNvPr id="12" name="Shape 10"/>
          <p:cNvSpPr/>
          <p:nvPr/>
        </p:nvSpPr>
        <p:spPr>
          <a:xfrm>
            <a:off x="8337902" y="1700784"/>
            <a:ext cx="3350874" cy="1088136"/>
          </a:xfrm>
          <a:prstGeom prst="roundRect">
            <a:avLst>
              <a:gd name="adj" fmla="val 504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3" name="Text 11"/>
          <p:cNvSpPr txBox="1"/>
          <p:nvPr/>
        </p:nvSpPr>
        <p:spPr>
          <a:xfrm>
            <a:off x="8557358" y="1828800"/>
            <a:ext cx="2911962" cy="274320"/>
          </a:xfrm>
          <a:prstGeom prst="rect">
            <a:avLst/>
          </a:prstGeom>
          <a:noFill/>
          <a:ln/>
        </p:spPr>
        <p:txBody>
          <a:bodyPr wrap="square" lIns="0" tIns="0" rIns="0" bIns="0" rtlCol="0" anchor="ctr"/>
          <a:lstStyle/>
          <a:p>
            <a:pPr indent="0" marL="0">
              <a:buNone/>
            </a:pPr>
            <a:r>
              <a:rPr lang="en-US" sz="1500" b="1" dirty="0">
                <a:solidFill>
                  <a:srgbClr val="1D4ED8"/>
                </a:solidFill>
                <a:latin typeface="Arial" pitchFamily="34" charset="0"/>
                <a:ea typeface="Arial" pitchFamily="34" charset="-122"/>
                <a:cs typeface="Arial" pitchFamily="34" charset="-120"/>
              </a:rPr>
              <a:t>The 70 of 70-20-10</a:t>
            </a:r>
            <a:endParaRPr lang="en-US" sz="1500" dirty="0"/>
          </a:p>
        </p:txBody>
      </p:sp>
      <p:sp>
        <p:nvSpPr>
          <p:cNvPr id="14" name="Text 12"/>
          <p:cNvSpPr txBox="1"/>
          <p:nvPr/>
        </p:nvSpPr>
        <p:spPr>
          <a:xfrm>
            <a:off x="8557358" y="2121408"/>
            <a:ext cx="2911962" cy="566928"/>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How on-the-job development scales.</a:t>
            </a:r>
            <a:endParaRPr lang="en-US" sz="1400" dirty="0"/>
          </a:p>
        </p:txBody>
      </p:sp>
      <p:sp>
        <p:nvSpPr>
          <p:cNvPr id="15" name="Shape 13"/>
          <p:cNvSpPr/>
          <p:nvPr/>
        </p:nvSpPr>
        <p:spPr>
          <a:xfrm>
            <a:off x="4767572" y="2898648"/>
            <a:ext cx="3350874" cy="1088136"/>
          </a:xfrm>
          <a:prstGeom prst="roundRect">
            <a:avLst>
              <a:gd name="adj" fmla="val 504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6" name="Text 14"/>
          <p:cNvSpPr txBox="1"/>
          <p:nvPr/>
        </p:nvSpPr>
        <p:spPr>
          <a:xfrm>
            <a:off x="4987028" y="3026664"/>
            <a:ext cx="2911962" cy="274320"/>
          </a:xfrm>
          <a:prstGeom prst="rect">
            <a:avLst/>
          </a:prstGeom>
          <a:noFill/>
          <a:ln/>
        </p:spPr>
        <p:txBody>
          <a:bodyPr wrap="square" lIns="0" tIns="0" rIns="0" bIns="0" rtlCol="0" anchor="ctr"/>
          <a:lstStyle/>
          <a:p>
            <a:pPr indent="0" marL="0">
              <a:buNone/>
            </a:pPr>
            <a:r>
              <a:rPr lang="en-US" sz="1500" b="1" dirty="0">
                <a:solidFill>
                  <a:srgbClr val="B45309"/>
                </a:solidFill>
                <a:latin typeface="Arial" pitchFamily="34" charset="0"/>
                <a:ea typeface="Arial" pitchFamily="34" charset="-122"/>
                <a:cs typeface="Arial" pitchFamily="34" charset="-120"/>
              </a:rPr>
              <a:t>Gen Z engagement</a:t>
            </a:r>
            <a:endParaRPr lang="en-US" sz="1500" dirty="0"/>
          </a:p>
        </p:txBody>
      </p:sp>
      <p:sp>
        <p:nvSpPr>
          <p:cNvPr id="17" name="Text 15"/>
          <p:cNvSpPr txBox="1"/>
          <p:nvPr/>
        </p:nvSpPr>
        <p:spPr>
          <a:xfrm>
            <a:off x="4987028" y="3319272"/>
            <a:ext cx="2911962" cy="566928"/>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New, purposeful work — what 30% of HCPH responds to.</a:t>
            </a:r>
            <a:endParaRPr lang="en-US" sz="1400" dirty="0"/>
          </a:p>
        </p:txBody>
      </p:sp>
      <p:sp>
        <p:nvSpPr>
          <p:cNvPr id="18" name="Shape 16"/>
          <p:cNvSpPr/>
          <p:nvPr/>
        </p:nvSpPr>
        <p:spPr>
          <a:xfrm>
            <a:off x="8337902" y="2898648"/>
            <a:ext cx="3350874" cy="1088136"/>
          </a:xfrm>
          <a:prstGeom prst="roundRect">
            <a:avLst>
              <a:gd name="adj" fmla="val 504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9" name="Text 17"/>
          <p:cNvSpPr txBox="1"/>
          <p:nvPr/>
        </p:nvSpPr>
        <p:spPr>
          <a:xfrm>
            <a:off x="8557358" y="3026664"/>
            <a:ext cx="2911962" cy="27432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A live skills inventory</a:t>
            </a:r>
            <a:endParaRPr lang="en-US" sz="1500" dirty="0"/>
          </a:p>
        </p:txBody>
      </p:sp>
      <p:sp>
        <p:nvSpPr>
          <p:cNvPr id="20" name="Text 18"/>
          <p:cNvSpPr txBox="1"/>
          <p:nvPr/>
        </p:nvSpPr>
        <p:spPr>
          <a:xfrm>
            <a:off x="8557358" y="3319272"/>
            <a:ext cx="2911962" cy="566928"/>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Answers "who can do X?" — the people half of Unified Data.</a:t>
            </a:r>
            <a:endParaRPr lang="en-US" sz="1400" dirty="0"/>
          </a:p>
        </p:txBody>
      </p:sp>
      <p:sp>
        <p:nvSpPr>
          <p:cNvPr id="21" name="Shape 19"/>
          <p:cNvSpPr/>
          <p:nvPr/>
        </p:nvSpPr>
        <p:spPr>
          <a:xfrm>
            <a:off x="502920" y="4187952"/>
            <a:ext cx="11185855" cy="914400"/>
          </a:xfrm>
          <a:prstGeom prst="roundRect">
            <a:avLst>
              <a:gd name="adj" fmla="val 6000"/>
            </a:avLst>
          </a:prstGeom>
          <a:solidFill>
            <a:srgbClr val="F7F8FA"/>
          </a:solidFill>
          <a:ln w="12700">
            <a:solidFill>
              <a:srgbClr val="333333"/>
            </a:solidFill>
            <a:prstDash val="solid"/>
          </a:ln>
        </p:spPr>
      </p:sp>
      <p:sp>
        <p:nvSpPr>
          <p:cNvPr id="22" name="Text 20"/>
          <p:cNvSpPr txBox="1"/>
          <p:nvPr/>
        </p:nvSpPr>
        <p:spPr>
          <a:xfrm>
            <a:off x="813816" y="4187952"/>
            <a:ext cx="10564063" cy="914400"/>
          </a:xfrm>
          <a:prstGeom prst="rect">
            <a:avLst/>
          </a:prstGeom>
          <a:noFill/>
          <a:ln/>
        </p:spPr>
        <p:txBody>
          <a:bodyPr wrap="square" lIns="0" tIns="0" rIns="0" bIns="0" rtlCol="0" anchor="ctr"/>
          <a:lstStyle/>
          <a:p>
            <a:pPr indent="0" marL="0">
              <a:lnSpc>
                <a:spcPts val="2300"/>
              </a:lnSpc>
              <a:buNone/>
            </a:pPr>
            <a:r>
              <a:rPr lang="en-US" sz="1700" b="1" dirty="0">
                <a:solidFill>
                  <a:srgbClr val="0F172A"/>
                </a:solidFill>
                <a:latin typeface="Arial" pitchFamily="34" charset="0"/>
                <a:ea typeface="Arial" pitchFamily="34" charset="-122"/>
                <a:cs typeface="Arial" pitchFamily="34" charset="-120"/>
              </a:rPr>
              <a:t>The strategic prize:  </a:t>
            </a:r>
            <a:pPr indent="0" marL="0">
              <a:lnSpc>
                <a:spcPts val="2300"/>
              </a:lnSpc>
              <a:buNone/>
            </a:pPr>
            <a:r>
              <a:rPr lang="en-US" sz="1700" dirty="0">
                <a:solidFill>
                  <a:srgbClr val="374151"/>
                </a:solidFill>
                <a:latin typeface="Arial" pitchFamily="34" charset="0"/>
                <a:ea typeface="Arial" pitchFamily="34" charset="-122"/>
                <a:cs typeface="Arial" pitchFamily="34" charset="-120"/>
              </a:rPr>
              <a:t>a middle-management bench and a tech-talent pipeline built from people already on payroll — which is what "Go Wide, Go Deep" needs and what we cannot buy fast enough externally.</a:t>
            </a:r>
            <a:endParaRPr lang="en-US" sz="1700" dirty="0"/>
          </a:p>
        </p:txBody>
      </p:sp>
      <p:sp>
        <p:nvSpPr>
          <p:cNvPr id="23" name="Text 21"/>
          <p:cNvSpPr txBox="1"/>
          <p:nvPr/>
        </p:nvSpPr>
        <p:spPr>
          <a:xfrm>
            <a:off x="502920" y="5285232"/>
            <a:ext cx="11185855" cy="640080"/>
          </a:xfrm>
          <a:prstGeom prst="rect">
            <a:avLst/>
          </a:prstGeom>
          <a:noFill/>
          <a:ln/>
        </p:spPr>
        <p:txBody>
          <a:bodyPr wrap="square" lIns="0" tIns="0" rIns="0" bIns="0" rtlCol="0" anchor="t"/>
          <a:lstStyle/>
          <a:p>
            <a:pPr indent="0" marL="0">
              <a:lnSpc>
                <a:spcPts val="2100"/>
              </a:lnSpc>
              <a:buNone/>
            </a:pPr>
            <a:r>
              <a:rPr lang="en-US" sz="1500" i="1" dirty="0">
                <a:solidFill>
                  <a:srgbClr val="6B7280"/>
                </a:solidFill>
                <a:latin typeface="Arial" pitchFamily="34" charset="0"/>
                <a:ea typeface="Arial" pitchFamily="34" charset="-122"/>
                <a:cs typeface="Arial" pitchFamily="34" charset="-120"/>
              </a:rPr>
              <a:t>Deliberately not claimed: engagement uplift. Our eNPS on growth opportunity is already healthy, and this project is not a fix for a problem we do not have.</a:t>
            </a:r>
            <a:endParaRPr lang="en-US" sz="1500" dirty="0"/>
          </a:p>
        </p:txBody>
      </p:sp>
      <p:sp>
        <p:nvSpPr>
          <p:cNvPr id="24" name="Shape 22"/>
          <p:cNvSpPr/>
          <p:nvPr/>
        </p:nvSpPr>
        <p:spPr>
          <a:xfrm>
            <a:off x="502920" y="6291072"/>
            <a:ext cx="11185855" cy="0"/>
          </a:xfrm>
          <a:prstGeom prst="line">
            <a:avLst/>
          </a:prstGeom>
          <a:noFill/>
          <a:ln w="12700">
            <a:solidFill>
              <a:srgbClr val="E5E7EB"/>
            </a:solidFill>
            <a:prstDash val="solid"/>
          </a:ln>
        </p:spPr>
      </p:sp>
      <p:sp>
        <p:nvSpPr>
          <p:cNvPr id="25" name="Text 23"/>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Sources: TA hiring data · Deloitte 2026 Gen Z survey · SHRM internal-mobility research · 70-20-10 model.</a:t>
            </a:r>
            <a:endParaRPr lang="en-US" sz="1400" dirty="0"/>
          </a:p>
        </p:txBody>
      </p:sp>
      <p:sp>
        <p:nvSpPr>
          <p:cNvPr id="26" name="Text 24"/>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THE EVIDENCE</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The market has already moved this way.</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Five findings, and the one conclusion they share.</a:t>
            </a:r>
            <a:endParaRPr lang="en-US" sz="1600" dirty="0"/>
          </a:p>
        </p:txBody>
      </p:sp>
      <p:sp>
        <p:nvSpPr>
          <p:cNvPr id="5" name="Shape 3"/>
          <p:cNvSpPr/>
          <p:nvPr/>
        </p:nvSpPr>
        <p:spPr>
          <a:xfrm>
            <a:off x="502920" y="1700784"/>
            <a:ext cx="2090867" cy="2724912"/>
          </a:xfrm>
          <a:prstGeom prst="roundRect">
            <a:avLst>
              <a:gd name="adj" fmla="val 2624"/>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04088" y="1883664"/>
            <a:ext cx="1688531" cy="512064"/>
          </a:xfrm>
          <a:prstGeom prst="rect">
            <a:avLst/>
          </a:prstGeom>
          <a:noFill/>
          <a:ln/>
        </p:spPr>
        <p:txBody>
          <a:bodyPr wrap="square" lIns="0" tIns="0" rIns="0" bIns="0" rtlCol="0" anchor="ctr"/>
          <a:lstStyle/>
          <a:p>
            <a:pPr indent="0" marL="0">
              <a:buNone/>
            </a:pPr>
            <a:r>
              <a:rPr lang="en-US" sz="3200" b="1" dirty="0">
                <a:solidFill>
                  <a:srgbClr val="C00000"/>
                </a:solidFill>
                <a:latin typeface="Arial" pitchFamily="34" charset="0"/>
                <a:ea typeface="Arial" pitchFamily="34" charset="-122"/>
                <a:cs typeface="Arial" pitchFamily="34" charset="-120"/>
              </a:rPr>
              <a:t>48%</a:t>
            </a:r>
            <a:endParaRPr lang="en-US" sz="3200" dirty="0"/>
          </a:p>
        </p:txBody>
      </p:sp>
      <p:sp>
        <p:nvSpPr>
          <p:cNvPr id="7" name="Text 5"/>
          <p:cNvSpPr txBox="1"/>
          <p:nvPr/>
        </p:nvSpPr>
        <p:spPr>
          <a:xfrm>
            <a:off x="704088" y="2432304"/>
            <a:ext cx="1688531" cy="1426464"/>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now prioritise internal mobility to build leadership benches.</a:t>
            </a:r>
            <a:endParaRPr lang="en-US" sz="1400" dirty="0"/>
          </a:p>
        </p:txBody>
      </p:sp>
      <p:sp>
        <p:nvSpPr>
          <p:cNvPr id="8" name="Text 6"/>
          <p:cNvSpPr txBox="1"/>
          <p:nvPr/>
        </p:nvSpPr>
        <p:spPr>
          <a:xfrm>
            <a:off x="704088" y="3895344"/>
            <a:ext cx="1688531" cy="457200"/>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LinkedIn Workplace Learning</a:t>
            </a:r>
            <a:endParaRPr lang="en-US" sz="1400" dirty="0"/>
          </a:p>
        </p:txBody>
      </p:sp>
      <p:sp>
        <p:nvSpPr>
          <p:cNvPr id="9" name="Shape 7"/>
          <p:cNvSpPr/>
          <p:nvPr/>
        </p:nvSpPr>
        <p:spPr>
          <a:xfrm>
            <a:off x="2776667" y="1700784"/>
            <a:ext cx="2090867" cy="2724912"/>
          </a:xfrm>
          <a:prstGeom prst="roundRect">
            <a:avLst>
              <a:gd name="adj" fmla="val 2624"/>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8"/>
          <p:cNvSpPr txBox="1"/>
          <p:nvPr/>
        </p:nvSpPr>
        <p:spPr>
          <a:xfrm>
            <a:off x="2977835" y="1883664"/>
            <a:ext cx="1688531" cy="512064"/>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83% / 47%</a:t>
            </a:r>
            <a:endParaRPr lang="en-US" sz="2400" dirty="0"/>
          </a:p>
        </p:txBody>
      </p:sp>
      <p:sp>
        <p:nvSpPr>
          <p:cNvPr id="11" name="Text 9"/>
          <p:cNvSpPr txBox="1"/>
          <p:nvPr/>
        </p:nvSpPr>
        <p:spPr>
          <a:xfrm>
            <a:off x="2977835" y="2432304"/>
            <a:ext cx="1688531" cy="1426464"/>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want to build new skills — but 47% do not know where to start.</a:t>
            </a:r>
            <a:endParaRPr lang="en-US" sz="1400" dirty="0"/>
          </a:p>
        </p:txBody>
      </p:sp>
      <p:sp>
        <p:nvSpPr>
          <p:cNvPr id="12" name="Text 10"/>
          <p:cNvSpPr txBox="1"/>
          <p:nvPr/>
        </p:nvSpPr>
        <p:spPr>
          <a:xfrm>
            <a:off x="2977835" y="3895344"/>
            <a:ext cx="1688531" cy="457200"/>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Bright Horizons Education Index</a:t>
            </a:r>
            <a:endParaRPr lang="en-US" sz="1400" dirty="0"/>
          </a:p>
        </p:txBody>
      </p:sp>
      <p:sp>
        <p:nvSpPr>
          <p:cNvPr id="13" name="Shape 11"/>
          <p:cNvSpPr/>
          <p:nvPr/>
        </p:nvSpPr>
        <p:spPr>
          <a:xfrm>
            <a:off x="5050414" y="1700784"/>
            <a:ext cx="2090867" cy="2724912"/>
          </a:xfrm>
          <a:prstGeom prst="roundRect">
            <a:avLst>
              <a:gd name="adj" fmla="val 2624"/>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4" name="Text 12"/>
          <p:cNvSpPr txBox="1"/>
          <p:nvPr/>
        </p:nvSpPr>
        <p:spPr>
          <a:xfrm>
            <a:off x="5251582" y="1883664"/>
            <a:ext cx="1688531" cy="512064"/>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Higher</a:t>
            </a:r>
            <a:endParaRPr lang="en-US" sz="2400" dirty="0"/>
          </a:p>
        </p:txBody>
      </p:sp>
      <p:sp>
        <p:nvSpPr>
          <p:cNvPr id="15" name="Text 13"/>
          <p:cNvSpPr txBox="1"/>
          <p:nvPr/>
        </p:nvSpPr>
        <p:spPr>
          <a:xfrm>
            <a:off x="5251582" y="2432304"/>
            <a:ext cx="1688531" cy="1426464"/>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multi-year retention among employees who move internally.</a:t>
            </a:r>
            <a:endParaRPr lang="en-US" sz="1400" dirty="0"/>
          </a:p>
        </p:txBody>
      </p:sp>
      <p:sp>
        <p:nvSpPr>
          <p:cNvPr id="16" name="Text 14"/>
          <p:cNvSpPr txBox="1"/>
          <p:nvPr/>
        </p:nvSpPr>
        <p:spPr>
          <a:xfrm>
            <a:off x="5251582" y="3895344"/>
            <a:ext cx="1688531" cy="457200"/>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SHRM</a:t>
            </a:r>
            <a:endParaRPr lang="en-US" sz="1400" dirty="0"/>
          </a:p>
        </p:txBody>
      </p:sp>
      <p:sp>
        <p:nvSpPr>
          <p:cNvPr id="17" name="Shape 15"/>
          <p:cNvSpPr/>
          <p:nvPr/>
        </p:nvSpPr>
        <p:spPr>
          <a:xfrm>
            <a:off x="7324161" y="1700784"/>
            <a:ext cx="2090867" cy="2724912"/>
          </a:xfrm>
          <a:prstGeom prst="roundRect">
            <a:avLst>
              <a:gd name="adj" fmla="val 2624"/>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8" name="Text 16"/>
          <p:cNvSpPr txBox="1"/>
          <p:nvPr/>
        </p:nvSpPr>
        <p:spPr>
          <a:xfrm>
            <a:off x="7525329" y="1883664"/>
            <a:ext cx="1688531" cy="512064"/>
          </a:xfrm>
          <a:prstGeom prst="rect">
            <a:avLst/>
          </a:prstGeom>
          <a:noFill/>
          <a:ln/>
        </p:spPr>
        <p:txBody>
          <a:bodyPr wrap="square" lIns="0" tIns="0" rIns="0" bIns="0" rtlCol="0" anchor="ctr"/>
          <a:lstStyle/>
          <a:p>
            <a:pPr indent="0" marL="0">
              <a:buNone/>
            </a:pPr>
            <a:r>
              <a:rPr lang="en-US" sz="3200" b="1" dirty="0">
                <a:solidFill>
                  <a:srgbClr val="C00000"/>
                </a:solidFill>
                <a:latin typeface="Arial" pitchFamily="34" charset="0"/>
                <a:ea typeface="Arial" pitchFamily="34" charset="-122"/>
                <a:cs typeface="Arial" pitchFamily="34" charset="-120"/>
              </a:rPr>
              <a:t>94%</a:t>
            </a:r>
            <a:endParaRPr lang="en-US" sz="3200" dirty="0"/>
          </a:p>
        </p:txBody>
      </p:sp>
      <p:sp>
        <p:nvSpPr>
          <p:cNvPr id="19" name="Text 17"/>
          <p:cNvSpPr txBox="1"/>
          <p:nvPr/>
        </p:nvSpPr>
        <p:spPr>
          <a:xfrm>
            <a:off x="7525329" y="2432304"/>
            <a:ext cx="1688531" cy="1426464"/>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would stay longer where a company invests in their career.</a:t>
            </a:r>
            <a:endParaRPr lang="en-US" sz="1400" dirty="0"/>
          </a:p>
        </p:txBody>
      </p:sp>
      <p:sp>
        <p:nvSpPr>
          <p:cNvPr id="20" name="Text 18"/>
          <p:cNvSpPr txBox="1"/>
          <p:nvPr/>
        </p:nvSpPr>
        <p:spPr>
          <a:xfrm>
            <a:off x="7525329" y="3895344"/>
            <a:ext cx="1688531" cy="457200"/>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BTS / Krungsri career research</a:t>
            </a:r>
            <a:endParaRPr lang="en-US" sz="1400" dirty="0"/>
          </a:p>
        </p:txBody>
      </p:sp>
      <p:sp>
        <p:nvSpPr>
          <p:cNvPr id="21" name="Shape 19"/>
          <p:cNvSpPr/>
          <p:nvPr/>
        </p:nvSpPr>
        <p:spPr>
          <a:xfrm>
            <a:off x="9597908" y="1700784"/>
            <a:ext cx="2090867" cy="2724912"/>
          </a:xfrm>
          <a:prstGeom prst="roundRect">
            <a:avLst>
              <a:gd name="adj" fmla="val 2624"/>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2" name="Text 20"/>
          <p:cNvSpPr txBox="1"/>
          <p:nvPr/>
        </p:nvSpPr>
        <p:spPr>
          <a:xfrm>
            <a:off x="9799076" y="1883664"/>
            <a:ext cx="1688531" cy="512064"/>
          </a:xfrm>
          <a:prstGeom prst="rect">
            <a:avLst/>
          </a:prstGeom>
          <a:noFill/>
          <a:ln/>
        </p:spPr>
        <p:txBody>
          <a:bodyPr wrap="square" lIns="0" tIns="0" rIns="0" bIns="0" rtlCol="0" anchor="ctr"/>
          <a:lstStyle/>
          <a:p>
            <a:pPr indent="0" marL="0">
              <a:buNone/>
            </a:pPr>
            <a:r>
              <a:rPr lang="en-US" sz="3200" b="1" dirty="0">
                <a:solidFill>
                  <a:srgbClr val="C00000"/>
                </a:solidFill>
                <a:latin typeface="Arial" pitchFamily="34" charset="0"/>
                <a:ea typeface="Arial" pitchFamily="34" charset="-122"/>
                <a:cs typeface="Arial" pitchFamily="34" charset="-120"/>
              </a:rPr>
              <a:t>2×</a:t>
            </a:r>
            <a:endParaRPr lang="en-US" sz="3200" dirty="0"/>
          </a:p>
        </p:txBody>
      </p:sp>
      <p:sp>
        <p:nvSpPr>
          <p:cNvPr id="23" name="Text 21"/>
          <p:cNvSpPr txBox="1"/>
          <p:nvPr/>
        </p:nvSpPr>
        <p:spPr>
          <a:xfrm>
            <a:off x="9799076" y="2432304"/>
            <a:ext cx="1688531" cy="1426464"/>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retention where the learning culture is strong: 57% stay vs 27%.</a:t>
            </a:r>
            <a:endParaRPr lang="en-US" sz="1400" dirty="0"/>
          </a:p>
        </p:txBody>
      </p:sp>
      <p:sp>
        <p:nvSpPr>
          <p:cNvPr id="24" name="Text 22"/>
          <p:cNvSpPr txBox="1"/>
          <p:nvPr/>
        </p:nvSpPr>
        <p:spPr>
          <a:xfrm>
            <a:off x="9799076" y="3895344"/>
            <a:ext cx="1688531" cy="457200"/>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BTS / Krungsri career research</a:t>
            </a:r>
            <a:endParaRPr lang="en-US" sz="1400" dirty="0"/>
          </a:p>
        </p:txBody>
      </p:sp>
      <p:sp>
        <p:nvSpPr>
          <p:cNvPr id="25" name="Shape 23"/>
          <p:cNvSpPr/>
          <p:nvPr/>
        </p:nvSpPr>
        <p:spPr>
          <a:xfrm>
            <a:off x="502920" y="4645152"/>
            <a:ext cx="11185855" cy="1371600"/>
          </a:xfrm>
          <a:prstGeom prst="roundRect">
            <a:avLst>
              <a:gd name="adj" fmla="val 4000"/>
            </a:avLst>
          </a:prstGeom>
          <a:solidFill>
            <a:srgbClr val="0F172A"/>
          </a:solidFill>
          <a:ln w="12700">
            <a:solidFill>
              <a:srgbClr val="333333"/>
            </a:solidFill>
            <a:prstDash val="solid"/>
          </a:ln>
        </p:spPr>
      </p:sp>
      <p:sp>
        <p:nvSpPr>
          <p:cNvPr id="26" name="Text 24"/>
          <p:cNvSpPr txBox="1"/>
          <p:nvPr/>
        </p:nvSpPr>
        <p:spPr>
          <a:xfrm>
            <a:off x="832104" y="4791456"/>
            <a:ext cx="10527487" cy="2743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What all five have in common</a:t>
            </a:r>
            <a:endParaRPr lang="en-US" sz="1900" dirty="0"/>
          </a:p>
        </p:txBody>
      </p:sp>
      <p:sp>
        <p:nvSpPr>
          <p:cNvPr id="27" name="Text 25"/>
          <p:cNvSpPr txBox="1"/>
          <p:nvPr/>
        </p:nvSpPr>
        <p:spPr>
          <a:xfrm>
            <a:off x="832104" y="5102352"/>
            <a:ext cx="10527487" cy="786384"/>
          </a:xfrm>
          <a:prstGeom prst="rect">
            <a:avLst/>
          </a:prstGeom>
          <a:noFill/>
          <a:ln/>
        </p:spPr>
        <p:txBody>
          <a:bodyPr wrap="square" lIns="0" tIns="0" rIns="0" bIns="0" rtlCol="0" anchor="t"/>
          <a:lstStyle/>
          <a:p>
            <a:pPr indent="0" marL="0">
              <a:lnSpc>
                <a:spcPts val="2100"/>
              </a:lnSpc>
              <a:buNone/>
            </a:pPr>
            <a:r>
              <a:rPr lang="en-US" sz="1500" dirty="0">
                <a:solidFill>
                  <a:srgbClr val="CBD5E1"/>
                </a:solidFill>
                <a:latin typeface="Arial" pitchFamily="34" charset="0"/>
                <a:ea typeface="Arial" pitchFamily="34" charset="-122"/>
                <a:cs typeface="Arial" pitchFamily="34" charset="-120"/>
              </a:rPr>
              <a:t>Every finding points at the same gap, and none points at motivation. People want to move and organisations want them to — and in between there is no mechanism showing a specific person a specific opportunity they would fit. That gap is infrastructure, not culture, which is why it can be built and paid back.</a:t>
            </a:r>
            <a:endParaRPr lang="en-US" sz="1500" dirty="0"/>
          </a:p>
        </p:txBody>
      </p:sp>
      <p:sp>
        <p:nvSpPr>
          <p:cNvPr id="28" name="Shape 26"/>
          <p:cNvSpPr/>
          <p:nvPr/>
        </p:nvSpPr>
        <p:spPr>
          <a:xfrm>
            <a:off x="502920" y="6291072"/>
            <a:ext cx="11185855" cy="0"/>
          </a:xfrm>
          <a:prstGeom prst="line">
            <a:avLst/>
          </a:prstGeom>
          <a:noFill/>
          <a:ln w="12700">
            <a:solidFill>
              <a:srgbClr val="E5E7EB"/>
            </a:solidFill>
            <a:prstDash val="solid"/>
          </a:ln>
        </p:spPr>
      </p:sp>
      <p:sp>
        <p:nvSpPr>
          <p:cNvPr id="29" name="Text 27"/>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Full citations in the appendix. Percentages are as published by each source and are not Home Credit data.</a:t>
            </a:r>
            <a:endParaRPr lang="en-US" sz="1400" dirty="0"/>
          </a:p>
        </p:txBody>
      </p:sp>
      <p:sp>
        <p:nvSpPr>
          <p:cNvPr id="30" name="Text 28"/>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STRATEGIC ALIGNMENT · CORPORATE</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Three of eight priorities run on internal talent.</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'Go Wide, Go Deep' needs a bench, tech talent and a performance culture — we cannot buy all of it.</a:t>
            </a:r>
            <a:endParaRPr lang="en-US" sz="1600" dirty="0"/>
          </a:p>
        </p:txBody>
      </p:sp>
      <p:sp>
        <p:nvSpPr>
          <p:cNvPr id="5" name="Text 3"/>
          <p:cNvSpPr txBox="1"/>
          <p:nvPr/>
        </p:nvSpPr>
        <p:spPr>
          <a:xfrm>
            <a:off x="502920" y="1755648"/>
            <a:ext cx="4698059" cy="237744"/>
          </a:xfrm>
          <a:prstGeom prst="rect">
            <a:avLst/>
          </a:prstGeom>
          <a:noFill/>
          <a:ln/>
        </p:spPr>
        <p:txBody>
          <a:bodyPr wrap="square" lIns="0" tIns="0" rIns="0" bIns="0" rtlCol="0" anchor="ctr"/>
          <a:lstStyle/>
          <a:p>
            <a:pPr indent="0" marL="0">
              <a:buNone/>
            </a:pPr>
            <a:r>
              <a:rPr lang="en-US" sz="1400" b="1" spc="140" kern="0" dirty="0">
                <a:solidFill>
                  <a:srgbClr val="6B7280"/>
                </a:solidFill>
                <a:latin typeface="Arial" pitchFamily="34" charset="0"/>
                <a:ea typeface="Arial" pitchFamily="34" charset="-122"/>
                <a:cs typeface="Arial" pitchFamily="34" charset="-120"/>
              </a:rPr>
              <a:t>THE EIGHT PRIORITIES '27–'29</a:t>
            </a:r>
            <a:endParaRPr lang="en-US" sz="1400" dirty="0"/>
          </a:p>
        </p:txBody>
      </p:sp>
      <p:sp>
        <p:nvSpPr>
          <p:cNvPr id="6" name="Shape 4"/>
          <p:cNvSpPr/>
          <p:nvPr/>
        </p:nvSpPr>
        <p:spPr>
          <a:xfrm>
            <a:off x="502920" y="2011680"/>
            <a:ext cx="4698059" cy="438912"/>
          </a:xfrm>
          <a:prstGeom prst="roundRect">
            <a:avLst>
              <a:gd name="adj" fmla="val 10417"/>
            </a:avLst>
          </a:prstGeom>
          <a:solidFill>
            <a:srgbClr val="FDF1F1"/>
          </a:solidFill>
          <a:ln w="12700">
            <a:solidFill>
              <a:srgbClr val="F5C6C6"/>
            </a:solidFill>
            <a:prstDash val="solid"/>
          </a:ln>
        </p:spPr>
      </p:sp>
      <p:sp>
        <p:nvSpPr>
          <p:cNvPr id="7" name="Text 5"/>
          <p:cNvSpPr txBox="1"/>
          <p:nvPr/>
        </p:nvSpPr>
        <p:spPr>
          <a:xfrm>
            <a:off x="886968" y="2039112"/>
            <a:ext cx="4057979" cy="219456"/>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People &amp; Culture</a:t>
            </a:r>
            <a:endParaRPr lang="en-US" sz="1500" dirty="0"/>
          </a:p>
        </p:txBody>
      </p:sp>
      <p:sp>
        <p:nvSpPr>
          <p:cNvPr id="8" name="Text 6"/>
          <p:cNvSpPr txBox="1"/>
          <p:nvPr/>
        </p:nvSpPr>
        <p:spPr>
          <a:xfrm>
            <a:off x="886968" y="2240280"/>
            <a:ext cx="4057979" cy="201168"/>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Capabilities · performance culture</a:t>
            </a:r>
            <a:endParaRPr lang="en-US" sz="1400" dirty="0"/>
          </a:p>
        </p:txBody>
      </p:sp>
      <p:sp>
        <p:nvSpPr>
          <p:cNvPr id="9" name="Shape 7"/>
          <p:cNvSpPr/>
          <p:nvPr/>
        </p:nvSpPr>
        <p:spPr>
          <a:xfrm>
            <a:off x="594360" y="2103120"/>
            <a:ext cx="256032" cy="256032"/>
          </a:xfrm>
          <a:prstGeom prst="ellipse">
            <a:avLst/>
          </a:prstGeom>
          <a:solidFill>
            <a:srgbClr val="C00000"/>
          </a:solidFill>
          <a:ln w="12700">
            <a:solidFill>
              <a:srgbClr val="333333"/>
            </a:solidFill>
            <a:prstDash val="solid"/>
          </a:ln>
        </p:spPr>
      </p:sp>
      <p:sp>
        <p:nvSpPr>
          <p:cNvPr id="10" name="Text 8"/>
          <p:cNvSpPr txBox="1"/>
          <p:nvPr/>
        </p:nvSpPr>
        <p:spPr>
          <a:xfrm>
            <a:off x="594360" y="2107692"/>
            <a:ext cx="256032"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1" name="Shape 9"/>
          <p:cNvSpPr/>
          <p:nvPr/>
        </p:nvSpPr>
        <p:spPr>
          <a:xfrm>
            <a:off x="502920" y="2528316"/>
            <a:ext cx="4698059" cy="438912"/>
          </a:xfrm>
          <a:prstGeom prst="roundRect">
            <a:avLst>
              <a:gd name="adj" fmla="val 10417"/>
            </a:avLst>
          </a:prstGeom>
          <a:solidFill>
            <a:srgbClr val="FDF1F1"/>
          </a:solidFill>
          <a:ln w="12700">
            <a:solidFill>
              <a:srgbClr val="F5C6C6"/>
            </a:solidFill>
            <a:prstDash val="solid"/>
          </a:ln>
        </p:spPr>
      </p:sp>
      <p:sp>
        <p:nvSpPr>
          <p:cNvPr id="12" name="Text 10"/>
          <p:cNvSpPr txBox="1"/>
          <p:nvPr/>
        </p:nvSpPr>
        <p:spPr>
          <a:xfrm>
            <a:off x="886968" y="2555748"/>
            <a:ext cx="4057979" cy="219456"/>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Deep Focus on Tech</a:t>
            </a:r>
            <a:endParaRPr lang="en-US" sz="1500" dirty="0"/>
          </a:p>
        </p:txBody>
      </p:sp>
      <p:sp>
        <p:nvSpPr>
          <p:cNvPr id="13" name="Text 11"/>
          <p:cNvSpPr txBox="1"/>
          <p:nvPr/>
        </p:nvSpPr>
        <p:spPr>
          <a:xfrm>
            <a:off x="886968" y="2756916"/>
            <a:ext cx="4057979" cy="201168"/>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Core platform · Unified Data</a:t>
            </a:r>
            <a:endParaRPr lang="en-US" sz="1400" dirty="0"/>
          </a:p>
        </p:txBody>
      </p:sp>
      <p:sp>
        <p:nvSpPr>
          <p:cNvPr id="14" name="Shape 12"/>
          <p:cNvSpPr/>
          <p:nvPr/>
        </p:nvSpPr>
        <p:spPr>
          <a:xfrm>
            <a:off x="594360" y="2619756"/>
            <a:ext cx="256032" cy="256032"/>
          </a:xfrm>
          <a:prstGeom prst="ellipse">
            <a:avLst/>
          </a:prstGeom>
          <a:solidFill>
            <a:srgbClr val="C00000"/>
          </a:solidFill>
          <a:ln w="12700">
            <a:solidFill>
              <a:srgbClr val="333333"/>
            </a:solidFill>
            <a:prstDash val="solid"/>
          </a:ln>
        </p:spPr>
      </p:sp>
      <p:sp>
        <p:nvSpPr>
          <p:cNvPr id="15" name="Text 13"/>
          <p:cNvSpPr txBox="1"/>
          <p:nvPr/>
        </p:nvSpPr>
        <p:spPr>
          <a:xfrm>
            <a:off x="594360" y="2624328"/>
            <a:ext cx="256032"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6" name="Shape 14"/>
          <p:cNvSpPr/>
          <p:nvPr/>
        </p:nvSpPr>
        <p:spPr>
          <a:xfrm>
            <a:off x="502920" y="3044952"/>
            <a:ext cx="4698059" cy="438912"/>
          </a:xfrm>
          <a:prstGeom prst="roundRect">
            <a:avLst>
              <a:gd name="adj" fmla="val 10417"/>
            </a:avLst>
          </a:prstGeom>
          <a:solidFill>
            <a:srgbClr val="FDF1F1"/>
          </a:solidFill>
          <a:ln w="12700">
            <a:solidFill>
              <a:srgbClr val="F5C6C6"/>
            </a:solidFill>
            <a:prstDash val="solid"/>
          </a:ln>
        </p:spPr>
      </p:sp>
      <p:sp>
        <p:nvSpPr>
          <p:cNvPr id="17" name="Text 15"/>
          <p:cNvSpPr txBox="1"/>
          <p:nvPr/>
        </p:nvSpPr>
        <p:spPr>
          <a:xfrm>
            <a:off x="886968" y="3072384"/>
            <a:ext cx="4057979" cy="219456"/>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Expand Horizons</a:t>
            </a:r>
            <a:endParaRPr lang="en-US" sz="1500" dirty="0"/>
          </a:p>
        </p:txBody>
      </p:sp>
      <p:sp>
        <p:nvSpPr>
          <p:cNvPr id="18" name="Text 16"/>
          <p:cNvSpPr txBox="1"/>
          <p:nvPr/>
        </p:nvSpPr>
        <p:spPr>
          <a:xfrm>
            <a:off x="886968" y="3273552"/>
            <a:ext cx="4057979" cy="201168"/>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MSME · secured loans · e-commerce</a:t>
            </a:r>
            <a:endParaRPr lang="en-US" sz="1400" dirty="0"/>
          </a:p>
        </p:txBody>
      </p:sp>
      <p:sp>
        <p:nvSpPr>
          <p:cNvPr id="19" name="Shape 17"/>
          <p:cNvSpPr/>
          <p:nvPr/>
        </p:nvSpPr>
        <p:spPr>
          <a:xfrm>
            <a:off x="594360" y="3136392"/>
            <a:ext cx="256032" cy="256032"/>
          </a:xfrm>
          <a:prstGeom prst="ellipse">
            <a:avLst/>
          </a:prstGeom>
          <a:solidFill>
            <a:srgbClr val="C00000"/>
          </a:solidFill>
          <a:ln w="12700">
            <a:solidFill>
              <a:srgbClr val="333333"/>
            </a:solidFill>
            <a:prstDash val="solid"/>
          </a:ln>
        </p:spPr>
      </p:sp>
      <p:sp>
        <p:nvSpPr>
          <p:cNvPr id="20" name="Text 18"/>
          <p:cNvSpPr txBox="1"/>
          <p:nvPr/>
        </p:nvSpPr>
        <p:spPr>
          <a:xfrm>
            <a:off x="594360" y="3140964"/>
            <a:ext cx="256032"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1" name="Shape 19"/>
          <p:cNvSpPr/>
          <p:nvPr/>
        </p:nvSpPr>
        <p:spPr>
          <a:xfrm>
            <a:off x="502920" y="3561588"/>
            <a:ext cx="4698059" cy="438912"/>
          </a:xfrm>
          <a:prstGeom prst="roundRect">
            <a:avLst>
              <a:gd name="adj" fmla="val 10417"/>
            </a:avLst>
          </a:prstGeom>
          <a:solidFill>
            <a:srgbClr val="FAFAFA"/>
          </a:solidFill>
          <a:ln w="12700">
            <a:solidFill>
              <a:srgbClr val="E5E7EB"/>
            </a:solidFill>
            <a:prstDash val="solid"/>
          </a:ln>
        </p:spPr>
      </p:sp>
      <p:sp>
        <p:nvSpPr>
          <p:cNvPr id="22" name="Text 20"/>
          <p:cNvSpPr txBox="1"/>
          <p:nvPr/>
        </p:nvSpPr>
        <p:spPr>
          <a:xfrm>
            <a:off x="886968" y="3589020"/>
            <a:ext cx="4057979" cy="219456"/>
          </a:xfrm>
          <a:prstGeom prst="rect">
            <a:avLst/>
          </a:prstGeom>
          <a:noFill/>
          <a:ln/>
        </p:spPr>
        <p:txBody>
          <a:bodyPr wrap="square" lIns="0" tIns="0" rIns="0" bIns="0" rtlCol="0" anchor="ctr"/>
          <a:lstStyle/>
          <a:p>
            <a:pPr indent="0" marL="0">
              <a:buNone/>
            </a:pPr>
            <a:r>
              <a:rPr lang="en-US" sz="1500" b="1" dirty="0">
                <a:solidFill>
                  <a:srgbClr val="9CA3AF"/>
                </a:solidFill>
                <a:latin typeface="Arial" pitchFamily="34" charset="0"/>
                <a:ea typeface="Arial" pitchFamily="34" charset="-122"/>
                <a:cs typeface="Arial" pitchFamily="34" charset="-120"/>
              </a:rPr>
              <a:t>POS — defend market position</a:t>
            </a:r>
            <a:endParaRPr lang="en-US" sz="1500" dirty="0"/>
          </a:p>
        </p:txBody>
      </p:sp>
      <p:sp>
        <p:nvSpPr>
          <p:cNvPr id="23" name="Text 21"/>
          <p:cNvSpPr txBox="1"/>
          <p:nvPr/>
        </p:nvSpPr>
        <p:spPr>
          <a:xfrm>
            <a:off x="886968" y="3790188"/>
            <a:ext cx="4057979" cy="201168"/>
          </a:xfrm>
          <a:prstGeom prst="rect">
            <a:avLst/>
          </a:prstGeom>
          <a:noFill/>
          <a:ln/>
        </p:spPr>
        <p:txBody>
          <a:bodyPr wrap="square" lIns="0" tIns="0" rIns="0" bIns="0" rtlCol="0" anchor="ctr"/>
          <a:lstStyle/>
          <a:p>
            <a:pPr indent="0" marL="0">
              <a:buNone/>
            </a:pPr>
            <a:r>
              <a:rPr lang="en-US" sz="1400" dirty="0">
                <a:solidFill>
                  <a:srgbClr val="B8BFC9"/>
                </a:solidFill>
                <a:latin typeface="Arial" pitchFamily="34" charset="0"/>
                <a:ea typeface="Arial" pitchFamily="34" charset="-122"/>
                <a:cs typeface="Arial" pitchFamily="34" charset="-120"/>
              </a:rPr>
              <a:t>Acquisition and retention channel</a:t>
            </a:r>
            <a:endParaRPr lang="en-US" sz="1400" dirty="0"/>
          </a:p>
        </p:txBody>
      </p:sp>
      <p:sp>
        <p:nvSpPr>
          <p:cNvPr id="24" name="Shape 22"/>
          <p:cNvSpPr/>
          <p:nvPr/>
        </p:nvSpPr>
        <p:spPr>
          <a:xfrm>
            <a:off x="502920" y="4078224"/>
            <a:ext cx="4698059" cy="438912"/>
          </a:xfrm>
          <a:prstGeom prst="roundRect">
            <a:avLst>
              <a:gd name="adj" fmla="val 10417"/>
            </a:avLst>
          </a:prstGeom>
          <a:solidFill>
            <a:srgbClr val="FAFAFA"/>
          </a:solidFill>
          <a:ln w="12700">
            <a:solidFill>
              <a:srgbClr val="E5E7EB"/>
            </a:solidFill>
            <a:prstDash val="solid"/>
          </a:ln>
        </p:spPr>
      </p:sp>
      <p:sp>
        <p:nvSpPr>
          <p:cNvPr id="25" name="Text 23"/>
          <p:cNvSpPr txBox="1"/>
          <p:nvPr/>
        </p:nvSpPr>
        <p:spPr>
          <a:xfrm>
            <a:off x="886968" y="4105656"/>
            <a:ext cx="4057979" cy="219456"/>
          </a:xfrm>
          <a:prstGeom prst="rect">
            <a:avLst/>
          </a:prstGeom>
          <a:noFill/>
          <a:ln/>
        </p:spPr>
        <p:txBody>
          <a:bodyPr wrap="square" lIns="0" tIns="0" rIns="0" bIns="0" rtlCol="0" anchor="ctr"/>
          <a:lstStyle/>
          <a:p>
            <a:pPr indent="0" marL="0">
              <a:buNone/>
            </a:pPr>
            <a:r>
              <a:rPr lang="en-US" sz="1500" b="1" dirty="0">
                <a:solidFill>
                  <a:srgbClr val="9CA3AF"/>
                </a:solidFill>
                <a:latin typeface="Arial" pitchFamily="34" charset="0"/>
                <a:ea typeface="Arial" pitchFamily="34" charset="-122"/>
                <a:cs typeface="Arial" pitchFamily="34" charset="-120"/>
              </a:rPr>
              <a:t>Cash Loan</a:t>
            </a:r>
            <a:endParaRPr lang="en-US" sz="1500" dirty="0"/>
          </a:p>
        </p:txBody>
      </p:sp>
      <p:sp>
        <p:nvSpPr>
          <p:cNvPr id="26" name="Text 24"/>
          <p:cNvSpPr txBox="1"/>
          <p:nvPr/>
        </p:nvSpPr>
        <p:spPr>
          <a:xfrm>
            <a:off x="886968" y="4306824"/>
            <a:ext cx="4057979" cy="201168"/>
          </a:xfrm>
          <a:prstGeom prst="rect">
            <a:avLst/>
          </a:prstGeom>
          <a:noFill/>
          <a:ln/>
        </p:spPr>
        <p:txBody>
          <a:bodyPr wrap="square" lIns="0" tIns="0" rIns="0" bIns="0" rtlCol="0" anchor="ctr"/>
          <a:lstStyle/>
          <a:p>
            <a:pPr indent="0" marL="0">
              <a:buNone/>
            </a:pPr>
            <a:r>
              <a:rPr lang="en-US" sz="1400" dirty="0">
                <a:solidFill>
                  <a:srgbClr val="B8BFC9"/>
                </a:solidFill>
                <a:latin typeface="Arial" pitchFamily="34" charset="0"/>
                <a:ea typeface="Arial" pitchFamily="34" charset="-122"/>
                <a:cs typeface="Arial" pitchFamily="34" charset="-120"/>
              </a:rPr>
              <a:t>Profitable, sustainable CLX portfolio</a:t>
            </a:r>
            <a:endParaRPr lang="en-US" sz="1400" dirty="0"/>
          </a:p>
        </p:txBody>
      </p:sp>
      <p:sp>
        <p:nvSpPr>
          <p:cNvPr id="27" name="Shape 25"/>
          <p:cNvSpPr/>
          <p:nvPr/>
        </p:nvSpPr>
        <p:spPr>
          <a:xfrm>
            <a:off x="502920" y="4594860"/>
            <a:ext cx="4698059" cy="438912"/>
          </a:xfrm>
          <a:prstGeom prst="roundRect">
            <a:avLst>
              <a:gd name="adj" fmla="val 10417"/>
            </a:avLst>
          </a:prstGeom>
          <a:solidFill>
            <a:srgbClr val="FAFAFA"/>
          </a:solidFill>
          <a:ln w="12700">
            <a:solidFill>
              <a:srgbClr val="E5E7EB"/>
            </a:solidFill>
            <a:prstDash val="solid"/>
          </a:ln>
        </p:spPr>
      </p:sp>
      <p:sp>
        <p:nvSpPr>
          <p:cNvPr id="28" name="Text 26"/>
          <p:cNvSpPr txBox="1"/>
          <p:nvPr/>
        </p:nvSpPr>
        <p:spPr>
          <a:xfrm>
            <a:off x="886968" y="4622292"/>
            <a:ext cx="4057979" cy="219456"/>
          </a:xfrm>
          <a:prstGeom prst="rect">
            <a:avLst/>
          </a:prstGeom>
          <a:noFill/>
          <a:ln/>
        </p:spPr>
        <p:txBody>
          <a:bodyPr wrap="square" lIns="0" tIns="0" rIns="0" bIns="0" rtlCol="0" anchor="ctr"/>
          <a:lstStyle/>
          <a:p>
            <a:pPr indent="0" marL="0">
              <a:buNone/>
            </a:pPr>
            <a:r>
              <a:rPr lang="en-US" sz="1500" b="1" dirty="0">
                <a:solidFill>
                  <a:srgbClr val="9CA3AF"/>
                </a:solidFill>
                <a:latin typeface="Arial" pitchFamily="34" charset="0"/>
                <a:ea typeface="Arial" pitchFamily="34" charset="-122"/>
                <a:cs typeface="Arial" pitchFamily="34" charset="-120"/>
              </a:rPr>
              <a:t>App-led lifecycle</a:t>
            </a:r>
            <a:endParaRPr lang="en-US" sz="1500" dirty="0"/>
          </a:p>
        </p:txBody>
      </p:sp>
      <p:sp>
        <p:nvSpPr>
          <p:cNvPr id="29" name="Text 27"/>
          <p:cNvSpPr txBox="1"/>
          <p:nvPr/>
        </p:nvSpPr>
        <p:spPr>
          <a:xfrm>
            <a:off x="886968" y="4823460"/>
            <a:ext cx="4057979" cy="201168"/>
          </a:xfrm>
          <a:prstGeom prst="rect">
            <a:avLst/>
          </a:prstGeom>
          <a:noFill/>
          <a:ln/>
        </p:spPr>
        <p:txBody>
          <a:bodyPr wrap="square" lIns="0" tIns="0" rIns="0" bIns="0" rtlCol="0" anchor="ctr"/>
          <a:lstStyle/>
          <a:p>
            <a:pPr indent="0" marL="0">
              <a:buNone/>
            </a:pPr>
            <a:r>
              <a:rPr lang="en-US" sz="1400" dirty="0">
                <a:solidFill>
                  <a:srgbClr val="B8BFC9"/>
                </a:solidFill>
                <a:latin typeface="Arial" pitchFamily="34" charset="0"/>
                <a:ea typeface="Arial" pitchFamily="34" charset="-122"/>
                <a:cs typeface="Arial" pitchFamily="34" charset="-120"/>
              </a:rPr>
              <a:t>Personalised engagement · revolving</a:t>
            </a:r>
            <a:endParaRPr lang="en-US" sz="1400" dirty="0"/>
          </a:p>
        </p:txBody>
      </p:sp>
      <p:sp>
        <p:nvSpPr>
          <p:cNvPr id="30" name="Shape 28"/>
          <p:cNvSpPr/>
          <p:nvPr/>
        </p:nvSpPr>
        <p:spPr>
          <a:xfrm>
            <a:off x="502920" y="5111496"/>
            <a:ext cx="4698059" cy="438912"/>
          </a:xfrm>
          <a:prstGeom prst="roundRect">
            <a:avLst>
              <a:gd name="adj" fmla="val 10417"/>
            </a:avLst>
          </a:prstGeom>
          <a:solidFill>
            <a:srgbClr val="FAFAFA"/>
          </a:solidFill>
          <a:ln w="12700">
            <a:solidFill>
              <a:srgbClr val="E5E7EB"/>
            </a:solidFill>
            <a:prstDash val="solid"/>
          </a:ln>
        </p:spPr>
      </p:sp>
      <p:sp>
        <p:nvSpPr>
          <p:cNvPr id="31" name="Text 29"/>
          <p:cNvSpPr txBox="1"/>
          <p:nvPr/>
        </p:nvSpPr>
        <p:spPr>
          <a:xfrm>
            <a:off x="886968" y="5138928"/>
            <a:ext cx="4057979" cy="219456"/>
          </a:xfrm>
          <a:prstGeom prst="rect">
            <a:avLst/>
          </a:prstGeom>
          <a:noFill/>
          <a:ln/>
        </p:spPr>
        <p:txBody>
          <a:bodyPr wrap="square" lIns="0" tIns="0" rIns="0" bIns="0" rtlCol="0" anchor="ctr"/>
          <a:lstStyle/>
          <a:p>
            <a:pPr indent="0" marL="0">
              <a:buNone/>
            </a:pPr>
            <a:r>
              <a:rPr lang="en-US" sz="1500" b="1" dirty="0">
                <a:solidFill>
                  <a:srgbClr val="9CA3AF"/>
                </a:solidFill>
                <a:latin typeface="Arial" pitchFamily="34" charset="0"/>
                <a:ea typeface="Arial" pitchFamily="34" charset="-122"/>
                <a:cs typeface="Arial" pitchFamily="34" charset="-120"/>
              </a:rPr>
              <a:t>Risk &amp; Collections</a:t>
            </a:r>
            <a:endParaRPr lang="en-US" sz="1500" dirty="0"/>
          </a:p>
        </p:txBody>
      </p:sp>
      <p:sp>
        <p:nvSpPr>
          <p:cNvPr id="32" name="Text 30"/>
          <p:cNvSpPr txBox="1"/>
          <p:nvPr/>
        </p:nvSpPr>
        <p:spPr>
          <a:xfrm>
            <a:off x="886968" y="5340096"/>
            <a:ext cx="4057979" cy="201168"/>
          </a:xfrm>
          <a:prstGeom prst="rect">
            <a:avLst/>
          </a:prstGeom>
          <a:noFill/>
          <a:ln/>
        </p:spPr>
        <p:txBody>
          <a:bodyPr wrap="square" lIns="0" tIns="0" rIns="0" bIns="0" rtlCol="0" anchor="ctr"/>
          <a:lstStyle/>
          <a:p>
            <a:pPr indent="0" marL="0">
              <a:buNone/>
            </a:pPr>
            <a:r>
              <a:rPr lang="en-US" sz="1400" dirty="0">
                <a:solidFill>
                  <a:srgbClr val="B8BFC9"/>
                </a:solidFill>
                <a:latin typeface="Arial" pitchFamily="34" charset="0"/>
                <a:ea typeface="Arial" pitchFamily="34" charset="-122"/>
                <a:cs typeface="Arial" pitchFamily="34" charset="-120"/>
              </a:rPr>
              <a:t>Customer-type scorecards · CE tools</a:t>
            </a:r>
            <a:endParaRPr lang="en-US" sz="1400" dirty="0"/>
          </a:p>
        </p:txBody>
      </p:sp>
      <p:sp>
        <p:nvSpPr>
          <p:cNvPr id="33" name="Shape 31"/>
          <p:cNvSpPr/>
          <p:nvPr/>
        </p:nvSpPr>
        <p:spPr>
          <a:xfrm>
            <a:off x="502920" y="5628132"/>
            <a:ext cx="4698059" cy="438912"/>
          </a:xfrm>
          <a:prstGeom prst="roundRect">
            <a:avLst>
              <a:gd name="adj" fmla="val 10417"/>
            </a:avLst>
          </a:prstGeom>
          <a:solidFill>
            <a:srgbClr val="FAFAFA"/>
          </a:solidFill>
          <a:ln w="12700">
            <a:solidFill>
              <a:srgbClr val="E5E7EB"/>
            </a:solidFill>
            <a:prstDash val="solid"/>
          </a:ln>
        </p:spPr>
      </p:sp>
      <p:sp>
        <p:nvSpPr>
          <p:cNvPr id="34" name="Text 32"/>
          <p:cNvSpPr txBox="1"/>
          <p:nvPr/>
        </p:nvSpPr>
        <p:spPr>
          <a:xfrm>
            <a:off x="886968" y="5655564"/>
            <a:ext cx="4057979" cy="219456"/>
          </a:xfrm>
          <a:prstGeom prst="rect">
            <a:avLst/>
          </a:prstGeom>
          <a:noFill/>
          <a:ln/>
        </p:spPr>
        <p:txBody>
          <a:bodyPr wrap="square" lIns="0" tIns="0" rIns="0" bIns="0" rtlCol="0" anchor="ctr"/>
          <a:lstStyle/>
          <a:p>
            <a:pPr indent="0" marL="0">
              <a:buNone/>
            </a:pPr>
            <a:r>
              <a:rPr lang="en-US" sz="1500" b="1" dirty="0">
                <a:solidFill>
                  <a:srgbClr val="9CA3AF"/>
                </a:solidFill>
                <a:latin typeface="Arial" pitchFamily="34" charset="0"/>
                <a:ea typeface="Arial" pitchFamily="34" charset="-122"/>
                <a:cs typeface="Arial" pitchFamily="34" charset="-120"/>
              </a:rPr>
              <a:t>Secure local funding</a:t>
            </a:r>
            <a:endParaRPr lang="en-US" sz="1500" dirty="0"/>
          </a:p>
        </p:txBody>
      </p:sp>
      <p:sp>
        <p:nvSpPr>
          <p:cNvPr id="35" name="Text 33"/>
          <p:cNvSpPr txBox="1"/>
          <p:nvPr/>
        </p:nvSpPr>
        <p:spPr>
          <a:xfrm>
            <a:off x="886968" y="5856732"/>
            <a:ext cx="4057979" cy="201168"/>
          </a:xfrm>
          <a:prstGeom prst="rect">
            <a:avLst/>
          </a:prstGeom>
          <a:noFill/>
          <a:ln/>
        </p:spPr>
        <p:txBody>
          <a:bodyPr wrap="square" lIns="0" tIns="0" rIns="0" bIns="0" rtlCol="0" anchor="ctr"/>
          <a:lstStyle/>
          <a:p>
            <a:pPr indent="0" marL="0">
              <a:buNone/>
            </a:pPr>
            <a:r>
              <a:rPr lang="en-US" sz="1400" dirty="0">
                <a:solidFill>
                  <a:srgbClr val="B8BFC9"/>
                </a:solidFill>
                <a:latin typeface="Arial" pitchFamily="34" charset="0"/>
                <a:ea typeface="Arial" pitchFamily="34" charset="-122"/>
                <a:cs typeface="Arial" pitchFamily="34" charset="-120"/>
              </a:rPr>
              <a:t>Diversify base · maintain spreads</a:t>
            </a:r>
            <a:endParaRPr lang="en-US" sz="1400" dirty="0"/>
          </a:p>
        </p:txBody>
      </p:sp>
      <p:sp>
        <p:nvSpPr>
          <p:cNvPr id="36" name="Text 34"/>
          <p:cNvSpPr txBox="1"/>
          <p:nvPr/>
        </p:nvSpPr>
        <p:spPr>
          <a:xfrm>
            <a:off x="5585027" y="1755648"/>
            <a:ext cx="6103748" cy="237744"/>
          </a:xfrm>
          <a:prstGeom prst="rect">
            <a:avLst/>
          </a:prstGeom>
          <a:noFill/>
          <a:ln/>
        </p:spPr>
        <p:txBody>
          <a:bodyPr wrap="square" lIns="0" tIns="0" rIns="0" bIns="0" rtlCol="0" anchor="ctr"/>
          <a:lstStyle/>
          <a:p>
            <a:pPr indent="0" marL="0">
              <a:buNone/>
            </a:pPr>
            <a:r>
              <a:rPr lang="en-US" sz="1400" b="1" spc="140" kern="0" dirty="0">
                <a:solidFill>
                  <a:srgbClr val="6B7280"/>
                </a:solidFill>
                <a:latin typeface="Arial" pitchFamily="34" charset="0"/>
                <a:ea typeface="Arial" pitchFamily="34" charset="-122"/>
                <a:cs typeface="Arial" pitchFamily="34" charset="-120"/>
              </a:rPr>
              <a:t>WHAT GROWTH DELIVERS AGAINST THEM</a:t>
            </a:r>
            <a:endParaRPr lang="en-US" sz="1400" dirty="0"/>
          </a:p>
        </p:txBody>
      </p:sp>
      <p:sp>
        <p:nvSpPr>
          <p:cNvPr id="37" name="Shape 35"/>
          <p:cNvSpPr/>
          <p:nvPr/>
        </p:nvSpPr>
        <p:spPr>
          <a:xfrm>
            <a:off x="5585027" y="1975104"/>
            <a:ext cx="6103748" cy="1005840"/>
          </a:xfrm>
          <a:prstGeom prst="roundRect">
            <a:avLst>
              <a:gd name="adj" fmla="val 5455"/>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38" name="Text 36"/>
          <p:cNvSpPr txBox="1"/>
          <p:nvPr/>
        </p:nvSpPr>
        <p:spPr>
          <a:xfrm>
            <a:off x="5822771" y="2084832"/>
            <a:ext cx="5628260" cy="2743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Strengthens the middle-management bench</a:t>
            </a:r>
            <a:endParaRPr lang="en-US" sz="1600" dirty="0"/>
          </a:p>
        </p:txBody>
      </p:sp>
      <p:sp>
        <p:nvSpPr>
          <p:cNvPr id="39" name="Text 37"/>
          <p:cNvSpPr txBox="1"/>
          <p:nvPr/>
        </p:nvSpPr>
        <p:spPr>
          <a:xfrm>
            <a:off x="5822771" y="2377440"/>
            <a:ext cx="5628260" cy="530352"/>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Band B pivots and Band C lateral moves become visible, matched and trackable — built from people already on payroll.</a:t>
            </a:r>
            <a:endParaRPr lang="en-US" sz="1400" dirty="0"/>
          </a:p>
        </p:txBody>
      </p:sp>
      <p:sp>
        <p:nvSpPr>
          <p:cNvPr id="40" name="Shape 38"/>
          <p:cNvSpPr/>
          <p:nvPr/>
        </p:nvSpPr>
        <p:spPr>
          <a:xfrm>
            <a:off x="5585027" y="3054096"/>
            <a:ext cx="6103748" cy="1005840"/>
          </a:xfrm>
          <a:prstGeom prst="roundRect">
            <a:avLst>
              <a:gd name="adj" fmla="val 5455"/>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41" name="Text 39"/>
          <p:cNvSpPr txBox="1"/>
          <p:nvPr/>
        </p:nvSpPr>
        <p:spPr>
          <a:xfrm>
            <a:off x="5822771" y="3163824"/>
            <a:ext cx="5628260" cy="2743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Builds tech talent from the inside</a:t>
            </a:r>
            <a:endParaRPr lang="en-US" sz="1600" dirty="0"/>
          </a:p>
        </p:txBody>
      </p:sp>
      <p:sp>
        <p:nvSpPr>
          <p:cNvPr id="42" name="Text 40"/>
          <p:cNvSpPr txBox="1"/>
          <p:nvPr/>
        </p:nvSpPr>
        <p:spPr>
          <a:xfrm>
            <a:off x="5822771" y="3456432"/>
            <a:ext cx="5628260" cy="530352"/>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Gigs and immersions let Operations, Risk and HR people cross into IT work before we pay a headhunter for it.</a:t>
            </a:r>
            <a:endParaRPr lang="en-US" sz="1400" dirty="0"/>
          </a:p>
        </p:txBody>
      </p:sp>
      <p:sp>
        <p:nvSpPr>
          <p:cNvPr id="43" name="Shape 41"/>
          <p:cNvSpPr/>
          <p:nvPr/>
        </p:nvSpPr>
        <p:spPr>
          <a:xfrm>
            <a:off x="5585027" y="4133088"/>
            <a:ext cx="6103748" cy="1005840"/>
          </a:xfrm>
          <a:prstGeom prst="roundRect">
            <a:avLst>
              <a:gd name="adj" fmla="val 5455"/>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44" name="Text 42"/>
          <p:cNvSpPr txBox="1"/>
          <p:nvPr/>
        </p:nvSpPr>
        <p:spPr>
          <a:xfrm>
            <a:off x="5822771" y="4242816"/>
            <a:ext cx="5628260" cy="2743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Creates the people half of Unified Data</a:t>
            </a:r>
            <a:endParaRPr lang="en-US" sz="1600" dirty="0"/>
          </a:p>
        </p:txBody>
      </p:sp>
      <p:sp>
        <p:nvSpPr>
          <p:cNvPr id="45" name="Text 43"/>
          <p:cNvSpPr txBox="1"/>
          <p:nvPr/>
        </p:nvSpPr>
        <p:spPr>
          <a:xfrm>
            <a:off x="5822771" y="4535424"/>
            <a:ext cx="5628260" cy="530352"/>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A live skills inventory as a by-product — "who can do X?" answered from data rather than memory.</a:t>
            </a:r>
            <a:endParaRPr lang="en-US" sz="1400" dirty="0"/>
          </a:p>
        </p:txBody>
      </p:sp>
      <p:sp>
        <p:nvSpPr>
          <p:cNvPr id="46" name="Shape 44"/>
          <p:cNvSpPr/>
          <p:nvPr/>
        </p:nvSpPr>
        <p:spPr>
          <a:xfrm>
            <a:off x="5585027" y="5212080"/>
            <a:ext cx="6103748" cy="1005840"/>
          </a:xfrm>
          <a:prstGeom prst="roundRect">
            <a:avLst>
              <a:gd name="adj" fmla="val 5455"/>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47" name="Text 45"/>
          <p:cNvSpPr txBox="1"/>
          <p:nvPr/>
        </p:nvSpPr>
        <p:spPr>
          <a:xfrm>
            <a:off x="5822771" y="5321808"/>
            <a:ext cx="5628260" cy="2743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Staffs new growth engines in days</a:t>
            </a:r>
            <a:endParaRPr lang="en-US" sz="1600" dirty="0"/>
          </a:p>
        </p:txBody>
      </p:sp>
      <p:sp>
        <p:nvSpPr>
          <p:cNvPr id="48" name="Text 46"/>
          <p:cNvSpPr txBox="1"/>
          <p:nvPr/>
        </p:nvSpPr>
        <p:spPr>
          <a:xfrm>
            <a:off x="5822771" y="5614416"/>
            <a:ext cx="5628260" cy="530352"/>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MSME, e-commerce and the Unified App Journey resourced from internal capacity, not contractors.</a:t>
            </a:r>
            <a:endParaRPr lang="en-US" sz="1400" dirty="0"/>
          </a:p>
        </p:txBody>
      </p:sp>
      <p:sp>
        <p:nvSpPr>
          <p:cNvPr id="49" name="Shape 47"/>
          <p:cNvSpPr/>
          <p:nvPr/>
        </p:nvSpPr>
        <p:spPr>
          <a:xfrm>
            <a:off x="502920" y="6291072"/>
            <a:ext cx="11185855" cy="0"/>
          </a:xfrm>
          <a:prstGeom prst="line">
            <a:avLst/>
          </a:prstGeom>
          <a:noFill/>
          <a:ln w="12700">
            <a:solidFill>
              <a:srgbClr val="E5E7EB"/>
            </a:solidFill>
            <a:prstDash val="solid"/>
          </a:ln>
        </p:spPr>
      </p:sp>
      <p:sp>
        <p:nvSpPr>
          <p:cNvPr id="50" name="Text 48"/>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 HCPH Strategic Priorities '27–'29 — Go Wide, Go Deep (draft, to be finalised October).</a:t>
            </a:r>
            <a:endParaRPr lang="en-US" sz="1400" dirty="0"/>
          </a:p>
        </p:txBody>
      </p:sp>
      <p:sp>
        <p:nvSpPr>
          <p:cNvPr id="51" name="Text 49"/>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STRATEGIC ALIGNMENT · HR</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It advances four of the five HR priorities.</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And in the OneHR operating model it lands as Tier 0 self-service — digital first, automated, guided.</a:t>
            </a:r>
            <a:endParaRPr lang="en-US" sz="1600" dirty="0"/>
          </a:p>
        </p:txBody>
      </p:sp>
      <p:sp>
        <p:nvSpPr>
          <p:cNvPr id="5" name="Shape 3"/>
          <p:cNvSpPr/>
          <p:nvPr/>
        </p:nvSpPr>
        <p:spPr>
          <a:xfrm>
            <a:off x="502920" y="1773936"/>
            <a:ext cx="2090867" cy="713232"/>
          </a:xfrm>
          <a:prstGeom prst="roundRect">
            <a:avLst>
              <a:gd name="adj" fmla="val 6410"/>
            </a:avLst>
          </a:prstGeom>
          <a:solidFill>
            <a:srgbClr val="C00000"/>
          </a:solidFill>
          <a:ln w="12700">
            <a:solidFill>
              <a:srgbClr val="333333"/>
            </a:solidFill>
            <a:prstDash val="solid"/>
          </a:ln>
        </p:spPr>
      </p:sp>
      <p:sp>
        <p:nvSpPr>
          <p:cNvPr id="6" name="Text 4"/>
          <p:cNvSpPr txBox="1"/>
          <p:nvPr/>
        </p:nvSpPr>
        <p:spPr>
          <a:xfrm>
            <a:off x="612648" y="1773936"/>
            <a:ext cx="1871411" cy="713232"/>
          </a:xfrm>
          <a:prstGeom prst="rect">
            <a:avLst/>
          </a:prstGeom>
          <a:noFill/>
          <a:ln/>
        </p:spPr>
        <p:txBody>
          <a:bodyPr wrap="square" lIns="0" tIns="0" rIns="0" bIns="0" rtlCol="0" anchor="ctr"/>
          <a:lstStyle/>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High-Performance</a:t>
            </a:r>
            <a:endParaRPr lang="en-US" sz="1500" dirty="0"/>
          </a:p>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Culture</a:t>
            </a:r>
            <a:endParaRPr lang="en-US" sz="1500" dirty="0"/>
          </a:p>
        </p:txBody>
      </p:sp>
      <p:sp>
        <p:nvSpPr>
          <p:cNvPr id="7" name="Shape 5"/>
          <p:cNvSpPr/>
          <p:nvPr/>
        </p:nvSpPr>
        <p:spPr>
          <a:xfrm>
            <a:off x="502920" y="2560320"/>
            <a:ext cx="2090867" cy="1572768"/>
          </a:xfrm>
          <a:prstGeom prst="roundRect">
            <a:avLst>
              <a:gd name="adj" fmla="val 3488"/>
            </a:avLst>
          </a:prstGeom>
          <a:solidFill>
            <a:srgbClr val="F7F8FA"/>
          </a:solidFill>
          <a:ln w="12700">
            <a:solidFill>
              <a:srgbClr val="333333"/>
            </a:solidFill>
            <a:prstDash val="solid"/>
          </a:ln>
        </p:spPr>
      </p:sp>
      <p:sp>
        <p:nvSpPr>
          <p:cNvPr id="8" name="Text 6"/>
          <p:cNvSpPr txBox="1"/>
          <p:nvPr/>
        </p:nvSpPr>
        <p:spPr>
          <a:xfrm>
            <a:off x="685800" y="2706624"/>
            <a:ext cx="1725107" cy="1298448"/>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Movement becomes evidence on a record, not a favour someone remembers.</a:t>
            </a:r>
            <a:endParaRPr lang="en-US" sz="1400" dirty="0"/>
          </a:p>
        </p:txBody>
      </p:sp>
      <p:sp>
        <p:nvSpPr>
          <p:cNvPr id="9" name="Shape 7"/>
          <p:cNvSpPr/>
          <p:nvPr/>
        </p:nvSpPr>
        <p:spPr>
          <a:xfrm>
            <a:off x="2776667" y="1773936"/>
            <a:ext cx="2090867" cy="713232"/>
          </a:xfrm>
          <a:prstGeom prst="roundRect">
            <a:avLst>
              <a:gd name="adj" fmla="val 6410"/>
            </a:avLst>
          </a:prstGeom>
          <a:solidFill>
            <a:srgbClr val="C00000"/>
          </a:solidFill>
          <a:ln w="12700">
            <a:solidFill>
              <a:srgbClr val="333333"/>
            </a:solidFill>
            <a:prstDash val="solid"/>
          </a:ln>
        </p:spPr>
      </p:sp>
      <p:sp>
        <p:nvSpPr>
          <p:cNvPr id="10" name="Text 8"/>
          <p:cNvSpPr txBox="1"/>
          <p:nvPr/>
        </p:nvSpPr>
        <p:spPr>
          <a:xfrm>
            <a:off x="2886395" y="1773936"/>
            <a:ext cx="1871411" cy="713232"/>
          </a:xfrm>
          <a:prstGeom prst="rect">
            <a:avLst/>
          </a:prstGeom>
          <a:noFill/>
          <a:ln/>
        </p:spPr>
        <p:txBody>
          <a:bodyPr wrap="square" lIns="0" tIns="0" rIns="0" bIns="0" rtlCol="0" anchor="ctr"/>
          <a:lstStyle/>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Leadership &amp;</a:t>
            </a:r>
            <a:endParaRPr lang="en-US" sz="1500" dirty="0"/>
          </a:p>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Capability Development</a:t>
            </a:r>
            <a:endParaRPr lang="en-US" sz="1500" dirty="0"/>
          </a:p>
        </p:txBody>
      </p:sp>
      <p:sp>
        <p:nvSpPr>
          <p:cNvPr id="11" name="Shape 9"/>
          <p:cNvSpPr/>
          <p:nvPr/>
        </p:nvSpPr>
        <p:spPr>
          <a:xfrm>
            <a:off x="2776667" y="2560320"/>
            <a:ext cx="2090867" cy="1572768"/>
          </a:xfrm>
          <a:prstGeom prst="roundRect">
            <a:avLst>
              <a:gd name="adj" fmla="val 3488"/>
            </a:avLst>
          </a:prstGeom>
          <a:solidFill>
            <a:srgbClr val="F7F8FA"/>
          </a:solidFill>
          <a:ln w="12700">
            <a:solidFill>
              <a:srgbClr val="333333"/>
            </a:solidFill>
            <a:prstDash val="solid"/>
          </a:ln>
        </p:spPr>
      </p:sp>
      <p:sp>
        <p:nvSpPr>
          <p:cNvPr id="12" name="Text 10"/>
          <p:cNvSpPr txBox="1"/>
          <p:nvPr/>
        </p:nvSpPr>
        <p:spPr>
          <a:xfrm>
            <a:off x="2959547" y="2706624"/>
            <a:ext cx="1725107" cy="1298448"/>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Immersions are the 70 of 70-20-10 — and how the bench gets built.</a:t>
            </a:r>
            <a:endParaRPr lang="en-US" sz="1400" dirty="0"/>
          </a:p>
        </p:txBody>
      </p:sp>
      <p:sp>
        <p:nvSpPr>
          <p:cNvPr id="13" name="Shape 11"/>
          <p:cNvSpPr/>
          <p:nvPr/>
        </p:nvSpPr>
        <p:spPr>
          <a:xfrm>
            <a:off x="5050414" y="1773936"/>
            <a:ext cx="2090867" cy="713232"/>
          </a:xfrm>
          <a:prstGeom prst="roundRect">
            <a:avLst>
              <a:gd name="adj" fmla="val 6410"/>
            </a:avLst>
          </a:prstGeom>
          <a:solidFill>
            <a:srgbClr val="C00000"/>
          </a:solidFill>
          <a:ln w="12700">
            <a:solidFill>
              <a:srgbClr val="333333"/>
            </a:solidFill>
            <a:prstDash val="solid"/>
          </a:ln>
        </p:spPr>
      </p:sp>
      <p:sp>
        <p:nvSpPr>
          <p:cNvPr id="14" name="Text 12"/>
          <p:cNvSpPr txBox="1"/>
          <p:nvPr/>
        </p:nvSpPr>
        <p:spPr>
          <a:xfrm>
            <a:off x="5160142" y="1773936"/>
            <a:ext cx="1871411" cy="713232"/>
          </a:xfrm>
          <a:prstGeom prst="rect">
            <a:avLst/>
          </a:prstGeom>
          <a:noFill/>
          <a:ln/>
        </p:spPr>
        <p:txBody>
          <a:bodyPr wrap="square" lIns="0" tIns="0" rIns="0" bIns="0" rtlCol="0" anchor="ctr"/>
          <a:lstStyle/>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Employee Experience</a:t>
            </a:r>
            <a:endParaRPr lang="en-US" sz="1500" dirty="0"/>
          </a:p>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&amp; Engagement</a:t>
            </a:r>
            <a:endParaRPr lang="en-US" sz="1500" dirty="0"/>
          </a:p>
        </p:txBody>
      </p:sp>
      <p:sp>
        <p:nvSpPr>
          <p:cNvPr id="15" name="Shape 13"/>
          <p:cNvSpPr/>
          <p:nvPr/>
        </p:nvSpPr>
        <p:spPr>
          <a:xfrm>
            <a:off x="5050414" y="2560320"/>
            <a:ext cx="2090867" cy="1572768"/>
          </a:xfrm>
          <a:prstGeom prst="roundRect">
            <a:avLst>
              <a:gd name="adj" fmla="val 3488"/>
            </a:avLst>
          </a:prstGeom>
          <a:solidFill>
            <a:srgbClr val="F7F8FA"/>
          </a:solidFill>
          <a:ln w="12700">
            <a:solidFill>
              <a:srgbClr val="333333"/>
            </a:solidFill>
            <a:prstDash val="solid"/>
          </a:ln>
        </p:spPr>
      </p:sp>
      <p:sp>
        <p:nvSpPr>
          <p:cNvPr id="16" name="Text 14"/>
          <p:cNvSpPr txBox="1"/>
          <p:nvPr/>
        </p:nvSpPr>
        <p:spPr>
          <a:xfrm>
            <a:off x="5233294" y="2706624"/>
            <a:ext cx="1725107" cy="1298448"/>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Delivers the stated priority: clear career progression pathways.</a:t>
            </a:r>
            <a:endParaRPr lang="en-US" sz="1400" dirty="0"/>
          </a:p>
        </p:txBody>
      </p:sp>
      <p:sp>
        <p:nvSpPr>
          <p:cNvPr id="17" name="Shape 15"/>
          <p:cNvSpPr/>
          <p:nvPr/>
        </p:nvSpPr>
        <p:spPr>
          <a:xfrm>
            <a:off x="7324161" y="1773936"/>
            <a:ext cx="2090867" cy="713232"/>
          </a:xfrm>
          <a:prstGeom prst="roundRect">
            <a:avLst>
              <a:gd name="adj" fmla="val 6410"/>
            </a:avLst>
          </a:prstGeom>
          <a:solidFill>
            <a:srgbClr val="C00000"/>
          </a:solidFill>
          <a:ln w="12700">
            <a:solidFill>
              <a:srgbClr val="333333"/>
            </a:solidFill>
            <a:prstDash val="solid"/>
          </a:ln>
        </p:spPr>
      </p:sp>
      <p:sp>
        <p:nvSpPr>
          <p:cNvPr id="18" name="Text 16"/>
          <p:cNvSpPr txBox="1"/>
          <p:nvPr/>
        </p:nvSpPr>
        <p:spPr>
          <a:xfrm>
            <a:off x="7433889" y="1773936"/>
            <a:ext cx="1871411" cy="713232"/>
          </a:xfrm>
          <a:prstGeom prst="rect">
            <a:avLst/>
          </a:prstGeom>
          <a:noFill/>
          <a:ln/>
        </p:spPr>
        <p:txBody>
          <a:bodyPr wrap="square" lIns="0" tIns="0" rIns="0" bIns="0" rtlCol="0" anchor="ctr"/>
          <a:lstStyle/>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HR Digital</a:t>
            </a:r>
            <a:endParaRPr lang="en-US" sz="1500" dirty="0"/>
          </a:p>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Transformation</a:t>
            </a:r>
            <a:endParaRPr lang="en-US" sz="1500" dirty="0"/>
          </a:p>
        </p:txBody>
      </p:sp>
      <p:sp>
        <p:nvSpPr>
          <p:cNvPr id="19" name="Shape 17"/>
          <p:cNvSpPr/>
          <p:nvPr/>
        </p:nvSpPr>
        <p:spPr>
          <a:xfrm>
            <a:off x="7324161" y="2560320"/>
            <a:ext cx="2090867" cy="1572768"/>
          </a:xfrm>
          <a:prstGeom prst="roundRect">
            <a:avLst>
              <a:gd name="adj" fmla="val 3488"/>
            </a:avLst>
          </a:prstGeom>
          <a:solidFill>
            <a:srgbClr val="F7F8FA"/>
          </a:solidFill>
          <a:ln w="12700">
            <a:solidFill>
              <a:srgbClr val="333333"/>
            </a:solidFill>
            <a:prstDash val="solid"/>
          </a:ln>
        </p:spPr>
      </p:sp>
      <p:sp>
        <p:nvSpPr>
          <p:cNvPr id="20" name="Text 18"/>
          <p:cNvSpPr txBox="1"/>
          <p:nvPr/>
        </p:nvSpPr>
        <p:spPr>
          <a:xfrm>
            <a:off x="7507041" y="2706624"/>
            <a:ext cx="1725107" cy="1298448"/>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AI matching on a live skills inventory — decisions made from data.</a:t>
            </a:r>
            <a:endParaRPr lang="en-US" sz="1400" dirty="0"/>
          </a:p>
        </p:txBody>
      </p:sp>
      <p:sp>
        <p:nvSpPr>
          <p:cNvPr id="21" name="Shape 19"/>
          <p:cNvSpPr/>
          <p:nvPr/>
        </p:nvSpPr>
        <p:spPr>
          <a:xfrm>
            <a:off x="9597908" y="1773936"/>
            <a:ext cx="2090867" cy="713232"/>
          </a:xfrm>
          <a:prstGeom prst="roundRect">
            <a:avLst>
              <a:gd name="adj" fmla="val 6410"/>
            </a:avLst>
          </a:prstGeom>
          <a:solidFill>
            <a:srgbClr val="8A8F98"/>
          </a:solidFill>
          <a:ln w="12700">
            <a:solidFill>
              <a:srgbClr val="333333"/>
            </a:solidFill>
            <a:prstDash val="solid"/>
          </a:ln>
        </p:spPr>
      </p:sp>
      <p:sp>
        <p:nvSpPr>
          <p:cNvPr id="22" name="Text 20"/>
          <p:cNvSpPr txBox="1"/>
          <p:nvPr/>
        </p:nvSpPr>
        <p:spPr>
          <a:xfrm>
            <a:off x="9707636" y="1773936"/>
            <a:ext cx="1871411" cy="713232"/>
          </a:xfrm>
          <a:prstGeom prst="rect">
            <a:avLst/>
          </a:prstGeom>
          <a:noFill/>
          <a:ln/>
        </p:spPr>
        <p:txBody>
          <a:bodyPr wrap="square" lIns="0" tIns="0" rIns="0" bIns="0" rtlCol="0" anchor="ctr"/>
          <a:lstStyle/>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HR Risk &amp;</a:t>
            </a:r>
            <a:endParaRPr lang="en-US" sz="1500" dirty="0"/>
          </a:p>
          <a:p>
            <a:pPr algn="ctr" indent="0" marL="0">
              <a:lnSpc>
                <a:spcPts val="1900"/>
              </a:lnSpc>
              <a:buNone/>
            </a:pPr>
            <a:r>
              <a:rPr lang="en-US" sz="1500" b="1" dirty="0">
                <a:solidFill>
                  <a:srgbClr val="FFFFFF"/>
                </a:solidFill>
                <a:latin typeface="Arial" pitchFamily="34" charset="0"/>
                <a:ea typeface="Arial" pitchFamily="34" charset="-122"/>
                <a:cs typeface="Arial" pitchFamily="34" charset="-120"/>
              </a:rPr>
              <a:t>Compliance</a:t>
            </a:r>
            <a:endParaRPr lang="en-US" sz="1500" dirty="0"/>
          </a:p>
        </p:txBody>
      </p:sp>
      <p:sp>
        <p:nvSpPr>
          <p:cNvPr id="23" name="Shape 21"/>
          <p:cNvSpPr/>
          <p:nvPr/>
        </p:nvSpPr>
        <p:spPr>
          <a:xfrm>
            <a:off x="9597908" y="2560320"/>
            <a:ext cx="2090867" cy="1572768"/>
          </a:xfrm>
          <a:prstGeom prst="roundRect">
            <a:avLst>
              <a:gd name="adj" fmla="val 3488"/>
            </a:avLst>
          </a:prstGeom>
          <a:solidFill>
            <a:srgbClr val="F7F8FA"/>
          </a:solidFill>
          <a:ln w="12700">
            <a:solidFill>
              <a:srgbClr val="333333"/>
            </a:solidFill>
            <a:prstDash val="solid"/>
          </a:ln>
        </p:spPr>
      </p:sp>
      <p:sp>
        <p:nvSpPr>
          <p:cNvPr id="24" name="Text 22"/>
          <p:cNvSpPr txBox="1"/>
          <p:nvPr/>
        </p:nvSpPr>
        <p:spPr>
          <a:xfrm>
            <a:off x="9780788" y="2706624"/>
            <a:ext cx="1725107" cy="1298448"/>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Governed by Policy 211_2021, with a full audit trail.</a:t>
            </a:r>
            <a:endParaRPr lang="en-US" sz="1400" dirty="0"/>
          </a:p>
        </p:txBody>
      </p:sp>
      <p:sp>
        <p:nvSpPr>
          <p:cNvPr id="25" name="Shape 23"/>
          <p:cNvSpPr/>
          <p:nvPr/>
        </p:nvSpPr>
        <p:spPr>
          <a:xfrm>
            <a:off x="502920" y="4315968"/>
            <a:ext cx="6543725" cy="1700784"/>
          </a:xfrm>
          <a:prstGeom prst="roundRect">
            <a:avLst>
              <a:gd name="adj" fmla="val 3226"/>
            </a:avLst>
          </a:prstGeom>
          <a:solidFill>
            <a:srgbClr val="0F172A"/>
          </a:solidFill>
          <a:ln w="12700">
            <a:solidFill>
              <a:srgbClr val="333333"/>
            </a:solidFill>
            <a:prstDash val="solid"/>
          </a:ln>
        </p:spPr>
      </p:sp>
      <p:sp>
        <p:nvSpPr>
          <p:cNvPr id="26" name="Text 24"/>
          <p:cNvSpPr txBox="1"/>
          <p:nvPr/>
        </p:nvSpPr>
        <p:spPr>
          <a:xfrm>
            <a:off x="813816" y="4517136"/>
            <a:ext cx="5921933" cy="2743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Where it sits in the OneHR operating model</a:t>
            </a:r>
            <a:endParaRPr lang="en-US" sz="1800" dirty="0"/>
          </a:p>
        </p:txBody>
      </p:sp>
      <p:sp>
        <p:nvSpPr>
          <p:cNvPr id="27" name="Text 25"/>
          <p:cNvSpPr txBox="1"/>
          <p:nvPr/>
        </p:nvSpPr>
        <p:spPr>
          <a:xfrm>
            <a:off x="813816" y="4846320"/>
            <a:ext cx="5921933" cy="1042416"/>
          </a:xfrm>
          <a:prstGeom prst="rect">
            <a:avLst/>
          </a:prstGeom>
          <a:noFill/>
          <a:ln/>
        </p:spPr>
        <p:txBody>
          <a:bodyPr wrap="square" lIns="0" tIns="0" rIns="0" bIns="0" rtlCol="0" anchor="t"/>
          <a:lstStyle/>
          <a:p>
            <a:pPr indent="0" marL="0">
              <a:lnSpc>
                <a:spcPts val="2100"/>
              </a:lnSpc>
              <a:buNone/>
            </a:pPr>
            <a:r>
              <a:rPr lang="en-US" sz="1500" b="1" dirty="0">
                <a:solidFill>
                  <a:srgbClr val="FCA5A5"/>
                </a:solidFill>
                <a:latin typeface="Arial" pitchFamily="34" charset="0"/>
                <a:ea typeface="Arial" pitchFamily="34" charset="-122"/>
                <a:cs typeface="Arial" pitchFamily="34" charset="-120"/>
              </a:rPr>
              <a:t>Tier 0 — Employee &amp; Manager Self-Service.  </a:t>
            </a:r>
            <a:pPr indent="0" marL="0">
              <a:lnSpc>
                <a:spcPts val="2100"/>
              </a:lnSpc>
              <a:buNone/>
            </a:pPr>
            <a:r>
              <a:rPr lang="en-US" sz="1500" dirty="0">
                <a:solidFill>
                  <a:srgbClr val="CBD5E1"/>
                </a:solidFill>
                <a:latin typeface="Arial" pitchFamily="34" charset="0"/>
                <a:ea typeface="Arial" pitchFamily="34" charset="-122"/>
                <a:cs typeface="Arial" pitchFamily="34" charset="-120"/>
              </a:rPr>
              <a:t>Not another HR service to staff — a self-service layer that takes work off Tier 1 and feeds the Talent Acquisition and Capability Development COEs a live view of internal supply.</a:t>
            </a:r>
            <a:endParaRPr lang="en-US" sz="1500" dirty="0"/>
          </a:p>
        </p:txBody>
      </p:sp>
      <p:sp>
        <p:nvSpPr>
          <p:cNvPr id="28" name="Shape 26"/>
          <p:cNvSpPr/>
          <p:nvPr/>
        </p:nvSpPr>
        <p:spPr>
          <a:xfrm>
            <a:off x="7284389" y="4315968"/>
            <a:ext cx="4404386" cy="1700784"/>
          </a:xfrm>
          <a:prstGeom prst="roundRect">
            <a:avLst>
              <a:gd name="adj" fmla="val 3226"/>
            </a:avLst>
          </a:prstGeom>
          <a:solidFill>
            <a:srgbClr val="F0FDF4"/>
          </a:solidFill>
          <a:ln w="12700">
            <a:solidFill>
              <a:srgbClr val="333333"/>
            </a:solidFill>
            <a:prstDash val="solid"/>
          </a:ln>
        </p:spPr>
      </p:sp>
      <p:sp>
        <p:nvSpPr>
          <p:cNvPr id="29" name="Text 27"/>
          <p:cNvSpPr txBox="1"/>
          <p:nvPr/>
        </p:nvSpPr>
        <p:spPr>
          <a:xfrm>
            <a:off x="7558709" y="4517136"/>
            <a:ext cx="3855746" cy="274320"/>
          </a:xfrm>
          <a:prstGeom prst="rect">
            <a:avLst/>
          </a:prstGeom>
          <a:noFill/>
          <a:ln/>
        </p:spPr>
        <p:txBody>
          <a:bodyPr wrap="square" lIns="0" tIns="0" rIns="0" bIns="0" rtlCol="0" anchor="ctr"/>
          <a:lstStyle/>
          <a:p>
            <a:pPr indent="0" marL="0">
              <a:buNone/>
            </a:pPr>
            <a:r>
              <a:rPr lang="en-US" sz="1800" b="1" dirty="0">
                <a:solidFill>
                  <a:srgbClr val="15803D"/>
                </a:solidFill>
                <a:latin typeface="Arial" pitchFamily="34" charset="0"/>
                <a:ea typeface="Arial" pitchFamily="34" charset="-122"/>
                <a:cs typeface="Arial" pitchFamily="34" charset="-120"/>
              </a:rPr>
              <a:t>It also serves Recruitment</a:t>
            </a:r>
            <a:endParaRPr lang="en-US" sz="1800" dirty="0"/>
          </a:p>
        </p:txBody>
      </p:sp>
      <p:sp>
        <p:nvSpPr>
          <p:cNvPr id="30" name="Text 28"/>
          <p:cNvSpPr txBox="1"/>
          <p:nvPr/>
        </p:nvSpPr>
        <p:spPr>
          <a:xfrm>
            <a:off x="7558709" y="4846320"/>
            <a:ext cx="3855746" cy="1042416"/>
          </a:xfrm>
          <a:prstGeom prst="rect">
            <a:avLst/>
          </a:prstGeom>
          <a:noFill/>
          <a:ln/>
        </p:spPr>
        <p:txBody>
          <a:bodyPr wrap="square" lIns="0" tIns="0" rIns="0" bIns="0" rtlCol="0" anchor="t"/>
          <a:lstStyle/>
          <a:p>
            <a:pPr indent="0" marL="0">
              <a:lnSpc>
                <a:spcPts val="2100"/>
              </a:lnSpc>
              <a:buNone/>
            </a:pPr>
            <a:r>
              <a:rPr lang="en-US" sz="1500" dirty="0">
                <a:solidFill>
                  <a:srgbClr val="166534"/>
                </a:solidFill>
                <a:latin typeface="Arial" pitchFamily="34" charset="0"/>
                <a:ea typeface="Arial" pitchFamily="34" charset="-122"/>
                <a:cs typeface="Arial" pitchFamily="34" charset="-120"/>
              </a:rPr>
              <a:t>A warm internal pipeline against every requisition, scored before anyone opens a CV.</a:t>
            </a:r>
            <a:endParaRPr lang="en-US" sz="1500" dirty="0"/>
          </a:p>
        </p:txBody>
      </p:sp>
      <p:sp>
        <p:nvSpPr>
          <p:cNvPr id="31" name="Shape 29"/>
          <p:cNvSpPr/>
          <p:nvPr/>
        </p:nvSpPr>
        <p:spPr>
          <a:xfrm>
            <a:off x="502920" y="6291072"/>
            <a:ext cx="11185855" cy="0"/>
          </a:xfrm>
          <a:prstGeom prst="line">
            <a:avLst/>
          </a:prstGeom>
          <a:noFill/>
          <a:ln w="12700">
            <a:solidFill>
              <a:srgbClr val="E5E7EB"/>
            </a:solidFill>
            <a:prstDash val="solid"/>
          </a:ln>
        </p:spPr>
      </p:sp>
      <p:sp>
        <p:nvSpPr>
          <p:cNvPr id="32" name="Text 30"/>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Sources: HCPH HR Strategic Priorities · OneHR Operating Model.</a:t>
            </a:r>
            <a:endParaRPr lang="en-US" sz="1400" dirty="0"/>
          </a:p>
        </p:txBody>
      </p:sp>
      <p:sp>
        <p:nvSpPr>
          <p:cNvPr id="33" name="Text 31"/>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THE SOLUTION</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One place. Every opportunity. Matched to you.</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Three routes people can join, one they can offer, and every permanent vacancy promoted with a fit score.</a:t>
            </a:r>
            <a:endParaRPr lang="en-US" sz="1600" dirty="0"/>
          </a:p>
        </p:txBody>
      </p:sp>
      <p:sp>
        <p:nvSpPr>
          <p:cNvPr id="5" name="Shape 3"/>
          <p:cNvSpPr/>
          <p:nvPr/>
        </p:nvSpPr>
        <p:spPr>
          <a:xfrm>
            <a:off x="502920" y="1773936"/>
            <a:ext cx="2645588" cy="2395728"/>
          </a:xfrm>
          <a:prstGeom prst="roundRect">
            <a:avLst>
              <a:gd name="adj" fmla="val 229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Shape 4"/>
          <p:cNvSpPr/>
          <p:nvPr/>
        </p:nvSpPr>
        <p:spPr>
          <a:xfrm>
            <a:off x="722376" y="1956816"/>
            <a:ext cx="1243584" cy="310896"/>
          </a:xfrm>
          <a:prstGeom prst="roundRect">
            <a:avLst>
              <a:gd name="adj" fmla="val 50000"/>
            </a:avLst>
          </a:prstGeom>
          <a:solidFill>
            <a:srgbClr val="FDF1F1"/>
          </a:solidFill>
          <a:ln w="12700">
            <a:solidFill>
              <a:srgbClr val="333333"/>
            </a:solidFill>
            <a:prstDash val="solid"/>
          </a:ln>
        </p:spPr>
      </p:sp>
      <p:sp>
        <p:nvSpPr>
          <p:cNvPr id="7" name="Text 5"/>
          <p:cNvSpPr txBox="1"/>
          <p:nvPr/>
        </p:nvSpPr>
        <p:spPr>
          <a:xfrm>
            <a:off x="722376" y="1956816"/>
            <a:ext cx="1243584" cy="310896"/>
          </a:xfrm>
          <a:prstGeom prst="rect">
            <a:avLst/>
          </a:prstGeom>
          <a:noFill/>
          <a:ln/>
        </p:spPr>
        <p:txBody>
          <a:bodyPr wrap="square" lIns="0" tIns="0" rIns="0" bIns="0" rtlCol="0" anchor="ctr"/>
          <a:lstStyle/>
          <a:p>
            <a:pPr algn="ctr" indent="0" marL="0">
              <a:buNone/>
            </a:pPr>
            <a:r>
              <a:rPr lang="en-US" sz="1400" b="1" spc="100" kern="0" dirty="0">
                <a:solidFill>
                  <a:srgbClr val="C00000"/>
                </a:solidFill>
                <a:latin typeface="Arial" pitchFamily="34" charset="0"/>
                <a:ea typeface="Arial" pitchFamily="34" charset="-122"/>
                <a:cs typeface="Arial" pitchFamily="34" charset="-120"/>
              </a:rPr>
              <a:t>GIG</a:t>
            </a:r>
            <a:endParaRPr lang="en-US" sz="1400" dirty="0"/>
          </a:p>
        </p:txBody>
      </p:sp>
      <p:sp>
        <p:nvSpPr>
          <p:cNvPr id="8" name="Text 6"/>
          <p:cNvSpPr txBox="1"/>
          <p:nvPr/>
        </p:nvSpPr>
        <p:spPr>
          <a:xfrm>
            <a:off x="722376" y="2377440"/>
            <a:ext cx="2206676" cy="292608"/>
          </a:xfrm>
          <a:prstGeom prst="rect">
            <a:avLst/>
          </a:prstGeom>
          <a:noFill/>
          <a:ln/>
        </p:spPr>
        <p:txBody>
          <a:bodyPr wrap="square" lIns="0" tIns="0" rIns="0" bIns="0" rtlCol="0" anchor="t"/>
          <a:lstStyle/>
          <a:p>
            <a:pPr indent="0" marL="0">
              <a:buNone/>
            </a:pPr>
            <a:r>
              <a:rPr lang="en-US" sz="1700" b="1" dirty="0">
                <a:solidFill>
                  <a:srgbClr val="0F172A"/>
                </a:solidFill>
                <a:latin typeface="Arial" pitchFamily="34" charset="0"/>
                <a:ea typeface="Arial" pitchFamily="34" charset="-122"/>
                <a:cs typeface="Arial" pitchFamily="34" charset="-120"/>
              </a:rPr>
              <a:t>Short-term project</a:t>
            </a:r>
            <a:endParaRPr lang="en-US" sz="1700" dirty="0"/>
          </a:p>
        </p:txBody>
      </p:sp>
      <p:sp>
        <p:nvSpPr>
          <p:cNvPr id="9" name="Text 7"/>
          <p:cNvSpPr txBox="1"/>
          <p:nvPr/>
        </p:nvSpPr>
        <p:spPr>
          <a:xfrm>
            <a:off x="722376" y="2743200"/>
            <a:ext cx="2206676" cy="129844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Hours to weeks on a real initiative, without changing roles. Outside work hours, or with the manager's permission.</a:t>
            </a:r>
            <a:endParaRPr lang="en-US" sz="1400" dirty="0"/>
          </a:p>
        </p:txBody>
      </p:sp>
      <p:sp>
        <p:nvSpPr>
          <p:cNvPr id="10" name="Shape 8"/>
          <p:cNvSpPr/>
          <p:nvPr/>
        </p:nvSpPr>
        <p:spPr>
          <a:xfrm>
            <a:off x="3349676" y="1773936"/>
            <a:ext cx="2645588" cy="2395728"/>
          </a:xfrm>
          <a:prstGeom prst="roundRect">
            <a:avLst>
              <a:gd name="adj" fmla="val 229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1" name="Shape 9"/>
          <p:cNvSpPr/>
          <p:nvPr/>
        </p:nvSpPr>
        <p:spPr>
          <a:xfrm>
            <a:off x="3569132" y="1956816"/>
            <a:ext cx="1243584" cy="310896"/>
          </a:xfrm>
          <a:prstGeom prst="roundRect">
            <a:avLst>
              <a:gd name="adj" fmla="val 50000"/>
            </a:avLst>
          </a:prstGeom>
          <a:solidFill>
            <a:srgbClr val="F0FDF4"/>
          </a:solidFill>
          <a:ln w="12700">
            <a:solidFill>
              <a:srgbClr val="333333"/>
            </a:solidFill>
            <a:prstDash val="solid"/>
          </a:ln>
        </p:spPr>
      </p:sp>
      <p:sp>
        <p:nvSpPr>
          <p:cNvPr id="12" name="Text 10"/>
          <p:cNvSpPr txBox="1"/>
          <p:nvPr/>
        </p:nvSpPr>
        <p:spPr>
          <a:xfrm>
            <a:off x="3569132" y="1956816"/>
            <a:ext cx="1243584" cy="310896"/>
          </a:xfrm>
          <a:prstGeom prst="rect">
            <a:avLst/>
          </a:prstGeom>
          <a:noFill/>
          <a:ln/>
        </p:spPr>
        <p:txBody>
          <a:bodyPr wrap="square" lIns="0" tIns="0" rIns="0" bIns="0" rtlCol="0" anchor="ctr"/>
          <a:lstStyle/>
          <a:p>
            <a:pPr algn="ctr" indent="0" marL="0">
              <a:buNone/>
            </a:pPr>
            <a:r>
              <a:rPr lang="en-US" sz="1400" b="1" spc="100" kern="0" dirty="0">
                <a:solidFill>
                  <a:srgbClr val="15803D"/>
                </a:solidFill>
                <a:latin typeface="Arial" pitchFamily="34" charset="0"/>
                <a:ea typeface="Arial" pitchFamily="34" charset="-122"/>
                <a:cs typeface="Arial" pitchFamily="34" charset="-120"/>
              </a:rPr>
              <a:t>DJI</a:t>
            </a:r>
            <a:endParaRPr lang="en-US" sz="1400" dirty="0"/>
          </a:p>
        </p:txBody>
      </p:sp>
      <p:sp>
        <p:nvSpPr>
          <p:cNvPr id="13" name="Text 11"/>
          <p:cNvSpPr txBox="1"/>
          <p:nvPr/>
        </p:nvSpPr>
        <p:spPr>
          <a:xfrm>
            <a:off x="3569132" y="2377440"/>
            <a:ext cx="2206676" cy="292608"/>
          </a:xfrm>
          <a:prstGeom prst="rect">
            <a:avLst/>
          </a:prstGeom>
          <a:noFill/>
          <a:ln/>
        </p:spPr>
        <p:txBody>
          <a:bodyPr wrap="square" lIns="0" tIns="0" rIns="0" bIns="0" rtlCol="0" anchor="t"/>
          <a:lstStyle/>
          <a:p>
            <a:pPr indent="0" marL="0">
              <a:buNone/>
            </a:pPr>
            <a:r>
              <a:rPr lang="en-US" sz="1700" b="1" dirty="0">
                <a:solidFill>
                  <a:srgbClr val="0F172A"/>
                </a:solidFill>
                <a:latin typeface="Arial" pitchFamily="34" charset="0"/>
                <a:ea typeface="Arial" pitchFamily="34" charset="-122"/>
                <a:cs typeface="Arial" pitchFamily="34" charset="-120"/>
              </a:rPr>
              <a:t>Job Immersion</a:t>
            </a:r>
            <a:endParaRPr lang="en-US" sz="1700" dirty="0"/>
          </a:p>
        </p:txBody>
      </p:sp>
      <p:sp>
        <p:nvSpPr>
          <p:cNvPr id="14" name="Text 12"/>
          <p:cNvSpPr txBox="1"/>
          <p:nvPr/>
        </p:nvSpPr>
        <p:spPr>
          <a:xfrm>
            <a:off x="3569132" y="2743200"/>
            <a:ext cx="2206676" cy="129844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Three to nine months in another function under Policy 211_2021. Headcount, salary and benefits stay put.</a:t>
            </a:r>
            <a:endParaRPr lang="en-US" sz="1400" dirty="0"/>
          </a:p>
        </p:txBody>
      </p:sp>
      <p:sp>
        <p:nvSpPr>
          <p:cNvPr id="15" name="Shape 13"/>
          <p:cNvSpPr/>
          <p:nvPr/>
        </p:nvSpPr>
        <p:spPr>
          <a:xfrm>
            <a:off x="6196432" y="1773936"/>
            <a:ext cx="2645588" cy="2395728"/>
          </a:xfrm>
          <a:prstGeom prst="roundRect">
            <a:avLst>
              <a:gd name="adj" fmla="val 229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6" name="Shape 14"/>
          <p:cNvSpPr/>
          <p:nvPr/>
        </p:nvSpPr>
        <p:spPr>
          <a:xfrm>
            <a:off x="6415888" y="1956816"/>
            <a:ext cx="1243584" cy="310896"/>
          </a:xfrm>
          <a:prstGeom prst="roundRect">
            <a:avLst>
              <a:gd name="adj" fmla="val 50000"/>
            </a:avLst>
          </a:prstGeom>
          <a:solidFill>
            <a:srgbClr val="F5F3FF"/>
          </a:solidFill>
          <a:ln w="12700">
            <a:solidFill>
              <a:srgbClr val="333333"/>
            </a:solidFill>
            <a:prstDash val="solid"/>
          </a:ln>
        </p:spPr>
      </p:sp>
      <p:sp>
        <p:nvSpPr>
          <p:cNvPr id="17" name="Text 15"/>
          <p:cNvSpPr txBox="1"/>
          <p:nvPr/>
        </p:nvSpPr>
        <p:spPr>
          <a:xfrm>
            <a:off x="6415888" y="1956816"/>
            <a:ext cx="1243584" cy="310896"/>
          </a:xfrm>
          <a:prstGeom prst="rect">
            <a:avLst/>
          </a:prstGeom>
          <a:noFill/>
          <a:ln/>
        </p:spPr>
        <p:txBody>
          <a:bodyPr wrap="square" lIns="0" tIns="0" rIns="0" bIns="0" rtlCol="0" anchor="ctr"/>
          <a:lstStyle/>
          <a:p>
            <a:pPr algn="ctr" indent="0" marL="0">
              <a:buNone/>
            </a:pPr>
            <a:r>
              <a:rPr lang="en-US" sz="1400" b="1" spc="100" kern="0" dirty="0">
                <a:solidFill>
                  <a:srgbClr val="6D28D9"/>
                </a:solidFill>
                <a:latin typeface="Arial" pitchFamily="34" charset="0"/>
                <a:ea typeface="Arial" pitchFamily="34" charset="-122"/>
                <a:cs typeface="Arial" pitchFamily="34" charset="-120"/>
              </a:rPr>
              <a:t>OFFER</a:t>
            </a:r>
            <a:endParaRPr lang="en-US" sz="1400" dirty="0"/>
          </a:p>
        </p:txBody>
      </p:sp>
      <p:sp>
        <p:nvSpPr>
          <p:cNvPr id="18" name="Text 16"/>
          <p:cNvSpPr txBox="1"/>
          <p:nvPr/>
        </p:nvSpPr>
        <p:spPr>
          <a:xfrm>
            <a:off x="6415888" y="2377440"/>
            <a:ext cx="2206676" cy="292608"/>
          </a:xfrm>
          <a:prstGeom prst="rect">
            <a:avLst/>
          </a:prstGeom>
          <a:noFill/>
          <a:ln/>
        </p:spPr>
        <p:txBody>
          <a:bodyPr wrap="square" lIns="0" tIns="0" rIns="0" bIns="0" rtlCol="0" anchor="t"/>
          <a:lstStyle/>
          <a:p>
            <a:pPr indent="0" marL="0">
              <a:buNone/>
            </a:pPr>
            <a:r>
              <a:rPr lang="en-US" sz="1700" b="1" dirty="0">
                <a:solidFill>
                  <a:srgbClr val="0F172A"/>
                </a:solidFill>
                <a:latin typeface="Arial" pitchFamily="34" charset="0"/>
                <a:ea typeface="Arial" pitchFamily="34" charset="-122"/>
                <a:cs typeface="Arial" pitchFamily="34" charset="-120"/>
              </a:rPr>
              <a:t>Service Offer</a:t>
            </a:r>
            <a:endParaRPr lang="en-US" sz="1700" dirty="0"/>
          </a:p>
        </p:txBody>
      </p:sp>
      <p:sp>
        <p:nvSpPr>
          <p:cNvPr id="19" name="Text 17"/>
          <p:cNvSpPr txBox="1"/>
          <p:nvPr/>
        </p:nvSpPr>
        <p:spPr>
          <a:xfrm>
            <a:off x="6415888" y="2743200"/>
            <a:ext cx="2206676" cy="129844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Runs backwards: an employee publishes what they will help with, and teams request their time.</a:t>
            </a:r>
            <a:endParaRPr lang="en-US" sz="1400" dirty="0"/>
          </a:p>
        </p:txBody>
      </p:sp>
      <p:sp>
        <p:nvSpPr>
          <p:cNvPr id="20" name="Shape 18"/>
          <p:cNvSpPr/>
          <p:nvPr/>
        </p:nvSpPr>
        <p:spPr>
          <a:xfrm>
            <a:off x="9043187" y="1773936"/>
            <a:ext cx="2645588" cy="2395728"/>
          </a:xfrm>
          <a:prstGeom prst="roundRect">
            <a:avLst>
              <a:gd name="adj" fmla="val 229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1" name="Shape 19"/>
          <p:cNvSpPr/>
          <p:nvPr/>
        </p:nvSpPr>
        <p:spPr>
          <a:xfrm>
            <a:off x="9262643" y="1956816"/>
            <a:ext cx="1243584" cy="310896"/>
          </a:xfrm>
          <a:prstGeom prst="roundRect">
            <a:avLst>
              <a:gd name="adj" fmla="val 50000"/>
            </a:avLst>
          </a:prstGeom>
          <a:solidFill>
            <a:srgbClr val="EFF6FF"/>
          </a:solidFill>
          <a:ln w="12700">
            <a:solidFill>
              <a:srgbClr val="333333"/>
            </a:solidFill>
            <a:prstDash val="solid"/>
          </a:ln>
        </p:spPr>
      </p:sp>
      <p:sp>
        <p:nvSpPr>
          <p:cNvPr id="22" name="Text 20"/>
          <p:cNvSpPr txBox="1"/>
          <p:nvPr/>
        </p:nvSpPr>
        <p:spPr>
          <a:xfrm>
            <a:off x="9262643" y="1956816"/>
            <a:ext cx="1243584" cy="310896"/>
          </a:xfrm>
          <a:prstGeom prst="rect">
            <a:avLst/>
          </a:prstGeom>
          <a:noFill/>
          <a:ln/>
        </p:spPr>
        <p:txBody>
          <a:bodyPr wrap="square" lIns="0" tIns="0" rIns="0" bIns="0" rtlCol="0" anchor="ctr"/>
          <a:lstStyle/>
          <a:p>
            <a:pPr algn="ctr" indent="0" marL="0">
              <a:buNone/>
            </a:pPr>
            <a:r>
              <a:rPr lang="en-US" sz="1400" b="1" spc="100" kern="0" dirty="0">
                <a:solidFill>
                  <a:srgbClr val="1D4ED8"/>
                </a:solidFill>
                <a:latin typeface="Arial" pitchFamily="34" charset="0"/>
                <a:ea typeface="Arial" pitchFamily="34" charset="-122"/>
                <a:cs typeface="Arial" pitchFamily="34" charset="-120"/>
              </a:rPr>
              <a:t>VACANCY</a:t>
            </a:r>
            <a:endParaRPr lang="en-US" sz="1400" dirty="0"/>
          </a:p>
        </p:txBody>
      </p:sp>
      <p:sp>
        <p:nvSpPr>
          <p:cNvPr id="23" name="Text 21"/>
          <p:cNvSpPr txBox="1"/>
          <p:nvPr/>
        </p:nvSpPr>
        <p:spPr>
          <a:xfrm>
            <a:off x="9262643" y="2377440"/>
            <a:ext cx="2206676" cy="292608"/>
          </a:xfrm>
          <a:prstGeom prst="rect">
            <a:avLst/>
          </a:prstGeom>
          <a:noFill/>
          <a:ln/>
        </p:spPr>
        <p:txBody>
          <a:bodyPr wrap="square" lIns="0" tIns="0" rIns="0" bIns="0" rtlCol="0" anchor="t"/>
          <a:lstStyle/>
          <a:p>
            <a:pPr indent="0" marL="0">
              <a:buNone/>
            </a:pPr>
            <a:r>
              <a:rPr lang="en-US" sz="1700" b="1" dirty="0">
                <a:solidFill>
                  <a:srgbClr val="0F172A"/>
                </a:solidFill>
                <a:latin typeface="Arial" pitchFamily="34" charset="0"/>
                <a:ea typeface="Arial" pitchFamily="34" charset="-122"/>
                <a:cs typeface="Arial" pitchFamily="34" charset="-120"/>
              </a:rPr>
              <a:t>Promoted, not run</a:t>
            </a:r>
            <a:endParaRPr lang="en-US" sz="1700" dirty="0"/>
          </a:p>
        </p:txBody>
      </p:sp>
      <p:sp>
        <p:nvSpPr>
          <p:cNvPr id="24" name="Text 22"/>
          <p:cNvSpPr txBox="1"/>
          <p:nvPr/>
        </p:nvSpPr>
        <p:spPr>
          <a:xfrm>
            <a:off x="9262643" y="2743200"/>
            <a:ext cx="2206676" cy="129844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Permanent roles listed and scored here, then handed to HC Connect with a referral code.</a:t>
            </a:r>
            <a:endParaRPr lang="en-US" sz="1400" dirty="0"/>
          </a:p>
        </p:txBody>
      </p:sp>
      <p:sp>
        <p:nvSpPr>
          <p:cNvPr id="25" name="Shape 23"/>
          <p:cNvSpPr/>
          <p:nvPr/>
        </p:nvSpPr>
        <p:spPr>
          <a:xfrm>
            <a:off x="502920" y="4315968"/>
            <a:ext cx="5481069" cy="1700784"/>
          </a:xfrm>
          <a:prstGeom prst="roundRect">
            <a:avLst>
              <a:gd name="adj" fmla="val 3226"/>
            </a:avLst>
          </a:prstGeom>
          <a:solidFill>
            <a:srgbClr val="F7F8FA"/>
          </a:solidFill>
          <a:ln w="12700">
            <a:solidFill>
              <a:srgbClr val="333333"/>
            </a:solidFill>
            <a:prstDash val="solid"/>
          </a:ln>
        </p:spPr>
      </p:sp>
      <p:sp>
        <p:nvSpPr>
          <p:cNvPr id="26" name="Text 24"/>
          <p:cNvSpPr txBox="1"/>
          <p:nvPr/>
        </p:nvSpPr>
        <p:spPr>
          <a:xfrm>
            <a:off x="795528" y="4480560"/>
            <a:ext cx="4895853" cy="27432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The design decision that matters</a:t>
            </a:r>
            <a:endParaRPr lang="en-US" sz="1800" dirty="0"/>
          </a:p>
        </p:txBody>
      </p:sp>
      <p:sp>
        <p:nvSpPr>
          <p:cNvPr id="27" name="Text 25"/>
          <p:cNvSpPr txBox="1"/>
          <p:nvPr/>
        </p:nvSpPr>
        <p:spPr>
          <a:xfrm>
            <a:off x="795528" y="4791456"/>
            <a:ext cx="4895853" cy="1097280"/>
          </a:xfrm>
          <a:prstGeom prst="rect">
            <a:avLst/>
          </a:prstGeom>
          <a:noFill/>
          <a:ln/>
        </p:spPr>
        <p:txBody>
          <a:bodyPr wrap="square" lIns="0" tIns="0" rIns="0" bIns="0" rtlCol="0" anchor="t"/>
          <a:lstStyle/>
          <a:p>
            <a:pPr indent="0" marL="0">
              <a:lnSpc>
                <a:spcPts val="2100"/>
              </a:lnSpc>
              <a:buNone/>
            </a:pPr>
            <a:r>
              <a:rPr lang="en-US" sz="1500" dirty="0">
                <a:solidFill>
                  <a:srgbClr val="374151"/>
                </a:solidFill>
                <a:latin typeface="Arial" pitchFamily="34" charset="0"/>
                <a:ea typeface="Arial" pitchFamily="34" charset="-122"/>
                <a:cs typeface="Arial" pitchFamily="34" charset="-120"/>
              </a:rPr>
              <a:t>Growth does not run vacancy applications. HC Connect owns the requisition, the screening and the offer, and a second queue would split one process in two.</a:t>
            </a:r>
            <a:endParaRPr lang="en-US" sz="1500" dirty="0"/>
          </a:p>
        </p:txBody>
      </p:sp>
      <p:sp>
        <p:nvSpPr>
          <p:cNvPr id="28" name="Shape 26"/>
          <p:cNvSpPr/>
          <p:nvPr/>
        </p:nvSpPr>
        <p:spPr>
          <a:xfrm>
            <a:off x="6221733" y="4315968"/>
            <a:ext cx="5467042" cy="1700784"/>
          </a:xfrm>
          <a:prstGeom prst="roundRect">
            <a:avLst>
              <a:gd name="adj" fmla="val 3226"/>
            </a:avLst>
          </a:prstGeom>
          <a:solidFill>
            <a:srgbClr val="0F172A"/>
          </a:solidFill>
          <a:ln w="12700">
            <a:solidFill>
              <a:srgbClr val="333333"/>
            </a:solidFill>
            <a:prstDash val="solid"/>
          </a:ln>
        </p:spPr>
      </p:sp>
      <p:sp>
        <p:nvSpPr>
          <p:cNvPr id="29" name="Text 27"/>
          <p:cNvSpPr txBox="1"/>
          <p:nvPr/>
        </p:nvSpPr>
        <p:spPr>
          <a:xfrm>
            <a:off x="6514341" y="4480560"/>
            <a:ext cx="4881826" cy="2743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And it proves what it caused</a:t>
            </a:r>
            <a:endParaRPr lang="en-US" sz="1800" dirty="0"/>
          </a:p>
        </p:txBody>
      </p:sp>
      <p:sp>
        <p:nvSpPr>
          <p:cNvPr id="30" name="Text 28"/>
          <p:cNvSpPr txBox="1"/>
          <p:nvPr/>
        </p:nvSpPr>
        <p:spPr>
          <a:xfrm>
            <a:off x="6514341" y="4791456"/>
            <a:ext cx="4881826" cy="1097280"/>
          </a:xfrm>
          <a:prstGeom prst="rect">
            <a:avLst/>
          </a:prstGeom>
          <a:noFill/>
          <a:ln/>
        </p:spPr>
        <p:txBody>
          <a:bodyPr wrap="square" lIns="0" tIns="0" rIns="0" bIns="0" rtlCol="0" anchor="t"/>
          <a:lstStyle/>
          <a:p>
            <a:pPr indent="0" marL="0">
              <a:lnSpc>
                <a:spcPts val="2100"/>
              </a:lnSpc>
              <a:buNone/>
            </a:pPr>
            <a:r>
              <a:rPr lang="en-US" sz="1500" dirty="0">
                <a:solidFill>
                  <a:srgbClr val="CBD5E1"/>
                </a:solidFill>
                <a:latin typeface="Arial" pitchFamily="34" charset="0"/>
                <a:ea typeface="Arial" pitchFamily="34" charset="-122"/>
                <a:cs typeface="Arial" pitchFamily="34" charset="-120"/>
              </a:rPr>
              <a:t>Every handoff carries a referral code. Recruitment adds one source value; a quarterly join turns clicks into confirmed applications: </a:t>
            </a:r>
            <a:pPr indent="0" marL="0">
              <a:lnSpc>
                <a:spcPts val="2100"/>
              </a:lnSpc>
              <a:buNone/>
            </a:pPr>
            <a:r>
              <a:rPr lang="en-US" sz="1500" b="1" dirty="0">
                <a:solidFill>
                  <a:srgbClr val="4ADE80"/>
                </a:solidFill>
                <a:latin typeface="Arial" pitchFamily="34" charset="0"/>
                <a:ea typeface="Arial" pitchFamily="34" charset="-122"/>
                <a:cs typeface="Arial" pitchFamily="34" charset="-120"/>
              </a:rPr>
              <a:t>measured here</a:t>
            </a:r>
            <a:pPr indent="0" marL="0">
              <a:lnSpc>
                <a:spcPts val="2100"/>
              </a:lnSpc>
              <a:buNone/>
            </a:pPr>
            <a:r>
              <a:rPr lang="en-US" sz="1500" dirty="0">
                <a:solidFill>
                  <a:srgbClr val="64748B"/>
                </a:solidFill>
                <a:latin typeface="Arial" pitchFamily="34" charset="0"/>
                <a:ea typeface="Arial" pitchFamily="34" charset="-122"/>
                <a:cs typeface="Arial" pitchFamily="34" charset="-120"/>
              </a:rPr>
              <a:t> · </a:t>
            </a:r>
            <a:pPr indent="0" marL="0">
              <a:lnSpc>
                <a:spcPts val="2100"/>
              </a:lnSpc>
              <a:buNone/>
            </a:pPr>
            <a:r>
              <a:rPr lang="en-US" sz="1500" b="1" dirty="0">
                <a:solidFill>
                  <a:srgbClr val="FBBF24"/>
                </a:solidFill>
                <a:latin typeface="Arial" pitchFamily="34" charset="0"/>
                <a:ea typeface="Arial" pitchFamily="34" charset="-122"/>
                <a:cs typeface="Arial" pitchFamily="34" charset="-120"/>
              </a:rPr>
              <a:t>self-reported</a:t>
            </a:r>
            <a:pPr indent="0" marL="0">
              <a:lnSpc>
                <a:spcPts val="2100"/>
              </a:lnSpc>
              <a:buNone/>
            </a:pPr>
            <a:r>
              <a:rPr lang="en-US" sz="1500" dirty="0">
                <a:solidFill>
                  <a:srgbClr val="64748B"/>
                </a:solidFill>
                <a:latin typeface="Arial" pitchFamily="34" charset="0"/>
                <a:ea typeface="Arial" pitchFamily="34" charset="-122"/>
                <a:cs typeface="Arial" pitchFamily="34" charset="-120"/>
              </a:rPr>
              <a:t> · </a:t>
            </a:r>
            <a:pPr indent="0" marL="0">
              <a:lnSpc>
                <a:spcPts val="2100"/>
              </a:lnSpc>
              <a:buNone/>
            </a:pPr>
            <a:r>
              <a:rPr lang="en-US" sz="1500" b="1" dirty="0">
                <a:solidFill>
                  <a:srgbClr val="93C5FD"/>
                </a:solidFill>
                <a:latin typeface="Arial" pitchFamily="34" charset="0"/>
                <a:ea typeface="Arial" pitchFamily="34" charset="-122"/>
                <a:cs typeface="Arial" pitchFamily="34" charset="-120"/>
              </a:rPr>
              <a:t>confirmed by HC Connect</a:t>
            </a:r>
            <a:pPr indent="0" marL="0">
              <a:lnSpc>
                <a:spcPts val="2100"/>
              </a:lnSpc>
              <a:buNone/>
            </a:pPr>
            <a:r>
              <a:rPr lang="en-US" sz="1500" dirty="0">
                <a:solidFill>
                  <a:srgbClr val="CBD5E1"/>
                </a:solidFill>
                <a:latin typeface="Arial" pitchFamily="34" charset="0"/>
                <a:ea typeface="Arial" pitchFamily="34" charset="-122"/>
                <a:cs typeface="Arial" pitchFamily="34" charset="-120"/>
              </a:rPr>
              <a:t>.</a:t>
            </a:r>
            <a:endParaRPr lang="en-US" sz="1500" dirty="0"/>
          </a:p>
        </p:txBody>
      </p:sp>
      <p:sp>
        <p:nvSpPr>
          <p:cNvPr id="31" name="Shape 29"/>
          <p:cNvSpPr/>
          <p:nvPr/>
        </p:nvSpPr>
        <p:spPr>
          <a:xfrm>
            <a:off x="502920" y="6291072"/>
            <a:ext cx="11185855" cy="0"/>
          </a:xfrm>
          <a:prstGeom prst="line">
            <a:avLst/>
          </a:prstGeom>
          <a:noFill/>
          <a:ln w="12700">
            <a:solidFill>
              <a:srgbClr val="E5E7EB"/>
            </a:solidFill>
            <a:prstDash val="solid"/>
          </a:ln>
        </p:spPr>
      </p:sp>
      <p:sp>
        <p:nvSpPr>
          <p:cNvPr id="32" name="Text 30"/>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HC Connect Internal Job Posting remains the system of record for all permanent internal recruitment.</a:t>
            </a:r>
            <a:endParaRPr lang="en-US" sz="1400" dirty="0"/>
          </a:p>
        </p:txBody>
      </p:sp>
      <p:sp>
        <p:nvSpPr>
          <p:cNvPr id="33" name="Text 31"/>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HOW IT WORKS</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Profile to permanent record, in six steps.</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Most people are through step three inside a lunch break.</a:t>
            </a:r>
            <a:endParaRPr lang="en-US" sz="1600" dirty="0"/>
          </a:p>
        </p:txBody>
      </p:sp>
      <p:sp>
        <p:nvSpPr>
          <p:cNvPr id="5" name="Shape 3"/>
          <p:cNvSpPr/>
          <p:nvPr/>
        </p:nvSpPr>
        <p:spPr>
          <a:xfrm>
            <a:off x="502920" y="1792224"/>
            <a:ext cx="1742389" cy="2706624"/>
          </a:xfrm>
          <a:prstGeom prst="roundRect">
            <a:avLst>
              <a:gd name="adj" fmla="val 314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Shape 4"/>
          <p:cNvSpPr/>
          <p:nvPr/>
        </p:nvSpPr>
        <p:spPr>
          <a:xfrm>
            <a:off x="1163803" y="1975104"/>
            <a:ext cx="420624" cy="420624"/>
          </a:xfrm>
          <a:prstGeom prst="ellipse">
            <a:avLst/>
          </a:prstGeom>
          <a:solidFill>
            <a:srgbClr val="C00000"/>
          </a:solidFill>
          <a:ln w="12700">
            <a:solidFill>
              <a:srgbClr val="333333"/>
            </a:solidFill>
            <a:prstDash val="solid"/>
          </a:ln>
        </p:spPr>
      </p:sp>
      <p:sp>
        <p:nvSpPr>
          <p:cNvPr id="7" name="Text 5"/>
          <p:cNvSpPr txBox="1"/>
          <p:nvPr/>
        </p:nvSpPr>
        <p:spPr>
          <a:xfrm>
            <a:off x="1163803"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630936" y="2487168"/>
            <a:ext cx="1486357" cy="512064"/>
          </a:xfrm>
          <a:prstGeom prst="rect">
            <a:avLst/>
          </a:prstGeom>
          <a:noFill/>
          <a:ln/>
        </p:spPr>
        <p:txBody>
          <a:bodyPr wrap="square" lIns="0" tIns="0" rIns="0" bIns="0" rtlCol="0" anchor="t"/>
          <a:lstStyle/>
          <a:p>
            <a:pPr algn="ctr" indent="0" marL="0">
              <a:lnSpc>
                <a:spcPts val="1900"/>
              </a:lnSpc>
              <a:buNone/>
            </a:pPr>
            <a:r>
              <a:rPr lang="en-US" sz="1500" b="1" dirty="0">
                <a:solidFill>
                  <a:srgbClr val="0F172A"/>
                </a:solidFill>
                <a:latin typeface="Arial" pitchFamily="34" charset="0"/>
                <a:ea typeface="Arial" pitchFamily="34" charset="-122"/>
                <a:cs typeface="Arial" pitchFamily="34" charset="-120"/>
              </a:rPr>
              <a:t>Build your profile</a:t>
            </a:r>
            <a:endParaRPr lang="en-US" sz="1500" dirty="0"/>
          </a:p>
        </p:txBody>
      </p:sp>
      <p:sp>
        <p:nvSpPr>
          <p:cNvPr id="9" name="Text 7"/>
          <p:cNvSpPr txBox="1"/>
          <p:nvPr/>
        </p:nvSpPr>
        <p:spPr>
          <a:xfrm>
            <a:off x="594360" y="3017520"/>
            <a:ext cx="1559509" cy="237744"/>
          </a:xfrm>
          <a:prstGeom prst="rect">
            <a:avLst/>
          </a:prstGeom>
          <a:noFill/>
          <a:ln/>
        </p:spPr>
        <p:txBody>
          <a:bodyPr wrap="square" lIns="0" tIns="0" rIns="0" bIns="0" rtlCol="0" anchor="ctr"/>
          <a:lstStyle/>
          <a:p>
            <a:pPr algn="ctr" indent="0" marL="0">
              <a:buNone/>
            </a:pPr>
            <a:r>
              <a:rPr lang="en-US" sz="1400" b="1" dirty="0">
                <a:solidFill>
                  <a:srgbClr val="C00000"/>
                </a:solidFill>
                <a:latin typeface="Arial" pitchFamily="34" charset="0"/>
                <a:ea typeface="Arial" pitchFamily="34" charset="-122"/>
                <a:cs typeface="Arial" pitchFamily="34" charset="-120"/>
              </a:rPr>
              <a:t>YOU · 5 MIN</a:t>
            </a:r>
            <a:endParaRPr lang="en-US" sz="1400" dirty="0"/>
          </a:p>
        </p:txBody>
      </p:sp>
      <p:sp>
        <p:nvSpPr>
          <p:cNvPr id="10" name="Text 8"/>
          <p:cNvSpPr txBox="1"/>
          <p:nvPr/>
        </p:nvSpPr>
        <p:spPr>
          <a:xfrm>
            <a:off x="630936" y="3310128"/>
            <a:ext cx="1486357" cy="1097280"/>
          </a:xfrm>
          <a:prstGeom prst="rect">
            <a:avLst/>
          </a:prstGeom>
          <a:noFill/>
          <a:ln/>
        </p:spPr>
        <p:txBody>
          <a:bodyPr wrap="square" lIns="0" tIns="0" rIns="0" bIns="0" rtlCol="0" anchor="t"/>
          <a:lstStyle/>
          <a:p>
            <a:pPr algn="ctr" indent="0" marL="0">
              <a:lnSpc>
                <a:spcPts val="1800"/>
              </a:lnSpc>
              <a:buNone/>
            </a:pPr>
            <a:r>
              <a:rPr lang="en-US" sz="1400" dirty="0">
                <a:solidFill>
                  <a:srgbClr val="6B7280"/>
                </a:solidFill>
                <a:latin typeface="Arial" pitchFamily="34" charset="0"/>
                <a:ea typeface="Arial" pitchFamily="34" charset="-122"/>
                <a:cs typeface="Arial" pitchFamily="34" charset="-120"/>
              </a:rPr>
              <a:t>Add your skills, or confirm the ones HR already imported from your record.</a:t>
            </a:r>
            <a:endParaRPr lang="en-US" sz="1400" dirty="0"/>
          </a:p>
        </p:txBody>
      </p:sp>
      <p:sp>
        <p:nvSpPr>
          <p:cNvPr id="11" name="Text 9"/>
          <p:cNvSpPr txBox="1"/>
          <p:nvPr/>
        </p:nvSpPr>
        <p:spPr>
          <a:xfrm>
            <a:off x="2249881" y="1975104"/>
            <a:ext cx="137160" cy="420624"/>
          </a:xfrm>
          <a:prstGeom prst="rect">
            <a:avLst/>
          </a:prstGeom>
          <a:noFill/>
          <a:ln/>
        </p:spPr>
        <p:txBody>
          <a:bodyPr wrap="square" lIns="0" tIns="0" rIns="0" bIns="0" rtlCol="0" anchor="ctr"/>
          <a:lstStyle/>
          <a:p>
            <a:pPr algn="ctr" indent="0" marL="0">
              <a:buNone/>
            </a:pPr>
            <a:r>
              <a:rPr lang="en-US" sz="2400" b="1" dirty="0">
                <a:solidFill>
                  <a:srgbClr val="CBD5E1"/>
                </a:solidFill>
                <a:latin typeface="Arial" pitchFamily="34" charset="0"/>
                <a:ea typeface="Arial" pitchFamily="34" charset="-122"/>
                <a:cs typeface="Arial" pitchFamily="34" charset="-120"/>
              </a:rPr>
              <a:t>›</a:t>
            </a:r>
            <a:endParaRPr lang="en-US" sz="2400" dirty="0"/>
          </a:p>
        </p:txBody>
      </p:sp>
      <p:sp>
        <p:nvSpPr>
          <p:cNvPr id="12" name="Shape 10"/>
          <p:cNvSpPr/>
          <p:nvPr/>
        </p:nvSpPr>
        <p:spPr>
          <a:xfrm>
            <a:off x="2391613" y="1792224"/>
            <a:ext cx="1742389" cy="2706624"/>
          </a:xfrm>
          <a:prstGeom prst="roundRect">
            <a:avLst>
              <a:gd name="adj" fmla="val 314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3" name="Shape 11"/>
          <p:cNvSpPr/>
          <p:nvPr/>
        </p:nvSpPr>
        <p:spPr>
          <a:xfrm>
            <a:off x="3052496" y="1975104"/>
            <a:ext cx="420624" cy="420624"/>
          </a:xfrm>
          <a:prstGeom prst="ellipse">
            <a:avLst/>
          </a:prstGeom>
          <a:solidFill>
            <a:srgbClr val="C00000"/>
          </a:solidFill>
          <a:ln w="12700">
            <a:solidFill>
              <a:srgbClr val="333333"/>
            </a:solidFill>
            <a:prstDash val="solid"/>
          </a:ln>
        </p:spPr>
      </p:sp>
      <p:sp>
        <p:nvSpPr>
          <p:cNvPr id="14" name="Text 12"/>
          <p:cNvSpPr txBox="1"/>
          <p:nvPr/>
        </p:nvSpPr>
        <p:spPr>
          <a:xfrm>
            <a:off x="3052496"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txBox="1"/>
          <p:nvPr/>
        </p:nvSpPr>
        <p:spPr>
          <a:xfrm>
            <a:off x="2519629" y="2487168"/>
            <a:ext cx="1486357" cy="512064"/>
          </a:xfrm>
          <a:prstGeom prst="rect">
            <a:avLst/>
          </a:prstGeom>
          <a:noFill/>
          <a:ln/>
        </p:spPr>
        <p:txBody>
          <a:bodyPr wrap="square" lIns="0" tIns="0" rIns="0" bIns="0" rtlCol="0" anchor="t"/>
          <a:lstStyle/>
          <a:p>
            <a:pPr algn="ctr" indent="0" marL="0">
              <a:lnSpc>
                <a:spcPts val="1900"/>
              </a:lnSpc>
              <a:buNone/>
            </a:pPr>
            <a:r>
              <a:rPr lang="en-US" sz="1500" b="1" dirty="0">
                <a:solidFill>
                  <a:srgbClr val="0F172A"/>
                </a:solidFill>
                <a:latin typeface="Arial" pitchFamily="34" charset="0"/>
                <a:ea typeface="Arial" pitchFamily="34" charset="-122"/>
                <a:cs typeface="Arial" pitchFamily="34" charset="-120"/>
              </a:rPr>
              <a:t>Growth scores openings</a:t>
            </a:r>
            <a:endParaRPr lang="en-US" sz="1500" dirty="0"/>
          </a:p>
        </p:txBody>
      </p:sp>
      <p:sp>
        <p:nvSpPr>
          <p:cNvPr id="16" name="Text 14"/>
          <p:cNvSpPr txBox="1"/>
          <p:nvPr/>
        </p:nvSpPr>
        <p:spPr>
          <a:xfrm>
            <a:off x="2483053" y="3017520"/>
            <a:ext cx="1559509" cy="237744"/>
          </a:xfrm>
          <a:prstGeom prst="rect">
            <a:avLst/>
          </a:prstGeom>
          <a:noFill/>
          <a:ln/>
        </p:spPr>
        <p:txBody>
          <a:bodyPr wrap="square" lIns="0" tIns="0" rIns="0" bIns="0" rtlCol="0" anchor="ctr"/>
          <a:lstStyle/>
          <a:p>
            <a:pPr algn="ctr" indent="0" marL="0">
              <a:buNone/>
            </a:pPr>
            <a:r>
              <a:rPr lang="en-US" sz="1400" b="1" dirty="0">
                <a:solidFill>
                  <a:srgbClr val="C00000"/>
                </a:solidFill>
                <a:latin typeface="Arial" pitchFamily="34" charset="0"/>
                <a:ea typeface="Arial" pitchFamily="34" charset="-122"/>
                <a:cs typeface="Arial" pitchFamily="34" charset="-120"/>
              </a:rPr>
              <a:t>AUTOMATIC</a:t>
            </a:r>
            <a:endParaRPr lang="en-US" sz="1400" dirty="0"/>
          </a:p>
        </p:txBody>
      </p:sp>
      <p:sp>
        <p:nvSpPr>
          <p:cNvPr id="17" name="Text 15"/>
          <p:cNvSpPr txBox="1"/>
          <p:nvPr/>
        </p:nvSpPr>
        <p:spPr>
          <a:xfrm>
            <a:off x="2519629" y="3310128"/>
            <a:ext cx="1486357" cy="1097280"/>
          </a:xfrm>
          <a:prstGeom prst="rect">
            <a:avLst/>
          </a:prstGeom>
          <a:noFill/>
          <a:ln/>
        </p:spPr>
        <p:txBody>
          <a:bodyPr wrap="square" lIns="0" tIns="0" rIns="0" bIns="0" rtlCol="0" anchor="t"/>
          <a:lstStyle/>
          <a:p>
            <a:pPr algn="ctr" indent="0" marL="0">
              <a:lnSpc>
                <a:spcPts val="1800"/>
              </a:lnSpc>
              <a:buNone/>
            </a:pPr>
            <a:r>
              <a:rPr lang="en-US" sz="1400" dirty="0">
                <a:solidFill>
                  <a:srgbClr val="6B7280"/>
                </a:solidFill>
                <a:latin typeface="Arial" pitchFamily="34" charset="0"/>
                <a:ea typeface="Arial" pitchFamily="34" charset="-122"/>
                <a:cs typeface="Arial" pitchFamily="34" charset="-120"/>
              </a:rPr>
              <a:t>Every opening scored against your skills, with the reasoning shown.</a:t>
            </a:r>
            <a:endParaRPr lang="en-US" sz="1400" dirty="0"/>
          </a:p>
        </p:txBody>
      </p:sp>
      <p:sp>
        <p:nvSpPr>
          <p:cNvPr id="18" name="Text 16"/>
          <p:cNvSpPr txBox="1"/>
          <p:nvPr/>
        </p:nvSpPr>
        <p:spPr>
          <a:xfrm>
            <a:off x="4138574" y="1975104"/>
            <a:ext cx="137160" cy="420624"/>
          </a:xfrm>
          <a:prstGeom prst="rect">
            <a:avLst/>
          </a:prstGeom>
          <a:noFill/>
          <a:ln/>
        </p:spPr>
        <p:txBody>
          <a:bodyPr wrap="square" lIns="0" tIns="0" rIns="0" bIns="0" rtlCol="0" anchor="ctr"/>
          <a:lstStyle/>
          <a:p>
            <a:pPr algn="ctr" indent="0" marL="0">
              <a:buNone/>
            </a:pPr>
            <a:r>
              <a:rPr lang="en-US" sz="2400" b="1" dirty="0">
                <a:solidFill>
                  <a:srgbClr val="CBD5E1"/>
                </a:solidFill>
                <a:latin typeface="Arial" pitchFamily="34" charset="0"/>
                <a:ea typeface="Arial" pitchFamily="34" charset="-122"/>
                <a:cs typeface="Arial" pitchFamily="34" charset="-120"/>
              </a:rPr>
              <a:t>›</a:t>
            </a:r>
            <a:endParaRPr lang="en-US" sz="2400" dirty="0"/>
          </a:p>
        </p:txBody>
      </p:sp>
      <p:sp>
        <p:nvSpPr>
          <p:cNvPr id="19" name="Shape 17"/>
          <p:cNvSpPr/>
          <p:nvPr/>
        </p:nvSpPr>
        <p:spPr>
          <a:xfrm>
            <a:off x="4280306" y="1792224"/>
            <a:ext cx="1742389" cy="2706624"/>
          </a:xfrm>
          <a:prstGeom prst="roundRect">
            <a:avLst>
              <a:gd name="adj" fmla="val 314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0" name="Shape 18"/>
          <p:cNvSpPr/>
          <p:nvPr/>
        </p:nvSpPr>
        <p:spPr>
          <a:xfrm>
            <a:off x="4941189" y="1975104"/>
            <a:ext cx="420624" cy="420624"/>
          </a:xfrm>
          <a:prstGeom prst="ellipse">
            <a:avLst/>
          </a:prstGeom>
          <a:solidFill>
            <a:srgbClr val="C00000"/>
          </a:solidFill>
          <a:ln w="12700">
            <a:solidFill>
              <a:srgbClr val="333333"/>
            </a:solidFill>
            <a:prstDash val="solid"/>
          </a:ln>
        </p:spPr>
      </p:sp>
      <p:sp>
        <p:nvSpPr>
          <p:cNvPr id="21" name="Text 19"/>
          <p:cNvSpPr txBox="1"/>
          <p:nvPr/>
        </p:nvSpPr>
        <p:spPr>
          <a:xfrm>
            <a:off x="4941189"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2" name="Text 20"/>
          <p:cNvSpPr txBox="1"/>
          <p:nvPr/>
        </p:nvSpPr>
        <p:spPr>
          <a:xfrm>
            <a:off x="4408322" y="2487168"/>
            <a:ext cx="1486357" cy="512064"/>
          </a:xfrm>
          <a:prstGeom prst="rect">
            <a:avLst/>
          </a:prstGeom>
          <a:noFill/>
          <a:ln/>
        </p:spPr>
        <p:txBody>
          <a:bodyPr wrap="square" lIns="0" tIns="0" rIns="0" bIns="0" rtlCol="0" anchor="t"/>
          <a:lstStyle/>
          <a:p>
            <a:pPr algn="ctr" indent="0" marL="0">
              <a:lnSpc>
                <a:spcPts val="1900"/>
              </a:lnSpc>
              <a:buNone/>
            </a:pPr>
            <a:r>
              <a:rPr lang="en-US" sz="1500" b="1" dirty="0">
                <a:solidFill>
                  <a:srgbClr val="0F172A"/>
                </a:solidFill>
                <a:latin typeface="Arial" pitchFamily="34" charset="0"/>
                <a:ea typeface="Arial" pitchFamily="34" charset="-122"/>
                <a:cs typeface="Arial" pitchFamily="34" charset="-120"/>
              </a:rPr>
              <a:t>You apply</a:t>
            </a:r>
            <a:endParaRPr lang="en-US" sz="1500" dirty="0"/>
          </a:p>
        </p:txBody>
      </p:sp>
      <p:sp>
        <p:nvSpPr>
          <p:cNvPr id="23" name="Text 21"/>
          <p:cNvSpPr txBox="1"/>
          <p:nvPr/>
        </p:nvSpPr>
        <p:spPr>
          <a:xfrm>
            <a:off x="4371746" y="3017520"/>
            <a:ext cx="1559509" cy="237744"/>
          </a:xfrm>
          <a:prstGeom prst="rect">
            <a:avLst/>
          </a:prstGeom>
          <a:noFill/>
          <a:ln/>
        </p:spPr>
        <p:txBody>
          <a:bodyPr wrap="square" lIns="0" tIns="0" rIns="0" bIns="0" rtlCol="0" anchor="ctr"/>
          <a:lstStyle/>
          <a:p>
            <a:pPr algn="ctr" indent="0" marL="0">
              <a:buNone/>
            </a:pPr>
            <a:r>
              <a:rPr lang="en-US" sz="1400" b="1" dirty="0">
                <a:solidFill>
                  <a:srgbClr val="C00000"/>
                </a:solidFill>
                <a:latin typeface="Arial" pitchFamily="34" charset="0"/>
                <a:ea typeface="Arial" pitchFamily="34" charset="-122"/>
                <a:cs typeface="Arial" pitchFamily="34" charset="-120"/>
              </a:rPr>
              <a:t>YOU / A MANAGER</a:t>
            </a:r>
            <a:endParaRPr lang="en-US" sz="1400" dirty="0"/>
          </a:p>
        </p:txBody>
      </p:sp>
      <p:sp>
        <p:nvSpPr>
          <p:cNvPr id="24" name="Text 22"/>
          <p:cNvSpPr txBox="1"/>
          <p:nvPr/>
        </p:nvSpPr>
        <p:spPr>
          <a:xfrm>
            <a:off x="4408322" y="3310128"/>
            <a:ext cx="1486357" cy="1097280"/>
          </a:xfrm>
          <a:prstGeom prst="rect">
            <a:avLst/>
          </a:prstGeom>
          <a:noFill/>
          <a:ln/>
        </p:spPr>
        <p:txBody>
          <a:bodyPr wrap="square" lIns="0" tIns="0" rIns="0" bIns="0" rtlCol="0" anchor="t"/>
          <a:lstStyle/>
          <a:p>
            <a:pPr algn="ctr" indent="0" marL="0">
              <a:lnSpc>
                <a:spcPts val="1800"/>
              </a:lnSpc>
              <a:buNone/>
            </a:pPr>
            <a:r>
              <a:rPr lang="en-US" sz="1400" dirty="0">
                <a:solidFill>
                  <a:srgbClr val="6B7280"/>
                </a:solidFill>
                <a:latin typeface="Arial" pitchFamily="34" charset="0"/>
                <a:ea typeface="Arial" pitchFamily="34" charset="-122"/>
                <a:cs typeface="Arial" pitchFamily="34" charset="-120"/>
              </a:rPr>
              <a:t>One click. Managers can also nominate people directly.</a:t>
            </a:r>
            <a:endParaRPr lang="en-US" sz="1400" dirty="0"/>
          </a:p>
        </p:txBody>
      </p:sp>
      <p:sp>
        <p:nvSpPr>
          <p:cNvPr id="25" name="Text 23"/>
          <p:cNvSpPr txBox="1"/>
          <p:nvPr/>
        </p:nvSpPr>
        <p:spPr>
          <a:xfrm>
            <a:off x="6027268" y="1975104"/>
            <a:ext cx="137160" cy="420624"/>
          </a:xfrm>
          <a:prstGeom prst="rect">
            <a:avLst/>
          </a:prstGeom>
          <a:noFill/>
          <a:ln/>
        </p:spPr>
        <p:txBody>
          <a:bodyPr wrap="square" lIns="0" tIns="0" rIns="0" bIns="0" rtlCol="0" anchor="ctr"/>
          <a:lstStyle/>
          <a:p>
            <a:pPr algn="ctr" indent="0" marL="0">
              <a:buNone/>
            </a:pPr>
            <a:r>
              <a:rPr lang="en-US" sz="2400" b="1" dirty="0">
                <a:solidFill>
                  <a:srgbClr val="CBD5E1"/>
                </a:solidFill>
                <a:latin typeface="Arial" pitchFamily="34" charset="0"/>
                <a:ea typeface="Arial" pitchFamily="34" charset="-122"/>
                <a:cs typeface="Arial" pitchFamily="34" charset="-120"/>
              </a:rPr>
              <a:t>›</a:t>
            </a:r>
            <a:endParaRPr lang="en-US" sz="2400" dirty="0"/>
          </a:p>
        </p:txBody>
      </p:sp>
      <p:sp>
        <p:nvSpPr>
          <p:cNvPr id="26" name="Shape 24"/>
          <p:cNvSpPr/>
          <p:nvPr/>
        </p:nvSpPr>
        <p:spPr>
          <a:xfrm>
            <a:off x="6169000" y="1792224"/>
            <a:ext cx="1742389" cy="2706624"/>
          </a:xfrm>
          <a:prstGeom prst="roundRect">
            <a:avLst>
              <a:gd name="adj" fmla="val 314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7" name="Shape 25"/>
          <p:cNvSpPr/>
          <p:nvPr/>
        </p:nvSpPr>
        <p:spPr>
          <a:xfrm>
            <a:off x="6829882" y="1975104"/>
            <a:ext cx="420624" cy="420624"/>
          </a:xfrm>
          <a:prstGeom prst="ellipse">
            <a:avLst/>
          </a:prstGeom>
          <a:solidFill>
            <a:srgbClr val="C00000"/>
          </a:solidFill>
          <a:ln w="12700">
            <a:solidFill>
              <a:srgbClr val="333333"/>
            </a:solidFill>
            <a:prstDash val="solid"/>
          </a:ln>
        </p:spPr>
      </p:sp>
      <p:sp>
        <p:nvSpPr>
          <p:cNvPr id="28" name="Text 26"/>
          <p:cNvSpPr txBox="1"/>
          <p:nvPr/>
        </p:nvSpPr>
        <p:spPr>
          <a:xfrm>
            <a:off x="6829882"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9" name="Text 27"/>
          <p:cNvSpPr txBox="1"/>
          <p:nvPr/>
        </p:nvSpPr>
        <p:spPr>
          <a:xfrm>
            <a:off x="6297016" y="2487168"/>
            <a:ext cx="1486357" cy="512064"/>
          </a:xfrm>
          <a:prstGeom prst="rect">
            <a:avLst/>
          </a:prstGeom>
          <a:noFill/>
          <a:ln/>
        </p:spPr>
        <p:txBody>
          <a:bodyPr wrap="square" lIns="0" tIns="0" rIns="0" bIns="0" rtlCol="0" anchor="t"/>
          <a:lstStyle/>
          <a:p>
            <a:pPr algn="ctr" indent="0" marL="0">
              <a:lnSpc>
                <a:spcPts val="1900"/>
              </a:lnSpc>
              <a:buNone/>
            </a:pPr>
            <a:r>
              <a:rPr lang="en-US" sz="1500" b="1" dirty="0">
                <a:solidFill>
                  <a:srgbClr val="0F172A"/>
                </a:solidFill>
                <a:latin typeface="Arial" pitchFamily="34" charset="0"/>
                <a:ea typeface="Arial" pitchFamily="34" charset="-122"/>
                <a:cs typeface="Arial" pitchFamily="34" charset="-120"/>
              </a:rPr>
              <a:t>Sign-off</a:t>
            </a:r>
            <a:endParaRPr lang="en-US" sz="1500" dirty="0"/>
          </a:p>
        </p:txBody>
      </p:sp>
      <p:sp>
        <p:nvSpPr>
          <p:cNvPr id="30" name="Text 28"/>
          <p:cNvSpPr txBox="1"/>
          <p:nvPr/>
        </p:nvSpPr>
        <p:spPr>
          <a:xfrm>
            <a:off x="6260440" y="3017520"/>
            <a:ext cx="1559509" cy="237744"/>
          </a:xfrm>
          <a:prstGeom prst="rect">
            <a:avLst/>
          </a:prstGeom>
          <a:noFill/>
          <a:ln/>
        </p:spPr>
        <p:txBody>
          <a:bodyPr wrap="square" lIns="0" tIns="0" rIns="0" bIns="0" rtlCol="0" anchor="ctr"/>
          <a:lstStyle/>
          <a:p>
            <a:pPr algn="ctr" indent="0" marL="0">
              <a:buNone/>
            </a:pPr>
            <a:r>
              <a:rPr lang="en-US" sz="1400" b="1" dirty="0">
                <a:solidFill>
                  <a:srgbClr val="C00000"/>
                </a:solidFill>
                <a:latin typeface="Arial" pitchFamily="34" charset="0"/>
                <a:ea typeface="Arial" pitchFamily="34" charset="-122"/>
                <a:cs typeface="Arial" pitchFamily="34" charset="-120"/>
              </a:rPr>
              <a:t>OWNER + MANAGER</a:t>
            </a:r>
            <a:endParaRPr lang="en-US" sz="1400" dirty="0"/>
          </a:p>
        </p:txBody>
      </p:sp>
      <p:sp>
        <p:nvSpPr>
          <p:cNvPr id="31" name="Text 29"/>
          <p:cNvSpPr txBox="1"/>
          <p:nvPr/>
        </p:nvSpPr>
        <p:spPr>
          <a:xfrm>
            <a:off x="6297016" y="3310128"/>
            <a:ext cx="1486357" cy="1097280"/>
          </a:xfrm>
          <a:prstGeom prst="rect">
            <a:avLst/>
          </a:prstGeom>
          <a:noFill/>
          <a:ln/>
        </p:spPr>
        <p:txBody>
          <a:bodyPr wrap="square" lIns="0" tIns="0" rIns="0" bIns="0" rtlCol="0" anchor="t"/>
          <a:lstStyle/>
          <a:p>
            <a:pPr algn="ctr" indent="0" marL="0">
              <a:lnSpc>
                <a:spcPts val="1800"/>
              </a:lnSpc>
              <a:buNone/>
            </a:pPr>
            <a:r>
              <a:rPr lang="en-US" sz="1400" dirty="0">
                <a:solidFill>
                  <a:srgbClr val="6B7280"/>
                </a:solidFill>
                <a:latin typeface="Arial" pitchFamily="34" charset="0"/>
                <a:ea typeface="Arial" pitchFamily="34" charset="-122"/>
                <a:cs typeface="Arial" pitchFamily="34" charset="-120"/>
              </a:rPr>
              <a:t>A decision inside 7 working days. Immersions add a four-party plan.</a:t>
            </a:r>
            <a:endParaRPr lang="en-US" sz="1400" dirty="0"/>
          </a:p>
        </p:txBody>
      </p:sp>
      <p:sp>
        <p:nvSpPr>
          <p:cNvPr id="32" name="Text 30"/>
          <p:cNvSpPr txBox="1"/>
          <p:nvPr/>
        </p:nvSpPr>
        <p:spPr>
          <a:xfrm>
            <a:off x="7915961" y="1975104"/>
            <a:ext cx="137160" cy="420624"/>
          </a:xfrm>
          <a:prstGeom prst="rect">
            <a:avLst/>
          </a:prstGeom>
          <a:noFill/>
          <a:ln/>
        </p:spPr>
        <p:txBody>
          <a:bodyPr wrap="square" lIns="0" tIns="0" rIns="0" bIns="0" rtlCol="0" anchor="ctr"/>
          <a:lstStyle/>
          <a:p>
            <a:pPr algn="ctr" indent="0" marL="0">
              <a:buNone/>
            </a:pPr>
            <a:r>
              <a:rPr lang="en-US" sz="2400" b="1" dirty="0">
                <a:solidFill>
                  <a:srgbClr val="CBD5E1"/>
                </a:solidFill>
                <a:latin typeface="Arial" pitchFamily="34" charset="0"/>
                <a:ea typeface="Arial" pitchFamily="34" charset="-122"/>
                <a:cs typeface="Arial" pitchFamily="34" charset="-120"/>
              </a:rPr>
              <a:t>›</a:t>
            </a:r>
            <a:endParaRPr lang="en-US" sz="2400" dirty="0"/>
          </a:p>
        </p:txBody>
      </p:sp>
      <p:sp>
        <p:nvSpPr>
          <p:cNvPr id="33" name="Shape 31"/>
          <p:cNvSpPr/>
          <p:nvPr/>
        </p:nvSpPr>
        <p:spPr>
          <a:xfrm>
            <a:off x="8057693" y="1792224"/>
            <a:ext cx="1742389" cy="2706624"/>
          </a:xfrm>
          <a:prstGeom prst="roundRect">
            <a:avLst>
              <a:gd name="adj" fmla="val 314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34" name="Shape 32"/>
          <p:cNvSpPr/>
          <p:nvPr/>
        </p:nvSpPr>
        <p:spPr>
          <a:xfrm>
            <a:off x="8718575" y="1975104"/>
            <a:ext cx="420624" cy="420624"/>
          </a:xfrm>
          <a:prstGeom prst="ellipse">
            <a:avLst/>
          </a:prstGeom>
          <a:solidFill>
            <a:srgbClr val="C00000"/>
          </a:solidFill>
          <a:ln w="12700">
            <a:solidFill>
              <a:srgbClr val="333333"/>
            </a:solidFill>
            <a:prstDash val="solid"/>
          </a:ln>
        </p:spPr>
      </p:sp>
      <p:sp>
        <p:nvSpPr>
          <p:cNvPr id="35" name="Text 33"/>
          <p:cNvSpPr txBox="1"/>
          <p:nvPr/>
        </p:nvSpPr>
        <p:spPr>
          <a:xfrm>
            <a:off x="8718575"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36" name="Text 34"/>
          <p:cNvSpPr txBox="1"/>
          <p:nvPr/>
        </p:nvSpPr>
        <p:spPr>
          <a:xfrm>
            <a:off x="8185709" y="2487168"/>
            <a:ext cx="1486357" cy="512064"/>
          </a:xfrm>
          <a:prstGeom prst="rect">
            <a:avLst/>
          </a:prstGeom>
          <a:noFill/>
          <a:ln/>
        </p:spPr>
        <p:txBody>
          <a:bodyPr wrap="square" lIns="0" tIns="0" rIns="0" bIns="0" rtlCol="0" anchor="t"/>
          <a:lstStyle/>
          <a:p>
            <a:pPr algn="ctr" indent="0" marL="0">
              <a:lnSpc>
                <a:spcPts val="1900"/>
              </a:lnSpc>
              <a:buNone/>
            </a:pPr>
            <a:r>
              <a:rPr lang="en-US" sz="1500" b="1" dirty="0">
                <a:solidFill>
                  <a:srgbClr val="0F172A"/>
                </a:solidFill>
                <a:latin typeface="Arial" pitchFamily="34" charset="0"/>
                <a:ea typeface="Arial" pitchFamily="34" charset="-122"/>
                <a:cs typeface="Arial" pitchFamily="34" charset="-120"/>
              </a:rPr>
              <a:t>You do the work</a:t>
            </a:r>
            <a:endParaRPr lang="en-US" sz="1500" dirty="0"/>
          </a:p>
        </p:txBody>
      </p:sp>
      <p:sp>
        <p:nvSpPr>
          <p:cNvPr id="37" name="Text 35"/>
          <p:cNvSpPr txBox="1"/>
          <p:nvPr/>
        </p:nvSpPr>
        <p:spPr>
          <a:xfrm>
            <a:off x="8149133" y="3017520"/>
            <a:ext cx="1559509" cy="237744"/>
          </a:xfrm>
          <a:prstGeom prst="rect">
            <a:avLst/>
          </a:prstGeom>
          <a:noFill/>
          <a:ln/>
        </p:spPr>
        <p:txBody>
          <a:bodyPr wrap="square" lIns="0" tIns="0" rIns="0" bIns="0" rtlCol="0" anchor="ctr"/>
          <a:lstStyle/>
          <a:p>
            <a:pPr algn="ctr" indent="0" marL="0">
              <a:buNone/>
            </a:pPr>
            <a:r>
              <a:rPr lang="en-US" sz="1400" b="1" dirty="0">
                <a:solidFill>
                  <a:srgbClr val="C00000"/>
                </a:solidFill>
                <a:latin typeface="Arial" pitchFamily="34" charset="0"/>
                <a:ea typeface="Arial" pitchFamily="34" charset="-122"/>
                <a:cs typeface="Arial" pitchFamily="34" charset="-120"/>
              </a:rPr>
              <a:t>YOU + HOST TEAM</a:t>
            </a:r>
            <a:endParaRPr lang="en-US" sz="1400" dirty="0"/>
          </a:p>
        </p:txBody>
      </p:sp>
      <p:sp>
        <p:nvSpPr>
          <p:cNvPr id="38" name="Text 36"/>
          <p:cNvSpPr txBox="1"/>
          <p:nvPr/>
        </p:nvSpPr>
        <p:spPr>
          <a:xfrm>
            <a:off x="8185709" y="3310128"/>
            <a:ext cx="1486357" cy="1097280"/>
          </a:xfrm>
          <a:prstGeom prst="rect">
            <a:avLst/>
          </a:prstGeom>
          <a:noFill/>
          <a:ln/>
        </p:spPr>
        <p:txBody>
          <a:bodyPr wrap="square" lIns="0" tIns="0" rIns="0" bIns="0" rtlCol="0" anchor="t"/>
          <a:lstStyle/>
          <a:p>
            <a:pPr algn="ctr" indent="0" marL="0">
              <a:lnSpc>
                <a:spcPts val="1800"/>
              </a:lnSpc>
              <a:buNone/>
            </a:pPr>
            <a:r>
              <a:rPr lang="en-US" sz="1400" dirty="0">
                <a:solidFill>
                  <a:srgbClr val="6B7280"/>
                </a:solidFill>
                <a:latin typeface="Arial" pitchFamily="34" charset="0"/>
                <a:ea typeface="Arial" pitchFamily="34" charset="-122"/>
                <a:cs typeface="Arial" pitchFamily="34" charset="-120"/>
              </a:rPr>
              <a:t>Hours to weeks, or 3–9 months. Role, pay and headcount stay put.</a:t>
            </a:r>
            <a:endParaRPr lang="en-US" sz="1400" dirty="0"/>
          </a:p>
        </p:txBody>
      </p:sp>
      <p:sp>
        <p:nvSpPr>
          <p:cNvPr id="39" name="Text 37"/>
          <p:cNvSpPr txBox="1"/>
          <p:nvPr/>
        </p:nvSpPr>
        <p:spPr>
          <a:xfrm>
            <a:off x="9804654" y="1975104"/>
            <a:ext cx="137160" cy="420624"/>
          </a:xfrm>
          <a:prstGeom prst="rect">
            <a:avLst/>
          </a:prstGeom>
          <a:noFill/>
          <a:ln/>
        </p:spPr>
        <p:txBody>
          <a:bodyPr wrap="square" lIns="0" tIns="0" rIns="0" bIns="0" rtlCol="0" anchor="ctr"/>
          <a:lstStyle/>
          <a:p>
            <a:pPr algn="ctr" indent="0" marL="0">
              <a:buNone/>
            </a:pPr>
            <a:r>
              <a:rPr lang="en-US" sz="2400" b="1" dirty="0">
                <a:solidFill>
                  <a:srgbClr val="CBD5E1"/>
                </a:solidFill>
                <a:latin typeface="Arial" pitchFamily="34" charset="0"/>
                <a:ea typeface="Arial" pitchFamily="34" charset="-122"/>
                <a:cs typeface="Arial" pitchFamily="34" charset="-120"/>
              </a:rPr>
              <a:t>›</a:t>
            </a:r>
            <a:endParaRPr lang="en-US" sz="2400" dirty="0"/>
          </a:p>
        </p:txBody>
      </p:sp>
      <p:sp>
        <p:nvSpPr>
          <p:cNvPr id="40" name="Shape 38"/>
          <p:cNvSpPr/>
          <p:nvPr/>
        </p:nvSpPr>
        <p:spPr>
          <a:xfrm>
            <a:off x="9946386" y="1792224"/>
            <a:ext cx="1742389" cy="2706624"/>
          </a:xfrm>
          <a:prstGeom prst="roundRect">
            <a:avLst>
              <a:gd name="adj" fmla="val 314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41" name="Shape 39"/>
          <p:cNvSpPr/>
          <p:nvPr/>
        </p:nvSpPr>
        <p:spPr>
          <a:xfrm>
            <a:off x="10607269" y="1975104"/>
            <a:ext cx="420624" cy="420624"/>
          </a:xfrm>
          <a:prstGeom prst="ellipse">
            <a:avLst/>
          </a:prstGeom>
          <a:solidFill>
            <a:srgbClr val="C00000"/>
          </a:solidFill>
          <a:ln w="12700">
            <a:solidFill>
              <a:srgbClr val="333333"/>
            </a:solidFill>
            <a:prstDash val="solid"/>
          </a:ln>
        </p:spPr>
      </p:sp>
      <p:sp>
        <p:nvSpPr>
          <p:cNvPr id="42" name="Text 40"/>
          <p:cNvSpPr txBox="1"/>
          <p:nvPr/>
        </p:nvSpPr>
        <p:spPr>
          <a:xfrm>
            <a:off x="10607269"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43" name="Text 41"/>
          <p:cNvSpPr txBox="1"/>
          <p:nvPr/>
        </p:nvSpPr>
        <p:spPr>
          <a:xfrm>
            <a:off x="10074402" y="2487168"/>
            <a:ext cx="1486357" cy="512064"/>
          </a:xfrm>
          <a:prstGeom prst="rect">
            <a:avLst/>
          </a:prstGeom>
          <a:noFill/>
          <a:ln/>
        </p:spPr>
        <p:txBody>
          <a:bodyPr wrap="square" lIns="0" tIns="0" rIns="0" bIns="0" rtlCol="0" anchor="t"/>
          <a:lstStyle/>
          <a:p>
            <a:pPr algn="ctr" indent="0" marL="0">
              <a:lnSpc>
                <a:spcPts val="1900"/>
              </a:lnSpc>
              <a:buNone/>
            </a:pPr>
            <a:r>
              <a:rPr lang="en-US" sz="1500" b="1" dirty="0">
                <a:solidFill>
                  <a:srgbClr val="0F172A"/>
                </a:solidFill>
                <a:latin typeface="Arial" pitchFamily="34" charset="0"/>
                <a:ea typeface="Arial" pitchFamily="34" charset="-122"/>
                <a:cs typeface="Arial" pitchFamily="34" charset="-120"/>
              </a:rPr>
              <a:t>Rated and recorded</a:t>
            </a:r>
            <a:endParaRPr lang="en-US" sz="1500" dirty="0"/>
          </a:p>
        </p:txBody>
      </p:sp>
      <p:sp>
        <p:nvSpPr>
          <p:cNvPr id="44" name="Text 42"/>
          <p:cNvSpPr txBox="1"/>
          <p:nvPr/>
        </p:nvSpPr>
        <p:spPr>
          <a:xfrm>
            <a:off x="10037826" y="3017520"/>
            <a:ext cx="1559509" cy="237744"/>
          </a:xfrm>
          <a:prstGeom prst="rect">
            <a:avLst/>
          </a:prstGeom>
          <a:noFill/>
          <a:ln/>
        </p:spPr>
        <p:txBody>
          <a:bodyPr wrap="square" lIns="0" tIns="0" rIns="0" bIns="0" rtlCol="0" anchor="ctr"/>
          <a:lstStyle/>
          <a:p>
            <a:pPr algn="ctr" indent="0" marL="0">
              <a:buNone/>
            </a:pPr>
            <a:r>
              <a:rPr lang="en-US" sz="1400" b="1" dirty="0">
                <a:solidFill>
                  <a:srgbClr val="C00000"/>
                </a:solidFill>
                <a:latin typeface="Arial" pitchFamily="34" charset="0"/>
                <a:ea typeface="Arial" pitchFamily="34" charset="-122"/>
                <a:cs typeface="Arial" pitchFamily="34" charset="-120"/>
              </a:rPr>
              <a:t>HR</a:t>
            </a:r>
            <a:endParaRPr lang="en-US" sz="1400" dirty="0"/>
          </a:p>
        </p:txBody>
      </p:sp>
      <p:sp>
        <p:nvSpPr>
          <p:cNvPr id="45" name="Text 43"/>
          <p:cNvSpPr txBox="1"/>
          <p:nvPr/>
        </p:nvSpPr>
        <p:spPr>
          <a:xfrm>
            <a:off x="10074402" y="3310128"/>
            <a:ext cx="1486357" cy="1097280"/>
          </a:xfrm>
          <a:prstGeom prst="rect">
            <a:avLst/>
          </a:prstGeom>
          <a:noFill/>
          <a:ln/>
        </p:spPr>
        <p:txBody>
          <a:bodyPr wrap="square" lIns="0" tIns="0" rIns="0" bIns="0" rtlCol="0" anchor="t"/>
          <a:lstStyle/>
          <a:p>
            <a:pPr algn="ctr" indent="0" marL="0">
              <a:lnSpc>
                <a:spcPts val="1800"/>
              </a:lnSpc>
              <a:buNone/>
            </a:pPr>
            <a:r>
              <a:rPr lang="en-US" sz="1400" dirty="0">
                <a:solidFill>
                  <a:srgbClr val="6B7280"/>
                </a:solidFill>
                <a:latin typeface="Arial" pitchFamily="34" charset="0"/>
                <a:ea typeface="Arial" pitchFamily="34" charset="-122"/>
                <a:cs typeface="Arial" pitchFamily="34" charset="-120"/>
              </a:rPr>
              <a:t>Rated by the host, surveyed the same day, and on your HR file.</a:t>
            </a:r>
            <a:endParaRPr lang="en-US" sz="1400" dirty="0"/>
          </a:p>
        </p:txBody>
      </p:sp>
      <p:sp>
        <p:nvSpPr>
          <p:cNvPr id="46" name="Shape 44"/>
          <p:cNvSpPr/>
          <p:nvPr/>
        </p:nvSpPr>
        <p:spPr>
          <a:xfrm>
            <a:off x="502920" y="4645152"/>
            <a:ext cx="5474056" cy="1371600"/>
          </a:xfrm>
          <a:prstGeom prst="roundRect">
            <a:avLst>
              <a:gd name="adj" fmla="val 4000"/>
            </a:avLst>
          </a:prstGeom>
          <a:solidFill>
            <a:srgbClr val="EFF6FF"/>
          </a:solidFill>
          <a:ln w="12700">
            <a:solidFill>
              <a:srgbClr val="333333"/>
            </a:solidFill>
            <a:prstDash val="solid"/>
          </a:ln>
        </p:spPr>
      </p:sp>
      <p:sp>
        <p:nvSpPr>
          <p:cNvPr id="47" name="Text 45"/>
          <p:cNvSpPr txBox="1"/>
          <p:nvPr/>
        </p:nvSpPr>
        <p:spPr>
          <a:xfrm>
            <a:off x="777240" y="4791456"/>
            <a:ext cx="4925416" cy="256032"/>
          </a:xfrm>
          <a:prstGeom prst="rect">
            <a:avLst/>
          </a:prstGeom>
          <a:noFill/>
          <a:ln/>
        </p:spPr>
        <p:txBody>
          <a:bodyPr wrap="square" lIns="0" tIns="0" rIns="0" bIns="0" rtlCol="0" anchor="ctr"/>
          <a:lstStyle/>
          <a:p>
            <a:pPr indent="0" marL="0">
              <a:buNone/>
            </a:pPr>
            <a:r>
              <a:rPr lang="en-US" sz="1700" b="1" dirty="0">
                <a:solidFill>
                  <a:srgbClr val="1D4ED8"/>
                </a:solidFill>
                <a:latin typeface="Arial" pitchFamily="34" charset="0"/>
                <a:ea typeface="Arial" pitchFamily="34" charset="-122"/>
                <a:cs typeface="Arial" pitchFamily="34" charset="-120"/>
              </a:rPr>
              <a:t>If it is a permanent vacancy</a:t>
            </a:r>
            <a:endParaRPr lang="en-US" sz="1700" dirty="0"/>
          </a:p>
        </p:txBody>
      </p:sp>
      <p:sp>
        <p:nvSpPr>
          <p:cNvPr id="48" name="Text 46"/>
          <p:cNvSpPr txBox="1"/>
          <p:nvPr/>
        </p:nvSpPr>
        <p:spPr>
          <a:xfrm>
            <a:off x="777240" y="5084064"/>
            <a:ext cx="4925416" cy="859536"/>
          </a:xfrm>
          <a:prstGeom prst="rect">
            <a:avLst/>
          </a:prstGeom>
          <a:noFill/>
          <a:ln/>
        </p:spPr>
        <p:txBody>
          <a:bodyPr wrap="square" lIns="0" tIns="0" rIns="0" bIns="0" rtlCol="0" anchor="t"/>
          <a:lstStyle/>
          <a:p>
            <a:pPr indent="0" marL="0">
              <a:lnSpc>
                <a:spcPts val="1900"/>
              </a:lnSpc>
              <a:buNone/>
            </a:pPr>
            <a:r>
              <a:rPr lang="en-US" sz="1400" dirty="0">
                <a:solidFill>
                  <a:srgbClr val="1E40AF"/>
                </a:solidFill>
                <a:latin typeface="Arial" pitchFamily="34" charset="0"/>
                <a:ea typeface="Arial" pitchFamily="34" charset="-122"/>
                <a:cs typeface="Arial" pitchFamily="34" charset="-120"/>
              </a:rPr>
              <a:t>Growth lists it and scores the fit, then hands the employee to HC Connect on a link carrying a referral code — the only proof Growth sent them.</a:t>
            </a:r>
            <a:endParaRPr lang="en-US" sz="1400" dirty="0"/>
          </a:p>
        </p:txBody>
      </p:sp>
      <p:sp>
        <p:nvSpPr>
          <p:cNvPr id="49" name="Shape 47"/>
          <p:cNvSpPr/>
          <p:nvPr/>
        </p:nvSpPr>
        <p:spPr>
          <a:xfrm>
            <a:off x="6214720" y="4645152"/>
            <a:ext cx="5474056" cy="1371600"/>
          </a:xfrm>
          <a:prstGeom prst="roundRect">
            <a:avLst>
              <a:gd name="adj" fmla="val 4000"/>
            </a:avLst>
          </a:prstGeom>
          <a:solidFill>
            <a:srgbClr val="F5F3FF"/>
          </a:solidFill>
          <a:ln w="12700">
            <a:solidFill>
              <a:srgbClr val="333333"/>
            </a:solidFill>
            <a:prstDash val="solid"/>
          </a:ln>
        </p:spPr>
      </p:sp>
      <p:sp>
        <p:nvSpPr>
          <p:cNvPr id="50" name="Text 48"/>
          <p:cNvSpPr txBox="1"/>
          <p:nvPr/>
        </p:nvSpPr>
        <p:spPr>
          <a:xfrm>
            <a:off x="6489040" y="4791456"/>
            <a:ext cx="4925416" cy="256032"/>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The one route that runs backwards</a:t>
            </a:r>
            <a:endParaRPr lang="en-US" sz="1700" dirty="0"/>
          </a:p>
        </p:txBody>
      </p:sp>
      <p:sp>
        <p:nvSpPr>
          <p:cNvPr id="51" name="Text 49"/>
          <p:cNvSpPr txBox="1"/>
          <p:nvPr/>
        </p:nvSpPr>
        <p:spPr>
          <a:xfrm>
            <a:off x="6489040" y="5084064"/>
            <a:ext cx="4925416" cy="859536"/>
          </a:xfrm>
          <a:prstGeom prst="rect">
            <a:avLst/>
          </a:prstGeom>
          <a:noFill/>
          <a:ln/>
        </p:spPr>
        <p:txBody>
          <a:bodyPr wrap="square" lIns="0" tIns="0" rIns="0" bIns="0" rtlCol="0" anchor="t"/>
          <a:lstStyle/>
          <a:p>
            <a:pPr indent="0" marL="0">
              <a:lnSpc>
                <a:spcPts val="1900"/>
              </a:lnSpc>
              <a:buNone/>
            </a:pPr>
            <a:r>
              <a:rPr lang="en-US" sz="1400" dirty="0">
                <a:solidFill>
                  <a:srgbClr val="5B21B6"/>
                </a:solidFill>
                <a:latin typeface="Arial" pitchFamily="34" charset="0"/>
                <a:ea typeface="Arial" pitchFamily="34" charset="-122"/>
                <a:cs typeface="Arial" pitchFamily="34" charset="-120"/>
              </a:rPr>
              <a:t>A Service Offer skips steps 2 and 3: the employee publishes what they will help with, and every completed request lands on the same record.</a:t>
            </a:r>
            <a:endParaRPr lang="en-US" sz="1400" dirty="0"/>
          </a:p>
        </p:txBody>
      </p:sp>
      <p:sp>
        <p:nvSpPr>
          <p:cNvPr id="52" name="Shape 50"/>
          <p:cNvSpPr/>
          <p:nvPr/>
        </p:nvSpPr>
        <p:spPr>
          <a:xfrm>
            <a:off x="502920" y="6291072"/>
            <a:ext cx="11185855" cy="0"/>
          </a:xfrm>
          <a:prstGeom prst="line">
            <a:avLst/>
          </a:prstGeom>
          <a:noFill/>
          <a:ln w="12700">
            <a:solidFill>
              <a:srgbClr val="E5E7EB"/>
            </a:solidFill>
            <a:prstDash val="solid"/>
          </a:ln>
        </p:spPr>
      </p:sp>
      <p:sp>
        <p:nvSpPr>
          <p:cNvPr id="53" name="Text 51"/>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Developmental Job Immersions are governed by HCPH Policy 211_2021 v1.0.</a:t>
            </a:r>
            <a:endParaRPr lang="en-US" sz="1400" dirty="0"/>
          </a:p>
        </p:txBody>
      </p:sp>
      <p:sp>
        <p:nvSpPr>
          <p:cNvPr id="54" name="Text 52"/>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THE PRODUCT</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It exists. A working prototype, not a mock-up.</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Built in-house — the same asset the costing on the next slides pays for.</a:t>
            </a:r>
            <a:endParaRPr lang="en-US" sz="1600" dirty="0"/>
          </a:p>
        </p:txBody>
      </p:sp>
      <p:pic>
        <p:nvPicPr>
          <p:cNvPr id="5" name="Image 0" descr="preencoded.png">    </p:cNvPr>
          <p:cNvPicPr>
            <a:picLocks noChangeAspect="1"/>
          </p:cNvPicPr>
          <p:nvPr/>
        </p:nvPicPr>
        <p:blipFill>
          <a:blip r:embed="rId1"/>
          <a:stretch>
            <a:fillRect/>
          </a:stretch>
        </p:blipFill>
        <p:spPr>
          <a:xfrm>
            <a:off x="502920" y="1773936"/>
            <a:ext cx="6766560" cy="4233672"/>
          </a:xfrm>
          <a:prstGeom prst="rect">
            <a:avLst/>
          </a:prstGeom>
          <a:effectLst>
            <a:outerShdw sx="100000" sy="100000" kx="0" ky="0" algn="bl" rotWithShape="0" blurRad="114300" dist="12700" dir="5400000">
              <a:srgbClr val="000000">
                <a:alpha val="7000"/>
              </a:srgbClr>
            </a:outerShdw>
          </a:effectLst>
        </p:spPr>
      </p:pic>
      <p:sp>
        <p:nvSpPr>
          <p:cNvPr id="6" name="Shape 3"/>
          <p:cNvSpPr/>
          <p:nvPr/>
        </p:nvSpPr>
        <p:spPr>
          <a:xfrm>
            <a:off x="7580376" y="1773936"/>
            <a:ext cx="4108399" cy="1005840"/>
          </a:xfrm>
          <a:prstGeom prst="roundRect">
            <a:avLst>
              <a:gd name="adj" fmla="val 5455"/>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7" name="Text 4"/>
          <p:cNvSpPr txBox="1"/>
          <p:nvPr/>
        </p:nvSpPr>
        <p:spPr>
          <a:xfrm>
            <a:off x="7799832" y="1883664"/>
            <a:ext cx="3669487" cy="2743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Every role, scored against you</a:t>
            </a:r>
            <a:endParaRPr lang="en-US" sz="1600" dirty="0"/>
          </a:p>
        </p:txBody>
      </p:sp>
      <p:sp>
        <p:nvSpPr>
          <p:cNvPr id="8" name="Text 5"/>
          <p:cNvSpPr txBox="1"/>
          <p:nvPr/>
        </p:nvSpPr>
        <p:spPr>
          <a:xfrm>
            <a:off x="7799832" y="2176272"/>
            <a:ext cx="3669487" cy="548640"/>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A 90% match and a 34% sit on one board. The score never blocks you.</a:t>
            </a:r>
            <a:endParaRPr lang="en-US" sz="1400" dirty="0"/>
          </a:p>
        </p:txBody>
      </p:sp>
      <p:sp>
        <p:nvSpPr>
          <p:cNvPr id="9" name="Shape 6"/>
          <p:cNvSpPr/>
          <p:nvPr/>
        </p:nvSpPr>
        <p:spPr>
          <a:xfrm>
            <a:off x="7580376" y="2889504"/>
            <a:ext cx="4108399" cy="1005840"/>
          </a:xfrm>
          <a:prstGeom prst="roundRect">
            <a:avLst>
              <a:gd name="adj" fmla="val 5455"/>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7"/>
          <p:cNvSpPr txBox="1"/>
          <p:nvPr/>
        </p:nvSpPr>
        <p:spPr>
          <a:xfrm>
            <a:off x="7799832" y="2999232"/>
            <a:ext cx="3669487" cy="2743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The job description, up front</a:t>
            </a:r>
            <a:endParaRPr lang="en-US" sz="1600" dirty="0"/>
          </a:p>
        </p:txBody>
      </p:sp>
      <p:sp>
        <p:nvSpPr>
          <p:cNvPr id="11" name="Text 8"/>
          <p:cNvSpPr txBox="1"/>
          <p:nvPr/>
        </p:nvSpPr>
        <p:spPr>
          <a:xfrm>
            <a:off x="7799832" y="3291840"/>
            <a:ext cx="3669487" cy="548640"/>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Carried across from the requisition — people decide on substance, not a title.</a:t>
            </a:r>
            <a:endParaRPr lang="en-US" sz="1400" dirty="0"/>
          </a:p>
        </p:txBody>
      </p:sp>
      <p:sp>
        <p:nvSpPr>
          <p:cNvPr id="12" name="Shape 9"/>
          <p:cNvSpPr/>
          <p:nvPr/>
        </p:nvSpPr>
        <p:spPr>
          <a:xfrm>
            <a:off x="7580376" y="4005072"/>
            <a:ext cx="4108399" cy="1005840"/>
          </a:xfrm>
          <a:prstGeom prst="roundRect">
            <a:avLst>
              <a:gd name="adj" fmla="val 5455"/>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3" name="Text 10"/>
          <p:cNvSpPr txBox="1"/>
          <p:nvPr/>
        </p:nvSpPr>
        <p:spPr>
          <a:xfrm>
            <a:off x="7799832" y="4114800"/>
            <a:ext cx="3669487" cy="2743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A referral code on every handoff</a:t>
            </a:r>
            <a:endParaRPr lang="en-US" sz="1600" dirty="0"/>
          </a:p>
        </p:txBody>
      </p:sp>
      <p:sp>
        <p:nvSpPr>
          <p:cNvPr id="14" name="Text 11"/>
          <p:cNvSpPr txBox="1"/>
          <p:nvPr/>
        </p:nvSpPr>
        <p:spPr>
          <a:xfrm>
            <a:off x="7799832" y="4407408"/>
            <a:ext cx="3669487" cy="548640"/>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Generated at the click and carried on the link into HC Connect.</a:t>
            </a:r>
            <a:endParaRPr lang="en-US" sz="1400" dirty="0"/>
          </a:p>
        </p:txBody>
      </p:sp>
      <p:sp>
        <p:nvSpPr>
          <p:cNvPr id="15" name="Shape 12"/>
          <p:cNvSpPr/>
          <p:nvPr/>
        </p:nvSpPr>
        <p:spPr>
          <a:xfrm>
            <a:off x="7580376" y="5120640"/>
            <a:ext cx="4108399" cy="1005840"/>
          </a:xfrm>
          <a:prstGeom prst="roundRect">
            <a:avLst>
              <a:gd name="adj" fmla="val 5455"/>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6" name="Text 13"/>
          <p:cNvSpPr txBox="1"/>
          <p:nvPr/>
        </p:nvSpPr>
        <p:spPr>
          <a:xfrm>
            <a:off x="7799832" y="5230368"/>
            <a:ext cx="3669487" cy="27432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An attribution funnel for HR</a:t>
            </a:r>
            <a:endParaRPr lang="en-US" sz="1600" dirty="0"/>
          </a:p>
        </p:txBody>
      </p:sp>
      <p:sp>
        <p:nvSpPr>
          <p:cNvPr id="17" name="Text 14"/>
          <p:cNvSpPr txBox="1"/>
          <p:nvPr/>
        </p:nvSpPr>
        <p:spPr>
          <a:xfrm>
            <a:off x="7799832" y="5522976"/>
            <a:ext cx="3669487" cy="548640"/>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Views, referrals, applications and confirmations — each labelled.</a:t>
            </a:r>
            <a:endParaRPr lang="en-US" sz="1400" dirty="0"/>
          </a:p>
        </p:txBody>
      </p:sp>
      <p:sp>
        <p:nvSpPr>
          <p:cNvPr id="18" name="Shape 15"/>
          <p:cNvSpPr/>
          <p:nvPr/>
        </p:nvSpPr>
        <p:spPr>
          <a:xfrm>
            <a:off x="502920" y="6291072"/>
            <a:ext cx="11185855" cy="0"/>
          </a:xfrm>
          <a:prstGeom prst="line">
            <a:avLst/>
          </a:prstGeom>
          <a:noFill/>
          <a:ln w="12700">
            <a:solidFill>
              <a:srgbClr val="E5E7EB"/>
            </a:solidFill>
            <a:prstDash val="solid"/>
          </a:ln>
        </p:spPr>
      </p:sp>
      <p:sp>
        <p:nvSpPr>
          <p:cNvPr id="19" name="Text 16"/>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Live prototype · six modules · three roles · seeded vacancy board with attached job descriptions.</a:t>
            </a:r>
            <a:endParaRPr lang="en-US" sz="1400" dirty="0"/>
          </a:p>
        </p:txBody>
      </p:sp>
      <p:sp>
        <p:nvSpPr>
          <p:cNvPr id="20" name="Text 17"/>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POSITIONING</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Why build this rather than buy Gloat or Fuel50.</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The vendors are proven — and a per-head cost that never stops.</a:t>
            </a:r>
            <a:endParaRPr lang="en-US" sz="1600" dirty="0"/>
          </a:p>
        </p:txBody>
      </p:sp>
      <p:sp>
        <p:nvSpPr>
          <p:cNvPr id="5" name="Shape 3"/>
          <p:cNvSpPr/>
          <p:nvPr/>
        </p:nvSpPr>
        <p:spPr>
          <a:xfrm>
            <a:off x="502920" y="1773936"/>
            <a:ext cx="3594506"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Shape 4"/>
          <p:cNvSpPr/>
          <p:nvPr/>
        </p:nvSpPr>
        <p:spPr>
          <a:xfrm>
            <a:off x="722376" y="1956816"/>
            <a:ext cx="329184" cy="329184"/>
          </a:xfrm>
          <a:prstGeom prst="ellipse">
            <a:avLst/>
          </a:prstGeom>
          <a:solidFill>
            <a:srgbClr val="FDF1F1"/>
          </a:solidFill>
          <a:ln w="12700">
            <a:solidFill>
              <a:srgbClr val="333333"/>
            </a:solidFill>
            <a:prstDash val="solid"/>
          </a:ln>
        </p:spPr>
      </p:sp>
      <p:sp>
        <p:nvSpPr>
          <p:cNvPr id="7" name="Text 5"/>
          <p:cNvSpPr txBox="1"/>
          <p:nvPr/>
        </p:nvSpPr>
        <p:spPr>
          <a:xfrm>
            <a:off x="722376" y="1961388"/>
            <a:ext cx="329184" cy="329184"/>
          </a:xfrm>
          <a:prstGeom prst="rect">
            <a:avLst/>
          </a:prstGeom>
          <a:noFill/>
          <a:ln/>
        </p:spPr>
        <p:txBody>
          <a:bodyPr wrap="square" lIns="0" tIns="0" rIns="0" bIns="0" rtlCol="0" anchor="ctr"/>
          <a:lstStyle/>
          <a:p>
            <a:pPr algn="ctr" indent="0" marL="0">
              <a:buNone/>
            </a:pPr>
            <a:r>
              <a:rPr lang="en-US" sz="1500" b="1" dirty="0">
                <a:solidFill>
                  <a:srgbClr val="C00000"/>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1143000" y="1956816"/>
            <a:ext cx="2734970"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Cheaper than hiring out</a:t>
            </a:r>
            <a:endParaRPr lang="en-US" sz="1700" dirty="0"/>
          </a:p>
        </p:txBody>
      </p:sp>
      <p:sp>
        <p:nvSpPr>
          <p:cNvPr id="9" name="Text 7"/>
          <p:cNvSpPr txBox="1"/>
          <p:nvPr/>
        </p:nvSpPr>
        <p:spPr>
          <a:xfrm>
            <a:off x="722376" y="2340864"/>
            <a:ext cx="3155594" cy="65836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₱86,796 saved on every Band C internal fill. It pays for itself on Band C alone.</a:t>
            </a:r>
            <a:endParaRPr lang="en-US" sz="1400" dirty="0"/>
          </a:p>
        </p:txBody>
      </p:sp>
      <p:sp>
        <p:nvSpPr>
          <p:cNvPr id="10" name="Shape 8"/>
          <p:cNvSpPr/>
          <p:nvPr/>
        </p:nvSpPr>
        <p:spPr>
          <a:xfrm>
            <a:off x="4298594" y="1773936"/>
            <a:ext cx="3594506"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1" name="Shape 9"/>
          <p:cNvSpPr/>
          <p:nvPr/>
        </p:nvSpPr>
        <p:spPr>
          <a:xfrm>
            <a:off x="4518050" y="1956816"/>
            <a:ext cx="329184" cy="329184"/>
          </a:xfrm>
          <a:prstGeom prst="ellipse">
            <a:avLst/>
          </a:prstGeom>
          <a:solidFill>
            <a:srgbClr val="FDF1F1"/>
          </a:solidFill>
          <a:ln w="12700">
            <a:solidFill>
              <a:srgbClr val="333333"/>
            </a:solidFill>
            <a:prstDash val="solid"/>
          </a:ln>
        </p:spPr>
      </p:sp>
      <p:sp>
        <p:nvSpPr>
          <p:cNvPr id="12" name="Text 10"/>
          <p:cNvSpPr txBox="1"/>
          <p:nvPr/>
        </p:nvSpPr>
        <p:spPr>
          <a:xfrm>
            <a:off x="4518050" y="1961388"/>
            <a:ext cx="329184" cy="329184"/>
          </a:xfrm>
          <a:prstGeom prst="rect">
            <a:avLst/>
          </a:prstGeom>
          <a:noFill/>
          <a:ln/>
        </p:spPr>
        <p:txBody>
          <a:bodyPr wrap="square" lIns="0" tIns="0" rIns="0" bIns="0" rtlCol="0" anchor="ctr"/>
          <a:lstStyle/>
          <a:p>
            <a:pPr algn="ctr" indent="0" marL="0">
              <a:buNone/>
            </a:pPr>
            <a:r>
              <a:rPr lang="en-US" sz="1500" b="1" dirty="0">
                <a:solidFill>
                  <a:srgbClr val="C00000"/>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4938674" y="1956816"/>
            <a:ext cx="2734970"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Faster than recruiting</a:t>
            </a:r>
            <a:endParaRPr lang="en-US" sz="1700" dirty="0"/>
          </a:p>
        </p:txBody>
      </p:sp>
      <p:sp>
        <p:nvSpPr>
          <p:cNvPr id="14" name="Text 12"/>
          <p:cNvSpPr txBox="1"/>
          <p:nvPr/>
        </p:nvSpPr>
        <p:spPr>
          <a:xfrm>
            <a:off x="4518050" y="2340864"/>
            <a:ext cx="3155594" cy="65836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A priority project staffed in days from people already on payroll.</a:t>
            </a:r>
            <a:endParaRPr lang="en-US" sz="1400" dirty="0"/>
          </a:p>
        </p:txBody>
      </p:sp>
      <p:sp>
        <p:nvSpPr>
          <p:cNvPr id="15" name="Shape 13"/>
          <p:cNvSpPr/>
          <p:nvPr/>
        </p:nvSpPr>
        <p:spPr>
          <a:xfrm>
            <a:off x="8094269" y="1773936"/>
            <a:ext cx="3594506"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6" name="Shape 14"/>
          <p:cNvSpPr/>
          <p:nvPr/>
        </p:nvSpPr>
        <p:spPr>
          <a:xfrm>
            <a:off x="8313725" y="1956816"/>
            <a:ext cx="329184" cy="329184"/>
          </a:xfrm>
          <a:prstGeom prst="ellipse">
            <a:avLst/>
          </a:prstGeom>
          <a:solidFill>
            <a:srgbClr val="FDF1F1"/>
          </a:solidFill>
          <a:ln w="12700">
            <a:solidFill>
              <a:srgbClr val="333333"/>
            </a:solidFill>
            <a:prstDash val="solid"/>
          </a:ln>
        </p:spPr>
      </p:sp>
      <p:sp>
        <p:nvSpPr>
          <p:cNvPr id="17" name="Text 15"/>
          <p:cNvSpPr txBox="1"/>
          <p:nvPr/>
        </p:nvSpPr>
        <p:spPr>
          <a:xfrm>
            <a:off x="8313725" y="1961388"/>
            <a:ext cx="329184" cy="329184"/>
          </a:xfrm>
          <a:prstGeom prst="rect">
            <a:avLst/>
          </a:prstGeom>
          <a:noFill/>
          <a:ln/>
        </p:spPr>
        <p:txBody>
          <a:bodyPr wrap="square" lIns="0" tIns="0" rIns="0" bIns="0" rtlCol="0" anchor="ctr"/>
          <a:lstStyle/>
          <a:p>
            <a:pPr algn="ctr" indent="0" marL="0">
              <a:buNone/>
            </a:pPr>
            <a:r>
              <a:rPr lang="en-US" sz="1500" b="1" dirty="0">
                <a:solidFill>
                  <a:srgbClr val="C00000"/>
                </a:solidFill>
                <a:latin typeface="Arial" pitchFamily="34" charset="0"/>
                <a:ea typeface="Arial" pitchFamily="34" charset="-122"/>
                <a:cs typeface="Arial" pitchFamily="34" charset="-120"/>
              </a:rPr>
              <a:t>3</a:t>
            </a:r>
            <a:endParaRPr lang="en-US" sz="1500" dirty="0"/>
          </a:p>
        </p:txBody>
      </p:sp>
      <p:sp>
        <p:nvSpPr>
          <p:cNvPr id="18" name="Text 16"/>
          <p:cNvSpPr txBox="1"/>
          <p:nvPr/>
        </p:nvSpPr>
        <p:spPr>
          <a:xfrm>
            <a:off x="8734349" y="1956816"/>
            <a:ext cx="2734970"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A skills map, free</a:t>
            </a:r>
            <a:endParaRPr lang="en-US" sz="1700" dirty="0"/>
          </a:p>
        </p:txBody>
      </p:sp>
      <p:sp>
        <p:nvSpPr>
          <p:cNvPr id="19" name="Text 17"/>
          <p:cNvSpPr txBox="1"/>
          <p:nvPr/>
        </p:nvSpPr>
        <p:spPr>
          <a:xfrm>
            <a:off x="8313725" y="2340864"/>
            <a:ext cx="3155594" cy="65836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Answers "who can do X?" as a by-product of simply running.</a:t>
            </a:r>
            <a:endParaRPr lang="en-US" sz="1400" dirty="0"/>
          </a:p>
        </p:txBody>
      </p:sp>
      <p:sp>
        <p:nvSpPr>
          <p:cNvPr id="20" name="Shape 18"/>
          <p:cNvSpPr/>
          <p:nvPr/>
        </p:nvSpPr>
        <p:spPr>
          <a:xfrm>
            <a:off x="502920" y="3255264"/>
            <a:ext cx="3594506"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1" name="Shape 19"/>
          <p:cNvSpPr/>
          <p:nvPr/>
        </p:nvSpPr>
        <p:spPr>
          <a:xfrm>
            <a:off x="722376" y="3438144"/>
            <a:ext cx="329184" cy="329184"/>
          </a:xfrm>
          <a:prstGeom prst="ellipse">
            <a:avLst/>
          </a:prstGeom>
          <a:solidFill>
            <a:srgbClr val="FDF1F1"/>
          </a:solidFill>
          <a:ln w="12700">
            <a:solidFill>
              <a:srgbClr val="333333"/>
            </a:solidFill>
            <a:prstDash val="solid"/>
          </a:ln>
        </p:spPr>
      </p:sp>
      <p:sp>
        <p:nvSpPr>
          <p:cNvPr id="22" name="Text 20"/>
          <p:cNvSpPr txBox="1"/>
          <p:nvPr/>
        </p:nvSpPr>
        <p:spPr>
          <a:xfrm>
            <a:off x="722376" y="3442716"/>
            <a:ext cx="329184" cy="329184"/>
          </a:xfrm>
          <a:prstGeom prst="rect">
            <a:avLst/>
          </a:prstGeom>
          <a:noFill/>
          <a:ln/>
        </p:spPr>
        <p:txBody>
          <a:bodyPr wrap="square" lIns="0" tIns="0" rIns="0" bIns="0" rtlCol="0" anchor="ctr"/>
          <a:lstStyle/>
          <a:p>
            <a:pPr algn="ctr" indent="0" marL="0">
              <a:buNone/>
            </a:pPr>
            <a:r>
              <a:rPr lang="en-US" sz="1500" b="1" dirty="0">
                <a:solidFill>
                  <a:srgbClr val="C00000"/>
                </a:solidFill>
                <a:latin typeface="Arial" pitchFamily="34" charset="0"/>
                <a:ea typeface="Arial" pitchFamily="34" charset="-122"/>
                <a:cs typeface="Arial" pitchFamily="34" charset="-120"/>
              </a:rPr>
              <a:t>4</a:t>
            </a:r>
            <a:endParaRPr lang="en-US" sz="1500" dirty="0"/>
          </a:p>
        </p:txBody>
      </p:sp>
      <p:sp>
        <p:nvSpPr>
          <p:cNvPr id="23" name="Text 21"/>
          <p:cNvSpPr txBox="1"/>
          <p:nvPr/>
        </p:nvSpPr>
        <p:spPr>
          <a:xfrm>
            <a:off x="1143000" y="3438144"/>
            <a:ext cx="2734970"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We own it</a:t>
            </a:r>
            <a:endParaRPr lang="en-US" sz="1700" dirty="0"/>
          </a:p>
        </p:txBody>
      </p:sp>
      <p:sp>
        <p:nvSpPr>
          <p:cNvPr id="24" name="Text 22"/>
          <p:cNvSpPr txBox="1"/>
          <p:nvPr/>
        </p:nvSpPr>
        <p:spPr>
          <a:xfrm>
            <a:off x="722376" y="3822192"/>
            <a:ext cx="3155594" cy="65836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Our asset, our data, our logic. No per-head licence and no lock-in.</a:t>
            </a:r>
            <a:endParaRPr lang="en-US" sz="1400" dirty="0"/>
          </a:p>
        </p:txBody>
      </p:sp>
      <p:sp>
        <p:nvSpPr>
          <p:cNvPr id="25" name="Shape 23"/>
          <p:cNvSpPr/>
          <p:nvPr/>
        </p:nvSpPr>
        <p:spPr>
          <a:xfrm>
            <a:off x="4298594" y="3255264"/>
            <a:ext cx="3594506"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6" name="Shape 24"/>
          <p:cNvSpPr/>
          <p:nvPr/>
        </p:nvSpPr>
        <p:spPr>
          <a:xfrm>
            <a:off x="4518050" y="3438144"/>
            <a:ext cx="329184" cy="329184"/>
          </a:xfrm>
          <a:prstGeom prst="ellipse">
            <a:avLst/>
          </a:prstGeom>
          <a:solidFill>
            <a:srgbClr val="FDF1F1"/>
          </a:solidFill>
          <a:ln w="12700">
            <a:solidFill>
              <a:srgbClr val="333333"/>
            </a:solidFill>
            <a:prstDash val="solid"/>
          </a:ln>
        </p:spPr>
      </p:sp>
      <p:sp>
        <p:nvSpPr>
          <p:cNvPr id="27" name="Text 25"/>
          <p:cNvSpPr txBox="1"/>
          <p:nvPr/>
        </p:nvSpPr>
        <p:spPr>
          <a:xfrm>
            <a:off x="4518050" y="3442716"/>
            <a:ext cx="329184" cy="329184"/>
          </a:xfrm>
          <a:prstGeom prst="rect">
            <a:avLst/>
          </a:prstGeom>
          <a:noFill/>
          <a:ln/>
        </p:spPr>
        <p:txBody>
          <a:bodyPr wrap="square" lIns="0" tIns="0" rIns="0" bIns="0" rtlCol="0" anchor="ctr"/>
          <a:lstStyle/>
          <a:p>
            <a:pPr algn="ctr" indent="0" marL="0">
              <a:buNone/>
            </a:pPr>
            <a:r>
              <a:rPr lang="en-US" sz="1500" b="1" dirty="0">
                <a:solidFill>
                  <a:srgbClr val="C00000"/>
                </a:solidFill>
                <a:latin typeface="Arial" pitchFamily="34" charset="0"/>
                <a:ea typeface="Arial" pitchFamily="34" charset="-122"/>
                <a:cs typeface="Arial" pitchFamily="34" charset="-120"/>
              </a:rPr>
              <a:t>5</a:t>
            </a:r>
            <a:endParaRPr lang="en-US" sz="1500" dirty="0"/>
          </a:p>
        </p:txBody>
      </p:sp>
      <p:sp>
        <p:nvSpPr>
          <p:cNvPr id="28" name="Text 26"/>
          <p:cNvSpPr txBox="1"/>
          <p:nvPr/>
        </p:nvSpPr>
        <p:spPr>
          <a:xfrm>
            <a:off x="4938674" y="3438144"/>
            <a:ext cx="2734970"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Built for Home Credit</a:t>
            </a:r>
            <a:endParaRPr lang="en-US" sz="1700" dirty="0"/>
          </a:p>
        </p:txBody>
      </p:sp>
      <p:sp>
        <p:nvSpPr>
          <p:cNvPr id="29" name="Text 27"/>
          <p:cNvSpPr txBox="1"/>
          <p:nvPr/>
        </p:nvSpPr>
        <p:spPr>
          <a:xfrm>
            <a:off x="4518050" y="3822192"/>
            <a:ext cx="3155594" cy="65836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Our bands, our Policy 211_2021, our HC Connect handoff.</a:t>
            </a:r>
            <a:endParaRPr lang="en-US" sz="1400" dirty="0"/>
          </a:p>
        </p:txBody>
      </p:sp>
      <p:sp>
        <p:nvSpPr>
          <p:cNvPr id="30" name="Shape 28"/>
          <p:cNvSpPr/>
          <p:nvPr/>
        </p:nvSpPr>
        <p:spPr>
          <a:xfrm>
            <a:off x="8094269" y="3255264"/>
            <a:ext cx="3594506"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31" name="Shape 29"/>
          <p:cNvSpPr/>
          <p:nvPr/>
        </p:nvSpPr>
        <p:spPr>
          <a:xfrm>
            <a:off x="8313725" y="3438144"/>
            <a:ext cx="329184" cy="329184"/>
          </a:xfrm>
          <a:prstGeom prst="ellipse">
            <a:avLst/>
          </a:prstGeom>
          <a:solidFill>
            <a:srgbClr val="FDF1F1"/>
          </a:solidFill>
          <a:ln w="12700">
            <a:solidFill>
              <a:srgbClr val="333333"/>
            </a:solidFill>
            <a:prstDash val="solid"/>
          </a:ln>
        </p:spPr>
      </p:sp>
      <p:sp>
        <p:nvSpPr>
          <p:cNvPr id="32" name="Text 30"/>
          <p:cNvSpPr txBox="1"/>
          <p:nvPr/>
        </p:nvSpPr>
        <p:spPr>
          <a:xfrm>
            <a:off x="8313725" y="3442716"/>
            <a:ext cx="329184" cy="329184"/>
          </a:xfrm>
          <a:prstGeom prst="rect">
            <a:avLst/>
          </a:prstGeom>
          <a:noFill/>
          <a:ln/>
        </p:spPr>
        <p:txBody>
          <a:bodyPr wrap="square" lIns="0" tIns="0" rIns="0" bIns="0" rtlCol="0" anchor="ctr"/>
          <a:lstStyle/>
          <a:p>
            <a:pPr algn="ctr" indent="0" marL="0">
              <a:buNone/>
            </a:pPr>
            <a:r>
              <a:rPr lang="en-US" sz="1500" b="1" dirty="0">
                <a:solidFill>
                  <a:srgbClr val="C00000"/>
                </a:solidFill>
                <a:latin typeface="Arial" pitchFamily="34" charset="0"/>
                <a:ea typeface="Arial" pitchFamily="34" charset="-122"/>
                <a:cs typeface="Arial" pitchFamily="34" charset="-120"/>
              </a:rPr>
              <a:t>6</a:t>
            </a:r>
            <a:endParaRPr lang="en-US" sz="1500" dirty="0"/>
          </a:p>
        </p:txBody>
      </p:sp>
      <p:sp>
        <p:nvSpPr>
          <p:cNvPr id="33" name="Text 31"/>
          <p:cNvSpPr txBox="1"/>
          <p:nvPr/>
        </p:nvSpPr>
        <p:spPr>
          <a:xfrm>
            <a:off x="8734349" y="3438144"/>
            <a:ext cx="2734970" cy="27432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Low risk to try</a:t>
            </a:r>
            <a:endParaRPr lang="en-US" sz="1700" dirty="0"/>
          </a:p>
        </p:txBody>
      </p:sp>
      <p:sp>
        <p:nvSpPr>
          <p:cNvPr id="34" name="Text 32"/>
          <p:cNvSpPr txBox="1"/>
          <p:nvPr/>
        </p:nvSpPr>
        <p:spPr>
          <a:xfrm>
            <a:off x="8313725" y="3822192"/>
            <a:ext cx="3155594" cy="658368"/>
          </a:xfrm>
          <a:prstGeom prst="rect">
            <a:avLst/>
          </a:prstGeom>
          <a:noFill/>
          <a:ln/>
        </p:spPr>
        <p:txBody>
          <a:bodyPr wrap="square" lIns="0" tIns="0" rIns="0" bIns="0" rtlCol="0" anchor="t"/>
          <a:lstStyle/>
          <a:p>
            <a:pPr indent="0" marL="0">
              <a:lnSpc>
                <a:spcPts val="1900"/>
              </a:lnSpc>
              <a:buNone/>
            </a:pPr>
            <a:r>
              <a:rPr lang="en-US" sz="1400" dirty="0">
                <a:solidFill>
                  <a:srgbClr val="6B7280"/>
                </a:solidFill>
                <a:latin typeface="Arial" pitchFamily="34" charset="0"/>
                <a:ea typeface="Arial" pitchFamily="34" charset="-122"/>
                <a:cs typeface="Arial" pitchFamily="34" charset="-120"/>
              </a:rPr>
              <a:t>Voluntary and ad-hoc, with no KPI or salary impact.</a:t>
            </a:r>
            <a:endParaRPr lang="en-US" sz="1400" dirty="0"/>
          </a:p>
        </p:txBody>
      </p:sp>
      <p:sp>
        <p:nvSpPr>
          <p:cNvPr id="35" name="Shape 33"/>
          <p:cNvSpPr/>
          <p:nvPr/>
        </p:nvSpPr>
        <p:spPr>
          <a:xfrm>
            <a:off x="502920" y="4700016"/>
            <a:ext cx="11185855" cy="1316736"/>
          </a:xfrm>
          <a:prstGeom prst="roundRect">
            <a:avLst>
              <a:gd name="adj" fmla="val 4167"/>
            </a:avLst>
          </a:prstGeom>
          <a:solidFill>
            <a:srgbClr val="0F172A"/>
          </a:solidFill>
          <a:ln w="12700">
            <a:solidFill>
              <a:srgbClr val="333333"/>
            </a:solidFill>
            <a:prstDash val="solid"/>
          </a:ln>
        </p:spPr>
      </p:sp>
      <p:sp>
        <p:nvSpPr>
          <p:cNvPr id="36" name="Text 34"/>
          <p:cNvSpPr txBox="1"/>
          <p:nvPr/>
        </p:nvSpPr>
        <p:spPr>
          <a:xfrm>
            <a:off x="832104" y="4828032"/>
            <a:ext cx="10527487" cy="2743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honest version of the buy case</a:t>
            </a:r>
            <a:endParaRPr lang="en-US" sz="1800" dirty="0"/>
          </a:p>
        </p:txBody>
      </p:sp>
      <p:sp>
        <p:nvSpPr>
          <p:cNvPr id="37" name="Text 35"/>
          <p:cNvSpPr txBox="1"/>
          <p:nvPr/>
        </p:nvSpPr>
        <p:spPr>
          <a:xfrm>
            <a:off x="832104" y="5120640"/>
            <a:ext cx="10527487" cy="841248"/>
          </a:xfrm>
          <a:prstGeom prst="rect">
            <a:avLst/>
          </a:prstGeom>
          <a:noFill/>
          <a:ln/>
        </p:spPr>
        <p:txBody>
          <a:bodyPr wrap="square" lIns="0" tIns="0" rIns="0" bIns="0" rtlCol="0" anchor="t"/>
          <a:lstStyle/>
          <a:p>
            <a:pPr indent="0" marL="0">
              <a:lnSpc>
                <a:spcPts val="1900"/>
              </a:lnSpc>
              <a:buNone/>
            </a:pPr>
            <a:r>
              <a:rPr lang="en-US" sz="1500" dirty="0">
                <a:solidFill>
                  <a:srgbClr val="CBD5E1"/>
                </a:solidFill>
                <a:latin typeface="Arial" pitchFamily="34" charset="0"/>
                <a:ea typeface="Arial" pitchFamily="34" charset="-122"/>
                <a:cs typeface="Arial" pitchFamily="34" charset="-120"/>
              </a:rPr>
              <a:t>Gloat, Fuel50 and 365Talents are mature products with track records we do not have, and would be live sooner. What they cannot do is stop costing money: at 1,113 seats the three-year licence lands between ₱10.7M and ₱29.3M, and recurs forever. If speed to launch were the binding constraint, buying would win. It is not.</a:t>
            </a:r>
            <a:endParaRPr lang="en-US" sz="1500" dirty="0"/>
          </a:p>
        </p:txBody>
      </p:sp>
      <p:sp>
        <p:nvSpPr>
          <p:cNvPr id="38" name="Shape 36"/>
          <p:cNvSpPr/>
          <p:nvPr/>
        </p:nvSpPr>
        <p:spPr>
          <a:xfrm>
            <a:off x="502920" y="6291072"/>
            <a:ext cx="11185855" cy="0"/>
          </a:xfrm>
          <a:prstGeom prst="line">
            <a:avLst/>
          </a:prstGeom>
          <a:noFill/>
          <a:ln w="12700">
            <a:solidFill>
              <a:srgbClr val="E5E7EB"/>
            </a:solidFill>
            <a:prstDash val="solid"/>
          </a:ln>
        </p:spPr>
      </p:sp>
      <p:sp>
        <p:nvSpPr>
          <p:cNvPr id="39" name="Text 37"/>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Vendor figures are RFP planning bands, not quotes — see the comparison slide.</a:t>
            </a:r>
            <a:endParaRPr lang="en-US" sz="1400" dirty="0"/>
          </a:p>
        </p:txBody>
      </p:sp>
      <p:sp>
        <p:nvSpPr>
          <p:cNvPr id="40" name="Text 38"/>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THE MARKET</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Our people already wrote the demand down.</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Pilot: 637 in IT, Operations and HR. Wave two adds 476 in mass operations — 1,113.</a:t>
            </a:r>
            <a:endParaRPr lang="en-US" sz="1600" dirty="0"/>
          </a:p>
        </p:txBody>
      </p:sp>
      <p:sp>
        <p:nvSpPr>
          <p:cNvPr id="5" name="Shape 3"/>
          <p:cNvSpPr/>
          <p:nvPr/>
        </p:nvSpPr>
        <p:spPr>
          <a:xfrm>
            <a:off x="502920" y="1773936"/>
            <a:ext cx="4026908" cy="2395728"/>
          </a:xfrm>
          <a:prstGeom prst="roundRect">
            <a:avLst>
              <a:gd name="adj" fmla="val 2290"/>
            </a:avLst>
          </a:prstGeom>
          <a:solidFill>
            <a:srgbClr val="F7F8FA"/>
          </a:solidFill>
          <a:ln w="12700">
            <a:solidFill>
              <a:srgbClr val="333333"/>
            </a:solidFill>
            <a:prstDash val="solid"/>
          </a:ln>
        </p:spPr>
      </p:sp>
      <p:sp>
        <p:nvSpPr>
          <p:cNvPr id="6" name="Text 4"/>
          <p:cNvSpPr txBox="1"/>
          <p:nvPr/>
        </p:nvSpPr>
        <p:spPr>
          <a:xfrm>
            <a:off x="777240" y="1920240"/>
            <a:ext cx="3478268" cy="237744"/>
          </a:xfrm>
          <a:prstGeom prst="rect">
            <a:avLst/>
          </a:prstGeom>
          <a:noFill/>
          <a:ln/>
        </p:spPr>
        <p:txBody>
          <a:bodyPr wrap="square" lIns="0" tIns="0" rIns="0" bIns="0" rtlCol="0" anchor="ctr"/>
          <a:lstStyle/>
          <a:p>
            <a:pPr indent="0" marL="0">
              <a:buNone/>
            </a:pPr>
            <a:r>
              <a:rPr lang="en-US" sz="1500" b="1" dirty="0">
                <a:solidFill>
                  <a:srgbClr val="6B7280"/>
                </a:solidFill>
                <a:latin typeface="Arial" pitchFamily="34" charset="0"/>
                <a:ea typeface="Arial" pitchFamily="34" charset="-122"/>
                <a:cs typeface="Arial" pitchFamily="34" charset="-120"/>
              </a:rPr>
              <a:t>Pilot population</a:t>
            </a:r>
            <a:endParaRPr lang="en-US" sz="1500" dirty="0"/>
          </a:p>
        </p:txBody>
      </p:sp>
      <p:sp>
        <p:nvSpPr>
          <p:cNvPr id="7" name="Text 5"/>
          <p:cNvSpPr txBox="1"/>
          <p:nvPr/>
        </p:nvSpPr>
        <p:spPr>
          <a:xfrm>
            <a:off x="777240" y="2231136"/>
            <a:ext cx="2655308" cy="274320"/>
          </a:xfrm>
          <a:prstGeom prst="rect">
            <a:avLst/>
          </a:prstGeom>
          <a:noFill/>
          <a:ln/>
        </p:spPr>
        <p:txBody>
          <a:bodyPr wrap="square" lIns="0" tIns="0" rIns="0" bIns="0" rtlCol="0" anchor="ctr"/>
          <a:lstStyle/>
          <a:p>
            <a:pPr indent="0" marL="0">
              <a:buNone/>
            </a:pPr>
            <a:r>
              <a:rPr lang="en-US" sz="1600" dirty="0">
                <a:solidFill>
                  <a:srgbClr val="374151"/>
                </a:solidFill>
                <a:latin typeface="Arial" pitchFamily="34" charset="0"/>
                <a:ea typeface="Arial" pitchFamily="34" charset="-122"/>
                <a:cs typeface="Arial" pitchFamily="34" charset="-120"/>
              </a:rPr>
              <a:t>IT &amp; Innovation</a:t>
            </a:r>
            <a:endParaRPr lang="en-US" sz="1600" dirty="0"/>
          </a:p>
        </p:txBody>
      </p:sp>
      <p:sp>
        <p:nvSpPr>
          <p:cNvPr id="8" name="Text 6"/>
          <p:cNvSpPr txBox="1"/>
          <p:nvPr/>
        </p:nvSpPr>
        <p:spPr>
          <a:xfrm>
            <a:off x="3158228" y="2231136"/>
            <a:ext cx="1097280"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463</a:t>
            </a:r>
            <a:endParaRPr lang="en-US" sz="1600" dirty="0"/>
          </a:p>
        </p:txBody>
      </p:sp>
      <p:sp>
        <p:nvSpPr>
          <p:cNvPr id="9" name="Text 7"/>
          <p:cNvSpPr txBox="1"/>
          <p:nvPr/>
        </p:nvSpPr>
        <p:spPr>
          <a:xfrm>
            <a:off x="777240" y="2560320"/>
            <a:ext cx="2655308" cy="274320"/>
          </a:xfrm>
          <a:prstGeom prst="rect">
            <a:avLst/>
          </a:prstGeom>
          <a:noFill/>
          <a:ln/>
        </p:spPr>
        <p:txBody>
          <a:bodyPr wrap="square" lIns="0" tIns="0" rIns="0" bIns="0" rtlCol="0" anchor="ctr"/>
          <a:lstStyle/>
          <a:p>
            <a:pPr indent="0" marL="0">
              <a:buNone/>
            </a:pPr>
            <a:r>
              <a:rPr lang="en-US" sz="1600" dirty="0">
                <a:solidFill>
                  <a:srgbClr val="374151"/>
                </a:solidFill>
                <a:latin typeface="Arial" pitchFamily="34" charset="0"/>
                <a:ea typeface="Arial" pitchFamily="34" charset="-122"/>
                <a:cs typeface="Arial" pitchFamily="34" charset="-120"/>
              </a:rPr>
              <a:t>Operations</a:t>
            </a:r>
            <a:endParaRPr lang="en-US" sz="1600" dirty="0"/>
          </a:p>
        </p:txBody>
      </p:sp>
      <p:sp>
        <p:nvSpPr>
          <p:cNvPr id="10" name="Text 8"/>
          <p:cNvSpPr txBox="1"/>
          <p:nvPr/>
        </p:nvSpPr>
        <p:spPr>
          <a:xfrm>
            <a:off x="3158228" y="2560320"/>
            <a:ext cx="1097280"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37</a:t>
            </a:r>
            <a:endParaRPr lang="en-US" sz="1600" dirty="0"/>
          </a:p>
        </p:txBody>
      </p:sp>
      <p:sp>
        <p:nvSpPr>
          <p:cNvPr id="11" name="Text 9"/>
          <p:cNvSpPr txBox="1"/>
          <p:nvPr/>
        </p:nvSpPr>
        <p:spPr>
          <a:xfrm>
            <a:off x="777240" y="2889504"/>
            <a:ext cx="2655308" cy="274320"/>
          </a:xfrm>
          <a:prstGeom prst="rect">
            <a:avLst/>
          </a:prstGeom>
          <a:noFill/>
          <a:ln/>
        </p:spPr>
        <p:txBody>
          <a:bodyPr wrap="square" lIns="0" tIns="0" rIns="0" bIns="0" rtlCol="0" anchor="ctr"/>
          <a:lstStyle/>
          <a:p>
            <a:pPr indent="0" marL="0">
              <a:buNone/>
            </a:pPr>
            <a:r>
              <a:rPr lang="en-US" sz="1600" dirty="0">
                <a:solidFill>
                  <a:srgbClr val="374151"/>
                </a:solidFill>
                <a:latin typeface="Arial" pitchFamily="34" charset="0"/>
                <a:ea typeface="Arial" pitchFamily="34" charset="-122"/>
                <a:cs typeface="Arial" pitchFamily="34" charset="-120"/>
              </a:rPr>
              <a:t>HR</a:t>
            </a:r>
            <a:endParaRPr lang="en-US" sz="1600" dirty="0"/>
          </a:p>
        </p:txBody>
      </p:sp>
      <p:sp>
        <p:nvSpPr>
          <p:cNvPr id="12" name="Text 10"/>
          <p:cNvSpPr txBox="1"/>
          <p:nvPr/>
        </p:nvSpPr>
        <p:spPr>
          <a:xfrm>
            <a:off x="3158228" y="2889504"/>
            <a:ext cx="1097280"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137</a:t>
            </a:r>
            <a:endParaRPr lang="en-US" sz="1600" dirty="0"/>
          </a:p>
        </p:txBody>
      </p:sp>
      <p:sp>
        <p:nvSpPr>
          <p:cNvPr id="13" name="Shape 11"/>
          <p:cNvSpPr/>
          <p:nvPr/>
        </p:nvSpPr>
        <p:spPr>
          <a:xfrm>
            <a:off x="777240" y="3273552"/>
            <a:ext cx="3478268" cy="0"/>
          </a:xfrm>
          <a:prstGeom prst="line">
            <a:avLst/>
          </a:prstGeom>
          <a:noFill/>
          <a:ln w="12700">
            <a:solidFill>
              <a:srgbClr val="E5E7EB"/>
            </a:solidFill>
            <a:prstDash val="solid"/>
          </a:ln>
        </p:spPr>
      </p:sp>
      <p:sp>
        <p:nvSpPr>
          <p:cNvPr id="14" name="Text 12"/>
          <p:cNvSpPr txBox="1"/>
          <p:nvPr/>
        </p:nvSpPr>
        <p:spPr>
          <a:xfrm>
            <a:off x="777240" y="3346704"/>
            <a:ext cx="2655308" cy="292608"/>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Pilot total</a:t>
            </a:r>
            <a:endParaRPr lang="en-US" sz="1700" dirty="0"/>
          </a:p>
        </p:txBody>
      </p:sp>
      <p:sp>
        <p:nvSpPr>
          <p:cNvPr id="15" name="Text 13"/>
          <p:cNvSpPr txBox="1"/>
          <p:nvPr/>
        </p:nvSpPr>
        <p:spPr>
          <a:xfrm>
            <a:off x="3158228" y="3346704"/>
            <a:ext cx="1097280" cy="292608"/>
          </a:xfrm>
          <a:prstGeom prst="rect">
            <a:avLst/>
          </a:prstGeom>
          <a:noFill/>
          <a:ln/>
        </p:spPr>
        <p:txBody>
          <a:bodyPr wrap="square" lIns="0" tIns="0" rIns="0" bIns="0" rtlCol="0" anchor="ctr"/>
          <a:lstStyle/>
          <a:p>
            <a:pPr algn="r" indent="0" marL="0">
              <a:buNone/>
            </a:pPr>
            <a:r>
              <a:rPr lang="en-US" sz="2200" b="1" dirty="0">
                <a:solidFill>
                  <a:srgbClr val="C00000"/>
                </a:solidFill>
                <a:latin typeface="Arial" pitchFamily="34" charset="0"/>
                <a:ea typeface="Arial" pitchFamily="34" charset="-122"/>
                <a:cs typeface="Arial" pitchFamily="34" charset="-120"/>
              </a:rPr>
              <a:t>637</a:t>
            </a:r>
            <a:endParaRPr lang="en-US" sz="2200" dirty="0"/>
          </a:p>
        </p:txBody>
      </p:sp>
      <p:sp>
        <p:nvSpPr>
          <p:cNvPr id="16" name="Text 14"/>
          <p:cNvSpPr txBox="1"/>
          <p:nvPr/>
        </p:nvSpPr>
        <p:spPr>
          <a:xfrm>
            <a:off x="777240" y="3694176"/>
            <a:ext cx="3478268" cy="475488"/>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Wave two: +476 mass ops → 1,113</a:t>
            </a:r>
            <a:endParaRPr lang="en-US" sz="1400" dirty="0"/>
          </a:p>
          <a:p>
            <a:pPr indent="0" marL="0">
              <a:lnSpc>
                <a:spcPts val="1800"/>
              </a:lnSpc>
              <a:buNone/>
            </a:pPr>
            <a:r>
              <a:rPr lang="en-US" sz="1400" dirty="0">
                <a:solidFill>
                  <a:srgbClr val="6B7280"/>
                </a:solidFill>
                <a:latin typeface="Arial" pitchFamily="34" charset="0"/>
                <a:ea typeface="Arial" pitchFamily="34" charset="-122"/>
                <a:cs typeface="Arial" pitchFamily="34" charset="-120"/>
              </a:rPr>
              <a:t>Full non-mass launch: 1,991</a:t>
            </a:r>
            <a:endParaRPr lang="en-US" sz="1400" dirty="0"/>
          </a:p>
        </p:txBody>
      </p:sp>
      <p:sp>
        <p:nvSpPr>
          <p:cNvPr id="17" name="Shape 15"/>
          <p:cNvSpPr/>
          <p:nvPr/>
        </p:nvSpPr>
        <p:spPr>
          <a:xfrm>
            <a:off x="4785860" y="1773936"/>
            <a:ext cx="3350874"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8" name="Text 16"/>
          <p:cNvSpPr txBox="1"/>
          <p:nvPr/>
        </p:nvSpPr>
        <p:spPr>
          <a:xfrm>
            <a:off x="5005316" y="1865376"/>
            <a:ext cx="1280160" cy="384048"/>
          </a:xfrm>
          <a:prstGeom prst="rect">
            <a:avLst/>
          </a:prstGeom>
          <a:noFill/>
          <a:ln/>
        </p:spPr>
        <p:txBody>
          <a:bodyPr wrap="square" lIns="0" tIns="0" rIns="0" bIns="0" rtlCol="0" anchor="ctr"/>
          <a:lstStyle/>
          <a:p>
            <a:pPr indent="0" marL="0">
              <a:buNone/>
            </a:pPr>
            <a:r>
              <a:rPr lang="en-US" sz="2600" b="1" dirty="0">
                <a:solidFill>
                  <a:srgbClr val="C00000"/>
                </a:solidFill>
                <a:latin typeface="Arial" pitchFamily="34" charset="0"/>
                <a:ea typeface="Arial" pitchFamily="34" charset="-122"/>
                <a:cs typeface="Arial" pitchFamily="34" charset="-120"/>
              </a:rPr>
              <a:t>630</a:t>
            </a:r>
            <a:endParaRPr lang="en-US" sz="2600" dirty="0"/>
          </a:p>
        </p:txBody>
      </p:sp>
      <p:sp>
        <p:nvSpPr>
          <p:cNvPr id="19" name="Text 17"/>
          <p:cNvSpPr txBox="1"/>
          <p:nvPr/>
        </p:nvSpPr>
        <p:spPr>
          <a:xfrm>
            <a:off x="5005316" y="2212848"/>
            <a:ext cx="2911962" cy="36576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want to learn by doing</a:t>
            </a:r>
            <a:endParaRPr lang="en-US" sz="1400" dirty="0"/>
          </a:p>
        </p:txBody>
      </p:sp>
      <p:sp>
        <p:nvSpPr>
          <p:cNvPr id="20" name="Text 18"/>
          <p:cNvSpPr txBox="1"/>
          <p:nvPr/>
        </p:nvSpPr>
        <p:spPr>
          <a:xfrm>
            <a:off x="5005316" y="2560320"/>
            <a:ext cx="2911962" cy="43891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614 by experience, 16 by immersion.</a:t>
            </a:r>
            <a:endParaRPr lang="en-US" sz="1400" dirty="0"/>
          </a:p>
        </p:txBody>
      </p:sp>
      <p:sp>
        <p:nvSpPr>
          <p:cNvPr id="21" name="Shape 19"/>
          <p:cNvSpPr/>
          <p:nvPr/>
        </p:nvSpPr>
        <p:spPr>
          <a:xfrm>
            <a:off x="8337902" y="1773936"/>
            <a:ext cx="3350874"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2" name="Text 20"/>
          <p:cNvSpPr txBox="1"/>
          <p:nvPr/>
        </p:nvSpPr>
        <p:spPr>
          <a:xfrm>
            <a:off x="8557358" y="1865376"/>
            <a:ext cx="1280160" cy="384048"/>
          </a:xfrm>
          <a:prstGeom prst="rect">
            <a:avLst/>
          </a:prstGeom>
          <a:noFill/>
          <a:ln/>
        </p:spPr>
        <p:txBody>
          <a:bodyPr wrap="square" lIns="0" tIns="0" rIns="0" bIns="0" rtlCol="0" anchor="ctr"/>
          <a:lstStyle/>
          <a:p>
            <a:pPr indent="0" marL="0">
              <a:buNone/>
            </a:pPr>
            <a:r>
              <a:rPr lang="en-US" sz="2600" b="1" dirty="0">
                <a:solidFill>
                  <a:srgbClr val="C00000"/>
                </a:solidFill>
                <a:latin typeface="Arial" pitchFamily="34" charset="0"/>
                <a:ea typeface="Arial" pitchFamily="34" charset="-122"/>
                <a:cs typeface="Arial" pitchFamily="34" charset="-120"/>
              </a:rPr>
              <a:t>55%</a:t>
            </a:r>
            <a:endParaRPr lang="en-US" sz="2600" dirty="0"/>
          </a:p>
        </p:txBody>
      </p:sp>
      <p:sp>
        <p:nvSpPr>
          <p:cNvPr id="23" name="Text 21"/>
          <p:cNvSpPr txBox="1"/>
          <p:nvPr/>
        </p:nvSpPr>
        <p:spPr>
          <a:xfrm>
            <a:off x="8557358" y="2212848"/>
            <a:ext cx="2911962" cy="36576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want growth, not a promotion</a:t>
            </a:r>
            <a:endParaRPr lang="en-US" sz="1400" dirty="0"/>
          </a:p>
        </p:txBody>
      </p:sp>
      <p:sp>
        <p:nvSpPr>
          <p:cNvPr id="24" name="Text 22"/>
          <p:cNvSpPr txBox="1"/>
          <p:nvPr/>
        </p:nvSpPr>
        <p:spPr>
          <a:xfrm>
            <a:off x="8557358" y="2560320"/>
            <a:ext cx="2911962" cy="43891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Said at the 2026 midyear review.</a:t>
            </a:r>
            <a:endParaRPr lang="en-US" sz="1400" dirty="0"/>
          </a:p>
        </p:txBody>
      </p:sp>
      <p:sp>
        <p:nvSpPr>
          <p:cNvPr id="25" name="Shape 23"/>
          <p:cNvSpPr/>
          <p:nvPr/>
        </p:nvSpPr>
        <p:spPr>
          <a:xfrm>
            <a:off x="4785860" y="3236976"/>
            <a:ext cx="3350874"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6" name="Text 24"/>
          <p:cNvSpPr txBox="1"/>
          <p:nvPr/>
        </p:nvSpPr>
        <p:spPr>
          <a:xfrm>
            <a:off x="5005316" y="3328416"/>
            <a:ext cx="1280160" cy="384048"/>
          </a:xfrm>
          <a:prstGeom prst="rect">
            <a:avLst/>
          </a:prstGeom>
          <a:noFill/>
          <a:ln/>
        </p:spPr>
        <p:txBody>
          <a:bodyPr wrap="square" lIns="0" tIns="0" rIns="0" bIns="0" rtlCol="0" anchor="ctr"/>
          <a:lstStyle/>
          <a:p>
            <a:pPr indent="0" marL="0">
              <a:buNone/>
            </a:pPr>
            <a:r>
              <a:rPr lang="en-US" sz="2600" b="1" dirty="0">
                <a:solidFill>
                  <a:srgbClr val="C00000"/>
                </a:solidFill>
                <a:latin typeface="Arial" pitchFamily="34" charset="0"/>
                <a:ea typeface="Arial" pitchFamily="34" charset="-122"/>
                <a:cs typeface="Arial" pitchFamily="34" charset="-120"/>
              </a:rPr>
              <a:t>73%</a:t>
            </a:r>
            <a:endParaRPr lang="en-US" sz="2600" dirty="0"/>
          </a:p>
        </p:txBody>
      </p:sp>
      <p:sp>
        <p:nvSpPr>
          <p:cNvPr id="27" name="Text 25"/>
          <p:cNvSpPr txBox="1"/>
          <p:nvPr/>
        </p:nvSpPr>
        <p:spPr>
          <a:xfrm>
            <a:off x="5005316" y="3675888"/>
            <a:ext cx="2911962" cy="36576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want a vertical or enrichment</a:t>
            </a:r>
            <a:endParaRPr lang="en-US" sz="1400" dirty="0"/>
          </a:p>
        </p:txBody>
      </p:sp>
      <p:sp>
        <p:nvSpPr>
          <p:cNvPr id="28" name="Text 26"/>
          <p:cNvSpPr txBox="1"/>
          <p:nvPr/>
        </p:nvSpPr>
        <p:spPr>
          <a:xfrm>
            <a:off x="5005316" y="4023360"/>
            <a:ext cx="2911962" cy="43891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461 vertical, 347 enrichment.</a:t>
            </a:r>
            <a:endParaRPr lang="en-US" sz="1400" dirty="0"/>
          </a:p>
        </p:txBody>
      </p:sp>
      <p:sp>
        <p:nvSpPr>
          <p:cNvPr id="29" name="Shape 27"/>
          <p:cNvSpPr/>
          <p:nvPr/>
        </p:nvSpPr>
        <p:spPr>
          <a:xfrm>
            <a:off x="8337902" y="3236976"/>
            <a:ext cx="3350874" cy="1316736"/>
          </a:xfrm>
          <a:prstGeom prst="roundRect">
            <a:avLst>
              <a:gd name="adj" fmla="val 4167"/>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30" name="Text 28"/>
          <p:cNvSpPr txBox="1"/>
          <p:nvPr/>
        </p:nvSpPr>
        <p:spPr>
          <a:xfrm>
            <a:off x="8557358" y="3328416"/>
            <a:ext cx="1280160" cy="384048"/>
          </a:xfrm>
          <a:prstGeom prst="rect">
            <a:avLst/>
          </a:prstGeom>
          <a:noFill/>
          <a:ln/>
        </p:spPr>
        <p:txBody>
          <a:bodyPr wrap="square" lIns="0" tIns="0" rIns="0" bIns="0" rtlCol="0" anchor="ctr"/>
          <a:lstStyle/>
          <a:p>
            <a:pPr indent="0" marL="0">
              <a:buNone/>
            </a:pPr>
            <a:r>
              <a:rPr lang="en-US" sz="2600" b="1" dirty="0">
                <a:solidFill>
                  <a:srgbClr val="C00000"/>
                </a:solidFill>
                <a:latin typeface="Arial" pitchFamily="34" charset="0"/>
                <a:ea typeface="Arial" pitchFamily="34" charset="-122"/>
                <a:cs typeface="Arial" pitchFamily="34" charset="-120"/>
              </a:rPr>
              <a:t>80</a:t>
            </a:r>
            <a:endParaRPr lang="en-US" sz="2600" dirty="0"/>
          </a:p>
        </p:txBody>
      </p:sp>
      <p:sp>
        <p:nvSpPr>
          <p:cNvPr id="31" name="Text 29"/>
          <p:cNvSpPr txBox="1"/>
          <p:nvPr/>
        </p:nvSpPr>
        <p:spPr>
          <a:xfrm>
            <a:off x="8557358" y="3675888"/>
            <a:ext cx="2911962" cy="36576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resigned and later came back</a:t>
            </a:r>
            <a:endParaRPr lang="en-US" sz="1400" dirty="0"/>
          </a:p>
        </p:txBody>
      </p:sp>
      <p:sp>
        <p:nvSpPr>
          <p:cNvPr id="32" name="Text 30"/>
          <p:cNvSpPr txBox="1"/>
          <p:nvPr/>
        </p:nvSpPr>
        <p:spPr>
          <a:xfrm>
            <a:off x="8557358" y="4023360"/>
            <a:ext cx="2911962" cy="43891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They wanted to be here. They could not find a way to move.</a:t>
            </a:r>
            <a:endParaRPr lang="en-US" sz="1400" dirty="0"/>
          </a:p>
        </p:txBody>
      </p:sp>
      <p:sp>
        <p:nvSpPr>
          <p:cNvPr id="33" name="Shape 31"/>
          <p:cNvSpPr/>
          <p:nvPr/>
        </p:nvSpPr>
        <p:spPr>
          <a:xfrm>
            <a:off x="502920" y="4663440"/>
            <a:ext cx="11185855" cy="1353312"/>
          </a:xfrm>
          <a:prstGeom prst="roundRect">
            <a:avLst>
              <a:gd name="adj" fmla="val 4054"/>
            </a:avLst>
          </a:prstGeom>
          <a:solidFill>
            <a:srgbClr val="0F172A"/>
          </a:solidFill>
          <a:ln w="12700">
            <a:solidFill>
              <a:srgbClr val="333333"/>
            </a:solidFill>
            <a:prstDash val="solid"/>
          </a:ln>
        </p:spPr>
      </p:sp>
      <p:sp>
        <p:nvSpPr>
          <p:cNvPr id="34" name="Text 32"/>
          <p:cNvSpPr txBox="1"/>
          <p:nvPr/>
        </p:nvSpPr>
        <p:spPr>
          <a:xfrm>
            <a:off x="832104" y="4809744"/>
            <a:ext cx="10527487" cy="27432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Why start at 637, cost it at 1,113</a:t>
            </a:r>
            <a:endParaRPr lang="en-US" sz="1800" dirty="0"/>
          </a:p>
        </p:txBody>
      </p:sp>
      <p:sp>
        <p:nvSpPr>
          <p:cNvPr id="35" name="Text 33"/>
          <p:cNvSpPr txBox="1"/>
          <p:nvPr/>
        </p:nvSpPr>
        <p:spPr>
          <a:xfrm>
            <a:off x="832104" y="5120640"/>
            <a:ext cx="10527487" cy="822960"/>
          </a:xfrm>
          <a:prstGeom prst="rect">
            <a:avLst/>
          </a:prstGeom>
          <a:noFill/>
          <a:ln/>
        </p:spPr>
        <p:txBody>
          <a:bodyPr wrap="square" lIns="0" tIns="0" rIns="0" bIns="0" rtlCol="0" anchor="t"/>
          <a:lstStyle/>
          <a:p>
            <a:pPr indent="0" marL="0">
              <a:lnSpc>
                <a:spcPts val="1900"/>
              </a:lnSpc>
              <a:buNone/>
            </a:pPr>
            <a:r>
              <a:rPr lang="en-US" sz="1500" dirty="0">
                <a:solidFill>
                  <a:srgbClr val="CBD5E1"/>
                </a:solidFill>
                <a:latin typeface="Arial" pitchFamily="34" charset="0"/>
                <a:ea typeface="Arial" pitchFamily="34" charset="-122"/>
                <a:cs typeface="Arial" pitchFamily="34" charset="-120"/>
              </a:rPr>
              <a:t>These three functions are where internal moves already happen and where the tech-talent priority bites hardest — the pilot tests the hard case. Mass operations joins in wave two, which is why the money is costed at 1,113. Extending to all 1,991 non-mass costs run only: ₱53 each a year.</a:t>
            </a:r>
            <a:endParaRPr lang="en-US" sz="1500" dirty="0"/>
          </a:p>
        </p:txBody>
      </p:sp>
      <p:sp>
        <p:nvSpPr>
          <p:cNvPr id="36" name="Shape 34"/>
          <p:cNvSpPr/>
          <p:nvPr/>
        </p:nvSpPr>
        <p:spPr>
          <a:xfrm>
            <a:off x="502920" y="6291072"/>
            <a:ext cx="11185855" cy="0"/>
          </a:xfrm>
          <a:prstGeom prst="line">
            <a:avLst/>
          </a:prstGeom>
          <a:noFill/>
          <a:ln w="12700">
            <a:solidFill>
              <a:srgbClr val="E5E7EB"/>
            </a:solidFill>
            <a:prstDash val="solid"/>
          </a:ln>
        </p:spPr>
      </p:sp>
      <p:sp>
        <p:nvSpPr>
          <p:cNvPr id="37" name="Text 35"/>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Sources: 2026 IDP filings · 2026 Midyear Review · stated career-movement preferences · HRIS headcount.</a:t>
            </a:r>
            <a:endParaRPr lang="en-US" sz="1400" dirty="0"/>
          </a:p>
        </p:txBody>
      </p:sp>
      <p:sp>
        <p:nvSpPr>
          <p:cNvPr id="38" name="Text 36"/>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COSTING · V2</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₱2.05M over three years, ₱614 per employee a year.</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IT costed the build at ₱1,785,500. Population 1,113. FX ₱61 = US$1, three years.</a:t>
            </a:r>
            <a:endParaRPr lang="en-US" sz="1600" dirty="0"/>
          </a:p>
        </p:txBody>
      </p:sp>
      <p:sp>
        <p:nvSpPr>
          <p:cNvPr id="5" name="Shape 3"/>
          <p:cNvSpPr/>
          <p:nvPr/>
        </p:nvSpPr>
        <p:spPr>
          <a:xfrm>
            <a:off x="502920"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04088" y="1828800"/>
            <a:ext cx="2243252" cy="457200"/>
          </a:xfrm>
          <a:prstGeom prst="rect">
            <a:avLst/>
          </a:prstGeom>
          <a:noFill/>
          <a:ln/>
        </p:spPr>
        <p:txBody>
          <a:bodyPr wrap="square" lIns="0" tIns="0" rIns="0" bIns="0" rtlCol="0" anchor="ctr"/>
          <a:lstStyle/>
          <a:p>
            <a:pPr indent="0" marL="0">
              <a:buNone/>
            </a:pPr>
            <a:r>
              <a:rPr lang="en-US" sz="3000" b="1" dirty="0">
                <a:solidFill>
                  <a:srgbClr val="C00000"/>
                </a:solidFill>
                <a:latin typeface="Arial" pitchFamily="34" charset="0"/>
                <a:ea typeface="Arial" pitchFamily="34" charset="-122"/>
                <a:cs typeface="Arial" pitchFamily="34" charset="-120"/>
              </a:rPr>
              <a:t>₱1,536,351</a:t>
            </a:r>
            <a:endParaRPr lang="en-US" sz="3000" dirty="0"/>
          </a:p>
        </p:txBody>
      </p:sp>
      <p:sp>
        <p:nvSpPr>
          <p:cNvPr id="7" name="Text 5"/>
          <p:cNvSpPr txBox="1"/>
          <p:nvPr/>
        </p:nvSpPr>
        <p:spPr>
          <a:xfrm>
            <a:off x="704088"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Year one</a:t>
            </a:r>
            <a:endParaRPr lang="en-US" sz="1500" dirty="0"/>
          </a:p>
        </p:txBody>
      </p:sp>
      <p:sp>
        <p:nvSpPr>
          <p:cNvPr id="8" name="Text 6"/>
          <p:cNvSpPr txBox="1"/>
          <p:nvPr/>
        </p:nvSpPr>
        <p:spPr>
          <a:xfrm>
            <a:off x="704088"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build ₱1,454,200, run ₱82,151</a:t>
            </a:r>
            <a:endParaRPr lang="en-US" sz="1400" dirty="0"/>
          </a:p>
        </p:txBody>
      </p:sp>
      <p:sp>
        <p:nvSpPr>
          <p:cNvPr id="9" name="Shape 7"/>
          <p:cNvSpPr/>
          <p:nvPr/>
        </p:nvSpPr>
        <p:spPr>
          <a:xfrm>
            <a:off x="3349676"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8"/>
          <p:cNvSpPr txBox="1"/>
          <p:nvPr/>
        </p:nvSpPr>
        <p:spPr>
          <a:xfrm>
            <a:off x="3550844" y="1828800"/>
            <a:ext cx="2243252" cy="4572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₱422,451</a:t>
            </a:r>
            <a:endParaRPr lang="en-US" sz="3000" dirty="0"/>
          </a:p>
        </p:txBody>
      </p:sp>
      <p:sp>
        <p:nvSpPr>
          <p:cNvPr id="11" name="Text 9"/>
          <p:cNvSpPr txBox="1"/>
          <p:nvPr/>
        </p:nvSpPr>
        <p:spPr>
          <a:xfrm>
            <a:off x="3550844"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Year two</a:t>
            </a:r>
            <a:endParaRPr lang="en-US" sz="1500" dirty="0"/>
          </a:p>
        </p:txBody>
      </p:sp>
      <p:sp>
        <p:nvSpPr>
          <p:cNvPr id="12" name="Text 10"/>
          <p:cNvSpPr txBox="1"/>
          <p:nvPr/>
        </p:nvSpPr>
        <p:spPr>
          <a:xfrm>
            <a:off x="3550844"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referral engine, run</a:t>
            </a:r>
            <a:endParaRPr lang="en-US" sz="1400" dirty="0"/>
          </a:p>
        </p:txBody>
      </p:sp>
      <p:sp>
        <p:nvSpPr>
          <p:cNvPr id="13" name="Shape 11"/>
          <p:cNvSpPr/>
          <p:nvPr/>
        </p:nvSpPr>
        <p:spPr>
          <a:xfrm>
            <a:off x="6196432"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4" name="Text 12"/>
          <p:cNvSpPr txBox="1"/>
          <p:nvPr/>
        </p:nvSpPr>
        <p:spPr>
          <a:xfrm>
            <a:off x="6397600" y="1828800"/>
            <a:ext cx="2243252" cy="4572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₱91,151</a:t>
            </a:r>
            <a:endParaRPr lang="en-US" sz="3000" dirty="0"/>
          </a:p>
        </p:txBody>
      </p:sp>
      <p:sp>
        <p:nvSpPr>
          <p:cNvPr id="15" name="Text 13"/>
          <p:cNvSpPr txBox="1"/>
          <p:nvPr/>
        </p:nvSpPr>
        <p:spPr>
          <a:xfrm>
            <a:off x="6397600"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Year three</a:t>
            </a:r>
            <a:endParaRPr lang="en-US" sz="1500" dirty="0"/>
          </a:p>
        </p:txBody>
      </p:sp>
      <p:sp>
        <p:nvSpPr>
          <p:cNvPr id="16" name="Text 14"/>
          <p:cNvSpPr txBox="1"/>
          <p:nvPr/>
        </p:nvSpPr>
        <p:spPr>
          <a:xfrm>
            <a:off x="6397600"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run only</a:t>
            </a:r>
            <a:endParaRPr lang="en-US" sz="1400" dirty="0"/>
          </a:p>
        </p:txBody>
      </p:sp>
      <p:sp>
        <p:nvSpPr>
          <p:cNvPr id="17" name="Shape 15"/>
          <p:cNvSpPr/>
          <p:nvPr/>
        </p:nvSpPr>
        <p:spPr>
          <a:xfrm>
            <a:off x="9043187"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8" name="Text 16"/>
          <p:cNvSpPr txBox="1"/>
          <p:nvPr/>
        </p:nvSpPr>
        <p:spPr>
          <a:xfrm>
            <a:off x="9244355" y="1828800"/>
            <a:ext cx="2243252" cy="457200"/>
          </a:xfrm>
          <a:prstGeom prst="rect">
            <a:avLst/>
          </a:prstGeom>
          <a:noFill/>
          <a:ln/>
        </p:spPr>
        <p:txBody>
          <a:bodyPr wrap="square" lIns="0" tIns="0" rIns="0" bIns="0" rtlCol="0" anchor="ctr"/>
          <a:lstStyle/>
          <a:p>
            <a:pPr indent="0" marL="0">
              <a:buNone/>
            </a:pPr>
            <a:r>
              <a:rPr lang="en-US" sz="3000" b="1" dirty="0">
                <a:solidFill>
                  <a:srgbClr val="15803D"/>
                </a:solidFill>
                <a:latin typeface="Arial" pitchFamily="34" charset="0"/>
                <a:ea typeface="Arial" pitchFamily="34" charset="-122"/>
                <a:cs typeface="Arial" pitchFamily="34" charset="-120"/>
              </a:rPr>
              <a:t>₱2,049,953</a:t>
            </a:r>
            <a:endParaRPr lang="en-US" sz="3000" dirty="0"/>
          </a:p>
        </p:txBody>
      </p:sp>
      <p:sp>
        <p:nvSpPr>
          <p:cNvPr id="19" name="Text 17"/>
          <p:cNvSpPr txBox="1"/>
          <p:nvPr/>
        </p:nvSpPr>
        <p:spPr>
          <a:xfrm>
            <a:off x="9244355"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Three-year total</a:t>
            </a:r>
            <a:endParaRPr lang="en-US" sz="1500" dirty="0"/>
          </a:p>
        </p:txBody>
      </p:sp>
      <p:sp>
        <p:nvSpPr>
          <p:cNvPr id="20" name="Text 18"/>
          <p:cNvSpPr txBox="1"/>
          <p:nvPr/>
        </p:nvSpPr>
        <p:spPr>
          <a:xfrm>
            <a:off x="9244355"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₱1,842 per employee</a:t>
            </a:r>
            <a:endParaRPr lang="en-US" sz="1400" dirty="0"/>
          </a:p>
        </p:txBody>
      </p:sp>
      <p:sp>
        <p:nvSpPr>
          <p:cNvPr id="21" name="Shape 19"/>
          <p:cNvSpPr/>
          <p:nvPr/>
        </p:nvSpPr>
        <p:spPr>
          <a:xfrm>
            <a:off x="502920" y="3310128"/>
            <a:ext cx="6096291" cy="2743200"/>
          </a:xfrm>
          <a:prstGeom prst="roundRect">
            <a:avLst>
              <a:gd name="adj" fmla="val 2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2" name="Text 20"/>
          <p:cNvSpPr txBox="1"/>
          <p:nvPr/>
        </p:nvSpPr>
        <p:spPr>
          <a:xfrm>
            <a:off x="758952" y="3438144"/>
            <a:ext cx="5584227" cy="256032"/>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Where the money goes</a:t>
            </a:r>
            <a:endParaRPr lang="en-US" sz="1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58952" y="3749040"/>
          <a:ext cx="5584227" cy="914400"/>
        </p:xfrm>
        <a:graphic>
          <a:graphicData uri="http://schemas.openxmlformats.org/drawingml/2006/table">
            <a:tbl>
              <a:tblPr/>
              <a:tblGrid>
                <a:gridCol w="4160520"/>
                <a:gridCol w="1426464"/>
              </a:tblGrid>
              <a:tr h="237744">
                <a:tc>
                  <a:txBody>
                    <a:bodyPr/>
                    <a:lstStyle/>
                    <a:p>
                      <a:pPr indent="0" marL="0">
                        <a:buNone/>
                      </a:pPr>
                      <a:r>
                        <a:rPr lang="en-US" sz="1400" b="1" dirty="0">
                          <a:solidFill>
                            <a:srgbClr val="6B7280"/>
                          </a:solidFill>
                          <a:latin typeface="Arial" pitchFamily="34" charset="0"/>
                          <a:ea typeface="Arial" pitchFamily="34" charset="-122"/>
                          <a:cs typeface="Arial" pitchFamily="34" charset="-120"/>
                        </a:rPr>
                        <a:t>Item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Build, year one — promotion, matching, JD reader, handoff</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1,454,200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Build, year two — the deferred referral engine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331,300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b="1" dirty="0">
                          <a:solidFill>
                            <a:srgbClr val="0F172A"/>
                          </a:solidFill>
                          <a:latin typeface="Arial" pitchFamily="34" charset="0"/>
                          <a:ea typeface="Arial" pitchFamily="34" charset="-122"/>
                          <a:cs typeface="Arial" pitchFamily="34" charset="-120"/>
                        </a:rPr>
                        <a:t>Build, costed by IT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C00000"/>
                          </a:solidFill>
                          <a:latin typeface="Arial" pitchFamily="34" charset="0"/>
                          <a:ea typeface="Arial" pitchFamily="34" charset="-122"/>
                          <a:cs typeface="Arial" pitchFamily="34" charset="-120"/>
                        </a:rPr>
                        <a:t>1,785,500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Run, year one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82,151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Run, years two and three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182,303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b="1" dirty="0">
                          <a:solidFill>
                            <a:srgbClr val="0F172A"/>
                          </a:solidFill>
                          <a:latin typeface="Arial" pitchFamily="34" charset="0"/>
                          <a:ea typeface="Arial" pitchFamily="34" charset="-122"/>
                          <a:cs typeface="Arial" pitchFamily="34" charset="-120"/>
                        </a:rPr>
                        <a:t>Three-year total cost of ownership</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C00000"/>
                          </a:solidFill>
                          <a:latin typeface="Arial" pitchFamily="34" charset="0"/>
                          <a:ea typeface="Arial" pitchFamily="34" charset="-122"/>
                          <a:cs typeface="Arial" pitchFamily="34" charset="-120"/>
                        </a:rPr>
                        <a:t>2,049,953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bl>
          </a:graphicData>
        </a:graphic>
      </p:graphicFrame>
      <p:sp>
        <p:nvSpPr>
          <p:cNvPr id="24" name="Shape 21"/>
          <p:cNvSpPr/>
          <p:nvPr/>
        </p:nvSpPr>
        <p:spPr>
          <a:xfrm>
            <a:off x="6836955" y="3310128"/>
            <a:ext cx="4851820" cy="1243584"/>
          </a:xfrm>
          <a:prstGeom prst="roundRect">
            <a:avLst>
              <a:gd name="adj" fmla="val 4412"/>
            </a:avLst>
          </a:prstGeom>
          <a:solidFill>
            <a:srgbClr val="F0FDF4"/>
          </a:solidFill>
          <a:ln w="12700">
            <a:solidFill>
              <a:srgbClr val="333333"/>
            </a:solidFill>
            <a:prstDash val="solid"/>
          </a:ln>
        </p:spPr>
      </p:sp>
      <p:sp>
        <p:nvSpPr>
          <p:cNvPr id="25" name="Text 22"/>
          <p:cNvSpPr txBox="1"/>
          <p:nvPr/>
        </p:nvSpPr>
        <p:spPr>
          <a:xfrm>
            <a:off x="7111275" y="3456432"/>
            <a:ext cx="4303180" cy="256032"/>
          </a:xfrm>
          <a:prstGeom prst="rect">
            <a:avLst/>
          </a:prstGeom>
          <a:noFill/>
          <a:ln/>
        </p:spPr>
        <p:txBody>
          <a:bodyPr wrap="square" lIns="0" tIns="0" rIns="0" bIns="0" rtlCol="0" anchor="ctr"/>
          <a:lstStyle/>
          <a:p>
            <a:pPr indent="0" marL="0">
              <a:buNone/>
            </a:pPr>
            <a:r>
              <a:rPr lang="en-US" sz="1700" b="1" dirty="0">
                <a:solidFill>
                  <a:srgbClr val="15803D"/>
                </a:solidFill>
                <a:latin typeface="Arial" pitchFamily="34" charset="0"/>
                <a:ea typeface="Arial" pitchFamily="34" charset="-122"/>
                <a:cs typeface="Arial" pitchFamily="34" charset="-120"/>
              </a:rPr>
              <a:t>This is IT's number, not ours</a:t>
            </a:r>
            <a:endParaRPr lang="en-US" sz="1700" dirty="0"/>
          </a:p>
        </p:txBody>
      </p:sp>
      <p:sp>
        <p:nvSpPr>
          <p:cNvPr id="26" name="Text 23"/>
          <p:cNvSpPr txBox="1"/>
          <p:nvPr/>
        </p:nvSpPr>
        <p:spPr>
          <a:xfrm>
            <a:off x="7111275" y="3749040"/>
            <a:ext cx="4303180" cy="731520"/>
          </a:xfrm>
          <a:prstGeom prst="rect">
            <a:avLst/>
          </a:prstGeom>
          <a:noFill/>
          <a:ln/>
        </p:spPr>
        <p:txBody>
          <a:bodyPr wrap="square" lIns="0" tIns="0" rIns="0" bIns="0" rtlCol="0" anchor="t"/>
          <a:lstStyle/>
          <a:p>
            <a:pPr indent="0" marL="0">
              <a:lnSpc>
                <a:spcPts val="1900"/>
              </a:lnSpc>
              <a:buNone/>
            </a:pPr>
            <a:r>
              <a:rPr lang="en-US" sz="1400" dirty="0">
                <a:solidFill>
                  <a:srgbClr val="166534"/>
                </a:solidFill>
                <a:latin typeface="Arial" pitchFamily="34" charset="0"/>
                <a:ea typeface="Arial" pitchFamily="34" charset="-122"/>
                <a:cs typeface="Arial" pitchFamily="34" charset="-120"/>
              </a:rPr>
              <a:t>Our planning estimate was ₱873,000. IT has costed the man-hours at ₱1,785,500 — roughly double, and it is the figure used throughout.</a:t>
            </a:r>
            <a:endParaRPr lang="en-US" sz="1400" dirty="0"/>
          </a:p>
        </p:txBody>
      </p:sp>
      <p:sp>
        <p:nvSpPr>
          <p:cNvPr id="27" name="Shape 24"/>
          <p:cNvSpPr/>
          <p:nvPr/>
        </p:nvSpPr>
        <p:spPr>
          <a:xfrm>
            <a:off x="6836955" y="4700016"/>
            <a:ext cx="4851820" cy="1353312"/>
          </a:xfrm>
          <a:prstGeom prst="roundRect">
            <a:avLst>
              <a:gd name="adj" fmla="val 4054"/>
            </a:avLst>
          </a:prstGeom>
          <a:solidFill>
            <a:srgbClr val="FFFBEB"/>
          </a:solidFill>
          <a:ln w="12700">
            <a:solidFill>
              <a:srgbClr val="333333"/>
            </a:solidFill>
            <a:prstDash val="solid"/>
          </a:ln>
        </p:spPr>
      </p:sp>
      <p:sp>
        <p:nvSpPr>
          <p:cNvPr id="28" name="Text 25"/>
          <p:cNvSpPr txBox="1"/>
          <p:nvPr/>
        </p:nvSpPr>
        <p:spPr>
          <a:xfrm>
            <a:off x="7111275" y="4846320"/>
            <a:ext cx="4303180" cy="256032"/>
          </a:xfrm>
          <a:prstGeom prst="rect">
            <a:avLst/>
          </a:prstGeom>
          <a:noFill/>
          <a:ln/>
        </p:spPr>
        <p:txBody>
          <a:bodyPr wrap="square" lIns="0" tIns="0" rIns="0" bIns="0" rtlCol="0" anchor="ctr"/>
          <a:lstStyle/>
          <a:p>
            <a:pPr indent="0" marL="0">
              <a:buNone/>
            </a:pPr>
            <a:r>
              <a:rPr lang="en-US" sz="1700" b="1" dirty="0">
                <a:solidFill>
                  <a:srgbClr val="B45309"/>
                </a:solidFill>
                <a:latin typeface="Arial" pitchFamily="34" charset="0"/>
                <a:ea typeface="Arial" pitchFamily="34" charset="-122"/>
                <a:cs typeface="Arial" pitchFamily="34" charset="-120"/>
              </a:rPr>
              <a:t>What this figure excludes</a:t>
            </a:r>
            <a:endParaRPr lang="en-US" sz="1700" dirty="0"/>
          </a:p>
        </p:txBody>
      </p:sp>
      <p:sp>
        <p:nvSpPr>
          <p:cNvPr id="29" name="Text 26"/>
          <p:cNvSpPr txBox="1"/>
          <p:nvPr/>
        </p:nvSpPr>
        <p:spPr>
          <a:xfrm>
            <a:off x="7111275" y="5138928"/>
            <a:ext cx="4303180" cy="841248"/>
          </a:xfrm>
          <a:prstGeom prst="rect">
            <a:avLst/>
          </a:prstGeom>
          <a:noFill/>
          <a:ln/>
        </p:spPr>
        <p:txBody>
          <a:bodyPr wrap="square" lIns="0" tIns="0" rIns="0" bIns="0" rtlCol="0" anchor="t"/>
          <a:lstStyle/>
          <a:p>
            <a:pPr indent="0" marL="0">
              <a:lnSpc>
                <a:spcPts val="1900"/>
              </a:lnSpc>
              <a:buNone/>
            </a:pPr>
            <a:r>
              <a:rPr lang="en-US" sz="1400" dirty="0">
                <a:solidFill>
                  <a:srgbClr val="92400E"/>
                </a:solidFill>
                <a:latin typeface="Arial" pitchFamily="34" charset="0"/>
                <a:ea typeface="Arial" pitchFamily="34" charset="-122"/>
                <a:cs typeface="Arial" pitchFamily="34" charset="-120"/>
              </a:rPr>
              <a:t>Ongoing ownership from year two: 0.2–0.3 FTE, ₱360k–₱540k a year. At 0.25 FTE the cost is ₱3.40M and the BCR falls to 2.3 — still a yes.</a:t>
            </a:r>
            <a:endParaRPr lang="en-US" sz="1400" dirty="0"/>
          </a:p>
        </p:txBody>
      </p:sp>
      <p:sp>
        <p:nvSpPr>
          <p:cNvPr id="30" name="Shape 27"/>
          <p:cNvSpPr/>
          <p:nvPr/>
        </p:nvSpPr>
        <p:spPr>
          <a:xfrm>
            <a:off x="502920" y="6291072"/>
            <a:ext cx="11185855" cy="0"/>
          </a:xfrm>
          <a:prstGeom prst="line">
            <a:avLst/>
          </a:prstGeom>
          <a:noFill/>
          <a:ln w="12700">
            <a:solidFill>
              <a:srgbClr val="E5E7EB"/>
            </a:solidFill>
            <a:prstDash val="solid"/>
          </a:ln>
        </p:spPr>
      </p:sp>
      <p:sp>
        <p:nvSpPr>
          <p:cNvPr id="31" name="Text 28"/>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Annual run at 1,113: Supabase ₱18,300 · Claude API ₱40,544 · email ₱15,987 · monitoring ₱7,320 · reconciliation ₱9,000. Four of those five are bought in dollars, so a weaker peso raises them; the build is peso labour and does not move.</a:t>
            </a:r>
            <a:endParaRPr lang="en-US" sz="1400" dirty="0"/>
          </a:p>
        </p:txBody>
      </p:sp>
      <p:sp>
        <p:nvSpPr>
          <p:cNvPr id="32" name="Text 29"/>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COST–BENEFIT ANALYSIS</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Ratio 3.8, payback in fourteen months.</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Three years, 10% discount rate, on IT's costed build. Break-even is two attributed internal hires a year.</a:t>
            </a:r>
            <a:endParaRPr lang="en-US" sz="1600" dirty="0"/>
          </a:p>
        </p:txBody>
      </p:sp>
      <p:sp>
        <p:nvSpPr>
          <p:cNvPr id="5" name="Shape 3"/>
          <p:cNvSpPr/>
          <p:nvPr/>
        </p:nvSpPr>
        <p:spPr>
          <a:xfrm>
            <a:off x="502920"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04088" y="1828800"/>
            <a:ext cx="2243252" cy="457200"/>
          </a:xfrm>
          <a:prstGeom prst="rect">
            <a:avLst/>
          </a:prstGeom>
          <a:noFill/>
          <a:ln/>
        </p:spPr>
        <p:txBody>
          <a:bodyPr wrap="square" lIns="0" tIns="0" rIns="0" bIns="0" rtlCol="0" anchor="ctr"/>
          <a:lstStyle/>
          <a:p>
            <a:pPr indent="0" marL="0">
              <a:buNone/>
            </a:pPr>
            <a:r>
              <a:rPr lang="en-US" sz="3000" b="1" dirty="0">
                <a:solidFill>
                  <a:srgbClr val="15803D"/>
                </a:solidFill>
                <a:latin typeface="Arial" pitchFamily="34" charset="0"/>
                <a:ea typeface="Arial" pitchFamily="34" charset="-122"/>
                <a:cs typeface="Arial" pitchFamily="34" charset="-120"/>
              </a:rPr>
              <a:t>₱7.88M</a:t>
            </a:r>
            <a:endParaRPr lang="en-US" sz="3000" dirty="0"/>
          </a:p>
        </p:txBody>
      </p:sp>
      <p:sp>
        <p:nvSpPr>
          <p:cNvPr id="7" name="Text 5"/>
          <p:cNvSpPr txBox="1"/>
          <p:nvPr/>
        </p:nvSpPr>
        <p:spPr>
          <a:xfrm>
            <a:off x="704088"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three-year benefit</a:t>
            </a:r>
            <a:endParaRPr lang="en-US" sz="1500" dirty="0"/>
          </a:p>
        </p:txBody>
      </p:sp>
      <p:sp>
        <p:nvSpPr>
          <p:cNvPr id="8" name="Text 6"/>
          <p:cNvSpPr txBox="1"/>
          <p:nvPr/>
        </p:nvSpPr>
        <p:spPr>
          <a:xfrm>
            <a:off x="704088"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hires + retention</a:t>
            </a:r>
            <a:endParaRPr lang="en-US" sz="1400" dirty="0"/>
          </a:p>
        </p:txBody>
      </p:sp>
      <p:sp>
        <p:nvSpPr>
          <p:cNvPr id="9" name="Shape 7"/>
          <p:cNvSpPr/>
          <p:nvPr/>
        </p:nvSpPr>
        <p:spPr>
          <a:xfrm>
            <a:off x="3349676"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8"/>
          <p:cNvSpPr txBox="1"/>
          <p:nvPr/>
        </p:nvSpPr>
        <p:spPr>
          <a:xfrm>
            <a:off x="3550844" y="1828800"/>
            <a:ext cx="2243252" cy="457200"/>
          </a:xfrm>
          <a:prstGeom prst="rect">
            <a:avLst/>
          </a:prstGeom>
          <a:noFill/>
          <a:ln/>
        </p:spPr>
        <p:txBody>
          <a:bodyPr wrap="square" lIns="0" tIns="0" rIns="0" bIns="0" rtlCol="0" anchor="ctr"/>
          <a:lstStyle/>
          <a:p>
            <a:pPr indent="0" marL="0">
              <a:buNone/>
            </a:pPr>
            <a:r>
              <a:rPr lang="en-US" sz="3000" b="1" dirty="0">
                <a:solidFill>
                  <a:srgbClr val="15803D"/>
                </a:solidFill>
                <a:latin typeface="Arial" pitchFamily="34" charset="0"/>
                <a:ea typeface="Arial" pitchFamily="34" charset="-122"/>
                <a:cs typeface="Arial" pitchFamily="34" charset="-120"/>
              </a:rPr>
              <a:t>₱5.83M</a:t>
            </a:r>
            <a:endParaRPr lang="en-US" sz="3000" dirty="0"/>
          </a:p>
        </p:txBody>
      </p:sp>
      <p:sp>
        <p:nvSpPr>
          <p:cNvPr id="11" name="Text 9"/>
          <p:cNvSpPr txBox="1"/>
          <p:nvPr/>
        </p:nvSpPr>
        <p:spPr>
          <a:xfrm>
            <a:off x="3550844"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net of every peso of cost</a:t>
            </a:r>
            <a:endParaRPr lang="en-US" sz="1500" dirty="0"/>
          </a:p>
        </p:txBody>
      </p:sp>
      <p:sp>
        <p:nvSpPr>
          <p:cNvPr id="12" name="Text 10"/>
          <p:cNvSpPr txBox="1"/>
          <p:nvPr/>
        </p:nvSpPr>
        <p:spPr>
          <a:xfrm>
            <a:off x="3550844"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after all build and run</a:t>
            </a:r>
            <a:endParaRPr lang="en-US" sz="1400" dirty="0"/>
          </a:p>
        </p:txBody>
      </p:sp>
      <p:sp>
        <p:nvSpPr>
          <p:cNvPr id="13" name="Shape 11"/>
          <p:cNvSpPr/>
          <p:nvPr/>
        </p:nvSpPr>
        <p:spPr>
          <a:xfrm>
            <a:off x="6196432"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4" name="Text 12"/>
          <p:cNvSpPr txBox="1"/>
          <p:nvPr/>
        </p:nvSpPr>
        <p:spPr>
          <a:xfrm>
            <a:off x="6397600" y="1828800"/>
            <a:ext cx="2243252" cy="4572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3.8</a:t>
            </a:r>
            <a:endParaRPr lang="en-US" sz="3000" dirty="0"/>
          </a:p>
        </p:txBody>
      </p:sp>
      <p:sp>
        <p:nvSpPr>
          <p:cNvPr id="15" name="Text 13"/>
          <p:cNvSpPr txBox="1"/>
          <p:nvPr/>
        </p:nvSpPr>
        <p:spPr>
          <a:xfrm>
            <a:off x="6397600"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benefit–cost ratio</a:t>
            </a:r>
            <a:endParaRPr lang="en-US" sz="1500" dirty="0"/>
          </a:p>
        </p:txBody>
      </p:sp>
      <p:sp>
        <p:nvSpPr>
          <p:cNvPr id="16" name="Text 14"/>
          <p:cNvSpPr txBox="1"/>
          <p:nvPr/>
        </p:nvSpPr>
        <p:spPr>
          <a:xfrm>
            <a:off x="6397600"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NPV ₱4.56M at 10%</a:t>
            </a:r>
            <a:endParaRPr lang="en-US" sz="1400" dirty="0"/>
          </a:p>
        </p:txBody>
      </p:sp>
      <p:sp>
        <p:nvSpPr>
          <p:cNvPr id="17" name="Shape 15"/>
          <p:cNvSpPr/>
          <p:nvPr/>
        </p:nvSpPr>
        <p:spPr>
          <a:xfrm>
            <a:off x="9043187"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8" name="Text 16"/>
          <p:cNvSpPr txBox="1"/>
          <p:nvPr/>
        </p:nvSpPr>
        <p:spPr>
          <a:xfrm>
            <a:off x="9244355" y="1828800"/>
            <a:ext cx="2243252" cy="457200"/>
          </a:xfrm>
          <a:prstGeom prst="rect">
            <a:avLst/>
          </a:prstGeom>
          <a:noFill/>
          <a:ln/>
        </p:spPr>
        <p:txBody>
          <a:bodyPr wrap="square" lIns="0" tIns="0" rIns="0" bIns="0" rtlCol="0" anchor="ctr"/>
          <a:lstStyle/>
          <a:p>
            <a:pPr indent="0" marL="0">
              <a:buNone/>
            </a:pPr>
            <a:r>
              <a:rPr lang="en-US" sz="3000" b="1" dirty="0">
                <a:solidFill>
                  <a:srgbClr val="C00000"/>
                </a:solidFill>
                <a:latin typeface="Arial" pitchFamily="34" charset="0"/>
                <a:ea typeface="Arial" pitchFamily="34" charset="-122"/>
                <a:cs typeface="Arial" pitchFamily="34" charset="-120"/>
              </a:rPr>
              <a:t>14 months</a:t>
            </a:r>
            <a:endParaRPr lang="en-US" sz="3000" dirty="0"/>
          </a:p>
        </p:txBody>
      </p:sp>
      <p:sp>
        <p:nvSpPr>
          <p:cNvPr id="19" name="Text 17"/>
          <p:cNvSpPr txBox="1"/>
          <p:nvPr/>
        </p:nvSpPr>
        <p:spPr>
          <a:xfrm>
            <a:off x="9244355"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payback</a:t>
            </a:r>
            <a:endParaRPr lang="en-US" sz="1500" dirty="0"/>
          </a:p>
        </p:txBody>
      </p:sp>
      <p:sp>
        <p:nvSpPr>
          <p:cNvPr id="20" name="Text 18"/>
          <p:cNvSpPr txBox="1"/>
          <p:nvPr/>
        </p:nvSpPr>
        <p:spPr>
          <a:xfrm>
            <a:off x="9244355"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benefit from month 4</a:t>
            </a:r>
            <a:endParaRPr lang="en-US" sz="1400" dirty="0"/>
          </a:p>
        </p:txBody>
      </p:sp>
      <p:sp>
        <p:nvSpPr>
          <p:cNvPr id="21" name="Shape 19"/>
          <p:cNvSpPr/>
          <p:nvPr/>
        </p:nvSpPr>
        <p:spPr>
          <a:xfrm>
            <a:off x="502920" y="3310128"/>
            <a:ext cx="6711513" cy="2743200"/>
          </a:xfrm>
          <a:prstGeom prst="roundRect">
            <a:avLst>
              <a:gd name="adj" fmla="val 2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2" name="Text 20"/>
          <p:cNvSpPr txBox="1"/>
          <p:nvPr/>
        </p:nvSpPr>
        <p:spPr>
          <a:xfrm>
            <a:off x="758952" y="3438144"/>
            <a:ext cx="6199449" cy="256032"/>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How sensitive is it?</a:t>
            </a:r>
            <a:endParaRPr lang="en-US" sz="1700" dirty="0"/>
          </a:p>
        </p:txBody>
      </p:sp>
      <p:sp>
        <p:nvSpPr>
          <p:cNvPr id="23" name="Text 21"/>
          <p:cNvSpPr txBox="1"/>
          <p:nvPr/>
        </p:nvSpPr>
        <p:spPr>
          <a:xfrm>
            <a:off x="758952" y="3694176"/>
            <a:ext cx="6199449" cy="219456"/>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The case survives the removal of either benefit stream.</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58952" y="3931920"/>
          <a:ext cx="6199449" cy="914400"/>
        </p:xfrm>
        <a:graphic>
          <a:graphicData uri="http://schemas.openxmlformats.org/drawingml/2006/table">
            <a:tbl>
              <a:tblPr/>
              <a:tblGrid>
                <a:gridCol w="2267712"/>
                <a:gridCol w="1060704"/>
                <a:gridCol w="1024128"/>
                <a:gridCol w="786384"/>
                <a:gridCol w="1060704"/>
              </a:tblGrid>
              <a:tr h="228600">
                <a:tc>
                  <a:txBody>
                    <a:bodyPr/>
                    <a:lstStyle/>
                    <a:p>
                      <a:pPr indent="0" marL="0">
                        <a:buNone/>
                      </a:pPr>
                      <a:r>
                        <a:rPr lang="en-US" sz="1400" b="1" dirty="0">
                          <a:solidFill>
                            <a:srgbClr val="6B7280"/>
                          </a:solidFill>
                          <a:latin typeface="Arial" pitchFamily="34" charset="0"/>
                          <a:ea typeface="Arial" pitchFamily="34" charset="-122"/>
                          <a:cs typeface="Arial" pitchFamily="34" charset="-120"/>
                        </a:rPr>
                        <a:t>Scenario</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Benefit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Net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BCR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Payback</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dirty="0">
                          <a:solidFill>
                            <a:srgbClr val="374151"/>
                          </a:solidFill>
                          <a:latin typeface="Arial" pitchFamily="34" charset="0"/>
                          <a:ea typeface="Arial" pitchFamily="34" charset="-122"/>
                          <a:cs typeface="Arial" pitchFamily="34" charset="-120"/>
                        </a:rPr>
                        <a:t>Conservative · 2 hires/yr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₱5.87M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₱3.82M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2.9</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17 mo</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b="1" dirty="0">
                          <a:solidFill>
                            <a:srgbClr val="0F172A"/>
                          </a:solidFill>
                          <a:latin typeface="Arial" pitchFamily="34" charset="0"/>
                          <a:ea typeface="Arial" pitchFamily="34" charset="-122"/>
                          <a:cs typeface="Arial" pitchFamily="34" charset="-120"/>
                        </a:rPr>
                        <a:t>Base · 4 hires/yr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₱7.88M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₱5.83M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15803D"/>
                          </a:solidFill>
                          <a:latin typeface="Arial" pitchFamily="34" charset="0"/>
                          <a:ea typeface="Arial" pitchFamily="34" charset="-122"/>
                          <a:cs typeface="Arial" pitchFamily="34" charset="-120"/>
                        </a:rPr>
                        <a:t>3.8</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14 mo</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dirty="0">
                          <a:solidFill>
                            <a:srgbClr val="374151"/>
                          </a:solidFill>
                          <a:latin typeface="Arial" pitchFamily="34" charset="0"/>
                          <a:ea typeface="Arial" pitchFamily="34" charset="-122"/>
                          <a:cs typeface="Arial" pitchFamily="34" charset="-120"/>
                        </a:rPr>
                        <a:t>Optimistic · 7 hires/yr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₱10.89M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₱8.84M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5.3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11 mo</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i="1" dirty="0">
                          <a:solidFill>
                            <a:srgbClr val="374151"/>
                          </a:solidFill>
                          <a:latin typeface="Arial" pitchFamily="34" charset="0"/>
                          <a:ea typeface="Arial" pitchFamily="34" charset="-122"/>
                          <a:cs typeface="Arial" pitchFamily="34" charset="-120"/>
                        </a:rPr>
                        <a:t>Retention removed</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₱4.02M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₱1.97M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2.0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22 mo</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i="1" dirty="0">
                          <a:solidFill>
                            <a:srgbClr val="374151"/>
                          </a:solidFill>
                          <a:latin typeface="Arial" pitchFamily="34" charset="0"/>
                          <a:ea typeface="Arial" pitchFamily="34" charset="-122"/>
                          <a:cs typeface="Arial" pitchFamily="34" charset="-120"/>
                        </a:rPr>
                        <a:t>Retention only, no hires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₱3.87M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₱1.82M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1.9</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22 mo</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i="1" dirty="0">
                          <a:solidFill>
                            <a:srgbClr val="374151"/>
                          </a:solidFill>
                          <a:latin typeface="Arial" pitchFamily="34" charset="0"/>
                          <a:ea typeface="Arial" pitchFamily="34" charset="-122"/>
                          <a:cs typeface="Arial" pitchFamily="34" charset="-120"/>
                        </a:rPr>
                        <a:t>Mass-ops benefit out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₱7.13M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₱5.08M</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3.5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i="1" dirty="0">
                          <a:solidFill>
                            <a:srgbClr val="374151"/>
                          </a:solidFill>
                          <a:latin typeface="Arial" pitchFamily="34" charset="0"/>
                          <a:ea typeface="Arial" pitchFamily="34" charset="-122"/>
                          <a:cs typeface="Arial" pitchFamily="34" charset="-120"/>
                        </a:rPr>
                        <a:t>15 mo</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bl>
          </a:graphicData>
        </a:graphic>
      </p:graphicFrame>
      <p:sp>
        <p:nvSpPr>
          <p:cNvPr id="25" name="Shape 22"/>
          <p:cNvSpPr/>
          <p:nvPr/>
        </p:nvSpPr>
        <p:spPr>
          <a:xfrm>
            <a:off x="7452177" y="3310128"/>
            <a:ext cx="4236598" cy="1298448"/>
          </a:xfrm>
          <a:prstGeom prst="roundRect">
            <a:avLst>
              <a:gd name="adj" fmla="val 4225"/>
            </a:avLst>
          </a:prstGeom>
          <a:solidFill>
            <a:srgbClr val="0F172A"/>
          </a:solidFill>
          <a:ln w="12700">
            <a:solidFill>
              <a:srgbClr val="333333"/>
            </a:solidFill>
            <a:prstDash val="solid"/>
          </a:ln>
        </p:spPr>
      </p:sp>
      <p:sp>
        <p:nvSpPr>
          <p:cNvPr id="26" name="Text 23"/>
          <p:cNvSpPr txBox="1"/>
          <p:nvPr/>
        </p:nvSpPr>
        <p:spPr>
          <a:xfrm>
            <a:off x="7726497" y="3456432"/>
            <a:ext cx="3687958" cy="256032"/>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Break-even: 2 hires a year</a:t>
            </a:r>
            <a:endParaRPr lang="en-US" sz="1700" dirty="0"/>
          </a:p>
        </p:txBody>
      </p:sp>
      <p:sp>
        <p:nvSpPr>
          <p:cNvPr id="27" name="Text 24"/>
          <p:cNvSpPr txBox="1"/>
          <p:nvPr/>
        </p:nvSpPr>
        <p:spPr>
          <a:xfrm>
            <a:off x="7726497" y="3749040"/>
            <a:ext cx="3687958" cy="786384"/>
          </a:xfrm>
          <a:prstGeom prst="rect">
            <a:avLst/>
          </a:prstGeom>
          <a:noFill/>
          <a:ln/>
        </p:spPr>
        <p:txBody>
          <a:bodyPr wrap="square" lIns="0" tIns="0" rIns="0" bIns="0" rtlCol="0" anchor="t"/>
          <a:lstStyle/>
          <a:p>
            <a:pPr indent="0" marL="0">
              <a:lnSpc>
                <a:spcPts val="1900"/>
              </a:lnSpc>
              <a:buNone/>
            </a:pPr>
            <a:r>
              <a:rPr lang="en-US" sz="1400" dirty="0">
                <a:solidFill>
                  <a:srgbClr val="CBD5E1"/>
                </a:solidFill>
                <a:latin typeface="Arial" pitchFamily="34" charset="0"/>
                <a:ea typeface="Arial" pitchFamily="34" charset="-122"/>
                <a:cs typeface="Arial" pitchFamily="34" charset="-120"/>
              </a:rPr>
              <a:t>Two internal fills out of roughly 60 internal requisitions a year — a 3.3% hit rate — repay the whole three-year cost.</a:t>
            </a:r>
            <a:endParaRPr lang="en-US" sz="1400" dirty="0"/>
          </a:p>
        </p:txBody>
      </p:sp>
      <p:sp>
        <p:nvSpPr>
          <p:cNvPr id="28" name="Shape 25"/>
          <p:cNvSpPr/>
          <p:nvPr/>
        </p:nvSpPr>
        <p:spPr>
          <a:xfrm>
            <a:off x="7452177" y="4754880"/>
            <a:ext cx="4236598" cy="1298448"/>
          </a:xfrm>
          <a:prstGeom prst="roundRect">
            <a:avLst>
              <a:gd name="adj" fmla="val 4225"/>
            </a:avLst>
          </a:prstGeom>
          <a:solidFill>
            <a:srgbClr val="F7F8FA"/>
          </a:solidFill>
          <a:ln w="12700">
            <a:solidFill>
              <a:srgbClr val="333333"/>
            </a:solidFill>
            <a:prstDash val="solid"/>
          </a:ln>
        </p:spPr>
      </p:sp>
      <p:sp>
        <p:nvSpPr>
          <p:cNvPr id="29" name="Text 26"/>
          <p:cNvSpPr txBox="1"/>
          <p:nvPr/>
        </p:nvSpPr>
        <p:spPr>
          <a:xfrm>
            <a:off x="7726497" y="4882896"/>
            <a:ext cx="3687958" cy="256032"/>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Where the benefit comes from</a:t>
            </a:r>
            <a:endParaRPr lang="en-US" sz="1700" dirty="0"/>
          </a:p>
        </p:txBody>
      </p:sp>
      <p:sp>
        <p:nvSpPr>
          <p:cNvPr id="30" name="Text 27"/>
          <p:cNvSpPr txBox="1"/>
          <p:nvPr/>
        </p:nvSpPr>
        <p:spPr>
          <a:xfrm>
            <a:off x="7726497" y="5157216"/>
            <a:ext cx="3687958" cy="859536"/>
          </a:xfrm>
          <a:prstGeom prst="rect">
            <a:avLst/>
          </a:prstGeom>
          <a:noFill/>
          <a:ln/>
        </p:spPr>
        <p:txBody>
          <a:bodyPr wrap="square" lIns="0" tIns="0" rIns="0" bIns="0" rtlCol="0" anchor="t"/>
          <a:lstStyle/>
          <a:p>
            <a:pPr indent="0" marL="0">
              <a:lnSpc>
                <a:spcPts val="1800"/>
              </a:lnSpc>
              <a:buNone/>
            </a:pPr>
            <a:r>
              <a:rPr lang="en-US" sz="1400" b="1" dirty="0">
                <a:solidFill>
                  <a:srgbClr val="C00000"/>
                </a:solidFill>
                <a:latin typeface="Arial" pitchFamily="34" charset="0"/>
                <a:ea typeface="Arial" pitchFamily="34" charset="-122"/>
                <a:cs typeface="Arial" pitchFamily="34" charset="-120"/>
              </a:rPr>
              <a:t>Attributed — </a:t>
            </a:r>
            <a:pPr indent="0" marL="0">
              <a:lnSpc>
                <a:spcPts val="1800"/>
              </a:lnSpc>
              <a:buNone/>
            </a:pPr>
            <a:r>
              <a:rPr lang="en-US" sz="1400" dirty="0">
                <a:solidFill>
                  <a:srgbClr val="374151"/>
                </a:solidFill>
                <a:latin typeface="Arial" pitchFamily="34" charset="0"/>
                <a:ea typeface="Arial" pitchFamily="34" charset="-122"/>
                <a:cs typeface="Arial" pitchFamily="34" charset="-120"/>
              </a:rPr>
              <a:t>agency fees and vacancy days avoided.
</a:t>
            </a:r>
            <a:pPr indent="0" marL="0">
              <a:lnSpc>
                <a:spcPts val="1800"/>
              </a:lnSpc>
              <a:buNone/>
            </a:pPr>
            <a:r>
              <a:rPr lang="en-US" sz="1400" b="1" dirty="0">
                <a:solidFill>
                  <a:srgbClr val="15803D"/>
                </a:solidFill>
                <a:latin typeface="Arial" pitchFamily="34" charset="0"/>
                <a:ea typeface="Arial" pitchFamily="34" charset="-122"/>
                <a:cs typeface="Arial" pitchFamily="34" charset="-120"/>
              </a:rPr>
              <a:t>Owned — </a:t>
            </a:r>
            <a:pPr indent="0" marL="0">
              <a:lnSpc>
                <a:spcPts val="1800"/>
              </a:lnSpc>
              <a:buNone/>
            </a:pPr>
            <a:r>
              <a:rPr lang="en-US" sz="1400" dirty="0">
                <a:solidFill>
                  <a:srgbClr val="374151"/>
                </a:solidFill>
                <a:latin typeface="Arial" pitchFamily="34" charset="0"/>
                <a:ea typeface="Arial" pitchFamily="34" charset="-122"/>
                <a:cs typeface="Arial" pitchFamily="34" charset="-120"/>
              </a:rPr>
              <a:t>retention among participants, needing no attribution.</a:t>
            </a:r>
            <a:endParaRPr lang="en-US" sz="1400" dirty="0"/>
          </a:p>
        </p:txBody>
      </p:sp>
      <p:sp>
        <p:nvSpPr>
          <p:cNvPr id="31" name="Shape 28"/>
          <p:cNvSpPr/>
          <p:nvPr/>
        </p:nvSpPr>
        <p:spPr>
          <a:xfrm>
            <a:off x="502920" y="6291072"/>
            <a:ext cx="11185855" cy="0"/>
          </a:xfrm>
          <a:prstGeom prst="line">
            <a:avLst/>
          </a:prstGeom>
          <a:noFill/>
          <a:ln w="12700">
            <a:solidFill>
              <a:srgbClr val="E5E7EB"/>
            </a:solidFill>
            <a:prstDash val="solid"/>
          </a:ln>
        </p:spPr>
      </p:sp>
      <p:sp>
        <p:nvSpPr>
          <p:cNvPr id="32" name="Text 29"/>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Basis: Growth-v2-CBA.xlsx. Excludes gig output value, skills built and network effects — real, but not reliably measurable.</a:t>
            </a:r>
            <a:endParaRPr lang="en-US" sz="1400" dirty="0"/>
          </a:p>
        </p:txBody>
      </p:sp>
      <p:sp>
        <p:nvSpPr>
          <p:cNvPr id="33" name="Text 30"/>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AGAINST THE MARKET</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Five to fourteen times cheaper than buying it.</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Gloat · Fuel50 · Eightfold · Workday Talent Marketplace — three-year total cost at 1,113 seats.</a:t>
            </a:r>
            <a:endParaRPr lang="en-US" sz="1600" dirty="0"/>
          </a:p>
        </p:txBody>
      </p:sp>
      <p:graphicFrame>
        <p:nvGraphicFramePr>
          <p:cNvPr id="5" name="Chart 0" descr=""/>
          <p:cNvGraphicFramePr/>
          <p:nvPr/>
        </p:nvGraphicFramePr>
        <p:xfrm>
          <a:off x="502920" y="1810512"/>
          <a:ext cx="6152220" cy="2304288"/>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29460" y="1810512"/>
            <a:ext cx="4759315" cy="713232"/>
          </a:xfrm>
          <a:prstGeom prst="roundRect">
            <a:avLst>
              <a:gd name="adj" fmla="val 769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7" name="Text 4"/>
          <p:cNvSpPr txBox="1"/>
          <p:nvPr/>
        </p:nvSpPr>
        <p:spPr>
          <a:xfrm>
            <a:off x="7148916" y="1865376"/>
            <a:ext cx="4320403" cy="329184"/>
          </a:xfrm>
          <a:prstGeom prst="rect">
            <a:avLst/>
          </a:prstGeom>
          <a:noFill/>
          <a:ln/>
        </p:spPr>
        <p:txBody>
          <a:bodyPr wrap="square" lIns="0" tIns="0" rIns="0" bIns="0" rtlCol="0" anchor="ctr"/>
          <a:lstStyle/>
          <a:p>
            <a:pPr indent="0" marL="0">
              <a:buNone/>
            </a:pPr>
            <a:r>
              <a:rPr lang="en-US" sz="2400" b="1" dirty="0">
                <a:solidFill>
                  <a:srgbClr val="15803D"/>
                </a:solidFill>
                <a:latin typeface="Arial" pitchFamily="34" charset="0"/>
                <a:ea typeface="Arial" pitchFamily="34" charset="-122"/>
                <a:cs typeface="Arial" pitchFamily="34" charset="-120"/>
              </a:rPr>
              <a:t>₱2.05M</a:t>
            </a:r>
            <a:endParaRPr lang="en-US" sz="2400" dirty="0"/>
          </a:p>
        </p:txBody>
      </p:sp>
      <p:sp>
        <p:nvSpPr>
          <p:cNvPr id="8" name="Text 5"/>
          <p:cNvSpPr txBox="1"/>
          <p:nvPr/>
        </p:nvSpPr>
        <p:spPr>
          <a:xfrm>
            <a:off x="7148916" y="2212848"/>
            <a:ext cx="4320403" cy="256032"/>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Growth, built in-house · ₱1,842 per employee</a:t>
            </a:r>
            <a:endParaRPr lang="en-US" sz="1400" dirty="0"/>
          </a:p>
        </p:txBody>
      </p:sp>
      <p:sp>
        <p:nvSpPr>
          <p:cNvPr id="9" name="Shape 6"/>
          <p:cNvSpPr/>
          <p:nvPr/>
        </p:nvSpPr>
        <p:spPr>
          <a:xfrm>
            <a:off x="6929460" y="2615184"/>
            <a:ext cx="4759315" cy="713232"/>
          </a:xfrm>
          <a:prstGeom prst="roundRect">
            <a:avLst>
              <a:gd name="adj" fmla="val 769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7"/>
          <p:cNvSpPr txBox="1"/>
          <p:nvPr/>
        </p:nvSpPr>
        <p:spPr>
          <a:xfrm>
            <a:off x="7148916" y="2670048"/>
            <a:ext cx="4320403" cy="329184"/>
          </a:xfrm>
          <a:prstGeom prst="rect">
            <a:avLst/>
          </a:prstGeom>
          <a:noFill/>
          <a:ln/>
        </p:spPr>
        <p:txBody>
          <a:bodyPr wrap="square" lIns="0" tIns="0" rIns="0" bIns="0" rtlCol="0" anchor="ctr"/>
          <a:lstStyle/>
          <a:p>
            <a:pPr indent="0" marL="0">
              <a:buNone/>
            </a:pPr>
            <a:r>
              <a:rPr lang="en-US" sz="2400" b="1" dirty="0">
                <a:solidFill>
                  <a:srgbClr val="6B7280"/>
                </a:solidFill>
                <a:latin typeface="Arial" pitchFamily="34" charset="0"/>
                <a:ea typeface="Arial" pitchFamily="34" charset="-122"/>
                <a:cs typeface="Arial" pitchFamily="34" charset="-120"/>
              </a:rPr>
              <a:t>₱10.7M – ₱29.3M</a:t>
            </a:r>
            <a:endParaRPr lang="en-US" sz="2400" dirty="0"/>
          </a:p>
        </p:txBody>
      </p:sp>
      <p:sp>
        <p:nvSpPr>
          <p:cNvPr id="11" name="Text 8"/>
          <p:cNvSpPr txBox="1"/>
          <p:nvPr/>
        </p:nvSpPr>
        <p:spPr>
          <a:xfrm>
            <a:off x="7148916" y="3017520"/>
            <a:ext cx="4320403" cy="256032"/>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External platform · ₱9,591–₱26,307 per employee</a:t>
            </a:r>
            <a:endParaRPr lang="en-US" sz="1400" dirty="0"/>
          </a:p>
        </p:txBody>
      </p:sp>
      <p:sp>
        <p:nvSpPr>
          <p:cNvPr id="12" name="Shape 9"/>
          <p:cNvSpPr/>
          <p:nvPr/>
        </p:nvSpPr>
        <p:spPr>
          <a:xfrm>
            <a:off x="6929460" y="3419856"/>
            <a:ext cx="4759315" cy="713232"/>
          </a:xfrm>
          <a:prstGeom prst="roundRect">
            <a:avLst>
              <a:gd name="adj" fmla="val 769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3" name="Text 10"/>
          <p:cNvSpPr txBox="1"/>
          <p:nvPr/>
        </p:nvSpPr>
        <p:spPr>
          <a:xfrm>
            <a:off x="7148916" y="3474720"/>
            <a:ext cx="4320403" cy="329184"/>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₱8.6M – ₱27.2M</a:t>
            </a:r>
            <a:endParaRPr lang="en-US" sz="2400" dirty="0"/>
          </a:p>
        </p:txBody>
      </p:sp>
      <p:sp>
        <p:nvSpPr>
          <p:cNvPr id="14" name="Text 11"/>
          <p:cNvSpPr txBox="1"/>
          <p:nvPr/>
        </p:nvSpPr>
        <p:spPr>
          <a:xfrm>
            <a:off x="7148916" y="3822192"/>
            <a:ext cx="4320403" cy="256032"/>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The three-year cost difference</a:t>
            </a:r>
            <a:endParaRPr lang="en-US" sz="1400" dirty="0"/>
          </a:p>
        </p:txBody>
      </p:sp>
      <p:sp>
        <p:nvSpPr>
          <p:cNvPr id="15" name="Shape 12"/>
          <p:cNvSpPr/>
          <p:nvPr/>
        </p:nvSpPr>
        <p:spPr>
          <a:xfrm>
            <a:off x="502920" y="4315968"/>
            <a:ext cx="11185855" cy="1700784"/>
          </a:xfrm>
          <a:prstGeom prst="roundRect">
            <a:avLst>
              <a:gd name="adj" fmla="val 3226"/>
            </a:avLst>
          </a:prstGeom>
          <a:solidFill>
            <a:srgbClr val="0F172A"/>
          </a:solidFill>
          <a:ln w="12700">
            <a:solidFill>
              <a:srgbClr val="333333"/>
            </a:solidFill>
            <a:prstDash val="solid"/>
          </a:ln>
        </p:spPr>
      </p:sp>
      <p:sp>
        <p:nvSpPr>
          <p:cNvPr id="16" name="Text 13"/>
          <p:cNvSpPr txBox="1"/>
          <p:nvPr/>
        </p:nvSpPr>
        <p:spPr>
          <a:xfrm>
            <a:off x="832104" y="4498848"/>
            <a:ext cx="10527487" cy="2743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framing that actually decides it: break-even in internal hires</a:t>
            </a:r>
            <a:endParaRPr lang="en-US" sz="1900" dirty="0"/>
          </a:p>
        </p:txBody>
      </p:sp>
      <p:sp>
        <p:nvSpPr>
          <p:cNvPr id="17" name="Text 14"/>
          <p:cNvSpPr txBox="1"/>
          <p:nvPr/>
        </p:nvSpPr>
        <p:spPr>
          <a:xfrm>
            <a:off x="832104" y="4846320"/>
            <a:ext cx="3326282" cy="475488"/>
          </a:xfrm>
          <a:prstGeom prst="rect">
            <a:avLst/>
          </a:prstGeom>
          <a:noFill/>
          <a:ln/>
        </p:spPr>
        <p:txBody>
          <a:bodyPr wrap="square" lIns="0" tIns="0" rIns="0" bIns="0" rtlCol="0" anchor="ctr"/>
          <a:lstStyle/>
          <a:p>
            <a:pPr indent="0" marL="0">
              <a:buNone/>
            </a:pPr>
            <a:r>
              <a:rPr lang="en-US" sz="3600" b="1" dirty="0">
                <a:solidFill>
                  <a:srgbClr val="94A3B8"/>
                </a:solidFill>
                <a:latin typeface="Arial" pitchFamily="34" charset="0"/>
                <a:ea typeface="Arial" pitchFamily="34" charset="-122"/>
                <a:cs typeface="Arial" pitchFamily="34" charset="-120"/>
              </a:rPr>
              <a:t>30</a:t>
            </a:r>
            <a:endParaRPr lang="en-US" sz="3600" dirty="0"/>
          </a:p>
        </p:txBody>
      </p:sp>
      <p:sp>
        <p:nvSpPr>
          <p:cNvPr id="18" name="Text 15"/>
          <p:cNvSpPr txBox="1"/>
          <p:nvPr/>
        </p:nvSpPr>
        <p:spPr>
          <a:xfrm>
            <a:off x="832104" y="5321808"/>
            <a:ext cx="3326282" cy="2377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External platform — low band</a:t>
            </a:r>
            <a:endParaRPr lang="en-US" sz="1500" dirty="0"/>
          </a:p>
        </p:txBody>
      </p:sp>
      <p:sp>
        <p:nvSpPr>
          <p:cNvPr id="19" name="Text 16"/>
          <p:cNvSpPr txBox="1"/>
          <p:nvPr/>
        </p:nvSpPr>
        <p:spPr>
          <a:xfrm>
            <a:off x="832104" y="5559552"/>
            <a:ext cx="3326282" cy="457200"/>
          </a:xfrm>
          <a:prstGeom prst="rect">
            <a:avLst/>
          </a:prstGeom>
          <a:noFill/>
          <a:ln/>
        </p:spPr>
        <p:txBody>
          <a:bodyPr wrap="square" lIns="0" tIns="0" rIns="0" bIns="0" rtlCol="0" anchor="t"/>
          <a:lstStyle/>
          <a:p>
            <a:pPr indent="0" marL="0">
              <a:lnSpc>
                <a:spcPts val="1800"/>
              </a:lnSpc>
              <a:buNone/>
            </a:pPr>
            <a:r>
              <a:rPr lang="en-US" sz="1400" dirty="0">
                <a:solidFill>
                  <a:srgbClr val="94A3B8"/>
                </a:solidFill>
                <a:latin typeface="Arial" pitchFamily="34" charset="0"/>
                <a:ea typeface="Arial" pitchFamily="34" charset="-122"/>
                <a:cs typeface="Arial" pitchFamily="34" charset="-120"/>
              </a:rPr>
              <a:t>internal hires over 3 years just to cover the licence</a:t>
            </a:r>
            <a:endParaRPr lang="en-US" sz="1400" dirty="0"/>
          </a:p>
        </p:txBody>
      </p:sp>
      <p:sp>
        <p:nvSpPr>
          <p:cNvPr id="20" name="Text 17"/>
          <p:cNvSpPr txBox="1"/>
          <p:nvPr/>
        </p:nvSpPr>
        <p:spPr>
          <a:xfrm>
            <a:off x="4432706" y="4846320"/>
            <a:ext cx="3326282" cy="475488"/>
          </a:xfrm>
          <a:prstGeom prst="rect">
            <a:avLst/>
          </a:prstGeom>
          <a:noFill/>
          <a:ln/>
        </p:spPr>
        <p:txBody>
          <a:bodyPr wrap="square" lIns="0" tIns="0" rIns="0" bIns="0" rtlCol="0" anchor="ctr"/>
          <a:lstStyle/>
          <a:p>
            <a:pPr indent="0" marL="0">
              <a:buNone/>
            </a:pPr>
            <a:r>
              <a:rPr lang="en-US" sz="3600" b="1" dirty="0">
                <a:solidFill>
                  <a:srgbClr val="94A3B8"/>
                </a:solidFill>
                <a:latin typeface="Arial" pitchFamily="34" charset="0"/>
                <a:ea typeface="Arial" pitchFamily="34" charset="-122"/>
                <a:cs typeface="Arial" pitchFamily="34" charset="-120"/>
              </a:rPr>
              <a:t>84</a:t>
            </a:r>
            <a:endParaRPr lang="en-US" sz="3600" dirty="0"/>
          </a:p>
        </p:txBody>
      </p:sp>
      <p:sp>
        <p:nvSpPr>
          <p:cNvPr id="21" name="Text 18"/>
          <p:cNvSpPr txBox="1"/>
          <p:nvPr/>
        </p:nvSpPr>
        <p:spPr>
          <a:xfrm>
            <a:off x="4432706" y="5321808"/>
            <a:ext cx="3326282" cy="2377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External platform — high band</a:t>
            </a:r>
            <a:endParaRPr lang="en-US" sz="1500" dirty="0"/>
          </a:p>
        </p:txBody>
      </p:sp>
      <p:sp>
        <p:nvSpPr>
          <p:cNvPr id="22" name="Text 19"/>
          <p:cNvSpPr txBox="1"/>
          <p:nvPr/>
        </p:nvSpPr>
        <p:spPr>
          <a:xfrm>
            <a:off x="4432706" y="5559552"/>
            <a:ext cx="3326282" cy="457200"/>
          </a:xfrm>
          <a:prstGeom prst="rect">
            <a:avLst/>
          </a:prstGeom>
          <a:noFill/>
          <a:ln/>
        </p:spPr>
        <p:txBody>
          <a:bodyPr wrap="square" lIns="0" tIns="0" rIns="0" bIns="0" rtlCol="0" anchor="t"/>
          <a:lstStyle/>
          <a:p>
            <a:pPr indent="0" marL="0">
              <a:lnSpc>
                <a:spcPts val="1800"/>
              </a:lnSpc>
              <a:buNone/>
            </a:pPr>
            <a:r>
              <a:rPr lang="en-US" sz="1400" dirty="0">
                <a:solidFill>
                  <a:srgbClr val="94A3B8"/>
                </a:solidFill>
                <a:latin typeface="Arial" pitchFamily="34" charset="0"/>
                <a:ea typeface="Arial" pitchFamily="34" charset="-122"/>
                <a:cs typeface="Arial" pitchFamily="34" charset="-120"/>
              </a:rPr>
              <a:t>internal hires over 3 years to cover the licence</a:t>
            </a:r>
            <a:endParaRPr lang="en-US" sz="1400" dirty="0"/>
          </a:p>
        </p:txBody>
      </p:sp>
      <p:sp>
        <p:nvSpPr>
          <p:cNvPr id="23" name="Text 20"/>
          <p:cNvSpPr txBox="1"/>
          <p:nvPr/>
        </p:nvSpPr>
        <p:spPr>
          <a:xfrm>
            <a:off x="8033309" y="4846320"/>
            <a:ext cx="3326282" cy="475488"/>
          </a:xfrm>
          <a:prstGeom prst="rect">
            <a:avLst/>
          </a:prstGeom>
          <a:noFill/>
          <a:ln/>
        </p:spPr>
        <p:txBody>
          <a:bodyPr wrap="square" lIns="0" tIns="0" rIns="0" bIns="0" rtlCol="0" anchor="ctr"/>
          <a:lstStyle/>
          <a:p>
            <a:pPr indent="0" marL="0">
              <a:buNone/>
            </a:pPr>
            <a:r>
              <a:rPr lang="en-US" sz="3600" b="1" dirty="0">
                <a:solidFill>
                  <a:srgbClr val="4ADE80"/>
                </a:solidFill>
                <a:latin typeface="Arial" pitchFamily="34" charset="0"/>
                <a:ea typeface="Arial" pitchFamily="34" charset="-122"/>
                <a:cs typeface="Arial" pitchFamily="34" charset="-120"/>
              </a:rPr>
              <a:t>6</a:t>
            </a:r>
            <a:endParaRPr lang="en-US" sz="3600" dirty="0"/>
          </a:p>
        </p:txBody>
      </p:sp>
      <p:sp>
        <p:nvSpPr>
          <p:cNvPr id="24" name="Text 21"/>
          <p:cNvSpPr txBox="1"/>
          <p:nvPr/>
        </p:nvSpPr>
        <p:spPr>
          <a:xfrm>
            <a:off x="8033309" y="5321808"/>
            <a:ext cx="3326282" cy="2377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Growth, built in-house</a:t>
            </a:r>
            <a:endParaRPr lang="en-US" sz="1500" dirty="0"/>
          </a:p>
        </p:txBody>
      </p:sp>
      <p:sp>
        <p:nvSpPr>
          <p:cNvPr id="25" name="Text 22"/>
          <p:cNvSpPr txBox="1"/>
          <p:nvPr/>
        </p:nvSpPr>
        <p:spPr>
          <a:xfrm>
            <a:off x="8033309" y="5559552"/>
            <a:ext cx="3326282" cy="457200"/>
          </a:xfrm>
          <a:prstGeom prst="rect">
            <a:avLst/>
          </a:prstGeom>
          <a:noFill/>
          <a:ln/>
        </p:spPr>
        <p:txBody>
          <a:bodyPr wrap="square" lIns="0" tIns="0" rIns="0" bIns="0" rtlCol="0" anchor="t"/>
          <a:lstStyle/>
          <a:p>
            <a:pPr indent="0" marL="0">
              <a:lnSpc>
                <a:spcPts val="1800"/>
              </a:lnSpc>
              <a:buNone/>
            </a:pPr>
            <a:r>
              <a:rPr lang="en-US" sz="1400" dirty="0">
                <a:solidFill>
                  <a:srgbClr val="94A3B8"/>
                </a:solidFill>
                <a:latin typeface="Arial" pitchFamily="34" charset="0"/>
                <a:ea typeface="Arial" pitchFamily="34" charset="-122"/>
                <a:cs typeface="Arial" pitchFamily="34" charset="-120"/>
              </a:rPr>
              <a:t>internal hires over 3 years — two a year</a:t>
            </a:r>
            <a:endParaRPr lang="en-US" sz="1400" dirty="0"/>
          </a:p>
        </p:txBody>
      </p:sp>
      <p:sp>
        <p:nvSpPr>
          <p:cNvPr id="26" name="Shape 23"/>
          <p:cNvSpPr/>
          <p:nvPr/>
        </p:nvSpPr>
        <p:spPr>
          <a:xfrm>
            <a:off x="502920" y="6291072"/>
            <a:ext cx="11185855" cy="0"/>
          </a:xfrm>
          <a:prstGeom prst="line">
            <a:avLst/>
          </a:prstGeom>
          <a:noFill/>
          <a:ln w="12700">
            <a:solidFill>
              <a:srgbClr val="E5E7EB"/>
            </a:solidFill>
            <a:prstDash val="solid"/>
          </a:ln>
        </p:spPr>
      </p:sp>
      <p:sp>
        <p:nvSpPr>
          <p:cNvPr id="27" name="Text 24"/>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Vendor figures are RFP planning bands, not quotes, and are quoted in dollars — they move with the exchange rate too. Issue an RFP stating 1,113 seats and ask for minimum annual contract value before deciding.</a:t>
            </a:r>
            <a:endParaRPr lang="en-US" sz="1400" dirty="0"/>
          </a:p>
        </p:txBody>
      </p:sp>
      <p:sp>
        <p:nvSpPr>
          <p:cNvPr id="28" name="Text 25"/>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ADOPTION PLAN</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Adoption is the risk, not the technology.</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A great platform nobody climbs into is wasted money. Four phases, and one behaviour we have to design against.</a:t>
            </a:r>
            <a:endParaRPr lang="en-US" sz="1600" dirty="0"/>
          </a:p>
        </p:txBody>
      </p:sp>
      <p:sp>
        <p:nvSpPr>
          <p:cNvPr id="5" name="Shape 3"/>
          <p:cNvSpPr/>
          <p:nvPr/>
        </p:nvSpPr>
        <p:spPr>
          <a:xfrm>
            <a:off x="502920" y="1773936"/>
            <a:ext cx="2659304" cy="2798064"/>
          </a:xfrm>
          <a:prstGeom prst="roundRect">
            <a:avLst>
              <a:gd name="adj" fmla="val 206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22376" y="1938528"/>
            <a:ext cx="2220392"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PHASE 0</a:t>
            </a:r>
            <a:endParaRPr lang="en-US" sz="1400" dirty="0"/>
          </a:p>
        </p:txBody>
      </p:sp>
      <p:sp>
        <p:nvSpPr>
          <p:cNvPr id="7" name="Text 5"/>
          <p:cNvSpPr txBox="1"/>
          <p:nvPr/>
        </p:nvSpPr>
        <p:spPr>
          <a:xfrm>
            <a:off x="722376" y="2194560"/>
            <a:ext cx="2220392" cy="27432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Seed the shelves</a:t>
            </a:r>
            <a:endParaRPr lang="en-US" sz="1800" dirty="0"/>
          </a:p>
        </p:txBody>
      </p:sp>
      <p:sp>
        <p:nvSpPr>
          <p:cNvPr id="8" name="Text 6"/>
          <p:cNvSpPr txBox="1"/>
          <p:nvPr/>
        </p:nvSpPr>
        <p:spPr>
          <a:xfrm>
            <a:off x="722376" y="2487168"/>
            <a:ext cx="2220392" cy="237744"/>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Pre-launch · 2 weeks</a:t>
            </a:r>
            <a:endParaRPr lang="en-US" sz="1400" dirty="0"/>
          </a:p>
        </p:txBody>
      </p:sp>
      <p:sp>
        <p:nvSpPr>
          <p:cNvPr id="9" name="Text 7"/>
          <p:cNvSpPr txBox="1"/>
          <p:nvPr/>
        </p:nvSpPr>
        <p:spPr>
          <a:xfrm>
            <a:off x="722376" y="2798064"/>
            <a:ext cx="2220392" cy="1700784"/>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Pre-load 20–30 opportunities</a:t>
            </a:r>
            <a:endParaRPr lang="en-US" sz="1400" dirty="0"/>
          </a:p>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Recruit 5–8 champion managers</a:t>
            </a:r>
            <a:endParaRPr lang="en-US" sz="1400" dirty="0"/>
          </a:p>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Secure 2–3 ExCo anchor gigs</a:t>
            </a:r>
            <a:endParaRPr lang="en-US" sz="1400" dirty="0"/>
          </a:p>
        </p:txBody>
      </p:sp>
      <p:sp>
        <p:nvSpPr>
          <p:cNvPr id="10" name="Shape 8"/>
          <p:cNvSpPr/>
          <p:nvPr/>
        </p:nvSpPr>
        <p:spPr>
          <a:xfrm>
            <a:off x="3345104" y="1773936"/>
            <a:ext cx="2659304" cy="2798064"/>
          </a:xfrm>
          <a:prstGeom prst="roundRect">
            <a:avLst>
              <a:gd name="adj" fmla="val 206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1" name="Text 9"/>
          <p:cNvSpPr txBox="1"/>
          <p:nvPr/>
        </p:nvSpPr>
        <p:spPr>
          <a:xfrm>
            <a:off x="3564560" y="1938528"/>
            <a:ext cx="2220392"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PHASE 1</a:t>
            </a:r>
            <a:endParaRPr lang="en-US" sz="1400" dirty="0"/>
          </a:p>
        </p:txBody>
      </p:sp>
      <p:sp>
        <p:nvSpPr>
          <p:cNvPr id="12" name="Text 10"/>
          <p:cNvSpPr txBox="1"/>
          <p:nvPr/>
        </p:nvSpPr>
        <p:spPr>
          <a:xfrm>
            <a:off x="3564560" y="2194560"/>
            <a:ext cx="2220392" cy="27432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Land the idea</a:t>
            </a:r>
            <a:endParaRPr lang="en-US" sz="1800" dirty="0"/>
          </a:p>
        </p:txBody>
      </p:sp>
      <p:sp>
        <p:nvSpPr>
          <p:cNvPr id="13" name="Text 11"/>
          <p:cNvSpPr txBox="1"/>
          <p:nvPr/>
        </p:nvSpPr>
        <p:spPr>
          <a:xfrm>
            <a:off x="3564560" y="2487168"/>
            <a:ext cx="2220392" cy="237744"/>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Launch · weeks 1–2</a:t>
            </a:r>
            <a:endParaRPr lang="en-US" sz="1400" dirty="0"/>
          </a:p>
        </p:txBody>
      </p:sp>
      <p:sp>
        <p:nvSpPr>
          <p:cNvPr id="14" name="Text 12"/>
          <p:cNvSpPr txBox="1"/>
          <p:nvPr/>
        </p:nvSpPr>
        <p:spPr>
          <a:xfrm>
            <a:off x="3564560" y="2798064"/>
            <a:ext cx="2220392" cy="1700784"/>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Sponsor sends the first note</a:t>
            </a:r>
            <a:endParaRPr lang="en-US" sz="1400" dirty="0"/>
          </a:p>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"Growth is not a ladder" campaign</a:t>
            </a:r>
            <a:endParaRPr lang="en-US" sz="1400" dirty="0"/>
          </a:p>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Live demo and Q&amp;A at town hall</a:t>
            </a:r>
            <a:endParaRPr lang="en-US" sz="1400" dirty="0"/>
          </a:p>
        </p:txBody>
      </p:sp>
      <p:sp>
        <p:nvSpPr>
          <p:cNvPr id="15" name="Shape 13"/>
          <p:cNvSpPr/>
          <p:nvPr/>
        </p:nvSpPr>
        <p:spPr>
          <a:xfrm>
            <a:off x="6187288" y="1773936"/>
            <a:ext cx="2659304" cy="2798064"/>
          </a:xfrm>
          <a:prstGeom prst="roundRect">
            <a:avLst>
              <a:gd name="adj" fmla="val 206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6" name="Text 14"/>
          <p:cNvSpPr txBox="1"/>
          <p:nvPr/>
        </p:nvSpPr>
        <p:spPr>
          <a:xfrm>
            <a:off x="6406744" y="1938528"/>
            <a:ext cx="2220392"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PHASE 2</a:t>
            </a:r>
            <a:endParaRPr lang="en-US" sz="1400" dirty="0"/>
          </a:p>
        </p:txBody>
      </p:sp>
      <p:sp>
        <p:nvSpPr>
          <p:cNvPr id="17" name="Text 15"/>
          <p:cNvSpPr txBox="1"/>
          <p:nvPr/>
        </p:nvSpPr>
        <p:spPr>
          <a:xfrm>
            <a:off x="6406744" y="2194560"/>
            <a:ext cx="2220392" cy="27432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Make it social</a:t>
            </a:r>
            <a:endParaRPr lang="en-US" sz="1800" dirty="0"/>
          </a:p>
        </p:txBody>
      </p:sp>
      <p:sp>
        <p:nvSpPr>
          <p:cNvPr id="18" name="Text 16"/>
          <p:cNvSpPr txBox="1"/>
          <p:nvPr/>
        </p:nvSpPr>
        <p:spPr>
          <a:xfrm>
            <a:off x="6406744" y="2487168"/>
            <a:ext cx="2220392" cy="237744"/>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Weeks 3–12</a:t>
            </a:r>
            <a:endParaRPr lang="en-US" sz="1400" dirty="0"/>
          </a:p>
        </p:txBody>
      </p:sp>
      <p:sp>
        <p:nvSpPr>
          <p:cNvPr id="19" name="Text 17"/>
          <p:cNvSpPr txBox="1"/>
          <p:nvPr/>
        </p:nvSpPr>
        <p:spPr>
          <a:xfrm>
            <a:off x="6406744" y="2798064"/>
            <a:ext cx="2220392" cy="1700784"/>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Publish first-mover stories</a:t>
            </a:r>
            <a:endParaRPr lang="en-US" sz="1400" dirty="0"/>
          </a:p>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"Talent Exporter" recognition</a:t>
            </a:r>
            <a:endParaRPr lang="en-US" sz="1400" dirty="0"/>
          </a:p>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Weekly "new this week" digest</a:t>
            </a:r>
            <a:endParaRPr lang="en-US" sz="1400" dirty="0"/>
          </a:p>
        </p:txBody>
      </p:sp>
      <p:sp>
        <p:nvSpPr>
          <p:cNvPr id="20" name="Shape 18"/>
          <p:cNvSpPr/>
          <p:nvPr/>
        </p:nvSpPr>
        <p:spPr>
          <a:xfrm>
            <a:off x="9029471" y="1773936"/>
            <a:ext cx="2659304" cy="2798064"/>
          </a:xfrm>
          <a:prstGeom prst="roundRect">
            <a:avLst>
              <a:gd name="adj" fmla="val 206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1" name="Text 19"/>
          <p:cNvSpPr txBox="1"/>
          <p:nvPr/>
        </p:nvSpPr>
        <p:spPr>
          <a:xfrm>
            <a:off x="9248927" y="1938528"/>
            <a:ext cx="2220392"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PHASE 3</a:t>
            </a:r>
            <a:endParaRPr lang="en-US" sz="1400" dirty="0"/>
          </a:p>
        </p:txBody>
      </p:sp>
      <p:sp>
        <p:nvSpPr>
          <p:cNvPr id="22" name="Text 20"/>
          <p:cNvSpPr txBox="1"/>
          <p:nvPr/>
        </p:nvSpPr>
        <p:spPr>
          <a:xfrm>
            <a:off x="9248927" y="2194560"/>
            <a:ext cx="2220392" cy="27432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Prove and scale</a:t>
            </a:r>
            <a:endParaRPr lang="en-US" sz="1800" dirty="0"/>
          </a:p>
        </p:txBody>
      </p:sp>
      <p:sp>
        <p:nvSpPr>
          <p:cNvPr id="23" name="Text 21"/>
          <p:cNvSpPr txBox="1"/>
          <p:nvPr/>
        </p:nvSpPr>
        <p:spPr>
          <a:xfrm>
            <a:off x="9248927" y="2487168"/>
            <a:ext cx="2220392" cy="237744"/>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Month 3 onward</a:t>
            </a:r>
            <a:endParaRPr lang="en-US" sz="1400" dirty="0"/>
          </a:p>
        </p:txBody>
      </p:sp>
      <p:sp>
        <p:nvSpPr>
          <p:cNvPr id="24" name="Text 22"/>
          <p:cNvSpPr txBox="1"/>
          <p:nvPr/>
        </p:nvSpPr>
        <p:spPr>
          <a:xfrm>
            <a:off x="9248927" y="2798064"/>
            <a:ext cx="2220392" cy="1700784"/>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Report fills and savings to ExCo</a:t>
            </a:r>
            <a:endParaRPr lang="en-US" sz="1400" dirty="0"/>
          </a:p>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Publish match quality</a:t>
            </a:r>
            <a:endParaRPr lang="en-US" sz="1400" dirty="0"/>
          </a:p>
          <a:p>
            <a:pPr marL="342900" indent="-342900">
              <a:lnSpc>
                <a:spcPts val="1800"/>
              </a:lnSpc>
              <a:spcAft>
                <a:spcPts val="600"/>
              </a:spcAft>
              <a:buSzPct val="100000"/>
              <a:buChar char="•"/>
            </a:pPr>
            <a:r>
              <a:rPr lang="en-US" sz="1400" dirty="0">
                <a:solidFill>
                  <a:srgbClr val="374151"/>
                </a:solidFill>
                <a:latin typeface="Arial" pitchFamily="34" charset="0"/>
                <a:ea typeface="Arial" pitchFamily="34" charset="-122"/>
                <a:cs typeface="Arial" pitchFamily="34" charset="-120"/>
              </a:rPr>
              <a:t>Extend beyond the pilot bands</a:t>
            </a:r>
            <a:endParaRPr lang="en-US" sz="1400" dirty="0"/>
          </a:p>
        </p:txBody>
      </p:sp>
      <p:sp>
        <p:nvSpPr>
          <p:cNvPr id="25" name="Shape 23"/>
          <p:cNvSpPr/>
          <p:nvPr/>
        </p:nvSpPr>
        <p:spPr>
          <a:xfrm>
            <a:off x="502920" y="4718304"/>
            <a:ext cx="11185855" cy="1298448"/>
          </a:xfrm>
          <a:prstGeom prst="roundRect">
            <a:avLst>
              <a:gd name="adj" fmla="val 4225"/>
            </a:avLst>
          </a:prstGeom>
          <a:solidFill>
            <a:srgbClr val="FFFBEB"/>
          </a:solidFill>
          <a:ln w="12700">
            <a:solidFill>
              <a:srgbClr val="333333"/>
            </a:solidFill>
            <a:prstDash val="solid"/>
          </a:ln>
        </p:spPr>
      </p:sp>
      <p:sp>
        <p:nvSpPr>
          <p:cNvPr id="26" name="Text 24"/>
          <p:cNvSpPr txBox="1"/>
          <p:nvPr/>
        </p:nvSpPr>
        <p:spPr>
          <a:xfrm>
            <a:off x="832104" y="4864608"/>
            <a:ext cx="10527487" cy="274320"/>
          </a:xfrm>
          <a:prstGeom prst="rect">
            <a:avLst/>
          </a:prstGeom>
          <a:noFill/>
          <a:ln/>
        </p:spPr>
        <p:txBody>
          <a:bodyPr wrap="square" lIns="0" tIns="0" rIns="0" bIns="0" rtlCol="0" anchor="ctr"/>
          <a:lstStyle/>
          <a:p>
            <a:pPr indent="0" marL="0">
              <a:buNone/>
            </a:pPr>
            <a:r>
              <a:rPr lang="en-US" sz="1800" b="1" dirty="0">
                <a:solidFill>
                  <a:srgbClr val="B45309"/>
                </a:solidFill>
                <a:latin typeface="Arial" pitchFamily="34" charset="0"/>
                <a:ea typeface="Arial" pitchFamily="34" charset="-122"/>
                <a:cs typeface="Arial" pitchFamily="34" charset="-120"/>
              </a:rPr>
              <a:t>The adoption killer we have to design against: manager hoarding</a:t>
            </a:r>
            <a:endParaRPr lang="en-US" sz="1800" dirty="0"/>
          </a:p>
        </p:txBody>
      </p:sp>
      <p:sp>
        <p:nvSpPr>
          <p:cNvPr id="27" name="Text 25"/>
          <p:cNvSpPr txBox="1"/>
          <p:nvPr/>
        </p:nvSpPr>
        <p:spPr>
          <a:xfrm>
            <a:off x="832104" y="5157216"/>
            <a:ext cx="10527487" cy="786384"/>
          </a:xfrm>
          <a:prstGeom prst="rect">
            <a:avLst/>
          </a:prstGeom>
          <a:noFill/>
          <a:ln/>
        </p:spPr>
        <p:txBody>
          <a:bodyPr wrap="square" lIns="0" tIns="0" rIns="0" bIns="0" rtlCol="0" anchor="t"/>
          <a:lstStyle/>
          <a:p>
            <a:pPr indent="0" marL="0">
              <a:lnSpc>
                <a:spcPts val="2000"/>
              </a:lnSpc>
              <a:buNone/>
            </a:pPr>
            <a:r>
              <a:rPr lang="en-US" sz="1500" dirty="0">
                <a:solidFill>
                  <a:srgbClr val="92400E"/>
                </a:solidFill>
                <a:latin typeface="Arial" pitchFamily="34" charset="0"/>
                <a:ea typeface="Arial" pitchFamily="34" charset="-122"/>
                <a:cs typeface="Arial" pitchFamily="34" charset="-120"/>
              </a:rPr>
              <a:t>Every manager wants access to other teams' talent and resists lending their own, and no messaging changes that because the incentive points the other way. The counter is a "Talent Exporter" metric: recognise the leaders whose people grow and move, and report it alongside their other numbers.</a:t>
            </a:r>
            <a:endParaRPr lang="en-US" sz="1500" dirty="0"/>
          </a:p>
        </p:txBody>
      </p:sp>
      <p:sp>
        <p:nvSpPr>
          <p:cNvPr id="28" name="Shape 26"/>
          <p:cNvSpPr/>
          <p:nvPr/>
        </p:nvSpPr>
        <p:spPr>
          <a:xfrm>
            <a:off x="502920" y="6291072"/>
            <a:ext cx="11185855" cy="0"/>
          </a:xfrm>
          <a:prstGeom prst="line">
            <a:avLst/>
          </a:prstGeom>
          <a:noFill/>
          <a:ln w="12700">
            <a:solidFill>
              <a:srgbClr val="E5E7EB"/>
            </a:solidFill>
            <a:prstDash val="solid"/>
          </a:ln>
        </p:spPr>
      </p:sp>
      <p:sp>
        <p:nvSpPr>
          <p:cNvPr id="29" name="Text 27"/>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Phase 0 is non-negotiable — an empty marketplace on day one kills the product before it is judged.</a:t>
            </a:r>
            <a:endParaRPr lang="en-US" sz="1400" dirty="0"/>
          </a:p>
        </p:txBody>
      </p:sp>
      <p:sp>
        <p:nvSpPr>
          <p:cNvPr id="30" name="Text 28"/>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SUCCESS MEASURES</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2700" b="1" dirty="0">
                <a:solidFill>
                  <a:srgbClr val="0F172A"/>
                </a:solidFill>
                <a:latin typeface="Arial" pitchFamily="34" charset="0"/>
                <a:ea typeface="Arial" pitchFamily="34" charset="-122"/>
                <a:cs typeface="Arial" pitchFamily="34" charset="-120"/>
              </a:rPr>
              <a:t>How we will know it worked — and what we are not claiming.</a:t>
            </a:r>
            <a:endParaRPr lang="en-US" sz="27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Business metrics lead. Engagement metrics support; they do not carry the case.</a:t>
            </a:r>
            <a:endParaRPr lang="en-US" sz="1600" dirty="0"/>
          </a:p>
        </p:txBody>
      </p:sp>
      <p:sp>
        <p:nvSpPr>
          <p:cNvPr id="5" name="Shape 3"/>
          <p:cNvSpPr/>
          <p:nvPr/>
        </p:nvSpPr>
        <p:spPr>
          <a:xfrm>
            <a:off x="502920" y="1773936"/>
            <a:ext cx="6879301" cy="4242816"/>
          </a:xfrm>
          <a:prstGeom prst="roundRect">
            <a:avLst>
              <a:gd name="adj" fmla="val 129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58952" y="1938528"/>
            <a:ext cx="6367237" cy="256032"/>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Pilot targets — three months, 637 employees</a:t>
            </a:r>
            <a:endParaRPr lang="en-US" sz="1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58952" y="2231136"/>
          <a:ext cx="6367237" cy="914400"/>
        </p:xfrm>
        <a:graphic>
          <a:graphicData uri="http://schemas.openxmlformats.org/drawingml/2006/table">
            <a:tbl>
              <a:tblPr/>
              <a:tblGrid>
                <a:gridCol w="2651760"/>
                <a:gridCol w="932688"/>
                <a:gridCol w="1005840"/>
                <a:gridCol w="2286000"/>
              </a:tblGrid>
              <a:tr h="365760">
                <a:tc>
                  <a:txBody>
                    <a:bodyPr/>
                    <a:lstStyle/>
                    <a:p>
                      <a:pPr indent="0" marL="0">
                        <a:buNone/>
                      </a:pPr>
                      <a:r>
                        <a:rPr lang="en-US" sz="1400" b="1" dirty="0">
                          <a:solidFill>
                            <a:srgbClr val="6B7280"/>
                          </a:solidFill>
                          <a:latin typeface="Arial" pitchFamily="34" charset="0"/>
                          <a:ea typeface="Arial" pitchFamily="34" charset="-122"/>
                          <a:cs typeface="Arial" pitchFamily="34" charset="-120"/>
                        </a:rPr>
                        <a:t>Measure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6B7280"/>
                          </a:solidFill>
                          <a:latin typeface="Arial" pitchFamily="34" charset="0"/>
                          <a:ea typeface="Arial" pitchFamily="34" charset="-122"/>
                          <a:cs typeface="Arial" pitchFamily="34" charset="-120"/>
                        </a:rPr>
                        <a:t>Today</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6B7280"/>
                          </a:solidFill>
                          <a:latin typeface="Arial" pitchFamily="34" charset="0"/>
                          <a:ea typeface="Arial" pitchFamily="34" charset="-122"/>
                          <a:cs typeface="Arial" pitchFamily="34" charset="-120"/>
                        </a:rPr>
                        <a:t>Pilot target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b="1" dirty="0">
                          <a:solidFill>
                            <a:srgbClr val="6B7280"/>
                          </a:solidFill>
                          <a:latin typeface="Arial" pitchFamily="34" charset="0"/>
                          <a:ea typeface="Arial" pitchFamily="34" charset="-122"/>
                          <a:cs typeface="Arial" pitchFamily="34" charset="-120"/>
                        </a:rPr>
                        <a:t>Why it matters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365760">
                <a:tc>
                  <a:txBody>
                    <a:bodyPr/>
                    <a:lstStyle/>
                    <a:p>
                      <a:pPr indent="0" marL="0">
                        <a:buNone/>
                      </a:pPr>
                      <a:r>
                        <a:rPr lang="en-US" sz="1400" dirty="0">
                          <a:solidFill>
                            <a:srgbClr val="374151"/>
                          </a:solidFill>
                          <a:latin typeface="Arial" pitchFamily="34" charset="0"/>
                          <a:ea typeface="Arial" pitchFamily="34" charset="-122"/>
                          <a:cs typeface="Arial" pitchFamily="34" charset="-120"/>
                        </a:rPr>
                        <a:t>Internal fill rate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dirty="0">
                          <a:solidFill>
                            <a:srgbClr val="374151"/>
                          </a:solidFill>
                          <a:latin typeface="Arial" pitchFamily="34" charset="0"/>
                          <a:ea typeface="Arial" pitchFamily="34" charset="-122"/>
                          <a:cs typeface="Arial" pitchFamily="34" charset="-120"/>
                        </a:rPr>
                        <a:t>16.9%</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C00000"/>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The headline number.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365760">
                <a:tc>
                  <a:txBody>
                    <a:bodyPr/>
                    <a:lstStyle/>
                    <a:p>
                      <a:pPr indent="0" marL="0">
                        <a:buNone/>
                      </a:pPr>
                      <a:r>
                        <a:rPr lang="en-US" sz="1400" dirty="0">
                          <a:solidFill>
                            <a:srgbClr val="374151"/>
                          </a:solidFill>
                          <a:latin typeface="Arial" pitchFamily="34" charset="0"/>
                          <a:ea typeface="Arial" pitchFamily="34" charset="-122"/>
                          <a:cs typeface="Arial" pitchFamily="34" charset="-120"/>
                        </a:rPr>
                        <a:t>External-hire spend, B and C</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dirty="0">
                          <a:solidFill>
                            <a:srgbClr val="374151"/>
                          </a:solidFill>
                          <a:latin typeface="Arial" pitchFamily="34" charset="0"/>
                          <a:ea typeface="Arial" pitchFamily="34" charset="-122"/>
                          <a:cs typeface="Arial" pitchFamily="34" charset="-120"/>
                        </a:rPr>
                        <a:t>₱13.1M/yr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C00000"/>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₱22k saved per B fill, ₱87k per C.</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365760">
                <a:tc>
                  <a:txBody>
                    <a:bodyPr/>
                    <a:lstStyle/>
                    <a:p>
                      <a:pPr indent="0" marL="0">
                        <a:buNone/>
                      </a:pPr>
                      <a:r>
                        <a:rPr lang="en-US" sz="1400" dirty="0">
                          <a:solidFill>
                            <a:srgbClr val="374151"/>
                          </a:solidFill>
                          <a:latin typeface="Arial" pitchFamily="34" charset="0"/>
                          <a:ea typeface="Arial" pitchFamily="34" charset="-122"/>
                          <a:cs typeface="Arial" pitchFamily="34" charset="-120"/>
                        </a:rPr>
                        <a:t>Gigs and immersions filled</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dirty="0">
                          <a:solidFill>
                            <a:srgbClr val="374151"/>
                          </a:solidFill>
                          <a:latin typeface="Arial" pitchFamily="34" charset="0"/>
                          <a:ea typeface="Arial" pitchFamily="34" charset="-122"/>
                          <a:cs typeface="Arial" pitchFamily="34" charset="-120"/>
                        </a:rPr>
                        <a:t>≈ 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C00000"/>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Capacity we could not create.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365760">
                <a:tc>
                  <a:txBody>
                    <a:bodyPr/>
                    <a:lstStyle/>
                    <a:p>
                      <a:pPr indent="0" marL="0">
                        <a:buNone/>
                      </a:pPr>
                      <a:r>
                        <a:rPr lang="en-US" sz="1400" dirty="0">
                          <a:solidFill>
                            <a:srgbClr val="374151"/>
                          </a:solidFill>
                          <a:latin typeface="Arial" pitchFamily="34" charset="0"/>
                          <a:ea typeface="Arial" pitchFamily="34" charset="-122"/>
                          <a:cs typeface="Arial" pitchFamily="34" charset="-120"/>
                        </a:rPr>
                        <a:t>Time to staff a priority project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dirty="0">
                          <a:solidFill>
                            <a:srgbClr val="374151"/>
                          </a:solidFill>
                          <a:latin typeface="Arial" pitchFamily="34" charset="0"/>
                          <a:ea typeface="Arial" pitchFamily="34" charset="-122"/>
                          <a:cs typeface="Arial" pitchFamily="34" charset="-120"/>
                        </a:rPr>
                        <a:t>Weeks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C00000"/>
                          </a:solidFill>
                          <a:latin typeface="Arial" pitchFamily="34" charset="0"/>
                          <a:ea typeface="Arial" pitchFamily="34" charset="-122"/>
                          <a:cs typeface="Arial" pitchFamily="34" charset="-120"/>
                        </a:rPr>
                        <a:t>Days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Agility for ExCo work.</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365760">
                <a:tc>
                  <a:txBody>
                    <a:bodyPr/>
                    <a:lstStyle/>
                    <a:p>
                      <a:pPr indent="0" marL="0">
                        <a:buNone/>
                      </a:pPr>
                      <a:r>
                        <a:rPr lang="en-US" sz="1400" dirty="0">
                          <a:solidFill>
                            <a:srgbClr val="374151"/>
                          </a:solidFill>
                          <a:latin typeface="Arial" pitchFamily="34" charset="0"/>
                          <a:ea typeface="Arial" pitchFamily="34" charset="-122"/>
                          <a:cs typeface="Arial" pitchFamily="34" charset="-120"/>
                        </a:rPr>
                        <a:t>Confirmed referrals to HC Connect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dirty="0">
                          <a:solidFill>
                            <a:srgbClr val="374151"/>
                          </a:solidFill>
                          <a:latin typeface="Arial" pitchFamily="34" charset="0"/>
                          <a:ea typeface="Arial" pitchFamily="34" charset="-122"/>
                          <a:cs typeface="Arial" pitchFamily="34" charset="-120"/>
                        </a:rPr>
                        <a:t>n/a</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C00000"/>
                          </a:solidFill>
                          <a:latin typeface="Arial" pitchFamily="34" charset="0"/>
                          <a:ea typeface="Arial" pitchFamily="34" charset="-122"/>
                          <a:cs typeface="Arial" pitchFamily="34" charset="-120"/>
                        </a:rPr>
                        <a:t>≥ 20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Evidence for attributed pesos.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365760">
                <a:tc>
                  <a:txBody>
                    <a:bodyPr/>
                    <a:lstStyle/>
                    <a:p>
                      <a:pPr indent="0" marL="0">
                        <a:buNone/>
                      </a:pPr>
                      <a:r>
                        <a:rPr lang="en-US" sz="1400" dirty="0">
                          <a:solidFill>
                            <a:srgbClr val="374151"/>
                          </a:solidFill>
                          <a:latin typeface="Arial" pitchFamily="34" charset="0"/>
                          <a:ea typeface="Arial" pitchFamily="34" charset="-122"/>
                          <a:cs typeface="Arial" pitchFamily="34" charset="-120"/>
                        </a:rPr>
                        <a:t>Match quality, rated both sides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dirty="0">
                          <a:solidFill>
                            <a:srgbClr val="374151"/>
                          </a:solidFill>
                          <a:latin typeface="Arial" pitchFamily="34" charset="0"/>
                          <a:ea typeface="Arial" pitchFamily="34" charset="-122"/>
                          <a:cs typeface="Arial" pitchFamily="34" charset="-120"/>
                        </a:rPr>
                        <a:t>n/a</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C00000"/>
                          </a:solidFill>
                          <a:latin typeface="Arial" pitchFamily="34" charset="0"/>
                          <a:ea typeface="Arial" pitchFamily="34" charset="-122"/>
                          <a:cs typeface="Arial" pitchFamily="34" charset="-120"/>
                        </a:rPr>
                        <a:t>≥ 4.0 / 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Bad matches destroy trust fast.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365760">
                <a:tc>
                  <a:txBody>
                    <a:bodyPr/>
                    <a:lstStyle/>
                    <a:p>
                      <a:pPr indent="0" marL="0">
                        <a:buNone/>
                      </a:pPr>
                      <a:r>
                        <a:rPr lang="en-US" sz="1400" dirty="0">
                          <a:solidFill>
                            <a:srgbClr val="374151"/>
                          </a:solidFill>
                          <a:latin typeface="Arial" pitchFamily="34" charset="0"/>
                          <a:ea typeface="Arial" pitchFamily="34" charset="-122"/>
                          <a:cs typeface="Arial" pitchFamily="34" charset="-120"/>
                        </a:rPr>
                        <a:t>Profiles with skills on file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dirty="0">
                          <a:solidFill>
                            <a:srgbClr val="374151"/>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ctr" indent="0" marL="0">
                        <a:buNone/>
                      </a:pPr>
                      <a:r>
                        <a:rPr lang="en-US" sz="1400" b="1" dirty="0">
                          <a:solidFill>
                            <a:srgbClr val="C00000"/>
                          </a:solidFill>
                          <a:latin typeface="Arial" pitchFamily="34" charset="0"/>
                          <a:ea typeface="Arial" pitchFamily="34" charset="-122"/>
                          <a:cs typeface="Arial" pitchFamily="34" charset="-120"/>
                        </a:rPr>
                        <a:t>≥ 80%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An empty profile matches nothing.</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bl>
          </a:graphicData>
        </a:graphic>
      </p:graphicFrame>
      <p:sp>
        <p:nvSpPr>
          <p:cNvPr id="8" name="Shape 5"/>
          <p:cNvSpPr/>
          <p:nvPr/>
        </p:nvSpPr>
        <p:spPr>
          <a:xfrm>
            <a:off x="7619965" y="1773936"/>
            <a:ext cx="4068810" cy="2103120"/>
          </a:xfrm>
          <a:prstGeom prst="roundRect">
            <a:avLst>
              <a:gd name="adj" fmla="val 2609"/>
            </a:avLst>
          </a:prstGeom>
          <a:solidFill>
            <a:srgbClr val="F7F8FA"/>
          </a:solidFill>
          <a:ln w="12700">
            <a:solidFill>
              <a:srgbClr val="333333"/>
            </a:solidFill>
            <a:prstDash val="solid"/>
          </a:ln>
        </p:spPr>
      </p:sp>
      <p:sp>
        <p:nvSpPr>
          <p:cNvPr id="9" name="Text 6"/>
          <p:cNvSpPr txBox="1"/>
          <p:nvPr/>
        </p:nvSpPr>
        <p:spPr>
          <a:xfrm>
            <a:off x="7894285" y="1938528"/>
            <a:ext cx="3520170" cy="256032"/>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What we are not claiming</a:t>
            </a:r>
            <a:endParaRPr lang="en-US" sz="1800" dirty="0"/>
          </a:p>
        </p:txBody>
      </p:sp>
      <p:sp>
        <p:nvSpPr>
          <p:cNvPr id="10" name="Text 7"/>
          <p:cNvSpPr txBox="1"/>
          <p:nvPr/>
        </p:nvSpPr>
        <p:spPr>
          <a:xfrm>
            <a:off x="7894285" y="2231136"/>
            <a:ext cx="3520170" cy="1572768"/>
          </a:xfrm>
          <a:prstGeom prst="rect">
            <a:avLst/>
          </a:prstGeom>
          <a:noFill/>
          <a:ln/>
        </p:spPr>
        <p:txBody>
          <a:bodyPr wrap="square" lIns="0" tIns="0" rIns="0" bIns="0" rtlCol="0" anchor="t"/>
          <a:lstStyle/>
          <a:p>
            <a:pPr indent="0" marL="0">
              <a:lnSpc>
                <a:spcPts val="1900"/>
              </a:lnSpc>
              <a:buNone/>
            </a:pPr>
            <a:r>
              <a:rPr lang="en-US" sz="1400" dirty="0">
                <a:solidFill>
                  <a:srgbClr val="374151"/>
                </a:solidFill>
                <a:latin typeface="Arial" pitchFamily="34" charset="0"/>
                <a:ea typeface="Arial" pitchFamily="34" charset="-122"/>
                <a:cs typeface="Arial" pitchFamily="34" charset="-120"/>
              </a:rPr>
              <a:t>Our eNPS on growth opportunity is already healthy, so this is not a fix for a broken career ladder. Nor should internal fill reach 100% — some external hiring brings skills we need. We target the gap between 16.9% and the benchmark.</a:t>
            </a:r>
            <a:endParaRPr lang="en-US" sz="1400" dirty="0"/>
          </a:p>
        </p:txBody>
      </p:sp>
      <p:sp>
        <p:nvSpPr>
          <p:cNvPr id="11" name="Shape 8"/>
          <p:cNvSpPr/>
          <p:nvPr/>
        </p:nvSpPr>
        <p:spPr>
          <a:xfrm>
            <a:off x="7619965" y="4041648"/>
            <a:ext cx="4068810" cy="1938528"/>
          </a:xfrm>
          <a:prstGeom prst="roundRect">
            <a:avLst>
              <a:gd name="adj" fmla="val 2830"/>
            </a:avLst>
          </a:prstGeom>
          <a:solidFill>
            <a:srgbClr val="0F172A"/>
          </a:solidFill>
          <a:ln w="12700">
            <a:solidFill>
              <a:srgbClr val="333333"/>
            </a:solidFill>
            <a:prstDash val="solid"/>
          </a:ln>
        </p:spPr>
      </p:sp>
      <p:sp>
        <p:nvSpPr>
          <p:cNvPr id="12" name="Text 9"/>
          <p:cNvSpPr txBox="1"/>
          <p:nvPr/>
        </p:nvSpPr>
        <p:spPr>
          <a:xfrm>
            <a:off x="7894285" y="4206240"/>
            <a:ext cx="3520170" cy="25603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How the pilot will be judged</a:t>
            </a:r>
            <a:endParaRPr lang="en-US" sz="1800" dirty="0"/>
          </a:p>
        </p:txBody>
      </p:sp>
      <p:sp>
        <p:nvSpPr>
          <p:cNvPr id="13" name="Text 10"/>
          <p:cNvSpPr txBox="1"/>
          <p:nvPr/>
        </p:nvSpPr>
        <p:spPr>
          <a:xfrm>
            <a:off x="7894285" y="4498848"/>
            <a:ext cx="3520170" cy="1371600"/>
          </a:xfrm>
          <a:prstGeom prst="rect">
            <a:avLst/>
          </a:prstGeom>
          <a:noFill/>
          <a:ln/>
        </p:spPr>
        <p:txBody>
          <a:bodyPr wrap="square" lIns="0" tIns="0" rIns="0" bIns="0" rtlCol="0" anchor="t"/>
          <a:lstStyle/>
          <a:p>
            <a:pPr indent="0" marL="0">
              <a:lnSpc>
                <a:spcPts val="1900"/>
              </a:lnSpc>
              <a:buNone/>
            </a:pPr>
            <a:r>
              <a:rPr lang="en-US" sz="1400" dirty="0">
                <a:solidFill>
                  <a:srgbClr val="CBD5E1"/>
                </a:solidFill>
                <a:latin typeface="Arial" pitchFamily="34" charset="0"/>
                <a:ea typeface="Arial" pitchFamily="34" charset="-122"/>
                <a:cs typeface="Arial" pitchFamily="34" charset="-120"/>
              </a:rPr>
              <a:t>Three months, 637 employees in IT, Operations and HR, on Band B pivots and Band C lateral moves. Judged on fills and savings. If the fill rate has not moved by month three, we stop and say so.</a:t>
            </a:r>
            <a:endParaRPr lang="en-US" sz="1400" dirty="0"/>
          </a:p>
        </p:txBody>
      </p:sp>
      <p:sp>
        <p:nvSpPr>
          <p:cNvPr id="14" name="Shape 11"/>
          <p:cNvSpPr/>
          <p:nvPr/>
        </p:nvSpPr>
        <p:spPr>
          <a:xfrm>
            <a:off x="502920" y="6291072"/>
            <a:ext cx="11185855" cy="0"/>
          </a:xfrm>
          <a:prstGeom prst="line">
            <a:avLst/>
          </a:prstGeom>
          <a:noFill/>
          <a:ln w="12700">
            <a:solidFill>
              <a:srgbClr val="E5E7EB"/>
            </a:solidFill>
            <a:prstDash val="solid"/>
          </a:ln>
        </p:spPr>
      </p:sp>
      <p:sp>
        <p:nvSpPr>
          <p:cNvPr id="15" name="Text 12"/>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Baselines: 2024–2026 internal job posting data · 2024 cost-per-hire · 2025 hiring volumes.</a:t>
            </a:r>
            <a:endParaRPr lang="en-US" sz="1400" dirty="0"/>
          </a:p>
        </p:txBody>
      </p:sp>
      <p:sp>
        <p:nvSpPr>
          <p:cNvPr id="16" name="Text 13"/>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RISKS</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What could break this, and what we do about it.</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Listed worst-first. The top two are gates: we settle them before a peso is spent.</a:t>
            </a:r>
            <a:endParaRPr lang="en-US" sz="1600" dirty="0"/>
          </a:p>
        </p:txBody>
      </p:sp>
      <p:sp>
        <p:nvSpPr>
          <p:cNvPr id="5" name="Text 3"/>
          <p:cNvSpPr txBox="1"/>
          <p:nvPr/>
        </p:nvSpPr>
        <p:spPr>
          <a:xfrm>
            <a:off x="521208" y="1773936"/>
            <a:ext cx="3200400" cy="219456"/>
          </a:xfrm>
          <a:prstGeom prst="rect">
            <a:avLst/>
          </a:prstGeom>
          <a:noFill/>
          <a:ln/>
        </p:spPr>
        <p:txBody>
          <a:bodyPr wrap="square" lIns="0" tIns="0" rIns="0" bIns="0" rtlCol="0" anchor="ctr"/>
          <a:lstStyle/>
          <a:p>
            <a:pPr indent="0" marL="0">
              <a:buNone/>
            </a:pPr>
            <a:r>
              <a:rPr lang="en-US" sz="1400" b="1" spc="120" kern="0" dirty="0">
                <a:solidFill>
                  <a:srgbClr val="6B7280"/>
                </a:solidFill>
                <a:latin typeface="Arial" pitchFamily="34" charset="0"/>
                <a:ea typeface="Arial" pitchFamily="34" charset="-122"/>
                <a:cs typeface="Arial" pitchFamily="34" charset="-120"/>
              </a:rPr>
              <a:t>RISK</a:t>
            </a:r>
            <a:endParaRPr lang="en-US" sz="1400" dirty="0"/>
          </a:p>
        </p:txBody>
      </p:sp>
      <p:sp>
        <p:nvSpPr>
          <p:cNvPr id="6" name="Text 4"/>
          <p:cNvSpPr txBox="1"/>
          <p:nvPr/>
        </p:nvSpPr>
        <p:spPr>
          <a:xfrm>
            <a:off x="4572000" y="1773936"/>
            <a:ext cx="3383280" cy="219456"/>
          </a:xfrm>
          <a:prstGeom prst="rect">
            <a:avLst/>
          </a:prstGeom>
          <a:noFill/>
          <a:ln/>
        </p:spPr>
        <p:txBody>
          <a:bodyPr wrap="square" lIns="0" tIns="0" rIns="0" bIns="0" rtlCol="0" anchor="ctr"/>
          <a:lstStyle/>
          <a:p>
            <a:pPr indent="0" marL="0">
              <a:buNone/>
            </a:pPr>
            <a:r>
              <a:rPr lang="en-US" sz="1400" b="1" spc="120" kern="0" dirty="0">
                <a:solidFill>
                  <a:srgbClr val="6B7280"/>
                </a:solidFill>
                <a:latin typeface="Arial" pitchFamily="34" charset="0"/>
                <a:ea typeface="Arial" pitchFamily="34" charset="-122"/>
                <a:cs typeface="Arial" pitchFamily="34" charset="-120"/>
              </a:rPr>
              <a:t>IMPACT IF IT HAPPENS</a:t>
            </a:r>
            <a:endParaRPr lang="en-US" sz="1400" dirty="0"/>
          </a:p>
        </p:txBody>
      </p:sp>
      <p:sp>
        <p:nvSpPr>
          <p:cNvPr id="7" name="Text 5"/>
          <p:cNvSpPr txBox="1"/>
          <p:nvPr/>
        </p:nvSpPr>
        <p:spPr>
          <a:xfrm>
            <a:off x="8046720" y="1773936"/>
            <a:ext cx="3657600" cy="219456"/>
          </a:xfrm>
          <a:prstGeom prst="rect">
            <a:avLst/>
          </a:prstGeom>
          <a:noFill/>
          <a:ln/>
        </p:spPr>
        <p:txBody>
          <a:bodyPr wrap="square" lIns="0" tIns="0" rIns="0" bIns="0" rtlCol="0" anchor="ctr"/>
          <a:lstStyle/>
          <a:p>
            <a:pPr indent="0" marL="0">
              <a:buNone/>
            </a:pPr>
            <a:r>
              <a:rPr lang="en-US" sz="1400" b="1" spc="120" kern="0" dirty="0">
                <a:solidFill>
                  <a:srgbClr val="6B7280"/>
                </a:solidFill>
                <a:latin typeface="Arial" pitchFamily="34" charset="0"/>
                <a:ea typeface="Arial" pitchFamily="34" charset="-122"/>
                <a:cs typeface="Arial" pitchFamily="34" charset="-120"/>
              </a:rPr>
              <a:t>MITIGATION</a:t>
            </a:r>
            <a:endParaRPr lang="en-US" sz="1400" dirty="0"/>
          </a:p>
        </p:txBody>
      </p:sp>
      <p:sp>
        <p:nvSpPr>
          <p:cNvPr id="8" name="Shape 6"/>
          <p:cNvSpPr/>
          <p:nvPr/>
        </p:nvSpPr>
        <p:spPr>
          <a:xfrm>
            <a:off x="502920" y="2048256"/>
            <a:ext cx="11185855" cy="566928"/>
          </a:xfrm>
          <a:prstGeom prst="roundRect">
            <a:avLst>
              <a:gd name="adj" fmla="val 9677"/>
            </a:avLst>
          </a:prstGeom>
          <a:solidFill>
            <a:srgbClr val="FDF1F1"/>
          </a:solidFill>
          <a:ln w="12700">
            <a:solidFill>
              <a:srgbClr val="333333"/>
            </a:solidFill>
            <a:prstDash val="solid"/>
          </a:ln>
        </p:spPr>
      </p:sp>
      <p:sp>
        <p:nvSpPr>
          <p:cNvPr id="9" name="Text 7"/>
          <p:cNvSpPr txBox="1"/>
          <p:nvPr/>
        </p:nvSpPr>
        <p:spPr>
          <a:xfrm>
            <a:off x="722376" y="2084832"/>
            <a:ext cx="3063240" cy="493776"/>
          </a:xfrm>
          <a:prstGeom prst="rect">
            <a:avLst/>
          </a:prstGeom>
          <a:noFill/>
          <a:ln/>
        </p:spPr>
        <p:txBody>
          <a:bodyPr wrap="square" lIns="0" tIns="0" rIns="0" bIns="0" rtlCol="0" anchor="ctr"/>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Recruitment declines the HC Connect source field</a:t>
            </a:r>
            <a:endParaRPr lang="en-US" sz="1500" dirty="0"/>
          </a:p>
        </p:txBody>
      </p:sp>
      <p:sp>
        <p:nvSpPr>
          <p:cNvPr id="10" name="Shape 8"/>
          <p:cNvSpPr/>
          <p:nvPr/>
        </p:nvSpPr>
        <p:spPr>
          <a:xfrm>
            <a:off x="3904488" y="2194560"/>
            <a:ext cx="713232" cy="274320"/>
          </a:xfrm>
          <a:prstGeom prst="roundRect">
            <a:avLst>
              <a:gd name="adj" fmla="val 50000"/>
            </a:avLst>
          </a:prstGeom>
          <a:solidFill>
            <a:srgbClr val="C00000"/>
          </a:solidFill>
          <a:ln w="12700">
            <a:solidFill>
              <a:srgbClr val="333333"/>
            </a:solidFill>
            <a:prstDash val="solid"/>
          </a:ln>
        </p:spPr>
      </p:sp>
      <p:sp>
        <p:nvSpPr>
          <p:cNvPr id="11" name="Text 9"/>
          <p:cNvSpPr txBox="1"/>
          <p:nvPr/>
        </p:nvSpPr>
        <p:spPr>
          <a:xfrm>
            <a:off x="3904488" y="2194560"/>
            <a:ext cx="71323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GATE</a:t>
            </a:r>
            <a:endParaRPr lang="en-US" sz="1400" dirty="0"/>
          </a:p>
        </p:txBody>
      </p:sp>
      <p:sp>
        <p:nvSpPr>
          <p:cNvPr id="12" name="Text 10"/>
          <p:cNvSpPr txBox="1"/>
          <p:nvPr/>
        </p:nvSpPr>
        <p:spPr>
          <a:xfrm>
            <a:off x="4791456" y="2084832"/>
            <a:ext cx="320040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Attributed benefit becomes unprovable. BCR falls to 3.0.</a:t>
            </a:r>
            <a:endParaRPr lang="en-US" sz="1400" dirty="0"/>
          </a:p>
        </p:txBody>
      </p:sp>
      <p:sp>
        <p:nvSpPr>
          <p:cNvPr id="13" name="Text 11"/>
          <p:cNvSpPr txBox="1"/>
          <p:nvPr/>
        </p:nvSpPr>
        <p:spPr>
          <a:xfrm>
            <a:off x="8083296" y="2084832"/>
            <a:ext cx="338328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Secure it before the build starts. Configuration, not integration.</a:t>
            </a:r>
            <a:endParaRPr lang="en-US" sz="1400" dirty="0"/>
          </a:p>
        </p:txBody>
      </p:sp>
      <p:sp>
        <p:nvSpPr>
          <p:cNvPr id="14" name="Shape 12"/>
          <p:cNvSpPr/>
          <p:nvPr/>
        </p:nvSpPr>
        <p:spPr>
          <a:xfrm>
            <a:off x="502920" y="2688336"/>
            <a:ext cx="11185855" cy="566928"/>
          </a:xfrm>
          <a:prstGeom prst="roundRect">
            <a:avLst>
              <a:gd name="adj" fmla="val 9677"/>
            </a:avLst>
          </a:prstGeom>
          <a:solidFill>
            <a:srgbClr val="FDF1F1"/>
          </a:solidFill>
          <a:ln w="12700">
            <a:solidFill>
              <a:srgbClr val="333333"/>
            </a:solidFill>
            <a:prstDash val="solid"/>
          </a:ln>
        </p:spPr>
      </p:sp>
      <p:sp>
        <p:nvSpPr>
          <p:cNvPr id="15" name="Text 13"/>
          <p:cNvSpPr txBox="1"/>
          <p:nvPr/>
        </p:nvSpPr>
        <p:spPr>
          <a:xfrm>
            <a:off x="722376" y="2724912"/>
            <a:ext cx="3063240" cy="493776"/>
          </a:xfrm>
          <a:prstGeom prst="rect">
            <a:avLst/>
          </a:prstGeom>
          <a:noFill/>
          <a:ln/>
        </p:spPr>
        <p:txBody>
          <a:bodyPr wrap="square" lIns="0" tIns="0" rIns="0" bIns="0" rtlCol="0" anchor="ctr"/>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The DPO blocks the referral log</a:t>
            </a:r>
            <a:endParaRPr lang="en-US" sz="1500" dirty="0"/>
          </a:p>
        </p:txBody>
      </p:sp>
      <p:sp>
        <p:nvSpPr>
          <p:cNvPr id="16" name="Shape 14"/>
          <p:cNvSpPr/>
          <p:nvPr/>
        </p:nvSpPr>
        <p:spPr>
          <a:xfrm>
            <a:off x="3904488" y="2834640"/>
            <a:ext cx="713232" cy="274320"/>
          </a:xfrm>
          <a:prstGeom prst="roundRect">
            <a:avLst>
              <a:gd name="adj" fmla="val 50000"/>
            </a:avLst>
          </a:prstGeom>
          <a:solidFill>
            <a:srgbClr val="C00000"/>
          </a:solidFill>
          <a:ln w="12700">
            <a:solidFill>
              <a:srgbClr val="333333"/>
            </a:solidFill>
            <a:prstDash val="solid"/>
          </a:ln>
        </p:spPr>
      </p:sp>
      <p:sp>
        <p:nvSpPr>
          <p:cNvPr id="17" name="Text 15"/>
          <p:cNvSpPr txBox="1"/>
          <p:nvPr/>
        </p:nvSpPr>
        <p:spPr>
          <a:xfrm>
            <a:off x="3904488" y="2834640"/>
            <a:ext cx="71323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GATE</a:t>
            </a:r>
            <a:endParaRPr lang="en-US" sz="1400" dirty="0"/>
          </a:p>
        </p:txBody>
      </p:sp>
      <p:sp>
        <p:nvSpPr>
          <p:cNvPr id="18" name="Text 16"/>
          <p:cNvSpPr txBox="1"/>
          <p:nvPr/>
        </p:nvSpPr>
        <p:spPr>
          <a:xfrm>
            <a:off x="4791456" y="2724912"/>
            <a:ext cx="320040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The attribution tier is unavailable. Retention benefits are unaffected.</a:t>
            </a:r>
            <a:endParaRPr lang="en-US" sz="1400" dirty="0"/>
          </a:p>
        </p:txBody>
      </p:sp>
      <p:sp>
        <p:nvSpPr>
          <p:cNvPr id="19" name="Text 17"/>
          <p:cNvSpPr txBox="1"/>
          <p:nvPr/>
        </p:nvSpPr>
        <p:spPr>
          <a:xfrm>
            <a:off x="8083296" y="2724912"/>
            <a:ext cx="338328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Get the position in writing before build. The DPIA is already costed in.</a:t>
            </a:r>
            <a:endParaRPr lang="en-US" sz="1400" dirty="0"/>
          </a:p>
        </p:txBody>
      </p:sp>
      <p:sp>
        <p:nvSpPr>
          <p:cNvPr id="20" name="Shape 18"/>
          <p:cNvSpPr/>
          <p:nvPr/>
        </p:nvSpPr>
        <p:spPr>
          <a:xfrm>
            <a:off x="502920" y="3328416"/>
            <a:ext cx="11185855" cy="566928"/>
          </a:xfrm>
          <a:prstGeom prst="roundRect">
            <a:avLst>
              <a:gd name="adj" fmla="val 9677"/>
            </a:avLst>
          </a:prstGeom>
          <a:solidFill>
            <a:srgbClr val="F7F8FA"/>
          </a:solidFill>
          <a:ln w="12700">
            <a:solidFill>
              <a:srgbClr val="333333"/>
            </a:solidFill>
            <a:prstDash val="solid"/>
          </a:ln>
        </p:spPr>
      </p:sp>
      <p:sp>
        <p:nvSpPr>
          <p:cNvPr id="21" name="Text 19"/>
          <p:cNvSpPr txBox="1"/>
          <p:nvPr/>
        </p:nvSpPr>
        <p:spPr>
          <a:xfrm>
            <a:off x="722376" y="3364992"/>
            <a:ext cx="3063240" cy="493776"/>
          </a:xfrm>
          <a:prstGeom prst="rect">
            <a:avLst/>
          </a:prstGeom>
          <a:noFill/>
          <a:ln/>
        </p:spPr>
        <p:txBody>
          <a:bodyPr wrap="square" lIns="0" tIns="0" rIns="0" bIns="0" rtlCol="0" anchor="ctr"/>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Managers hoard their people</a:t>
            </a:r>
            <a:endParaRPr lang="en-US" sz="1500" dirty="0"/>
          </a:p>
        </p:txBody>
      </p:sp>
      <p:sp>
        <p:nvSpPr>
          <p:cNvPr id="22" name="Shape 20"/>
          <p:cNvSpPr/>
          <p:nvPr/>
        </p:nvSpPr>
        <p:spPr>
          <a:xfrm>
            <a:off x="3904488" y="3474720"/>
            <a:ext cx="713232" cy="274320"/>
          </a:xfrm>
          <a:prstGeom prst="roundRect">
            <a:avLst>
              <a:gd name="adj" fmla="val 50000"/>
            </a:avLst>
          </a:prstGeom>
          <a:solidFill>
            <a:srgbClr val="B45309"/>
          </a:solidFill>
          <a:ln w="12700">
            <a:solidFill>
              <a:srgbClr val="333333"/>
            </a:solidFill>
            <a:prstDash val="solid"/>
          </a:ln>
        </p:spPr>
      </p:sp>
      <p:sp>
        <p:nvSpPr>
          <p:cNvPr id="23" name="Text 21"/>
          <p:cNvSpPr txBox="1"/>
          <p:nvPr/>
        </p:nvSpPr>
        <p:spPr>
          <a:xfrm>
            <a:off x="3904488" y="3474720"/>
            <a:ext cx="71323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HIGH</a:t>
            </a:r>
            <a:endParaRPr lang="en-US" sz="1400" dirty="0"/>
          </a:p>
        </p:txBody>
      </p:sp>
      <p:sp>
        <p:nvSpPr>
          <p:cNvPr id="24" name="Text 22"/>
          <p:cNvSpPr txBox="1"/>
          <p:nvPr/>
        </p:nvSpPr>
        <p:spPr>
          <a:xfrm>
            <a:off x="4791456" y="3364992"/>
            <a:ext cx="320040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Opportunities are never posted and the shelves stay empty.</a:t>
            </a:r>
            <a:endParaRPr lang="en-US" sz="1400" dirty="0"/>
          </a:p>
        </p:txBody>
      </p:sp>
      <p:sp>
        <p:nvSpPr>
          <p:cNvPr id="25" name="Text 23"/>
          <p:cNvSpPr txBox="1"/>
          <p:nvPr/>
        </p:nvSpPr>
        <p:spPr>
          <a:xfrm>
            <a:off x="8083296" y="3364992"/>
            <a:ext cx="338328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"Talent Exporter" recognition to ExCo; champions seed Phase 0.</a:t>
            </a:r>
            <a:endParaRPr lang="en-US" sz="1400" dirty="0"/>
          </a:p>
        </p:txBody>
      </p:sp>
      <p:sp>
        <p:nvSpPr>
          <p:cNvPr id="26" name="Shape 24"/>
          <p:cNvSpPr/>
          <p:nvPr/>
        </p:nvSpPr>
        <p:spPr>
          <a:xfrm>
            <a:off x="502920" y="3968496"/>
            <a:ext cx="11185855" cy="566928"/>
          </a:xfrm>
          <a:prstGeom prst="roundRect">
            <a:avLst>
              <a:gd name="adj" fmla="val 9677"/>
            </a:avLst>
          </a:prstGeom>
          <a:solidFill>
            <a:srgbClr val="F7F8FA"/>
          </a:solidFill>
          <a:ln w="12700">
            <a:solidFill>
              <a:srgbClr val="333333"/>
            </a:solidFill>
            <a:prstDash val="solid"/>
          </a:ln>
        </p:spPr>
      </p:sp>
      <p:sp>
        <p:nvSpPr>
          <p:cNvPr id="27" name="Text 25"/>
          <p:cNvSpPr txBox="1"/>
          <p:nvPr/>
        </p:nvSpPr>
        <p:spPr>
          <a:xfrm>
            <a:off x="722376" y="4005072"/>
            <a:ext cx="3063240" cy="493776"/>
          </a:xfrm>
          <a:prstGeom prst="rect">
            <a:avLst/>
          </a:prstGeom>
          <a:noFill/>
          <a:ln/>
        </p:spPr>
        <p:txBody>
          <a:bodyPr wrap="square" lIns="0" tIns="0" rIns="0" bIns="0" rtlCol="0" anchor="ctr"/>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Employees arrive to an empty profile</a:t>
            </a:r>
            <a:endParaRPr lang="en-US" sz="1500" dirty="0"/>
          </a:p>
        </p:txBody>
      </p:sp>
      <p:sp>
        <p:nvSpPr>
          <p:cNvPr id="28" name="Shape 26"/>
          <p:cNvSpPr/>
          <p:nvPr/>
        </p:nvSpPr>
        <p:spPr>
          <a:xfrm>
            <a:off x="3904488" y="4114800"/>
            <a:ext cx="713232" cy="274320"/>
          </a:xfrm>
          <a:prstGeom prst="roundRect">
            <a:avLst>
              <a:gd name="adj" fmla="val 50000"/>
            </a:avLst>
          </a:prstGeom>
          <a:solidFill>
            <a:srgbClr val="B45309"/>
          </a:solidFill>
          <a:ln w="12700">
            <a:solidFill>
              <a:srgbClr val="333333"/>
            </a:solidFill>
            <a:prstDash val="solid"/>
          </a:ln>
        </p:spPr>
      </p:sp>
      <p:sp>
        <p:nvSpPr>
          <p:cNvPr id="29" name="Text 27"/>
          <p:cNvSpPr txBox="1"/>
          <p:nvPr/>
        </p:nvSpPr>
        <p:spPr>
          <a:xfrm>
            <a:off x="3904488" y="4114800"/>
            <a:ext cx="71323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HIGH</a:t>
            </a:r>
            <a:endParaRPr lang="en-US" sz="1400" dirty="0"/>
          </a:p>
        </p:txBody>
      </p:sp>
      <p:sp>
        <p:nvSpPr>
          <p:cNvPr id="30" name="Text 28"/>
          <p:cNvSpPr txBox="1"/>
          <p:nvPr/>
        </p:nvSpPr>
        <p:spPr>
          <a:xfrm>
            <a:off x="4791456" y="4005072"/>
            <a:ext cx="320040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No skills on file means no matches, an empty board, and no return visit.</a:t>
            </a:r>
            <a:endParaRPr lang="en-US" sz="1400" dirty="0"/>
          </a:p>
        </p:txBody>
      </p:sp>
      <p:sp>
        <p:nvSpPr>
          <p:cNvPr id="31" name="Text 29"/>
          <p:cNvSpPr txBox="1"/>
          <p:nvPr/>
        </p:nvSpPr>
        <p:spPr>
          <a:xfrm>
            <a:off x="8083296" y="4005072"/>
            <a:ext cx="338328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Pre-load from HRIS and MyDevelopment. Correcting beats authoring.</a:t>
            </a:r>
            <a:endParaRPr lang="en-US" sz="1400" dirty="0"/>
          </a:p>
        </p:txBody>
      </p:sp>
      <p:sp>
        <p:nvSpPr>
          <p:cNvPr id="32" name="Shape 30"/>
          <p:cNvSpPr/>
          <p:nvPr/>
        </p:nvSpPr>
        <p:spPr>
          <a:xfrm>
            <a:off x="502920" y="4608576"/>
            <a:ext cx="11185855" cy="566928"/>
          </a:xfrm>
          <a:prstGeom prst="roundRect">
            <a:avLst>
              <a:gd name="adj" fmla="val 9677"/>
            </a:avLst>
          </a:prstGeom>
          <a:solidFill>
            <a:srgbClr val="F7F8FA"/>
          </a:solidFill>
          <a:ln w="12700">
            <a:solidFill>
              <a:srgbClr val="333333"/>
            </a:solidFill>
            <a:prstDash val="solid"/>
          </a:ln>
        </p:spPr>
      </p:sp>
      <p:sp>
        <p:nvSpPr>
          <p:cNvPr id="33" name="Text 31"/>
          <p:cNvSpPr txBox="1"/>
          <p:nvPr/>
        </p:nvSpPr>
        <p:spPr>
          <a:xfrm>
            <a:off x="722376" y="4645152"/>
            <a:ext cx="3063240" cy="493776"/>
          </a:xfrm>
          <a:prstGeom prst="rect">
            <a:avLst/>
          </a:prstGeom>
          <a:noFill/>
          <a:ln/>
        </p:spPr>
        <p:txBody>
          <a:bodyPr wrap="square" lIns="0" tIns="0" rIns="0" bIns="0" rtlCol="0" anchor="ctr"/>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The retention lift is zero</a:t>
            </a:r>
            <a:endParaRPr lang="en-US" sz="1500" dirty="0"/>
          </a:p>
        </p:txBody>
      </p:sp>
      <p:sp>
        <p:nvSpPr>
          <p:cNvPr id="34" name="Shape 32"/>
          <p:cNvSpPr/>
          <p:nvPr/>
        </p:nvSpPr>
        <p:spPr>
          <a:xfrm>
            <a:off x="3904488" y="4754880"/>
            <a:ext cx="713232" cy="274320"/>
          </a:xfrm>
          <a:prstGeom prst="roundRect">
            <a:avLst>
              <a:gd name="adj" fmla="val 50000"/>
            </a:avLst>
          </a:prstGeom>
          <a:solidFill>
            <a:srgbClr val="6B7280"/>
          </a:solidFill>
          <a:ln w="12700">
            <a:solidFill>
              <a:srgbClr val="333333"/>
            </a:solidFill>
            <a:prstDash val="solid"/>
          </a:ln>
        </p:spPr>
      </p:sp>
      <p:sp>
        <p:nvSpPr>
          <p:cNvPr id="35" name="Text 33"/>
          <p:cNvSpPr txBox="1"/>
          <p:nvPr/>
        </p:nvSpPr>
        <p:spPr>
          <a:xfrm>
            <a:off x="3904488" y="4754880"/>
            <a:ext cx="71323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MED</a:t>
            </a:r>
            <a:endParaRPr lang="en-US" sz="1400" dirty="0"/>
          </a:p>
        </p:txBody>
      </p:sp>
      <p:sp>
        <p:nvSpPr>
          <p:cNvPr id="36" name="Text 34"/>
          <p:cNvSpPr txBox="1"/>
          <p:nvPr/>
        </p:nvSpPr>
        <p:spPr>
          <a:xfrm>
            <a:off x="4791456" y="4645152"/>
            <a:ext cx="320040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Benefits fall to the attributed rows — still BCR 3.8, 14-month payback.</a:t>
            </a:r>
            <a:endParaRPr lang="en-US" sz="1400" dirty="0"/>
          </a:p>
        </p:txBody>
      </p:sp>
      <p:sp>
        <p:nvSpPr>
          <p:cNvPr id="37" name="Text 35"/>
          <p:cNvSpPr txBox="1"/>
          <p:nvPr/>
        </p:nvSpPr>
        <p:spPr>
          <a:xfrm>
            <a:off x="8083296" y="4645152"/>
            <a:ext cx="338328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Already modelled. A year-one holdout measures it properly.</a:t>
            </a:r>
            <a:endParaRPr lang="en-US" sz="1400" dirty="0"/>
          </a:p>
        </p:txBody>
      </p:sp>
      <p:sp>
        <p:nvSpPr>
          <p:cNvPr id="38" name="Shape 36"/>
          <p:cNvSpPr/>
          <p:nvPr/>
        </p:nvSpPr>
        <p:spPr>
          <a:xfrm>
            <a:off x="502920" y="5248656"/>
            <a:ext cx="11185855" cy="566928"/>
          </a:xfrm>
          <a:prstGeom prst="roundRect">
            <a:avLst>
              <a:gd name="adj" fmla="val 9677"/>
            </a:avLst>
          </a:prstGeom>
          <a:solidFill>
            <a:srgbClr val="F7F8FA"/>
          </a:solidFill>
          <a:ln w="12700">
            <a:solidFill>
              <a:srgbClr val="333333"/>
            </a:solidFill>
            <a:prstDash val="solid"/>
          </a:ln>
        </p:spPr>
      </p:sp>
      <p:sp>
        <p:nvSpPr>
          <p:cNvPr id="39" name="Text 37"/>
          <p:cNvSpPr txBox="1"/>
          <p:nvPr/>
        </p:nvSpPr>
        <p:spPr>
          <a:xfrm>
            <a:off x="722376" y="5285232"/>
            <a:ext cx="3063240" cy="493776"/>
          </a:xfrm>
          <a:prstGeom prst="rect">
            <a:avLst/>
          </a:prstGeom>
          <a:noFill/>
          <a:ln/>
        </p:spPr>
        <p:txBody>
          <a:bodyPr wrap="square" lIns="0" tIns="0" rIns="0" bIns="0" rtlCol="0" anchor="ctr"/>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Build effort doubles</a:t>
            </a:r>
            <a:endParaRPr lang="en-US" sz="1500" dirty="0"/>
          </a:p>
        </p:txBody>
      </p:sp>
      <p:sp>
        <p:nvSpPr>
          <p:cNvPr id="40" name="Shape 38"/>
          <p:cNvSpPr/>
          <p:nvPr/>
        </p:nvSpPr>
        <p:spPr>
          <a:xfrm>
            <a:off x="3904488" y="5394960"/>
            <a:ext cx="713232" cy="274320"/>
          </a:xfrm>
          <a:prstGeom prst="roundRect">
            <a:avLst>
              <a:gd name="adj" fmla="val 50000"/>
            </a:avLst>
          </a:prstGeom>
          <a:solidFill>
            <a:srgbClr val="6B7280"/>
          </a:solidFill>
          <a:ln w="12700">
            <a:solidFill>
              <a:srgbClr val="333333"/>
            </a:solidFill>
            <a:prstDash val="solid"/>
          </a:ln>
        </p:spPr>
      </p:sp>
      <p:sp>
        <p:nvSpPr>
          <p:cNvPr id="41" name="Text 39"/>
          <p:cNvSpPr txBox="1"/>
          <p:nvPr/>
        </p:nvSpPr>
        <p:spPr>
          <a:xfrm>
            <a:off x="3904488" y="5394960"/>
            <a:ext cx="71323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MED</a:t>
            </a:r>
            <a:endParaRPr lang="en-US" sz="1400" dirty="0"/>
          </a:p>
        </p:txBody>
      </p:sp>
      <p:sp>
        <p:nvSpPr>
          <p:cNvPr id="42" name="Text 40"/>
          <p:cNvSpPr txBox="1"/>
          <p:nvPr/>
        </p:nvSpPr>
        <p:spPr>
          <a:xfrm>
            <a:off x="4791456" y="5285232"/>
            <a:ext cx="320040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Three-year cost rises to ₱1.76M; base BCR falls to 4.0.</a:t>
            </a:r>
            <a:endParaRPr lang="en-US" sz="1400" dirty="0"/>
          </a:p>
        </p:txBody>
      </p:sp>
      <p:sp>
        <p:nvSpPr>
          <p:cNvPr id="43" name="Text 41"/>
          <p:cNvSpPr txBox="1"/>
          <p:nvPr/>
        </p:nvSpPr>
        <p:spPr>
          <a:xfrm>
            <a:off x="8083296" y="5285232"/>
            <a:ext cx="3383280" cy="493776"/>
          </a:xfrm>
          <a:prstGeom prst="rect">
            <a:avLst/>
          </a:prstGeom>
          <a:noFill/>
          <a:ln/>
        </p:spPr>
        <p:txBody>
          <a:bodyPr wrap="square" lIns="0" tIns="0" rIns="0" bIns="0" rtlCol="0" anchor="ctr"/>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Still clears, and still far under the vendor bands.</a:t>
            </a:r>
            <a:endParaRPr lang="en-US" sz="1400" dirty="0"/>
          </a:p>
        </p:txBody>
      </p:sp>
      <p:sp>
        <p:nvSpPr>
          <p:cNvPr id="44" name="Shape 42"/>
          <p:cNvSpPr/>
          <p:nvPr/>
        </p:nvSpPr>
        <p:spPr>
          <a:xfrm>
            <a:off x="502920" y="6291072"/>
            <a:ext cx="11185855" cy="0"/>
          </a:xfrm>
          <a:prstGeom prst="line">
            <a:avLst/>
          </a:prstGeom>
          <a:noFill/>
          <a:ln w="12700">
            <a:solidFill>
              <a:srgbClr val="E5E7EB"/>
            </a:solidFill>
            <a:prstDash val="solid"/>
          </a:ln>
        </p:spPr>
      </p:sp>
      <p:sp>
        <p:nvSpPr>
          <p:cNvPr id="45" name="Text 43"/>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Full risk register with owners and dates in the Business Requirements Document.</a:t>
            </a:r>
            <a:endParaRPr lang="en-US" sz="1400" dirty="0"/>
          </a:p>
        </p:txBody>
      </p:sp>
      <p:sp>
        <p:nvSpPr>
          <p:cNvPr id="46" name="Text 44"/>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THE ASK</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Three decisions, and the first two are free.</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Nothing here commits Home Credit beyond a three-month pilot in three functions.</a:t>
            </a:r>
            <a:endParaRPr lang="en-US" sz="1600" dirty="0"/>
          </a:p>
        </p:txBody>
      </p:sp>
      <p:sp>
        <p:nvSpPr>
          <p:cNvPr id="5" name="Shape 3"/>
          <p:cNvSpPr/>
          <p:nvPr/>
        </p:nvSpPr>
        <p:spPr>
          <a:xfrm>
            <a:off x="502920" y="1773936"/>
            <a:ext cx="3582314" cy="2615184"/>
          </a:xfrm>
          <a:prstGeom prst="roundRect">
            <a:avLst>
              <a:gd name="adj" fmla="val 209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Shape 4"/>
          <p:cNvSpPr/>
          <p:nvPr/>
        </p:nvSpPr>
        <p:spPr>
          <a:xfrm>
            <a:off x="740664" y="1975104"/>
            <a:ext cx="420624" cy="420624"/>
          </a:xfrm>
          <a:prstGeom prst="ellipse">
            <a:avLst/>
          </a:prstGeom>
          <a:solidFill>
            <a:srgbClr val="15803D"/>
          </a:solidFill>
          <a:ln w="12700">
            <a:solidFill>
              <a:srgbClr val="333333"/>
            </a:solidFill>
            <a:prstDash val="solid"/>
          </a:ln>
        </p:spPr>
      </p:sp>
      <p:sp>
        <p:nvSpPr>
          <p:cNvPr id="7" name="Text 5"/>
          <p:cNvSpPr txBox="1"/>
          <p:nvPr/>
        </p:nvSpPr>
        <p:spPr>
          <a:xfrm>
            <a:off x="740664"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1325880" y="1975104"/>
            <a:ext cx="2521610" cy="420624"/>
          </a:xfrm>
          <a:prstGeom prst="rect">
            <a:avLst/>
          </a:prstGeom>
          <a:noFill/>
          <a:ln/>
        </p:spPr>
        <p:txBody>
          <a:bodyPr wrap="square" lIns="0" tIns="0" rIns="0" bIns="0" rtlCol="0" anchor="ctr"/>
          <a:lstStyle/>
          <a:p>
            <a:pPr algn="r" indent="0" marL="0">
              <a:buNone/>
            </a:pPr>
            <a:r>
              <a:rPr lang="en-US" sz="2200" b="1" dirty="0">
                <a:solidFill>
                  <a:srgbClr val="15803D"/>
                </a:solidFill>
                <a:latin typeface="Arial" pitchFamily="34" charset="0"/>
                <a:ea typeface="Arial" pitchFamily="34" charset="-122"/>
                <a:cs typeface="Arial" pitchFamily="34" charset="-120"/>
              </a:rPr>
              <a:t>₱0</a:t>
            </a:r>
            <a:endParaRPr lang="en-US" sz="2200" dirty="0"/>
          </a:p>
        </p:txBody>
      </p:sp>
      <p:sp>
        <p:nvSpPr>
          <p:cNvPr id="9" name="Text 7"/>
          <p:cNvSpPr txBox="1"/>
          <p:nvPr/>
        </p:nvSpPr>
        <p:spPr>
          <a:xfrm>
            <a:off x="740664" y="2542032"/>
            <a:ext cx="3106826" cy="566928"/>
          </a:xfrm>
          <a:prstGeom prst="rect">
            <a:avLst/>
          </a:prstGeom>
          <a:noFill/>
          <a:ln/>
        </p:spPr>
        <p:txBody>
          <a:bodyPr wrap="square" lIns="0" tIns="0" rIns="0" bIns="0" rtlCol="0" anchor="t"/>
          <a:lstStyle/>
          <a:p>
            <a:pPr indent="0" marL="0">
              <a:lnSpc>
                <a:spcPts val="2200"/>
              </a:lnSpc>
              <a:buNone/>
            </a:pPr>
            <a:r>
              <a:rPr lang="en-US" sz="1800" b="1" dirty="0">
                <a:solidFill>
                  <a:srgbClr val="0F172A"/>
                </a:solidFill>
                <a:latin typeface="Arial" pitchFamily="34" charset="0"/>
                <a:ea typeface="Arial" pitchFamily="34" charset="-122"/>
                <a:cs typeface="Arial" pitchFamily="34" charset="-120"/>
              </a:rPr>
              <a:t>Ask recruitment for one form field</a:t>
            </a:r>
            <a:endParaRPr lang="en-US" sz="1800" dirty="0"/>
          </a:p>
        </p:txBody>
      </p:sp>
      <p:sp>
        <p:nvSpPr>
          <p:cNvPr id="10" name="Text 8"/>
          <p:cNvSpPr txBox="1"/>
          <p:nvPr/>
        </p:nvSpPr>
        <p:spPr>
          <a:xfrm>
            <a:off x="740664" y="3182112"/>
            <a:ext cx="3106826" cy="1042416"/>
          </a:xfrm>
          <a:prstGeom prst="rect">
            <a:avLst/>
          </a:prstGeom>
          <a:noFill/>
          <a:ln/>
        </p:spPr>
        <p:txBody>
          <a:bodyPr wrap="square" lIns="0" tIns="0" rIns="0" bIns="0" rtlCol="0" anchor="t"/>
          <a:lstStyle/>
          <a:p>
            <a:pPr indent="0" marL="0">
              <a:lnSpc>
                <a:spcPts val="2000"/>
              </a:lnSpc>
              <a:buNone/>
            </a:pPr>
            <a:r>
              <a:rPr lang="en-US" sz="1500" dirty="0">
                <a:solidFill>
                  <a:srgbClr val="6B7280"/>
                </a:solidFill>
                <a:latin typeface="Arial" pitchFamily="34" charset="0"/>
                <a:ea typeface="Arial" pitchFamily="34" charset="-122"/>
                <a:cs typeface="Arial" pitchFamily="34" charset="-120"/>
              </a:rPr>
              <a:t>Add a "Growth" source value and a referral-code field to the HC Connect form. Without it, half the case cannot be proven.</a:t>
            </a:r>
            <a:endParaRPr lang="en-US" sz="1500" dirty="0"/>
          </a:p>
        </p:txBody>
      </p:sp>
      <p:sp>
        <p:nvSpPr>
          <p:cNvPr id="11" name="Shape 9"/>
          <p:cNvSpPr/>
          <p:nvPr/>
        </p:nvSpPr>
        <p:spPr>
          <a:xfrm>
            <a:off x="4304690" y="1773936"/>
            <a:ext cx="3582314" cy="2615184"/>
          </a:xfrm>
          <a:prstGeom prst="roundRect">
            <a:avLst>
              <a:gd name="adj" fmla="val 209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2" name="Shape 10"/>
          <p:cNvSpPr/>
          <p:nvPr/>
        </p:nvSpPr>
        <p:spPr>
          <a:xfrm>
            <a:off x="4542434" y="1975104"/>
            <a:ext cx="420624" cy="420624"/>
          </a:xfrm>
          <a:prstGeom prst="ellipse">
            <a:avLst/>
          </a:prstGeom>
          <a:solidFill>
            <a:srgbClr val="15803D"/>
          </a:solidFill>
          <a:ln w="12700">
            <a:solidFill>
              <a:srgbClr val="333333"/>
            </a:solidFill>
            <a:prstDash val="solid"/>
          </a:ln>
        </p:spPr>
      </p:sp>
      <p:sp>
        <p:nvSpPr>
          <p:cNvPr id="13" name="Text 11"/>
          <p:cNvSpPr txBox="1"/>
          <p:nvPr/>
        </p:nvSpPr>
        <p:spPr>
          <a:xfrm>
            <a:off x="4542434"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5127650" y="1975104"/>
            <a:ext cx="2521610" cy="420624"/>
          </a:xfrm>
          <a:prstGeom prst="rect">
            <a:avLst/>
          </a:prstGeom>
          <a:noFill/>
          <a:ln/>
        </p:spPr>
        <p:txBody>
          <a:bodyPr wrap="square" lIns="0" tIns="0" rIns="0" bIns="0" rtlCol="0" anchor="ctr"/>
          <a:lstStyle/>
          <a:p>
            <a:pPr algn="r" indent="0" marL="0">
              <a:buNone/>
            </a:pPr>
            <a:r>
              <a:rPr lang="en-US" sz="2200" b="1" dirty="0">
                <a:solidFill>
                  <a:srgbClr val="15803D"/>
                </a:solidFill>
                <a:latin typeface="Arial" pitchFamily="34" charset="0"/>
                <a:ea typeface="Arial" pitchFamily="34" charset="-122"/>
                <a:cs typeface="Arial" pitchFamily="34" charset="-120"/>
              </a:rPr>
              <a:t>₱0</a:t>
            </a:r>
            <a:endParaRPr lang="en-US" sz="2200" dirty="0"/>
          </a:p>
        </p:txBody>
      </p:sp>
      <p:sp>
        <p:nvSpPr>
          <p:cNvPr id="15" name="Text 13"/>
          <p:cNvSpPr txBox="1"/>
          <p:nvPr/>
        </p:nvSpPr>
        <p:spPr>
          <a:xfrm>
            <a:off x="4542434" y="2542032"/>
            <a:ext cx="3106826" cy="566928"/>
          </a:xfrm>
          <a:prstGeom prst="rect">
            <a:avLst/>
          </a:prstGeom>
          <a:noFill/>
          <a:ln/>
        </p:spPr>
        <p:txBody>
          <a:bodyPr wrap="square" lIns="0" tIns="0" rIns="0" bIns="0" rtlCol="0" anchor="t"/>
          <a:lstStyle/>
          <a:p>
            <a:pPr indent="0" marL="0">
              <a:lnSpc>
                <a:spcPts val="2200"/>
              </a:lnSpc>
              <a:buNone/>
            </a:pPr>
            <a:r>
              <a:rPr lang="en-US" sz="1800" b="1" dirty="0">
                <a:solidFill>
                  <a:srgbClr val="0F172A"/>
                </a:solidFill>
                <a:latin typeface="Arial" pitchFamily="34" charset="0"/>
                <a:ea typeface="Arial" pitchFamily="34" charset="-122"/>
                <a:cs typeface="Arial" pitchFamily="34" charset="-120"/>
              </a:rPr>
              <a:t>Get the DPO position in writing</a:t>
            </a:r>
            <a:endParaRPr lang="en-US" sz="1800" dirty="0"/>
          </a:p>
        </p:txBody>
      </p:sp>
      <p:sp>
        <p:nvSpPr>
          <p:cNvPr id="16" name="Text 14"/>
          <p:cNvSpPr txBox="1"/>
          <p:nvPr/>
        </p:nvSpPr>
        <p:spPr>
          <a:xfrm>
            <a:off x="4542434" y="3182112"/>
            <a:ext cx="3106826" cy="1042416"/>
          </a:xfrm>
          <a:prstGeom prst="rect">
            <a:avLst/>
          </a:prstGeom>
          <a:noFill/>
          <a:ln/>
        </p:spPr>
        <p:txBody>
          <a:bodyPr wrap="square" lIns="0" tIns="0" rIns="0" bIns="0" rtlCol="0" anchor="t"/>
          <a:lstStyle/>
          <a:p>
            <a:pPr indent="0" marL="0">
              <a:lnSpc>
                <a:spcPts val="2000"/>
              </a:lnSpc>
              <a:buNone/>
            </a:pPr>
            <a:r>
              <a:rPr lang="en-US" sz="1500" dirty="0">
                <a:solidFill>
                  <a:srgbClr val="6B7280"/>
                </a:solidFill>
                <a:latin typeface="Arial" pitchFamily="34" charset="0"/>
                <a:ea typeface="Arial" pitchFamily="34" charset="-122"/>
                <a:cs typeface="Arial" pitchFamily="34" charset="-120"/>
              </a:rPr>
              <a:t>A referral log records who opened which requisition. The assessment is costed; we need the answer first.</a:t>
            </a:r>
            <a:endParaRPr lang="en-US" sz="1500" dirty="0"/>
          </a:p>
        </p:txBody>
      </p:sp>
      <p:sp>
        <p:nvSpPr>
          <p:cNvPr id="17" name="Shape 15"/>
          <p:cNvSpPr/>
          <p:nvPr/>
        </p:nvSpPr>
        <p:spPr>
          <a:xfrm>
            <a:off x="8106461" y="1773936"/>
            <a:ext cx="3582314" cy="2615184"/>
          </a:xfrm>
          <a:prstGeom prst="roundRect">
            <a:avLst>
              <a:gd name="adj" fmla="val 209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8" name="Shape 16"/>
          <p:cNvSpPr/>
          <p:nvPr/>
        </p:nvSpPr>
        <p:spPr>
          <a:xfrm>
            <a:off x="8344205" y="1975104"/>
            <a:ext cx="420624" cy="420624"/>
          </a:xfrm>
          <a:prstGeom prst="ellipse">
            <a:avLst/>
          </a:prstGeom>
          <a:solidFill>
            <a:srgbClr val="C00000"/>
          </a:solidFill>
          <a:ln w="12700">
            <a:solidFill>
              <a:srgbClr val="333333"/>
            </a:solidFill>
            <a:prstDash val="solid"/>
          </a:ln>
        </p:spPr>
      </p:sp>
      <p:sp>
        <p:nvSpPr>
          <p:cNvPr id="19" name="Text 17"/>
          <p:cNvSpPr txBox="1"/>
          <p:nvPr/>
        </p:nvSpPr>
        <p:spPr>
          <a:xfrm>
            <a:off x="8344205" y="19796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0" name="Text 18"/>
          <p:cNvSpPr txBox="1"/>
          <p:nvPr/>
        </p:nvSpPr>
        <p:spPr>
          <a:xfrm>
            <a:off x="8929421" y="1975104"/>
            <a:ext cx="2521610" cy="420624"/>
          </a:xfrm>
          <a:prstGeom prst="rect">
            <a:avLst/>
          </a:prstGeom>
          <a:noFill/>
          <a:ln/>
        </p:spPr>
        <p:txBody>
          <a:bodyPr wrap="square" lIns="0" tIns="0" rIns="0" bIns="0" rtlCol="0" anchor="ctr"/>
          <a:lstStyle/>
          <a:p>
            <a:pPr algn="r" indent="0" marL="0">
              <a:buNone/>
            </a:pPr>
            <a:r>
              <a:rPr lang="en-US" sz="2200" b="1" dirty="0">
                <a:solidFill>
                  <a:srgbClr val="C00000"/>
                </a:solidFill>
                <a:latin typeface="Arial" pitchFamily="34" charset="0"/>
                <a:ea typeface="Arial" pitchFamily="34" charset="-122"/>
                <a:cs typeface="Arial" pitchFamily="34" charset="-120"/>
              </a:rPr>
              <a:t>₱1.54M</a:t>
            </a:r>
            <a:endParaRPr lang="en-US" sz="2200" dirty="0"/>
          </a:p>
        </p:txBody>
      </p:sp>
      <p:sp>
        <p:nvSpPr>
          <p:cNvPr id="21" name="Text 19"/>
          <p:cNvSpPr txBox="1"/>
          <p:nvPr/>
        </p:nvSpPr>
        <p:spPr>
          <a:xfrm>
            <a:off x="8344205" y="2542032"/>
            <a:ext cx="3106826" cy="566928"/>
          </a:xfrm>
          <a:prstGeom prst="rect">
            <a:avLst/>
          </a:prstGeom>
          <a:noFill/>
          <a:ln/>
        </p:spPr>
        <p:txBody>
          <a:bodyPr wrap="square" lIns="0" tIns="0" rIns="0" bIns="0" rtlCol="0" anchor="t"/>
          <a:lstStyle/>
          <a:p>
            <a:pPr indent="0" marL="0">
              <a:lnSpc>
                <a:spcPts val="2200"/>
              </a:lnSpc>
              <a:buNone/>
            </a:pPr>
            <a:r>
              <a:rPr lang="en-US" sz="1800" b="1" dirty="0">
                <a:solidFill>
                  <a:srgbClr val="0F172A"/>
                </a:solidFill>
                <a:latin typeface="Arial" pitchFamily="34" charset="0"/>
                <a:ea typeface="Arial" pitchFamily="34" charset="-122"/>
                <a:cs typeface="Arial" pitchFamily="34" charset="-120"/>
              </a:rPr>
              <a:t>Approve the year-one build</a:t>
            </a:r>
            <a:endParaRPr lang="en-US" sz="1800" dirty="0"/>
          </a:p>
        </p:txBody>
      </p:sp>
      <p:sp>
        <p:nvSpPr>
          <p:cNvPr id="22" name="Text 20"/>
          <p:cNvSpPr txBox="1"/>
          <p:nvPr/>
        </p:nvSpPr>
        <p:spPr>
          <a:xfrm>
            <a:off x="8344205" y="3182112"/>
            <a:ext cx="3106826" cy="1042416"/>
          </a:xfrm>
          <a:prstGeom prst="rect">
            <a:avLst/>
          </a:prstGeom>
          <a:noFill/>
          <a:ln/>
        </p:spPr>
        <p:txBody>
          <a:bodyPr wrap="square" lIns="0" tIns="0" rIns="0" bIns="0" rtlCol="0" anchor="t"/>
          <a:lstStyle/>
          <a:p>
            <a:pPr indent="0" marL="0">
              <a:lnSpc>
                <a:spcPts val="2000"/>
              </a:lnSpc>
              <a:buNone/>
            </a:pPr>
            <a:r>
              <a:rPr lang="en-US" sz="1500" dirty="0">
                <a:solidFill>
                  <a:srgbClr val="6B7280"/>
                </a:solidFill>
                <a:latin typeface="Arial" pitchFamily="34" charset="0"/>
                <a:ea typeface="Arial" pitchFamily="34" charset="-122"/>
                <a:cs typeface="Arial" pitchFamily="34" charset="-120"/>
              </a:rPr>
              <a:t>₱1,536,351 to build and run Growth for twelve months, pilot first, then mass operations to 1,113.</a:t>
            </a:r>
            <a:endParaRPr lang="en-US" sz="1500" dirty="0"/>
          </a:p>
        </p:txBody>
      </p:sp>
      <p:sp>
        <p:nvSpPr>
          <p:cNvPr id="23" name="Text 21"/>
          <p:cNvSpPr txBox="1"/>
          <p:nvPr/>
        </p:nvSpPr>
        <p:spPr>
          <a:xfrm>
            <a:off x="502920" y="4590288"/>
            <a:ext cx="11185855" cy="237744"/>
          </a:xfrm>
          <a:prstGeom prst="rect">
            <a:avLst/>
          </a:prstGeom>
          <a:noFill/>
          <a:ln/>
        </p:spPr>
        <p:txBody>
          <a:bodyPr wrap="square" lIns="0" tIns="0" rIns="0" bIns="0" rtlCol="0" anchor="ctr"/>
          <a:lstStyle/>
          <a:p>
            <a:pPr indent="0" marL="0">
              <a:buNone/>
            </a:pPr>
            <a:r>
              <a:rPr lang="en-US" sz="1400" b="1" spc="140" kern="0" dirty="0">
                <a:solidFill>
                  <a:srgbClr val="6B7280"/>
                </a:solidFill>
                <a:latin typeface="Arial" pitchFamily="34" charset="0"/>
                <a:ea typeface="Arial" pitchFamily="34" charset="-122"/>
                <a:cs typeface="Arial" pitchFamily="34" charset="-120"/>
              </a:rPr>
              <a:t>THE NEXT 90 DAYS</a:t>
            </a:r>
            <a:endParaRPr lang="en-US" sz="1400" dirty="0"/>
          </a:p>
        </p:txBody>
      </p:sp>
      <p:sp>
        <p:nvSpPr>
          <p:cNvPr id="24" name="Shape 22"/>
          <p:cNvSpPr/>
          <p:nvPr/>
        </p:nvSpPr>
        <p:spPr>
          <a:xfrm>
            <a:off x="502920" y="4882896"/>
            <a:ext cx="2120128" cy="1133856"/>
          </a:xfrm>
          <a:prstGeom prst="roundRect">
            <a:avLst>
              <a:gd name="adj" fmla="val 4839"/>
            </a:avLst>
          </a:prstGeom>
          <a:solidFill>
            <a:srgbClr val="F7F8FA"/>
          </a:solidFill>
          <a:ln w="12700">
            <a:solidFill>
              <a:srgbClr val="333333"/>
            </a:solidFill>
            <a:prstDash val="solid"/>
          </a:ln>
        </p:spPr>
      </p:sp>
      <p:sp>
        <p:nvSpPr>
          <p:cNvPr id="25" name="Text 23"/>
          <p:cNvSpPr txBox="1"/>
          <p:nvPr/>
        </p:nvSpPr>
        <p:spPr>
          <a:xfrm>
            <a:off x="685800" y="5029200"/>
            <a:ext cx="1754368" cy="237744"/>
          </a:xfrm>
          <a:prstGeom prst="rect">
            <a:avLst/>
          </a:prstGeom>
          <a:noFill/>
          <a:ln/>
        </p:spPr>
        <p:txBody>
          <a:bodyPr wrap="square" lIns="0" tIns="0" rIns="0" bIns="0" rtlCol="0" anchor="ctr"/>
          <a:lstStyle/>
          <a:p>
            <a:pPr indent="0" marL="0">
              <a:buNone/>
            </a:pPr>
            <a:r>
              <a:rPr lang="en-US" sz="1500" b="1" dirty="0">
                <a:solidFill>
                  <a:srgbClr val="C00000"/>
                </a:solidFill>
                <a:latin typeface="Arial" pitchFamily="34" charset="0"/>
                <a:ea typeface="Arial" pitchFamily="34" charset="-122"/>
                <a:cs typeface="Arial" pitchFamily="34" charset="-120"/>
              </a:rPr>
              <a:t>Weeks 1–2</a:t>
            </a:r>
            <a:endParaRPr lang="en-US" sz="1500" dirty="0"/>
          </a:p>
        </p:txBody>
      </p:sp>
      <p:sp>
        <p:nvSpPr>
          <p:cNvPr id="26" name="Text 24"/>
          <p:cNvSpPr txBox="1"/>
          <p:nvPr/>
        </p:nvSpPr>
        <p:spPr>
          <a:xfrm>
            <a:off x="685800" y="5285232"/>
            <a:ext cx="1754368" cy="676656"/>
          </a:xfrm>
          <a:prstGeom prst="rect">
            <a:avLst/>
          </a:prstGeom>
          <a:noFill/>
          <a:ln/>
        </p:spPr>
        <p:txBody>
          <a:bodyPr wrap="square" lIns="0" tIns="0" rIns="0" bIns="0" rtlCol="0" anchor="t"/>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Secure the source field and the DPO position</a:t>
            </a:r>
            <a:endParaRPr lang="en-US" sz="1400" dirty="0"/>
          </a:p>
        </p:txBody>
      </p:sp>
      <p:sp>
        <p:nvSpPr>
          <p:cNvPr id="27" name="Text 25"/>
          <p:cNvSpPr txBox="1"/>
          <p:nvPr/>
        </p:nvSpPr>
        <p:spPr>
          <a:xfrm>
            <a:off x="2627620" y="4882896"/>
            <a:ext cx="137160" cy="1133856"/>
          </a:xfrm>
          <a:prstGeom prst="rect">
            <a:avLst/>
          </a:prstGeom>
          <a:noFill/>
          <a:ln/>
        </p:spPr>
        <p:txBody>
          <a:bodyPr wrap="square" lIns="0" tIns="0" rIns="0" bIns="0" rtlCol="0" anchor="ctr"/>
          <a:lstStyle/>
          <a:p>
            <a:pPr algn="ctr" indent="0" marL="0">
              <a:buNone/>
            </a:pPr>
            <a:r>
              <a:rPr lang="en-US" sz="2200" b="1" dirty="0">
                <a:solidFill>
                  <a:srgbClr val="CBD5E1"/>
                </a:solidFill>
                <a:latin typeface="Arial" pitchFamily="34" charset="0"/>
                <a:ea typeface="Arial" pitchFamily="34" charset="-122"/>
                <a:cs typeface="Arial" pitchFamily="34" charset="-120"/>
              </a:rPr>
              <a:t>›</a:t>
            </a:r>
            <a:endParaRPr lang="en-US" sz="2200" dirty="0"/>
          </a:p>
        </p:txBody>
      </p:sp>
      <p:sp>
        <p:nvSpPr>
          <p:cNvPr id="28" name="Shape 26"/>
          <p:cNvSpPr/>
          <p:nvPr/>
        </p:nvSpPr>
        <p:spPr>
          <a:xfrm>
            <a:off x="2769352" y="4882896"/>
            <a:ext cx="2120128" cy="1133856"/>
          </a:xfrm>
          <a:prstGeom prst="roundRect">
            <a:avLst>
              <a:gd name="adj" fmla="val 4839"/>
            </a:avLst>
          </a:prstGeom>
          <a:solidFill>
            <a:srgbClr val="F7F8FA"/>
          </a:solidFill>
          <a:ln w="12700">
            <a:solidFill>
              <a:srgbClr val="333333"/>
            </a:solidFill>
            <a:prstDash val="solid"/>
          </a:ln>
        </p:spPr>
      </p:sp>
      <p:sp>
        <p:nvSpPr>
          <p:cNvPr id="29" name="Text 27"/>
          <p:cNvSpPr txBox="1"/>
          <p:nvPr/>
        </p:nvSpPr>
        <p:spPr>
          <a:xfrm>
            <a:off x="2952232" y="5029200"/>
            <a:ext cx="1754368" cy="237744"/>
          </a:xfrm>
          <a:prstGeom prst="rect">
            <a:avLst/>
          </a:prstGeom>
          <a:noFill/>
          <a:ln/>
        </p:spPr>
        <p:txBody>
          <a:bodyPr wrap="square" lIns="0" tIns="0" rIns="0" bIns="0" rtlCol="0" anchor="ctr"/>
          <a:lstStyle/>
          <a:p>
            <a:pPr indent="0" marL="0">
              <a:buNone/>
            </a:pPr>
            <a:r>
              <a:rPr lang="en-US" sz="1500" b="1" dirty="0">
                <a:solidFill>
                  <a:srgbClr val="C00000"/>
                </a:solidFill>
                <a:latin typeface="Arial" pitchFamily="34" charset="0"/>
                <a:ea typeface="Arial" pitchFamily="34" charset="-122"/>
                <a:cs typeface="Arial" pitchFamily="34" charset="-120"/>
              </a:rPr>
              <a:t>Weeks 3–8</a:t>
            </a:r>
            <a:endParaRPr lang="en-US" sz="1500" dirty="0"/>
          </a:p>
        </p:txBody>
      </p:sp>
      <p:sp>
        <p:nvSpPr>
          <p:cNvPr id="30" name="Text 28"/>
          <p:cNvSpPr txBox="1"/>
          <p:nvPr/>
        </p:nvSpPr>
        <p:spPr>
          <a:xfrm>
            <a:off x="2952232" y="5285232"/>
            <a:ext cx="1754368" cy="676656"/>
          </a:xfrm>
          <a:prstGeom prst="rect">
            <a:avLst/>
          </a:prstGeom>
          <a:noFill/>
          <a:ln/>
        </p:spPr>
        <p:txBody>
          <a:bodyPr wrap="square" lIns="0" tIns="0" rIns="0" bIns="0" rtlCol="0" anchor="t"/>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Build the board, matching, JD reader and handoff</a:t>
            </a:r>
            <a:endParaRPr lang="en-US" sz="1400" dirty="0"/>
          </a:p>
        </p:txBody>
      </p:sp>
      <p:sp>
        <p:nvSpPr>
          <p:cNvPr id="31" name="Text 29"/>
          <p:cNvSpPr txBox="1"/>
          <p:nvPr/>
        </p:nvSpPr>
        <p:spPr>
          <a:xfrm>
            <a:off x="4894052" y="4882896"/>
            <a:ext cx="137160" cy="1133856"/>
          </a:xfrm>
          <a:prstGeom prst="rect">
            <a:avLst/>
          </a:prstGeom>
          <a:noFill/>
          <a:ln/>
        </p:spPr>
        <p:txBody>
          <a:bodyPr wrap="square" lIns="0" tIns="0" rIns="0" bIns="0" rtlCol="0" anchor="ctr"/>
          <a:lstStyle/>
          <a:p>
            <a:pPr algn="ctr" indent="0" marL="0">
              <a:buNone/>
            </a:pPr>
            <a:r>
              <a:rPr lang="en-US" sz="2200" b="1" dirty="0">
                <a:solidFill>
                  <a:srgbClr val="CBD5E1"/>
                </a:solidFill>
                <a:latin typeface="Arial" pitchFamily="34" charset="0"/>
                <a:ea typeface="Arial" pitchFamily="34" charset="-122"/>
                <a:cs typeface="Arial" pitchFamily="34" charset="-120"/>
              </a:rPr>
              <a:t>›</a:t>
            </a:r>
            <a:endParaRPr lang="en-US" sz="2200" dirty="0"/>
          </a:p>
        </p:txBody>
      </p:sp>
      <p:sp>
        <p:nvSpPr>
          <p:cNvPr id="32" name="Shape 30"/>
          <p:cNvSpPr/>
          <p:nvPr/>
        </p:nvSpPr>
        <p:spPr>
          <a:xfrm>
            <a:off x="5035784" y="4882896"/>
            <a:ext cx="2120128" cy="1133856"/>
          </a:xfrm>
          <a:prstGeom prst="roundRect">
            <a:avLst>
              <a:gd name="adj" fmla="val 4839"/>
            </a:avLst>
          </a:prstGeom>
          <a:solidFill>
            <a:srgbClr val="F7F8FA"/>
          </a:solidFill>
          <a:ln w="12700">
            <a:solidFill>
              <a:srgbClr val="333333"/>
            </a:solidFill>
            <a:prstDash val="solid"/>
          </a:ln>
        </p:spPr>
      </p:sp>
      <p:sp>
        <p:nvSpPr>
          <p:cNvPr id="33" name="Text 31"/>
          <p:cNvSpPr txBox="1"/>
          <p:nvPr/>
        </p:nvSpPr>
        <p:spPr>
          <a:xfrm>
            <a:off x="5218664" y="5029200"/>
            <a:ext cx="1754368" cy="237744"/>
          </a:xfrm>
          <a:prstGeom prst="rect">
            <a:avLst/>
          </a:prstGeom>
          <a:noFill/>
          <a:ln/>
        </p:spPr>
        <p:txBody>
          <a:bodyPr wrap="square" lIns="0" tIns="0" rIns="0" bIns="0" rtlCol="0" anchor="ctr"/>
          <a:lstStyle/>
          <a:p>
            <a:pPr indent="0" marL="0">
              <a:buNone/>
            </a:pPr>
            <a:r>
              <a:rPr lang="en-US" sz="1500" b="1" dirty="0">
                <a:solidFill>
                  <a:srgbClr val="C00000"/>
                </a:solidFill>
                <a:latin typeface="Arial" pitchFamily="34" charset="0"/>
                <a:ea typeface="Arial" pitchFamily="34" charset="-122"/>
                <a:cs typeface="Arial" pitchFamily="34" charset="-120"/>
              </a:rPr>
              <a:t>Weeks 7–8</a:t>
            </a:r>
            <a:endParaRPr lang="en-US" sz="1500" dirty="0"/>
          </a:p>
        </p:txBody>
      </p:sp>
      <p:sp>
        <p:nvSpPr>
          <p:cNvPr id="34" name="Text 32"/>
          <p:cNvSpPr txBox="1"/>
          <p:nvPr/>
        </p:nvSpPr>
        <p:spPr>
          <a:xfrm>
            <a:off x="5218664" y="5285232"/>
            <a:ext cx="1754368" cy="676656"/>
          </a:xfrm>
          <a:prstGeom prst="rect">
            <a:avLst/>
          </a:prstGeom>
          <a:noFill/>
          <a:ln/>
        </p:spPr>
        <p:txBody>
          <a:bodyPr wrap="square" lIns="0" tIns="0" rIns="0" bIns="0" rtlCol="0" anchor="t"/>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Batch-load skills; seed 20–30 opportunities</a:t>
            </a:r>
            <a:endParaRPr lang="en-US" sz="1400" dirty="0"/>
          </a:p>
        </p:txBody>
      </p:sp>
      <p:sp>
        <p:nvSpPr>
          <p:cNvPr id="35" name="Text 33"/>
          <p:cNvSpPr txBox="1"/>
          <p:nvPr/>
        </p:nvSpPr>
        <p:spPr>
          <a:xfrm>
            <a:off x="7160484" y="4882896"/>
            <a:ext cx="137160" cy="1133856"/>
          </a:xfrm>
          <a:prstGeom prst="rect">
            <a:avLst/>
          </a:prstGeom>
          <a:noFill/>
          <a:ln/>
        </p:spPr>
        <p:txBody>
          <a:bodyPr wrap="square" lIns="0" tIns="0" rIns="0" bIns="0" rtlCol="0" anchor="ctr"/>
          <a:lstStyle/>
          <a:p>
            <a:pPr algn="ctr" indent="0" marL="0">
              <a:buNone/>
            </a:pPr>
            <a:r>
              <a:rPr lang="en-US" sz="2200" b="1" dirty="0">
                <a:solidFill>
                  <a:srgbClr val="CBD5E1"/>
                </a:solidFill>
                <a:latin typeface="Arial" pitchFamily="34" charset="0"/>
                <a:ea typeface="Arial" pitchFamily="34" charset="-122"/>
                <a:cs typeface="Arial" pitchFamily="34" charset="-120"/>
              </a:rPr>
              <a:t>›</a:t>
            </a:r>
            <a:endParaRPr lang="en-US" sz="2200" dirty="0"/>
          </a:p>
        </p:txBody>
      </p:sp>
      <p:sp>
        <p:nvSpPr>
          <p:cNvPr id="36" name="Shape 34"/>
          <p:cNvSpPr/>
          <p:nvPr/>
        </p:nvSpPr>
        <p:spPr>
          <a:xfrm>
            <a:off x="7302216" y="4882896"/>
            <a:ext cx="2120128" cy="1133856"/>
          </a:xfrm>
          <a:prstGeom prst="roundRect">
            <a:avLst>
              <a:gd name="adj" fmla="val 4839"/>
            </a:avLst>
          </a:prstGeom>
          <a:solidFill>
            <a:srgbClr val="F7F8FA"/>
          </a:solidFill>
          <a:ln w="12700">
            <a:solidFill>
              <a:srgbClr val="333333"/>
            </a:solidFill>
            <a:prstDash val="solid"/>
          </a:ln>
        </p:spPr>
      </p:sp>
      <p:sp>
        <p:nvSpPr>
          <p:cNvPr id="37" name="Text 35"/>
          <p:cNvSpPr txBox="1"/>
          <p:nvPr/>
        </p:nvSpPr>
        <p:spPr>
          <a:xfrm>
            <a:off x="7485096" y="5029200"/>
            <a:ext cx="1754368" cy="237744"/>
          </a:xfrm>
          <a:prstGeom prst="rect">
            <a:avLst/>
          </a:prstGeom>
          <a:noFill/>
          <a:ln/>
        </p:spPr>
        <p:txBody>
          <a:bodyPr wrap="square" lIns="0" tIns="0" rIns="0" bIns="0" rtlCol="0" anchor="ctr"/>
          <a:lstStyle/>
          <a:p>
            <a:pPr indent="0" marL="0">
              <a:buNone/>
            </a:pPr>
            <a:r>
              <a:rPr lang="en-US" sz="1500" b="1" dirty="0">
                <a:solidFill>
                  <a:srgbClr val="C00000"/>
                </a:solidFill>
                <a:latin typeface="Arial" pitchFamily="34" charset="0"/>
                <a:ea typeface="Arial" pitchFamily="34" charset="-122"/>
                <a:cs typeface="Arial" pitchFamily="34" charset="-120"/>
              </a:rPr>
              <a:t>Weeks 9–12</a:t>
            </a:r>
            <a:endParaRPr lang="en-US" sz="1500" dirty="0"/>
          </a:p>
        </p:txBody>
      </p:sp>
      <p:sp>
        <p:nvSpPr>
          <p:cNvPr id="38" name="Text 36"/>
          <p:cNvSpPr txBox="1"/>
          <p:nvPr/>
        </p:nvSpPr>
        <p:spPr>
          <a:xfrm>
            <a:off x="7485096" y="5285232"/>
            <a:ext cx="1754368" cy="676656"/>
          </a:xfrm>
          <a:prstGeom prst="rect">
            <a:avLst/>
          </a:prstGeom>
          <a:noFill/>
          <a:ln/>
        </p:spPr>
        <p:txBody>
          <a:bodyPr wrap="square" lIns="0" tIns="0" rIns="0" bIns="0" rtlCol="0" anchor="t"/>
          <a:lstStyle/>
          <a:p>
            <a:pPr indent="0" marL="0">
              <a:lnSpc>
                <a:spcPts val="1800"/>
              </a:lnSpc>
              <a:buNone/>
            </a:pPr>
            <a:r>
              <a:rPr lang="en-US" sz="1400" dirty="0">
                <a:solidFill>
                  <a:srgbClr val="374151"/>
                </a:solidFill>
                <a:latin typeface="Arial" pitchFamily="34" charset="0"/>
                <a:ea typeface="Arial" pitchFamily="34" charset="-122"/>
                <a:cs typeface="Arial" pitchFamily="34" charset="-120"/>
              </a:rPr>
              <a:t>Pilot live in IT, Operations and HR</a:t>
            </a:r>
            <a:endParaRPr lang="en-US" sz="1400" dirty="0"/>
          </a:p>
        </p:txBody>
      </p:sp>
      <p:sp>
        <p:nvSpPr>
          <p:cNvPr id="39" name="Text 37"/>
          <p:cNvSpPr txBox="1"/>
          <p:nvPr/>
        </p:nvSpPr>
        <p:spPr>
          <a:xfrm>
            <a:off x="9426915" y="4882896"/>
            <a:ext cx="137160" cy="1133856"/>
          </a:xfrm>
          <a:prstGeom prst="rect">
            <a:avLst/>
          </a:prstGeom>
          <a:noFill/>
          <a:ln/>
        </p:spPr>
        <p:txBody>
          <a:bodyPr wrap="square" lIns="0" tIns="0" rIns="0" bIns="0" rtlCol="0" anchor="ctr"/>
          <a:lstStyle/>
          <a:p>
            <a:pPr algn="ctr" indent="0" marL="0">
              <a:buNone/>
            </a:pPr>
            <a:r>
              <a:rPr lang="en-US" sz="2200" b="1" dirty="0">
                <a:solidFill>
                  <a:srgbClr val="CBD5E1"/>
                </a:solidFill>
                <a:latin typeface="Arial" pitchFamily="34" charset="0"/>
                <a:ea typeface="Arial" pitchFamily="34" charset="-122"/>
                <a:cs typeface="Arial" pitchFamily="34" charset="-120"/>
              </a:rPr>
              <a:t>›</a:t>
            </a:r>
            <a:endParaRPr lang="en-US" sz="2200" dirty="0"/>
          </a:p>
        </p:txBody>
      </p:sp>
      <p:sp>
        <p:nvSpPr>
          <p:cNvPr id="40" name="Shape 38"/>
          <p:cNvSpPr/>
          <p:nvPr/>
        </p:nvSpPr>
        <p:spPr>
          <a:xfrm>
            <a:off x="9568647" y="4882896"/>
            <a:ext cx="2120128" cy="1133856"/>
          </a:xfrm>
          <a:prstGeom prst="roundRect">
            <a:avLst>
              <a:gd name="adj" fmla="val 4839"/>
            </a:avLst>
          </a:prstGeom>
          <a:solidFill>
            <a:srgbClr val="0F172A"/>
          </a:solidFill>
          <a:ln w="12700">
            <a:solidFill>
              <a:srgbClr val="333333"/>
            </a:solidFill>
            <a:prstDash val="solid"/>
          </a:ln>
        </p:spPr>
      </p:sp>
      <p:sp>
        <p:nvSpPr>
          <p:cNvPr id="41" name="Text 39"/>
          <p:cNvSpPr txBox="1"/>
          <p:nvPr/>
        </p:nvSpPr>
        <p:spPr>
          <a:xfrm>
            <a:off x="9751527" y="5029200"/>
            <a:ext cx="1754368" cy="237744"/>
          </a:xfrm>
          <a:prstGeom prst="rect">
            <a:avLst/>
          </a:prstGeom>
          <a:noFill/>
          <a:ln/>
        </p:spPr>
        <p:txBody>
          <a:bodyPr wrap="square" lIns="0" tIns="0" rIns="0" bIns="0" rtlCol="0" anchor="ctr"/>
          <a:lstStyle/>
          <a:p>
            <a:pPr indent="0" marL="0">
              <a:buNone/>
            </a:pPr>
            <a:r>
              <a:rPr lang="en-US" sz="1500" b="1" dirty="0">
                <a:solidFill>
                  <a:srgbClr val="4ADE80"/>
                </a:solidFill>
                <a:latin typeface="Arial" pitchFamily="34" charset="0"/>
                <a:ea typeface="Arial" pitchFamily="34" charset="-122"/>
                <a:cs typeface="Arial" pitchFamily="34" charset="-120"/>
              </a:rPr>
              <a:t>Month 4</a:t>
            </a:r>
            <a:endParaRPr lang="en-US" sz="1500" dirty="0"/>
          </a:p>
        </p:txBody>
      </p:sp>
      <p:sp>
        <p:nvSpPr>
          <p:cNvPr id="42" name="Text 40"/>
          <p:cNvSpPr txBox="1"/>
          <p:nvPr/>
        </p:nvSpPr>
        <p:spPr>
          <a:xfrm>
            <a:off x="9751527" y="5285232"/>
            <a:ext cx="1754368" cy="676656"/>
          </a:xfrm>
          <a:prstGeom prst="rect">
            <a:avLst/>
          </a:prstGeom>
          <a:noFill/>
          <a:ln/>
        </p:spPr>
        <p:txBody>
          <a:bodyPr wrap="square" lIns="0" tIns="0" rIns="0" bIns="0" rtlCol="0" anchor="t"/>
          <a:lstStyle/>
          <a:p>
            <a:pPr indent="0" marL="0">
              <a:lnSpc>
                <a:spcPts val="1800"/>
              </a:lnSpc>
              <a:buNone/>
            </a:pPr>
            <a:r>
              <a:rPr lang="en-US" sz="1400" dirty="0">
                <a:solidFill>
                  <a:srgbClr val="CBD5E1"/>
                </a:solidFill>
                <a:latin typeface="Arial" pitchFamily="34" charset="0"/>
                <a:ea typeface="Arial" pitchFamily="34" charset="-122"/>
                <a:cs typeface="Arial" pitchFamily="34" charset="-120"/>
              </a:rPr>
              <a:t>Report to ExCo — go or no-go</a:t>
            </a:r>
            <a:endParaRPr lang="en-US" sz="1400" dirty="0"/>
          </a:p>
        </p:txBody>
      </p:sp>
      <p:sp>
        <p:nvSpPr>
          <p:cNvPr id="43" name="Shape 41"/>
          <p:cNvSpPr/>
          <p:nvPr/>
        </p:nvSpPr>
        <p:spPr>
          <a:xfrm>
            <a:off x="502920" y="6291072"/>
            <a:ext cx="11185855" cy="0"/>
          </a:xfrm>
          <a:prstGeom prst="line">
            <a:avLst/>
          </a:prstGeom>
          <a:noFill/>
          <a:ln w="12700">
            <a:solidFill>
              <a:srgbClr val="E5E7EB"/>
            </a:solidFill>
            <a:prstDash val="solid"/>
          </a:ln>
        </p:spPr>
      </p:sp>
      <p:sp>
        <p:nvSpPr>
          <p:cNvPr id="44" name="Text 42"/>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Year one is build ₱1,454,200 plus run ₱82,151, from IT's costed ₱1,785,500. Years two and three add ₱422,451 and ₱91,151.</a:t>
            </a:r>
            <a:endParaRPr lang="en-US" sz="1400" dirty="0"/>
          </a:p>
        </p:txBody>
      </p:sp>
      <p:sp>
        <p:nvSpPr>
          <p:cNvPr id="45" name="Text 43"/>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21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0"/>
          </a:blip>
          <a:stretch>
            <a:fillRect/>
          </a:stretch>
        </p:blipFill>
        <p:spPr>
          <a:xfrm>
            <a:off x="502920" y="1298448"/>
            <a:ext cx="731520" cy="731520"/>
          </a:xfrm>
          <a:prstGeom prst="rect">
            <a:avLst/>
          </a:prstGeom>
        </p:spPr>
      </p:pic>
      <p:sp>
        <p:nvSpPr>
          <p:cNvPr id="3" name="Text 0"/>
          <p:cNvSpPr txBox="1"/>
          <p:nvPr/>
        </p:nvSpPr>
        <p:spPr>
          <a:xfrm>
            <a:off x="502920" y="2267712"/>
            <a:ext cx="10424160" cy="2103120"/>
          </a:xfrm>
          <a:prstGeom prst="rect">
            <a:avLst/>
          </a:prstGeom>
          <a:noFill/>
          <a:ln/>
        </p:spPr>
        <p:txBody>
          <a:bodyPr wrap="square" lIns="0" tIns="0" rIns="0" bIns="0" rtlCol="0" anchor="t"/>
          <a:lstStyle/>
          <a:p>
            <a:pPr indent="0" marL="0">
              <a:lnSpc>
                <a:spcPts val="5200"/>
              </a:lnSpc>
              <a:buNone/>
            </a:pPr>
            <a:r>
              <a:rPr lang="en-US" sz="4200" b="1" dirty="0">
                <a:solidFill>
                  <a:srgbClr val="FFFFFF"/>
                </a:solidFill>
                <a:latin typeface="Arial" pitchFamily="34" charset="0"/>
                <a:ea typeface="Arial" pitchFamily="34" charset="-122"/>
                <a:cs typeface="Arial" pitchFamily="34" charset="-120"/>
              </a:rPr>
              <a:t>We are paying headhunters</a:t>
            </a:r>
            <a:endParaRPr lang="en-US" sz="4200" dirty="0"/>
          </a:p>
          <a:p>
            <a:pPr indent="0" marL="0">
              <a:lnSpc>
                <a:spcPts val="5200"/>
              </a:lnSpc>
              <a:buNone/>
            </a:pPr>
            <a:r>
              <a:rPr lang="en-US" sz="4200" b="1" dirty="0">
                <a:solidFill>
                  <a:srgbClr val="FFFFFF"/>
                </a:solidFill>
                <a:latin typeface="Arial" pitchFamily="34" charset="0"/>
                <a:ea typeface="Arial" pitchFamily="34" charset="-122"/>
                <a:cs typeface="Arial" pitchFamily="34" charset="-120"/>
              </a:rPr>
              <a:t>to find people we</a:t>
            </a:r>
            <a:endParaRPr lang="en-US" sz="4200" dirty="0"/>
          </a:p>
          <a:p>
            <a:pPr indent="0" marL="0">
              <a:lnSpc>
                <a:spcPts val="5200"/>
              </a:lnSpc>
              <a:buNone/>
            </a:pPr>
            <a:r>
              <a:rPr lang="en-US" sz="4200" b="1" dirty="0">
                <a:solidFill>
                  <a:srgbClr val="FFFFFF"/>
                </a:solidFill>
                <a:latin typeface="Arial" pitchFamily="34" charset="0"/>
                <a:ea typeface="Arial" pitchFamily="34" charset="-122"/>
                <a:cs typeface="Arial" pitchFamily="34" charset="-120"/>
              </a:rPr>
              <a:t>may already employ.</a:t>
            </a:r>
            <a:endParaRPr lang="en-US" sz="4200" dirty="0"/>
          </a:p>
        </p:txBody>
      </p:sp>
      <p:sp>
        <p:nvSpPr>
          <p:cNvPr id="4" name="Shape 1"/>
          <p:cNvSpPr/>
          <p:nvPr/>
        </p:nvSpPr>
        <p:spPr>
          <a:xfrm>
            <a:off x="502920" y="4626864"/>
            <a:ext cx="4937760" cy="0"/>
          </a:xfrm>
          <a:prstGeom prst="line">
            <a:avLst/>
          </a:prstGeom>
          <a:noFill/>
          <a:ln w="38100">
            <a:solidFill>
              <a:srgbClr val="C00000"/>
            </a:solidFill>
            <a:prstDash val="solid"/>
          </a:ln>
        </p:spPr>
      </p:sp>
      <p:sp>
        <p:nvSpPr>
          <p:cNvPr id="5" name="Text 2"/>
          <p:cNvSpPr txBox="1"/>
          <p:nvPr/>
        </p:nvSpPr>
        <p:spPr>
          <a:xfrm>
            <a:off x="502920" y="4828032"/>
            <a:ext cx="9509760" cy="731520"/>
          </a:xfrm>
          <a:prstGeom prst="rect">
            <a:avLst/>
          </a:prstGeom>
          <a:noFill/>
          <a:ln/>
        </p:spPr>
        <p:txBody>
          <a:bodyPr wrap="square" lIns="0" tIns="0" rIns="0" bIns="0" rtlCol="0" anchor="t"/>
          <a:lstStyle/>
          <a:p>
            <a:pPr indent="0" marL="0">
              <a:lnSpc>
                <a:spcPts val="2700"/>
              </a:lnSpc>
              <a:buNone/>
            </a:pPr>
            <a:r>
              <a:rPr lang="en-US" sz="1900" dirty="0">
                <a:solidFill>
                  <a:srgbClr val="CBD5E1"/>
                </a:solidFill>
                <a:latin typeface="Arial" pitchFamily="34" charset="0"/>
                <a:ea typeface="Arial" pitchFamily="34" charset="-122"/>
                <a:cs typeface="Arial" pitchFamily="34" charset="-120"/>
              </a:rPr>
              <a:t>₱2.05M over three years to stop doing that. Benefit–cost ratio 3.8, payback in fourteen months, and a live skills map we have never had.</a:t>
            </a:r>
            <a:endParaRPr lang="en-US" sz="1900" dirty="0"/>
          </a:p>
        </p:txBody>
      </p:sp>
      <p:sp>
        <p:nvSpPr>
          <p:cNvPr id="6" name="Text 3"/>
          <p:cNvSpPr txBox="1"/>
          <p:nvPr/>
        </p:nvSpPr>
        <p:spPr>
          <a:xfrm>
            <a:off x="502920" y="5669280"/>
            <a:ext cx="7315200" cy="329184"/>
          </a:xfrm>
          <a:prstGeom prst="rect">
            <a:avLst/>
          </a:prstGeom>
          <a:noFill/>
          <a:ln/>
        </p:spPr>
        <p:txBody>
          <a:bodyPr wrap="square" lIns="0" tIns="0" rIns="0" bIns="0" rtlCol="0" anchor="ctr"/>
          <a:lstStyle/>
          <a:p>
            <a:pPr indent="0" marL="0">
              <a:buNone/>
            </a:pPr>
            <a:r>
              <a:rPr lang="en-US" sz="1700" b="1" dirty="0">
                <a:solidFill>
                  <a:srgbClr val="94A3B8"/>
                </a:solidFill>
                <a:latin typeface="Arial" pitchFamily="34" charset="0"/>
                <a:ea typeface="Arial" pitchFamily="34" charset="-122"/>
                <a:cs typeface="Arial" pitchFamily="34" charset="-120"/>
              </a:rPr>
              <a:t>Thank you.   Questions welcome.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02920" y="2743200"/>
            <a:ext cx="7315200" cy="731520"/>
          </a:xfrm>
          <a:prstGeom prst="rect">
            <a:avLst/>
          </a:prstGeom>
          <a:noFill/>
          <a:ln/>
        </p:spPr>
        <p:txBody>
          <a:bodyPr wrap="square" lIns="0" tIns="0" rIns="0" bIns="0" rtlCol="0" anchor="ctr"/>
          <a:lstStyle/>
          <a:p>
            <a:pPr indent="0" marL="0">
              <a:buNone/>
            </a:pPr>
            <a:r>
              <a:rPr lang="en-US" sz="4400" b="1" spc="300" kern="0" dirty="0">
                <a:solidFill>
                  <a:srgbClr val="FFFFFF"/>
                </a:solidFill>
                <a:latin typeface="Arial" pitchFamily="34" charset="0"/>
                <a:ea typeface="Arial" pitchFamily="34" charset="-122"/>
                <a:cs typeface="Arial" pitchFamily="34" charset="-120"/>
              </a:rPr>
              <a:t>APPENDIX</a:t>
            </a:r>
            <a:endParaRPr lang="en-US" sz="4400" dirty="0"/>
          </a:p>
        </p:txBody>
      </p:sp>
      <p:sp>
        <p:nvSpPr>
          <p:cNvPr id="3" name="Text 1"/>
          <p:cNvSpPr txBox="1"/>
          <p:nvPr/>
        </p:nvSpPr>
        <p:spPr>
          <a:xfrm>
            <a:off x="502920" y="3566160"/>
            <a:ext cx="9509760" cy="365760"/>
          </a:xfrm>
          <a:prstGeom prst="rect">
            <a:avLst/>
          </a:prstGeom>
          <a:noFill/>
          <a:ln/>
        </p:spPr>
        <p:txBody>
          <a:bodyPr wrap="square" lIns="0" tIns="0" rIns="0" bIns="0" rtlCol="0" anchor="ctr"/>
          <a:lstStyle/>
          <a:p>
            <a:pPr indent="0" marL="0">
              <a:buNone/>
            </a:pPr>
            <a:r>
              <a:rPr lang="en-US" sz="1700" dirty="0">
                <a:solidFill>
                  <a:srgbClr val="94A3B8"/>
                </a:solidFill>
                <a:latin typeface="Arial" pitchFamily="34" charset="0"/>
                <a:ea typeface="Arial" pitchFamily="34" charset="-122"/>
                <a:cs typeface="Arial" pitchFamily="34" charset="-120"/>
              </a:rPr>
              <a:t>Population scaling  ·  band economics  ·  business model canvas  ·  demand evidence  ·  sources</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SCALING BEYOND THE PILOT</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The build is bought once. The rest is run cost.</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Three-year totals at four scopes. Same software, same ₱1,785,500 build. FX ₱61 = US$1, 10% discount rate.</a:t>
            </a:r>
            <a:endParaRPr lang="en-US" sz="1600" dirty="0"/>
          </a:p>
        </p:txBody>
      </p:sp>
      <p:sp>
        <p:nvSpPr>
          <p:cNvPr id="5" name="Shape 3"/>
          <p:cNvSpPr/>
          <p:nvPr/>
        </p:nvSpPr>
        <p:spPr>
          <a:xfrm>
            <a:off x="502920"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04088" y="1828800"/>
            <a:ext cx="2243252" cy="4572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₱1.97M</a:t>
            </a:r>
            <a:endParaRPr lang="en-US" sz="3000" dirty="0"/>
          </a:p>
        </p:txBody>
      </p:sp>
      <p:sp>
        <p:nvSpPr>
          <p:cNvPr id="7" name="Text 5"/>
          <p:cNvSpPr txBox="1"/>
          <p:nvPr/>
        </p:nvSpPr>
        <p:spPr>
          <a:xfrm>
            <a:off x="704088"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Pilot · 637</a:t>
            </a:r>
            <a:endParaRPr lang="en-US" sz="1500" dirty="0"/>
          </a:p>
        </p:txBody>
      </p:sp>
      <p:sp>
        <p:nvSpPr>
          <p:cNvPr id="8" name="Text 6"/>
          <p:cNvSpPr txBox="1"/>
          <p:nvPr/>
        </p:nvSpPr>
        <p:spPr>
          <a:xfrm>
            <a:off x="704088"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₱1,032 per employee a year</a:t>
            </a:r>
            <a:endParaRPr lang="en-US" sz="1400" dirty="0"/>
          </a:p>
        </p:txBody>
      </p:sp>
      <p:sp>
        <p:nvSpPr>
          <p:cNvPr id="9" name="Shape 7"/>
          <p:cNvSpPr/>
          <p:nvPr/>
        </p:nvSpPr>
        <p:spPr>
          <a:xfrm>
            <a:off x="3349676"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8"/>
          <p:cNvSpPr txBox="1"/>
          <p:nvPr/>
        </p:nvSpPr>
        <p:spPr>
          <a:xfrm>
            <a:off x="3550844" y="1828800"/>
            <a:ext cx="2243252" cy="457200"/>
          </a:xfrm>
          <a:prstGeom prst="rect">
            <a:avLst/>
          </a:prstGeom>
          <a:noFill/>
          <a:ln/>
        </p:spPr>
        <p:txBody>
          <a:bodyPr wrap="square" lIns="0" tIns="0" rIns="0" bIns="0" rtlCol="0" anchor="ctr"/>
          <a:lstStyle/>
          <a:p>
            <a:pPr indent="0" marL="0">
              <a:buNone/>
            </a:pPr>
            <a:r>
              <a:rPr lang="en-US" sz="3000" b="1" dirty="0">
                <a:solidFill>
                  <a:srgbClr val="C00000"/>
                </a:solidFill>
                <a:latin typeface="Arial" pitchFamily="34" charset="0"/>
                <a:ea typeface="Arial" pitchFamily="34" charset="-122"/>
                <a:cs typeface="Arial" pitchFamily="34" charset="-120"/>
              </a:rPr>
              <a:t>₱2.05M</a:t>
            </a:r>
            <a:endParaRPr lang="en-US" sz="3000" dirty="0"/>
          </a:p>
        </p:txBody>
      </p:sp>
      <p:sp>
        <p:nvSpPr>
          <p:cNvPr id="11" name="Text 9"/>
          <p:cNvSpPr txBox="1"/>
          <p:nvPr/>
        </p:nvSpPr>
        <p:spPr>
          <a:xfrm>
            <a:off x="3550844"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Pilot + mass ops · 1,113</a:t>
            </a:r>
            <a:endParaRPr lang="en-US" sz="1500" dirty="0"/>
          </a:p>
        </p:txBody>
      </p:sp>
      <p:sp>
        <p:nvSpPr>
          <p:cNvPr id="12" name="Text 10"/>
          <p:cNvSpPr txBox="1"/>
          <p:nvPr/>
        </p:nvSpPr>
        <p:spPr>
          <a:xfrm>
            <a:off x="3550844"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₱614 · the case in this deck</a:t>
            </a:r>
            <a:endParaRPr lang="en-US" sz="1400" dirty="0"/>
          </a:p>
        </p:txBody>
      </p:sp>
      <p:sp>
        <p:nvSpPr>
          <p:cNvPr id="13" name="Shape 11"/>
          <p:cNvSpPr/>
          <p:nvPr/>
        </p:nvSpPr>
        <p:spPr>
          <a:xfrm>
            <a:off x="6196432"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4" name="Text 12"/>
          <p:cNvSpPr txBox="1"/>
          <p:nvPr/>
        </p:nvSpPr>
        <p:spPr>
          <a:xfrm>
            <a:off x="6397600" y="1828800"/>
            <a:ext cx="2243252" cy="4572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₱2.19M</a:t>
            </a:r>
            <a:endParaRPr lang="en-US" sz="3000" dirty="0"/>
          </a:p>
        </p:txBody>
      </p:sp>
      <p:sp>
        <p:nvSpPr>
          <p:cNvPr id="15" name="Text 13"/>
          <p:cNvSpPr txBox="1"/>
          <p:nvPr/>
        </p:nvSpPr>
        <p:spPr>
          <a:xfrm>
            <a:off x="6397600"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All non-mass · 1,991</a:t>
            </a:r>
            <a:endParaRPr lang="en-US" sz="1500" dirty="0"/>
          </a:p>
        </p:txBody>
      </p:sp>
      <p:sp>
        <p:nvSpPr>
          <p:cNvPr id="16" name="Text 14"/>
          <p:cNvSpPr txBox="1"/>
          <p:nvPr/>
        </p:nvSpPr>
        <p:spPr>
          <a:xfrm>
            <a:off x="6397600"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₱367 per employee a year</a:t>
            </a:r>
            <a:endParaRPr lang="en-US" sz="1400" dirty="0"/>
          </a:p>
        </p:txBody>
      </p:sp>
      <p:sp>
        <p:nvSpPr>
          <p:cNvPr id="17" name="Shape 15"/>
          <p:cNvSpPr/>
          <p:nvPr/>
        </p:nvSpPr>
        <p:spPr>
          <a:xfrm>
            <a:off x="9043187" y="1719072"/>
            <a:ext cx="2645588" cy="1572768"/>
          </a:xfrm>
          <a:prstGeom prst="roundRect">
            <a:avLst>
              <a:gd name="adj" fmla="val 3488"/>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8" name="Text 16"/>
          <p:cNvSpPr txBox="1"/>
          <p:nvPr/>
        </p:nvSpPr>
        <p:spPr>
          <a:xfrm>
            <a:off x="9244355" y="1828800"/>
            <a:ext cx="2243252" cy="4572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₱5.27M</a:t>
            </a:r>
            <a:endParaRPr lang="en-US" sz="3000" dirty="0"/>
          </a:p>
        </p:txBody>
      </p:sp>
      <p:sp>
        <p:nvSpPr>
          <p:cNvPr id="19" name="Text 17"/>
          <p:cNvSpPr txBox="1"/>
          <p:nvPr/>
        </p:nvSpPr>
        <p:spPr>
          <a:xfrm>
            <a:off x="9244355" y="2267712"/>
            <a:ext cx="2243252" cy="475488"/>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Full org · 20,587</a:t>
            </a:r>
            <a:endParaRPr lang="en-US" sz="1500" dirty="0"/>
          </a:p>
        </p:txBody>
      </p:sp>
      <p:sp>
        <p:nvSpPr>
          <p:cNvPr id="20" name="Text 18"/>
          <p:cNvSpPr txBox="1"/>
          <p:nvPr/>
        </p:nvSpPr>
        <p:spPr>
          <a:xfrm>
            <a:off x="9244355" y="2724912"/>
            <a:ext cx="2243252" cy="530352"/>
          </a:xfrm>
          <a:prstGeom prst="rect">
            <a:avLst/>
          </a:prstGeom>
          <a:noFill/>
          <a:ln/>
        </p:spPr>
        <p:txBody>
          <a:bodyPr wrap="square" lIns="0" tIns="0" rIns="0" bIns="0" rtlCol="0" anchor="t"/>
          <a:lstStyle/>
          <a:p>
            <a:pPr indent="0" marL="0">
              <a:lnSpc>
                <a:spcPts val="1800"/>
              </a:lnSpc>
              <a:buNone/>
            </a:pPr>
            <a:r>
              <a:rPr lang="en-US" sz="1400" dirty="0">
                <a:solidFill>
                  <a:srgbClr val="6B7280"/>
                </a:solidFill>
                <a:latin typeface="Arial" pitchFamily="34" charset="0"/>
                <a:ea typeface="Arial" pitchFamily="34" charset="-122"/>
                <a:cs typeface="Arial" pitchFamily="34" charset="-120"/>
              </a:rPr>
              <a:t>₱85 per employee a year</a:t>
            </a:r>
            <a:endParaRPr lang="en-US" sz="1400" dirty="0"/>
          </a:p>
        </p:txBody>
      </p:sp>
      <p:sp>
        <p:nvSpPr>
          <p:cNvPr id="21" name="Shape 19"/>
          <p:cNvSpPr/>
          <p:nvPr/>
        </p:nvSpPr>
        <p:spPr>
          <a:xfrm>
            <a:off x="502920" y="3383280"/>
            <a:ext cx="11185855" cy="1883664"/>
          </a:xfrm>
          <a:prstGeom prst="roundRect">
            <a:avLst>
              <a:gd name="adj" fmla="val 2913"/>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2" name="Text 20"/>
          <p:cNvSpPr txBox="1"/>
          <p:nvPr/>
        </p:nvSpPr>
        <p:spPr>
          <a:xfrm>
            <a:off x="758952" y="3493008"/>
            <a:ext cx="10673791" cy="256032"/>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Totals by population</a:t>
            </a:r>
            <a:endParaRPr lang="en-US" sz="1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58952" y="3785616"/>
          <a:ext cx="10673791" cy="914400"/>
        </p:xfrm>
        <a:graphic>
          <a:graphicData uri="http://schemas.openxmlformats.org/drawingml/2006/table">
            <a:tbl>
              <a:tblPr/>
              <a:tblGrid>
                <a:gridCol w="2606040"/>
                <a:gridCol w="804672"/>
                <a:gridCol w="1298448"/>
                <a:gridCol w="1243584"/>
                <a:gridCol w="1243584"/>
                <a:gridCol w="1517904"/>
                <a:gridCol w="1280160"/>
                <a:gridCol w="685800"/>
              </a:tblGrid>
              <a:tr h="237744">
                <a:tc>
                  <a:txBody>
                    <a:bodyPr/>
                    <a:lstStyle/>
                    <a:p>
                      <a:pPr indent="0" marL="0">
                        <a:buNone/>
                      </a:pPr>
                      <a:r>
                        <a:rPr lang="en-US" sz="1400" b="1" dirty="0">
                          <a:solidFill>
                            <a:srgbClr val="6B7280"/>
                          </a:solidFill>
                          <a:latin typeface="Arial" pitchFamily="34" charset="0"/>
                          <a:ea typeface="Arial" pitchFamily="34" charset="-122"/>
                          <a:cs typeface="Arial" pitchFamily="34" charset="-120"/>
                        </a:rPr>
                        <a:t>Scope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People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Year 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Year 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Year 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Three-year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Per emp/yr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BCR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Pilot — IT, Operations, HR</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637</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1,512,174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395,274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63,974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1,971,422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₱1,032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b="1" dirty="0">
                          <a:solidFill>
                            <a:srgbClr val="0F172A"/>
                          </a:solidFill>
                          <a:latin typeface="Arial" pitchFamily="34" charset="0"/>
                          <a:ea typeface="Arial" pitchFamily="34" charset="-122"/>
                          <a:cs typeface="Arial" pitchFamily="34" charset="-120"/>
                        </a:rPr>
                        <a:t>Pilot + mass operations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1,113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1,536,351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422,451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91,151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C00000"/>
                          </a:solidFill>
                          <a:latin typeface="Arial" pitchFamily="34" charset="0"/>
                          <a:ea typeface="Arial" pitchFamily="34" charset="-122"/>
                          <a:cs typeface="Arial" pitchFamily="34" charset="-120"/>
                        </a:rPr>
                        <a:t>2,049,953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₱614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15803D"/>
                          </a:solidFill>
                          <a:latin typeface="Arial" pitchFamily="34" charset="0"/>
                          <a:ea typeface="Arial" pitchFamily="34" charset="-122"/>
                          <a:cs typeface="Arial" pitchFamily="34" charset="-120"/>
                        </a:rPr>
                        <a:t>3.8</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All non-mass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1,991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1,580,946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470,046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138,746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2,189,738</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₱367</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10.4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37744">
                <a:tc>
                  <a:txBody>
                    <a:bodyPr/>
                    <a:lstStyle/>
                    <a:p>
                      <a:pPr indent="0" marL="0">
                        <a:buNone/>
                      </a:pPr>
                      <a:r>
                        <a:rPr lang="en-US" sz="1400" dirty="0">
                          <a:solidFill>
                            <a:srgbClr val="374151"/>
                          </a:solidFill>
                          <a:latin typeface="Arial" pitchFamily="34" charset="0"/>
                          <a:ea typeface="Arial" pitchFamily="34" charset="-122"/>
                          <a:cs typeface="Arial" pitchFamily="34" charset="-120"/>
                        </a:rPr>
                        <a:t>Full organisation</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20,587</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2,576,712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1,513,812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1,182,512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5,273,036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₱85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9.9</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bl>
          </a:graphicData>
        </a:graphic>
      </p:graphicFrame>
      <p:sp>
        <p:nvSpPr>
          <p:cNvPr id="24" name="Shape 21"/>
          <p:cNvSpPr/>
          <p:nvPr/>
        </p:nvSpPr>
        <p:spPr>
          <a:xfrm>
            <a:off x="502920" y="5358384"/>
            <a:ext cx="11185855" cy="694944"/>
          </a:xfrm>
          <a:prstGeom prst="roundRect">
            <a:avLst>
              <a:gd name="adj" fmla="val 7895"/>
            </a:avLst>
          </a:prstGeom>
          <a:solidFill>
            <a:srgbClr val="0F172A"/>
          </a:solidFill>
          <a:ln w="12700">
            <a:solidFill>
              <a:srgbClr val="333333"/>
            </a:solidFill>
            <a:prstDash val="solid"/>
          </a:ln>
        </p:spPr>
      </p:sp>
      <p:sp>
        <p:nvSpPr>
          <p:cNvPr id="25" name="Text 22"/>
          <p:cNvSpPr txBox="1"/>
          <p:nvPr/>
        </p:nvSpPr>
        <p:spPr>
          <a:xfrm>
            <a:off x="832104" y="5486400"/>
            <a:ext cx="10527487" cy="45720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Arial" pitchFamily="34" charset="0"/>
                <a:ea typeface="Arial" pitchFamily="34" charset="-122"/>
                <a:cs typeface="Arial" pitchFamily="34" charset="-120"/>
              </a:rPr>
              <a:t>The build never moves. </a:t>
            </a:r>
            <a:pPr indent="0" marL="0">
              <a:lnSpc>
                <a:spcPts val="1900"/>
              </a:lnSpc>
              <a:buNone/>
            </a:pPr>
            <a:r>
              <a:rPr lang="en-US" sz="1500" dirty="0">
                <a:solidFill>
                  <a:srgbClr val="CBD5E1"/>
                </a:solidFill>
                <a:latin typeface="Arial" pitchFamily="34" charset="0"/>
                <a:ea typeface="Arial" pitchFamily="34" charset="-122"/>
                <a:cs typeface="Arial" pitchFamily="34" charset="-120"/>
              </a:rPr>
              <a:t>₱1,785,500 is 91% of the pilot's cost and 34% of the full organisation's. Going from 1,113 to all 1,991 non-mass people adds ₱139,785 over three years — ₱53 per extra employee a year.</a:t>
            </a:r>
            <a:endParaRPr lang="en-US" sz="1500" dirty="0"/>
          </a:p>
        </p:txBody>
      </p:sp>
      <p:sp>
        <p:nvSpPr>
          <p:cNvPr id="26" name="Shape 23"/>
          <p:cNvSpPr/>
          <p:nvPr/>
        </p:nvSpPr>
        <p:spPr>
          <a:xfrm>
            <a:off x="502920" y="6291072"/>
            <a:ext cx="11185855" cy="0"/>
          </a:xfrm>
          <a:prstGeom prst="line">
            <a:avLst/>
          </a:prstGeom>
          <a:noFill/>
          <a:ln w="12700">
            <a:solidFill>
              <a:srgbClr val="E5E7EB"/>
            </a:solidFill>
            <a:prstDash val="solid"/>
          </a:ln>
        </p:spPr>
      </p:sp>
      <p:sp>
        <p:nvSpPr>
          <p:cNvPr id="27" name="Text 24"/>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Run lines scale by what drives them: Claude and email by headcount, Supabase by tier, reconciliation by referral volume. Basis: docs/v2-cba-model.py.</a:t>
            </a:r>
            <a:endParaRPr lang="en-US" sz="1400" dirty="0"/>
          </a:p>
        </p:txBody>
      </p:sp>
      <p:sp>
        <p:nvSpPr>
          <p:cNvPr id="28" name="Text 25"/>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24</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APPENDIX · WHERE THE MONEY IS</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Two realistic moves, not one heroic leap.</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Band C is where the fee is largest — and the move there is lateral, which is why the saving is credible.</a:t>
            </a:r>
            <a:endParaRPr lang="en-US" sz="1600" dirty="0"/>
          </a:p>
        </p:txBody>
      </p:sp>
      <p:sp>
        <p:nvSpPr>
          <p:cNvPr id="5" name="Shape 3"/>
          <p:cNvSpPr/>
          <p:nvPr/>
        </p:nvSpPr>
        <p:spPr>
          <a:xfrm>
            <a:off x="502920" y="1773936"/>
            <a:ext cx="5464912" cy="2743200"/>
          </a:xfrm>
          <a:prstGeom prst="roundRect">
            <a:avLst>
              <a:gd name="adj" fmla="val 2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Shape 4"/>
          <p:cNvSpPr/>
          <p:nvPr/>
        </p:nvSpPr>
        <p:spPr>
          <a:xfrm>
            <a:off x="758952" y="1956816"/>
            <a:ext cx="1133856" cy="310896"/>
          </a:xfrm>
          <a:prstGeom prst="roundRect">
            <a:avLst>
              <a:gd name="adj" fmla="val 50000"/>
            </a:avLst>
          </a:prstGeom>
          <a:solidFill>
            <a:srgbClr val="EFF6FF"/>
          </a:solidFill>
          <a:ln w="12700">
            <a:solidFill>
              <a:srgbClr val="333333"/>
            </a:solidFill>
            <a:prstDash val="solid"/>
          </a:ln>
        </p:spPr>
      </p:sp>
      <p:sp>
        <p:nvSpPr>
          <p:cNvPr id="7" name="Text 5"/>
          <p:cNvSpPr txBox="1"/>
          <p:nvPr/>
        </p:nvSpPr>
        <p:spPr>
          <a:xfrm>
            <a:off x="758952" y="1956816"/>
            <a:ext cx="1133856" cy="310896"/>
          </a:xfrm>
          <a:prstGeom prst="rect">
            <a:avLst/>
          </a:prstGeom>
          <a:noFill/>
          <a:ln/>
        </p:spPr>
        <p:txBody>
          <a:bodyPr wrap="square" lIns="0" tIns="0" rIns="0" bIns="0" rtlCol="0" anchor="ctr"/>
          <a:lstStyle/>
          <a:p>
            <a:pPr algn="ctr" indent="0" marL="0">
              <a:buNone/>
            </a:pPr>
            <a:r>
              <a:rPr lang="en-US" sz="1400" b="1" spc="100" kern="0" dirty="0">
                <a:solidFill>
                  <a:srgbClr val="1D4ED8"/>
                </a:solidFill>
                <a:latin typeface="Arial" pitchFamily="34" charset="0"/>
                <a:ea typeface="Arial" pitchFamily="34" charset="-122"/>
                <a:cs typeface="Arial" pitchFamily="34" charset="-120"/>
              </a:rPr>
              <a:t>BAND B</a:t>
            </a:r>
            <a:endParaRPr lang="en-US" sz="1400" dirty="0"/>
          </a:p>
        </p:txBody>
      </p:sp>
      <p:sp>
        <p:nvSpPr>
          <p:cNvPr id="8" name="Text 6"/>
          <p:cNvSpPr txBox="1"/>
          <p:nvPr/>
        </p:nvSpPr>
        <p:spPr>
          <a:xfrm>
            <a:off x="758952" y="2359152"/>
            <a:ext cx="4952848" cy="292608"/>
          </a:xfrm>
          <a:prstGeom prst="rect">
            <a:avLst/>
          </a:prstGeom>
          <a:noFill/>
          <a:ln/>
        </p:spPr>
        <p:txBody>
          <a:bodyPr wrap="square" lIns="0" tIns="0" rIns="0" bIns="0" rtlCol="0" anchor="ctr"/>
          <a:lstStyle/>
          <a:p>
            <a:pPr indent="0" marL="0">
              <a:buNone/>
            </a:pPr>
            <a:r>
              <a:rPr lang="en-US" sz="2000" b="1" dirty="0">
                <a:solidFill>
                  <a:srgbClr val="0F172A"/>
                </a:solidFill>
                <a:latin typeface="Arial" pitchFamily="34" charset="0"/>
                <a:ea typeface="Arial" pitchFamily="34" charset="-122"/>
                <a:cs typeface="Arial" pitchFamily="34" charset="-120"/>
              </a:rPr>
              <a:t>The upward pivot</a:t>
            </a:r>
            <a:endParaRPr lang="en-US" sz="2000" dirty="0"/>
          </a:p>
        </p:txBody>
      </p:sp>
      <p:sp>
        <p:nvSpPr>
          <p:cNvPr id="9" name="Text 7"/>
          <p:cNvSpPr txBox="1"/>
          <p:nvPr/>
        </p:nvSpPr>
        <p:spPr>
          <a:xfrm>
            <a:off x="758952" y="2670048"/>
            <a:ext cx="4952848" cy="457200"/>
          </a:xfrm>
          <a:prstGeom prst="rect">
            <a:avLst/>
          </a:prstGeom>
          <a:noFill/>
          <a:ln/>
        </p:spPr>
        <p:txBody>
          <a:bodyPr wrap="square" lIns="0" tIns="0" rIns="0" bIns="0" rtlCol="0" anchor="t"/>
          <a:lstStyle/>
          <a:p>
            <a:pPr indent="0" marL="0">
              <a:lnSpc>
                <a:spcPts val="2000"/>
              </a:lnSpc>
              <a:buNone/>
            </a:pPr>
            <a:r>
              <a:rPr lang="en-US" sz="1500" dirty="0">
                <a:solidFill>
                  <a:srgbClr val="6B7280"/>
                </a:solidFill>
                <a:latin typeface="Arial" pitchFamily="34" charset="0"/>
                <a:ea typeface="Arial" pitchFamily="34" charset="-122"/>
                <a:cs typeface="Arial" pitchFamily="34" charset="-120"/>
              </a:rPr>
              <a:t>Employees growing into a reachable next-level role — the natural, believable step up.</a:t>
            </a:r>
            <a:endParaRPr lang="en-US" sz="1500" dirty="0"/>
          </a:p>
        </p:txBody>
      </p:sp>
      <p:sp>
        <p:nvSpPr>
          <p:cNvPr id="10" name="Text 8"/>
          <p:cNvSpPr txBox="1"/>
          <p:nvPr/>
        </p:nvSpPr>
        <p:spPr>
          <a:xfrm>
            <a:off x="758952" y="3200400"/>
            <a:ext cx="3453232" cy="274320"/>
          </a:xfrm>
          <a:prstGeom prst="rect">
            <a:avLst/>
          </a:prstGeom>
          <a:noFill/>
          <a:ln/>
        </p:spPr>
        <p:txBody>
          <a:bodyPr wrap="square" lIns="0" tIns="0" rIns="0" bIns="0" rtlCol="0" anchor="ctr"/>
          <a:lstStyle/>
          <a:p>
            <a:pPr indent="0" marL="0">
              <a:buNone/>
            </a:pPr>
            <a:r>
              <a:rPr lang="en-US" sz="1500" dirty="0">
                <a:solidFill>
                  <a:srgbClr val="374151"/>
                </a:solidFill>
                <a:latin typeface="Arial" pitchFamily="34" charset="0"/>
                <a:ea typeface="Arial" pitchFamily="34" charset="-122"/>
                <a:cs typeface="Arial" pitchFamily="34" charset="-120"/>
              </a:rPr>
              <a:t>Roles filled per year</a:t>
            </a:r>
            <a:endParaRPr lang="en-US" sz="1500" dirty="0"/>
          </a:p>
        </p:txBody>
      </p:sp>
      <p:sp>
        <p:nvSpPr>
          <p:cNvPr id="11" name="Text 9"/>
          <p:cNvSpPr txBox="1"/>
          <p:nvPr/>
        </p:nvSpPr>
        <p:spPr>
          <a:xfrm>
            <a:off x="4230472" y="3200400"/>
            <a:ext cx="1481328"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186</a:t>
            </a:r>
            <a:endParaRPr lang="en-US" sz="1600" dirty="0"/>
          </a:p>
        </p:txBody>
      </p:sp>
      <p:sp>
        <p:nvSpPr>
          <p:cNvPr id="12" name="Text 10"/>
          <p:cNvSpPr txBox="1"/>
          <p:nvPr/>
        </p:nvSpPr>
        <p:spPr>
          <a:xfrm>
            <a:off x="758952" y="3529584"/>
            <a:ext cx="3453232" cy="274320"/>
          </a:xfrm>
          <a:prstGeom prst="rect">
            <a:avLst/>
          </a:prstGeom>
          <a:noFill/>
          <a:ln/>
        </p:spPr>
        <p:txBody>
          <a:bodyPr wrap="square" lIns="0" tIns="0" rIns="0" bIns="0" rtlCol="0" anchor="ctr"/>
          <a:lstStyle/>
          <a:p>
            <a:pPr indent="0" marL="0">
              <a:buNone/>
            </a:pPr>
            <a:r>
              <a:rPr lang="en-US" sz="1500" dirty="0">
                <a:solidFill>
                  <a:srgbClr val="374151"/>
                </a:solidFill>
                <a:latin typeface="Arial" pitchFamily="34" charset="0"/>
                <a:ea typeface="Arial" pitchFamily="34" charset="-122"/>
                <a:cs typeface="Arial" pitchFamily="34" charset="-120"/>
              </a:rPr>
              <a:t>Cost per hire</a:t>
            </a:r>
            <a:endParaRPr lang="en-US" sz="1500" dirty="0"/>
          </a:p>
        </p:txBody>
      </p:sp>
      <p:sp>
        <p:nvSpPr>
          <p:cNvPr id="13" name="Text 11"/>
          <p:cNvSpPr txBox="1"/>
          <p:nvPr/>
        </p:nvSpPr>
        <p:spPr>
          <a:xfrm>
            <a:off x="4230472" y="3529584"/>
            <a:ext cx="1481328"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₱22,446</a:t>
            </a:r>
            <a:endParaRPr lang="en-US" sz="1600" dirty="0"/>
          </a:p>
        </p:txBody>
      </p:sp>
      <p:sp>
        <p:nvSpPr>
          <p:cNvPr id="14" name="Text 12"/>
          <p:cNvSpPr txBox="1"/>
          <p:nvPr/>
        </p:nvSpPr>
        <p:spPr>
          <a:xfrm>
            <a:off x="758952" y="3858768"/>
            <a:ext cx="3453232" cy="274320"/>
          </a:xfrm>
          <a:prstGeom prst="rect">
            <a:avLst/>
          </a:prstGeom>
          <a:noFill/>
          <a:ln/>
        </p:spPr>
        <p:txBody>
          <a:bodyPr wrap="square" lIns="0" tIns="0" rIns="0" bIns="0" rtlCol="0" anchor="ctr"/>
          <a:lstStyle/>
          <a:p>
            <a:pPr indent="0" marL="0">
              <a:buNone/>
            </a:pPr>
            <a:r>
              <a:rPr lang="en-US" sz="1500" dirty="0">
                <a:solidFill>
                  <a:srgbClr val="374151"/>
                </a:solidFill>
                <a:latin typeface="Arial" pitchFamily="34" charset="0"/>
                <a:ea typeface="Arial" pitchFamily="34" charset="-122"/>
                <a:cs typeface="Arial" pitchFamily="34" charset="-120"/>
              </a:rPr>
              <a:t>Headhunter fee per hire</a:t>
            </a:r>
            <a:endParaRPr lang="en-US" sz="1500" dirty="0"/>
          </a:p>
        </p:txBody>
      </p:sp>
      <p:sp>
        <p:nvSpPr>
          <p:cNvPr id="15" name="Text 13"/>
          <p:cNvSpPr txBox="1"/>
          <p:nvPr/>
        </p:nvSpPr>
        <p:spPr>
          <a:xfrm>
            <a:off x="4230472" y="3858768"/>
            <a:ext cx="1481328"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₱9,791</a:t>
            </a:r>
            <a:endParaRPr lang="en-US" sz="1600" dirty="0"/>
          </a:p>
        </p:txBody>
      </p:sp>
      <p:sp>
        <p:nvSpPr>
          <p:cNvPr id="16" name="Shape 14"/>
          <p:cNvSpPr/>
          <p:nvPr/>
        </p:nvSpPr>
        <p:spPr>
          <a:xfrm>
            <a:off x="758952" y="4224528"/>
            <a:ext cx="4952848" cy="402336"/>
          </a:xfrm>
          <a:prstGeom prst="roundRect">
            <a:avLst>
              <a:gd name="adj" fmla="val 13636"/>
            </a:avLst>
          </a:prstGeom>
          <a:solidFill>
            <a:srgbClr val="EFF6FF"/>
          </a:solidFill>
          <a:ln w="12700">
            <a:solidFill>
              <a:srgbClr val="333333"/>
            </a:solidFill>
            <a:prstDash val="solid"/>
          </a:ln>
        </p:spPr>
      </p:sp>
      <p:sp>
        <p:nvSpPr>
          <p:cNvPr id="17" name="Text 15"/>
          <p:cNvSpPr txBox="1"/>
          <p:nvPr/>
        </p:nvSpPr>
        <p:spPr>
          <a:xfrm>
            <a:off x="758952" y="4224528"/>
            <a:ext cx="4952848" cy="402336"/>
          </a:xfrm>
          <a:prstGeom prst="rect">
            <a:avLst/>
          </a:prstGeom>
          <a:noFill/>
          <a:ln/>
        </p:spPr>
        <p:txBody>
          <a:bodyPr wrap="square" lIns="0" tIns="0" rIns="0" bIns="0" rtlCol="0" anchor="ctr"/>
          <a:lstStyle/>
          <a:p>
            <a:pPr algn="ctr" indent="0" marL="0">
              <a:buNone/>
            </a:pPr>
            <a:r>
              <a:rPr lang="en-US" sz="1600" b="1" dirty="0">
                <a:solidFill>
                  <a:srgbClr val="1D4ED8"/>
                </a:solidFill>
                <a:latin typeface="Arial" pitchFamily="34" charset="0"/>
                <a:ea typeface="Arial" pitchFamily="34" charset="-122"/>
                <a:cs typeface="Arial" pitchFamily="34" charset="-120"/>
              </a:rPr>
              <a:t>₱22,446 saved per internal fill</a:t>
            </a:r>
            <a:endParaRPr lang="en-US" sz="1600" dirty="0"/>
          </a:p>
        </p:txBody>
      </p:sp>
      <p:sp>
        <p:nvSpPr>
          <p:cNvPr id="18" name="Shape 16"/>
          <p:cNvSpPr/>
          <p:nvPr/>
        </p:nvSpPr>
        <p:spPr>
          <a:xfrm>
            <a:off x="6223864" y="1773936"/>
            <a:ext cx="5464912" cy="2743200"/>
          </a:xfrm>
          <a:prstGeom prst="roundRect">
            <a:avLst>
              <a:gd name="adj" fmla="val 2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9" name="Shape 17"/>
          <p:cNvSpPr/>
          <p:nvPr/>
        </p:nvSpPr>
        <p:spPr>
          <a:xfrm>
            <a:off x="6479896" y="1956816"/>
            <a:ext cx="1133856" cy="310896"/>
          </a:xfrm>
          <a:prstGeom prst="roundRect">
            <a:avLst>
              <a:gd name="adj" fmla="val 50000"/>
            </a:avLst>
          </a:prstGeom>
          <a:solidFill>
            <a:srgbClr val="FDF1F1"/>
          </a:solidFill>
          <a:ln w="12700">
            <a:solidFill>
              <a:srgbClr val="333333"/>
            </a:solidFill>
            <a:prstDash val="solid"/>
          </a:ln>
        </p:spPr>
      </p:sp>
      <p:sp>
        <p:nvSpPr>
          <p:cNvPr id="20" name="Text 18"/>
          <p:cNvSpPr txBox="1"/>
          <p:nvPr/>
        </p:nvSpPr>
        <p:spPr>
          <a:xfrm>
            <a:off x="6479896" y="1956816"/>
            <a:ext cx="1133856" cy="310896"/>
          </a:xfrm>
          <a:prstGeom prst="rect">
            <a:avLst/>
          </a:prstGeom>
          <a:noFill/>
          <a:ln/>
        </p:spPr>
        <p:txBody>
          <a:bodyPr wrap="square" lIns="0" tIns="0" rIns="0" bIns="0" rtlCol="0" anchor="ctr"/>
          <a:lstStyle/>
          <a:p>
            <a:pPr algn="ctr" indent="0" marL="0">
              <a:buNone/>
            </a:pPr>
            <a:r>
              <a:rPr lang="en-US" sz="1400" b="1" spc="100" kern="0" dirty="0">
                <a:solidFill>
                  <a:srgbClr val="C00000"/>
                </a:solidFill>
                <a:latin typeface="Arial" pitchFamily="34" charset="0"/>
                <a:ea typeface="Arial" pitchFamily="34" charset="-122"/>
                <a:cs typeface="Arial" pitchFamily="34" charset="-120"/>
              </a:rPr>
              <a:t>BAND C</a:t>
            </a:r>
            <a:endParaRPr lang="en-US" sz="1400" dirty="0"/>
          </a:p>
        </p:txBody>
      </p:sp>
      <p:sp>
        <p:nvSpPr>
          <p:cNvPr id="21" name="Text 19"/>
          <p:cNvSpPr txBox="1"/>
          <p:nvPr/>
        </p:nvSpPr>
        <p:spPr>
          <a:xfrm>
            <a:off x="6479896" y="2359152"/>
            <a:ext cx="4952848" cy="292608"/>
          </a:xfrm>
          <a:prstGeom prst="rect">
            <a:avLst/>
          </a:prstGeom>
          <a:noFill/>
          <a:ln/>
        </p:spPr>
        <p:txBody>
          <a:bodyPr wrap="square" lIns="0" tIns="0" rIns="0" bIns="0" rtlCol="0" anchor="ctr"/>
          <a:lstStyle/>
          <a:p>
            <a:pPr indent="0" marL="0">
              <a:buNone/>
            </a:pPr>
            <a:r>
              <a:rPr lang="en-US" sz="2000" b="1" dirty="0">
                <a:solidFill>
                  <a:srgbClr val="0F172A"/>
                </a:solidFill>
                <a:latin typeface="Arial" pitchFamily="34" charset="0"/>
                <a:ea typeface="Arial" pitchFamily="34" charset="-122"/>
                <a:cs typeface="Arial" pitchFamily="34" charset="-120"/>
              </a:rPr>
              <a:t>Lateral mobility</a:t>
            </a:r>
            <a:endParaRPr lang="en-US" sz="2000" dirty="0"/>
          </a:p>
        </p:txBody>
      </p:sp>
      <p:sp>
        <p:nvSpPr>
          <p:cNvPr id="22" name="Text 20"/>
          <p:cNvSpPr txBox="1"/>
          <p:nvPr/>
        </p:nvSpPr>
        <p:spPr>
          <a:xfrm>
            <a:off x="6479896" y="2670048"/>
            <a:ext cx="4952848" cy="457200"/>
          </a:xfrm>
          <a:prstGeom prst="rect">
            <a:avLst/>
          </a:prstGeom>
          <a:noFill/>
          <a:ln/>
        </p:spPr>
        <p:txBody>
          <a:bodyPr wrap="square" lIns="0" tIns="0" rIns="0" bIns="0" rtlCol="0" anchor="t"/>
          <a:lstStyle/>
          <a:p>
            <a:pPr indent="0" marL="0">
              <a:lnSpc>
                <a:spcPts val="2000"/>
              </a:lnSpc>
              <a:buNone/>
            </a:pPr>
            <a:r>
              <a:rPr lang="en-US" sz="1500" dirty="0">
                <a:solidFill>
                  <a:srgbClr val="6B7280"/>
                </a:solidFill>
                <a:latin typeface="Arial" pitchFamily="34" charset="0"/>
                <a:ea typeface="Arial" pitchFamily="34" charset="-122"/>
                <a:cs typeface="Arial" pitchFamily="34" charset="-120"/>
              </a:rPr>
              <a:t>Existing managers and senior managers moving across functions. Not a level leap — a sideways move.</a:t>
            </a:r>
            <a:endParaRPr lang="en-US" sz="1500" dirty="0"/>
          </a:p>
        </p:txBody>
      </p:sp>
      <p:sp>
        <p:nvSpPr>
          <p:cNvPr id="23" name="Text 21"/>
          <p:cNvSpPr txBox="1"/>
          <p:nvPr/>
        </p:nvSpPr>
        <p:spPr>
          <a:xfrm>
            <a:off x="6479896" y="3200400"/>
            <a:ext cx="3453232" cy="274320"/>
          </a:xfrm>
          <a:prstGeom prst="rect">
            <a:avLst/>
          </a:prstGeom>
          <a:noFill/>
          <a:ln/>
        </p:spPr>
        <p:txBody>
          <a:bodyPr wrap="square" lIns="0" tIns="0" rIns="0" bIns="0" rtlCol="0" anchor="ctr"/>
          <a:lstStyle/>
          <a:p>
            <a:pPr indent="0" marL="0">
              <a:buNone/>
            </a:pPr>
            <a:r>
              <a:rPr lang="en-US" sz="1500" dirty="0">
                <a:solidFill>
                  <a:srgbClr val="374151"/>
                </a:solidFill>
                <a:latin typeface="Arial" pitchFamily="34" charset="0"/>
                <a:ea typeface="Arial" pitchFamily="34" charset="-122"/>
                <a:cs typeface="Arial" pitchFamily="34" charset="-120"/>
              </a:rPr>
              <a:t>Roles filled per year</a:t>
            </a:r>
            <a:endParaRPr lang="en-US" sz="1500" dirty="0"/>
          </a:p>
        </p:txBody>
      </p:sp>
      <p:sp>
        <p:nvSpPr>
          <p:cNvPr id="24" name="Text 22"/>
          <p:cNvSpPr txBox="1"/>
          <p:nvPr/>
        </p:nvSpPr>
        <p:spPr>
          <a:xfrm>
            <a:off x="9951415" y="3200400"/>
            <a:ext cx="1481328"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103</a:t>
            </a:r>
            <a:endParaRPr lang="en-US" sz="1600" dirty="0"/>
          </a:p>
        </p:txBody>
      </p:sp>
      <p:sp>
        <p:nvSpPr>
          <p:cNvPr id="25" name="Text 23"/>
          <p:cNvSpPr txBox="1"/>
          <p:nvPr/>
        </p:nvSpPr>
        <p:spPr>
          <a:xfrm>
            <a:off x="6479896" y="3529584"/>
            <a:ext cx="3453232" cy="274320"/>
          </a:xfrm>
          <a:prstGeom prst="rect">
            <a:avLst/>
          </a:prstGeom>
          <a:noFill/>
          <a:ln/>
        </p:spPr>
        <p:txBody>
          <a:bodyPr wrap="square" lIns="0" tIns="0" rIns="0" bIns="0" rtlCol="0" anchor="ctr"/>
          <a:lstStyle/>
          <a:p>
            <a:pPr indent="0" marL="0">
              <a:buNone/>
            </a:pPr>
            <a:r>
              <a:rPr lang="en-US" sz="1500" dirty="0">
                <a:solidFill>
                  <a:srgbClr val="374151"/>
                </a:solidFill>
                <a:latin typeface="Arial" pitchFamily="34" charset="0"/>
                <a:ea typeface="Arial" pitchFamily="34" charset="-122"/>
                <a:cs typeface="Arial" pitchFamily="34" charset="-120"/>
              </a:rPr>
              <a:t>Cost per hire</a:t>
            </a:r>
            <a:endParaRPr lang="en-US" sz="1500" dirty="0"/>
          </a:p>
        </p:txBody>
      </p:sp>
      <p:sp>
        <p:nvSpPr>
          <p:cNvPr id="26" name="Text 24"/>
          <p:cNvSpPr txBox="1"/>
          <p:nvPr/>
        </p:nvSpPr>
        <p:spPr>
          <a:xfrm>
            <a:off x="9951415" y="3529584"/>
            <a:ext cx="1481328"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₱86,796</a:t>
            </a:r>
            <a:endParaRPr lang="en-US" sz="1600" dirty="0"/>
          </a:p>
        </p:txBody>
      </p:sp>
      <p:sp>
        <p:nvSpPr>
          <p:cNvPr id="27" name="Text 25"/>
          <p:cNvSpPr txBox="1"/>
          <p:nvPr/>
        </p:nvSpPr>
        <p:spPr>
          <a:xfrm>
            <a:off x="6479896" y="3858768"/>
            <a:ext cx="3453232" cy="274320"/>
          </a:xfrm>
          <a:prstGeom prst="rect">
            <a:avLst/>
          </a:prstGeom>
          <a:noFill/>
          <a:ln/>
        </p:spPr>
        <p:txBody>
          <a:bodyPr wrap="square" lIns="0" tIns="0" rIns="0" bIns="0" rtlCol="0" anchor="ctr"/>
          <a:lstStyle/>
          <a:p>
            <a:pPr indent="0" marL="0">
              <a:buNone/>
            </a:pPr>
            <a:r>
              <a:rPr lang="en-US" sz="1500" dirty="0">
                <a:solidFill>
                  <a:srgbClr val="374151"/>
                </a:solidFill>
                <a:latin typeface="Arial" pitchFamily="34" charset="0"/>
                <a:ea typeface="Arial" pitchFamily="34" charset="-122"/>
                <a:cs typeface="Arial" pitchFamily="34" charset="-120"/>
              </a:rPr>
              <a:t>Headhunter fee per hire (68%)</a:t>
            </a:r>
            <a:endParaRPr lang="en-US" sz="1500" dirty="0"/>
          </a:p>
        </p:txBody>
      </p:sp>
      <p:sp>
        <p:nvSpPr>
          <p:cNvPr id="28" name="Text 26"/>
          <p:cNvSpPr txBox="1"/>
          <p:nvPr/>
        </p:nvSpPr>
        <p:spPr>
          <a:xfrm>
            <a:off x="9951415" y="3858768"/>
            <a:ext cx="1481328" cy="274320"/>
          </a:xfrm>
          <a:prstGeom prst="rect">
            <a:avLst/>
          </a:prstGeom>
          <a:noFill/>
          <a:ln/>
        </p:spPr>
        <p:txBody>
          <a:bodyPr wrap="square" lIns="0" tIns="0" rIns="0" bIns="0" rtlCol="0" anchor="ctr"/>
          <a:lstStyle/>
          <a:p>
            <a:pPr algn="r" indent="0" marL="0">
              <a:buNone/>
            </a:pPr>
            <a:r>
              <a:rPr lang="en-US" sz="1600" b="1" dirty="0">
                <a:solidFill>
                  <a:srgbClr val="0F172A"/>
                </a:solidFill>
                <a:latin typeface="Arial" pitchFamily="34" charset="0"/>
                <a:ea typeface="Arial" pitchFamily="34" charset="-122"/>
                <a:cs typeface="Arial" pitchFamily="34" charset="-120"/>
              </a:rPr>
              <a:t>₱58,823</a:t>
            </a:r>
            <a:endParaRPr lang="en-US" sz="1600" dirty="0"/>
          </a:p>
        </p:txBody>
      </p:sp>
      <p:sp>
        <p:nvSpPr>
          <p:cNvPr id="29" name="Shape 27"/>
          <p:cNvSpPr/>
          <p:nvPr/>
        </p:nvSpPr>
        <p:spPr>
          <a:xfrm>
            <a:off x="6479896" y="4224528"/>
            <a:ext cx="4952848" cy="402336"/>
          </a:xfrm>
          <a:prstGeom prst="roundRect">
            <a:avLst>
              <a:gd name="adj" fmla="val 13636"/>
            </a:avLst>
          </a:prstGeom>
          <a:solidFill>
            <a:srgbClr val="FDF1F1"/>
          </a:solidFill>
          <a:ln w="12700">
            <a:solidFill>
              <a:srgbClr val="333333"/>
            </a:solidFill>
            <a:prstDash val="solid"/>
          </a:ln>
        </p:spPr>
      </p:sp>
      <p:sp>
        <p:nvSpPr>
          <p:cNvPr id="30" name="Text 28"/>
          <p:cNvSpPr txBox="1"/>
          <p:nvPr/>
        </p:nvSpPr>
        <p:spPr>
          <a:xfrm>
            <a:off x="6479896" y="4224528"/>
            <a:ext cx="4952848" cy="402336"/>
          </a:xfrm>
          <a:prstGeom prst="rect">
            <a:avLst/>
          </a:prstGeom>
          <a:noFill/>
          <a:ln/>
        </p:spPr>
        <p:txBody>
          <a:bodyPr wrap="square" lIns="0" tIns="0" rIns="0" bIns="0" rtlCol="0" anchor="ctr"/>
          <a:lstStyle/>
          <a:p>
            <a:pPr algn="ctr" indent="0" marL="0">
              <a:buNone/>
            </a:pPr>
            <a:r>
              <a:rPr lang="en-US" sz="1600" b="1" dirty="0">
                <a:solidFill>
                  <a:srgbClr val="C00000"/>
                </a:solidFill>
                <a:latin typeface="Arial" pitchFamily="34" charset="0"/>
                <a:ea typeface="Arial" pitchFamily="34" charset="-122"/>
                <a:cs typeface="Arial" pitchFamily="34" charset="-120"/>
              </a:rPr>
              <a:t>₱86,796 saved per internal fill</a:t>
            </a:r>
            <a:endParaRPr lang="en-US" sz="1600" dirty="0"/>
          </a:p>
        </p:txBody>
      </p:sp>
      <p:sp>
        <p:nvSpPr>
          <p:cNvPr id="31" name="Shape 29"/>
          <p:cNvSpPr/>
          <p:nvPr/>
        </p:nvSpPr>
        <p:spPr>
          <a:xfrm>
            <a:off x="502920" y="4736592"/>
            <a:ext cx="11185855" cy="1389888"/>
          </a:xfrm>
          <a:prstGeom prst="roundRect">
            <a:avLst>
              <a:gd name="adj" fmla="val 3947"/>
            </a:avLst>
          </a:prstGeom>
          <a:solidFill>
            <a:srgbClr val="F7F8FA"/>
          </a:solidFill>
          <a:ln w="12700">
            <a:solidFill>
              <a:srgbClr val="333333"/>
            </a:solidFill>
            <a:prstDash val="solid"/>
          </a:ln>
        </p:spPr>
      </p:sp>
      <p:sp>
        <p:nvSpPr>
          <p:cNvPr id="32" name="Text 30"/>
          <p:cNvSpPr txBox="1"/>
          <p:nvPr/>
        </p:nvSpPr>
        <p:spPr>
          <a:xfrm>
            <a:off x="813816" y="4901184"/>
            <a:ext cx="10564063" cy="256032"/>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At the ~30% industry benchmark across both bands</a:t>
            </a:r>
            <a:endParaRPr lang="en-US" sz="1700" dirty="0"/>
          </a:p>
        </p:txBody>
      </p:sp>
      <p:sp>
        <p:nvSpPr>
          <p:cNvPr id="33" name="Text 31"/>
          <p:cNvSpPr txBox="1"/>
          <p:nvPr/>
        </p:nvSpPr>
        <p:spPr>
          <a:xfrm>
            <a:off x="813816" y="5157216"/>
            <a:ext cx="3338474" cy="36576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 87</a:t>
            </a:r>
            <a:endParaRPr lang="en-US" sz="2400" dirty="0"/>
          </a:p>
        </p:txBody>
      </p:sp>
      <p:sp>
        <p:nvSpPr>
          <p:cNvPr id="34" name="Text 32"/>
          <p:cNvSpPr txBox="1"/>
          <p:nvPr/>
        </p:nvSpPr>
        <p:spPr>
          <a:xfrm>
            <a:off x="813816" y="5541264"/>
            <a:ext cx="3338474" cy="219456"/>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internal fills a year</a:t>
            </a:r>
            <a:endParaRPr lang="en-US" sz="1400" dirty="0"/>
          </a:p>
        </p:txBody>
      </p:sp>
      <p:sp>
        <p:nvSpPr>
          <p:cNvPr id="35" name="Text 33"/>
          <p:cNvSpPr txBox="1"/>
          <p:nvPr/>
        </p:nvSpPr>
        <p:spPr>
          <a:xfrm>
            <a:off x="813816" y="5760720"/>
            <a:ext cx="3338474" cy="25603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56 Band B + 31 Band C</a:t>
            </a:r>
            <a:endParaRPr lang="en-US" sz="1400" dirty="0"/>
          </a:p>
        </p:txBody>
      </p:sp>
      <p:sp>
        <p:nvSpPr>
          <p:cNvPr id="36" name="Text 34"/>
          <p:cNvSpPr txBox="1"/>
          <p:nvPr/>
        </p:nvSpPr>
        <p:spPr>
          <a:xfrm>
            <a:off x="4426610" y="5157216"/>
            <a:ext cx="3338474" cy="36576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₱3.9M</a:t>
            </a:r>
            <a:endParaRPr lang="en-US" sz="2400" dirty="0"/>
          </a:p>
        </p:txBody>
      </p:sp>
      <p:sp>
        <p:nvSpPr>
          <p:cNvPr id="37" name="Text 35"/>
          <p:cNvSpPr txBox="1"/>
          <p:nvPr/>
        </p:nvSpPr>
        <p:spPr>
          <a:xfrm>
            <a:off x="4426610" y="5541264"/>
            <a:ext cx="3338474" cy="219456"/>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gross avoided cost a year</a:t>
            </a:r>
            <a:endParaRPr lang="en-US" sz="1400" dirty="0"/>
          </a:p>
        </p:txBody>
      </p:sp>
      <p:sp>
        <p:nvSpPr>
          <p:cNvPr id="38" name="Text 36"/>
          <p:cNvSpPr txBox="1"/>
          <p:nvPr/>
        </p:nvSpPr>
        <p:spPr>
          <a:xfrm>
            <a:off x="4426610" y="5760720"/>
            <a:ext cx="3338474" cy="25603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2025 volumes, 2024 cost-per-hire</a:t>
            </a:r>
            <a:endParaRPr lang="en-US" sz="1400" dirty="0"/>
          </a:p>
        </p:txBody>
      </p:sp>
      <p:sp>
        <p:nvSpPr>
          <p:cNvPr id="39" name="Text 37"/>
          <p:cNvSpPr txBox="1"/>
          <p:nvPr/>
        </p:nvSpPr>
        <p:spPr>
          <a:xfrm>
            <a:off x="8039405" y="5157216"/>
            <a:ext cx="3338474" cy="859536"/>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Arial" pitchFamily="34" charset="0"/>
                <a:ea typeface="Arial" pitchFamily="34" charset="-122"/>
                <a:cs typeface="Arial" pitchFamily="34" charset="-120"/>
              </a:rPr>
              <a:t>Caveats we own:  </a:t>
            </a:r>
            <a:pPr indent="0" marL="0">
              <a:lnSpc>
                <a:spcPts val="1800"/>
              </a:lnSpc>
              <a:buNone/>
            </a:pPr>
            <a:r>
              <a:rPr lang="en-US" sz="1400" dirty="0">
                <a:solidFill>
                  <a:srgbClr val="6B7280"/>
                </a:solidFill>
                <a:latin typeface="Arial" pitchFamily="34" charset="0"/>
                <a:ea typeface="Arial" pitchFamily="34" charset="-122"/>
                <a:cs typeface="Arial" pitchFamily="34" charset="-120"/>
              </a:rPr>
              <a:t>internal moves create backfill, usually cheaper · some external hiring is healthy · 2024 costs applied to 2025 volumes</a:t>
            </a:r>
            <a:endParaRPr lang="en-US" sz="1400" dirty="0"/>
          </a:p>
        </p:txBody>
      </p:sp>
      <p:sp>
        <p:nvSpPr>
          <p:cNvPr id="40" name="Shape 38"/>
          <p:cNvSpPr/>
          <p:nvPr/>
        </p:nvSpPr>
        <p:spPr>
          <a:xfrm>
            <a:off x="502920" y="6291072"/>
            <a:ext cx="11185855" cy="0"/>
          </a:xfrm>
          <a:prstGeom prst="line">
            <a:avLst/>
          </a:prstGeom>
          <a:noFill/>
          <a:ln w="12700">
            <a:solidFill>
              <a:srgbClr val="E5E7EB"/>
            </a:solidFill>
            <a:prstDash val="solid"/>
          </a:ln>
        </p:spPr>
      </p:sp>
      <p:sp>
        <p:nvSpPr>
          <p:cNvPr id="41" name="Text 39"/>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The cost–benefit slides use a narrower, attribution-safe subset of this figure — not the ₱3.9M gross.</a:t>
            </a:r>
            <a:endParaRPr lang="en-US" sz="1400" dirty="0"/>
          </a:p>
        </p:txBody>
      </p:sp>
      <p:sp>
        <p:nvSpPr>
          <p:cNvPr id="42" name="Text 40"/>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APPENDIX · BUSINESS MODEL CANVAS</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An internal-fill engine, not an engagement tool.</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Career growth is the employee-facing promise. Cheaper fills and faster capacity are the argument.</a:t>
            </a:r>
            <a:endParaRPr lang="en-US" sz="1600" dirty="0"/>
          </a:p>
        </p:txBody>
      </p:sp>
      <p:sp>
        <p:nvSpPr>
          <p:cNvPr id="5" name="Shape 3"/>
          <p:cNvSpPr/>
          <p:nvPr/>
        </p:nvSpPr>
        <p:spPr>
          <a:xfrm>
            <a:off x="502920" y="1737360"/>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04088" y="1847088"/>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PROBLEM</a:t>
            </a:r>
            <a:endParaRPr lang="en-US" sz="1400" dirty="0"/>
          </a:p>
        </p:txBody>
      </p:sp>
      <p:sp>
        <p:nvSpPr>
          <p:cNvPr id="7" name="Text 5"/>
          <p:cNvSpPr txBox="1"/>
          <p:nvPr/>
        </p:nvSpPr>
        <p:spPr>
          <a:xfrm>
            <a:off x="704088" y="2103120"/>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16.9% internal fill vs ~30%</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₱6.1M a year to headhunters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Projects staffed by contractors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No visibility of skills</a:t>
            </a:r>
            <a:endParaRPr lang="en-US" sz="1400" dirty="0"/>
          </a:p>
        </p:txBody>
      </p:sp>
      <p:sp>
        <p:nvSpPr>
          <p:cNvPr id="8" name="Shape 6"/>
          <p:cNvSpPr/>
          <p:nvPr/>
        </p:nvSpPr>
        <p:spPr>
          <a:xfrm>
            <a:off x="4286402" y="1737360"/>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9" name="Text 7"/>
          <p:cNvSpPr txBox="1"/>
          <p:nvPr/>
        </p:nvSpPr>
        <p:spPr>
          <a:xfrm>
            <a:off x="4487570" y="1847088"/>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SOLUTION</a:t>
            </a:r>
            <a:endParaRPr lang="en-US" sz="1400" dirty="0"/>
          </a:p>
        </p:txBody>
      </p:sp>
      <p:sp>
        <p:nvSpPr>
          <p:cNvPr id="10" name="Text 8"/>
          <p:cNvSpPr txBox="1"/>
          <p:nvPr/>
        </p:nvSpPr>
        <p:spPr>
          <a:xfrm>
            <a:off x="4487570" y="2103120"/>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One board: gigs, immersions, offers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HC Connect vacancies scored</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AI matching on skills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Skills inventory as a by-product</a:t>
            </a:r>
            <a:endParaRPr lang="en-US" sz="1400" dirty="0"/>
          </a:p>
        </p:txBody>
      </p:sp>
      <p:sp>
        <p:nvSpPr>
          <p:cNvPr id="11" name="Shape 9"/>
          <p:cNvSpPr/>
          <p:nvPr/>
        </p:nvSpPr>
        <p:spPr>
          <a:xfrm>
            <a:off x="8069885" y="1737360"/>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2" name="Text 10"/>
          <p:cNvSpPr txBox="1"/>
          <p:nvPr/>
        </p:nvSpPr>
        <p:spPr>
          <a:xfrm>
            <a:off x="8271053" y="1847088"/>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CUSTOMER SEGMENTS</a:t>
            </a:r>
            <a:endParaRPr lang="en-US" sz="1400" dirty="0"/>
          </a:p>
        </p:txBody>
      </p:sp>
      <p:sp>
        <p:nvSpPr>
          <p:cNvPr id="13" name="Text 11"/>
          <p:cNvSpPr txBox="1"/>
          <p:nvPr/>
        </p:nvSpPr>
        <p:spPr>
          <a:xfrm>
            <a:off x="8271053" y="2103120"/>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Talent Acquisition — cheaper fills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Managers — capacity</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Employees — growth and pivots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HR — workforce intelligence</a:t>
            </a:r>
            <a:endParaRPr lang="en-US" sz="1400" dirty="0"/>
          </a:p>
        </p:txBody>
      </p:sp>
      <p:sp>
        <p:nvSpPr>
          <p:cNvPr id="14" name="Shape 12"/>
          <p:cNvSpPr/>
          <p:nvPr/>
        </p:nvSpPr>
        <p:spPr>
          <a:xfrm>
            <a:off x="502920" y="3236976"/>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5" name="Text 13"/>
          <p:cNvSpPr txBox="1"/>
          <p:nvPr/>
        </p:nvSpPr>
        <p:spPr>
          <a:xfrm>
            <a:off x="704088" y="3346704"/>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VALUE PROPOSITION</a:t>
            </a:r>
            <a:endParaRPr lang="en-US" sz="1400" dirty="0"/>
          </a:p>
        </p:txBody>
      </p:sp>
      <p:sp>
        <p:nvSpPr>
          <p:cNvPr id="16" name="Text 14"/>
          <p:cNvSpPr txBox="1"/>
          <p:nvPr/>
        </p:nvSpPr>
        <p:spPr>
          <a:xfrm>
            <a:off x="704088" y="3602736"/>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Business: cut headhunter spend,</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staff priority work in days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Employee: see and reach real</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internal opportunities</a:t>
            </a:r>
            <a:endParaRPr lang="en-US" sz="1400" dirty="0"/>
          </a:p>
        </p:txBody>
      </p:sp>
      <p:sp>
        <p:nvSpPr>
          <p:cNvPr id="17" name="Shape 15"/>
          <p:cNvSpPr/>
          <p:nvPr/>
        </p:nvSpPr>
        <p:spPr>
          <a:xfrm>
            <a:off x="4286402" y="3236976"/>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8" name="Text 16"/>
          <p:cNvSpPr txBox="1"/>
          <p:nvPr/>
        </p:nvSpPr>
        <p:spPr>
          <a:xfrm>
            <a:off x="4487570" y="3346704"/>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KEY ACTIVITIES</a:t>
            </a:r>
            <a:endParaRPr lang="en-US" sz="1400" dirty="0"/>
          </a:p>
        </p:txBody>
      </p:sp>
      <p:sp>
        <p:nvSpPr>
          <p:cNvPr id="19" name="Text 17"/>
          <p:cNvSpPr txBox="1"/>
          <p:nvPr/>
        </p:nvSpPr>
        <p:spPr>
          <a:xfrm>
            <a:off x="4487570" y="3602736"/>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Post and moderate opportunities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Match and surface candidates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Run immersions with approval</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Close the loop with feedback</a:t>
            </a:r>
            <a:endParaRPr lang="en-US" sz="1400" dirty="0"/>
          </a:p>
        </p:txBody>
      </p:sp>
      <p:sp>
        <p:nvSpPr>
          <p:cNvPr id="20" name="Shape 18"/>
          <p:cNvSpPr/>
          <p:nvPr/>
        </p:nvSpPr>
        <p:spPr>
          <a:xfrm>
            <a:off x="8069885" y="3236976"/>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1" name="Text 19"/>
          <p:cNvSpPr txBox="1"/>
          <p:nvPr/>
        </p:nvSpPr>
        <p:spPr>
          <a:xfrm>
            <a:off x="8271053" y="3346704"/>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KEY RESOURCES</a:t>
            </a:r>
            <a:endParaRPr lang="en-US" sz="1400" dirty="0"/>
          </a:p>
        </p:txBody>
      </p:sp>
      <p:sp>
        <p:nvSpPr>
          <p:cNvPr id="22" name="Text 20"/>
          <p:cNvSpPr txBox="1"/>
          <p:nvPr/>
        </p:nvSpPr>
        <p:spPr>
          <a:xfrm>
            <a:off x="8271053" y="3602736"/>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Claude API matching engine</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Internal development capacity</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Programme owner in HR</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Skills data from HRIS and MyDevt</a:t>
            </a:r>
            <a:endParaRPr lang="en-US" sz="1400" dirty="0"/>
          </a:p>
        </p:txBody>
      </p:sp>
      <p:sp>
        <p:nvSpPr>
          <p:cNvPr id="23" name="Shape 21"/>
          <p:cNvSpPr/>
          <p:nvPr/>
        </p:nvSpPr>
        <p:spPr>
          <a:xfrm>
            <a:off x="502920" y="4736592"/>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4" name="Text 22"/>
          <p:cNvSpPr txBox="1"/>
          <p:nvPr/>
        </p:nvSpPr>
        <p:spPr>
          <a:xfrm>
            <a:off x="704088" y="4846320"/>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CHANNELS</a:t>
            </a:r>
            <a:endParaRPr lang="en-US" sz="1400" dirty="0"/>
          </a:p>
        </p:txBody>
      </p:sp>
      <p:sp>
        <p:nvSpPr>
          <p:cNvPr id="25" name="Text 23"/>
          <p:cNvSpPr txBox="1"/>
          <p:nvPr/>
        </p:nvSpPr>
        <p:spPr>
          <a:xfrm>
            <a:off x="704088" y="5102352"/>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HC Connect, intranet, newsletter</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Manager cascades and town halls</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Recruitment as the first funnel</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Champion network</a:t>
            </a:r>
            <a:endParaRPr lang="en-US" sz="1400" dirty="0"/>
          </a:p>
        </p:txBody>
      </p:sp>
      <p:sp>
        <p:nvSpPr>
          <p:cNvPr id="26" name="Shape 24"/>
          <p:cNvSpPr/>
          <p:nvPr/>
        </p:nvSpPr>
        <p:spPr>
          <a:xfrm>
            <a:off x="4286402" y="4736592"/>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27" name="Text 25"/>
          <p:cNvSpPr txBox="1"/>
          <p:nvPr/>
        </p:nvSpPr>
        <p:spPr>
          <a:xfrm>
            <a:off x="4487570" y="4846320"/>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COST STRUCTURE</a:t>
            </a:r>
            <a:endParaRPr lang="en-US" sz="1400" dirty="0"/>
          </a:p>
        </p:txBody>
      </p:sp>
      <p:sp>
        <p:nvSpPr>
          <p:cNvPr id="28" name="Text 26"/>
          <p:cNvSpPr txBox="1"/>
          <p:nvPr/>
        </p:nvSpPr>
        <p:spPr>
          <a:xfrm>
            <a:off x="4487570" y="5102352"/>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₱1.79M build, costed by IT</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₱55k–₱61k a year to run</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0.2–0.3 FTE ownership from year two</a:t>
            </a:r>
            <a:endParaRPr lang="en-US" sz="1400" dirty="0"/>
          </a:p>
        </p:txBody>
      </p:sp>
      <p:sp>
        <p:nvSpPr>
          <p:cNvPr id="29" name="Shape 27"/>
          <p:cNvSpPr/>
          <p:nvPr/>
        </p:nvSpPr>
        <p:spPr>
          <a:xfrm>
            <a:off x="8069885" y="4736592"/>
            <a:ext cx="3618890" cy="1371600"/>
          </a:xfrm>
          <a:prstGeom prst="roundRect">
            <a:avLst>
              <a:gd name="adj" fmla="val 4000"/>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30" name="Text 28"/>
          <p:cNvSpPr txBox="1"/>
          <p:nvPr/>
        </p:nvSpPr>
        <p:spPr>
          <a:xfrm>
            <a:off x="8271053" y="4846320"/>
            <a:ext cx="3216554" cy="219456"/>
          </a:xfrm>
          <a:prstGeom prst="rect">
            <a:avLst/>
          </a:prstGeom>
          <a:noFill/>
          <a:ln/>
        </p:spPr>
        <p:txBody>
          <a:bodyPr wrap="square" lIns="0" tIns="0" rIns="0" bIns="0" rtlCol="0" anchor="ctr"/>
          <a:lstStyle/>
          <a:p>
            <a:pPr indent="0" marL="0">
              <a:buNone/>
            </a:pPr>
            <a:r>
              <a:rPr lang="en-US" sz="1400" b="1" spc="120" kern="0" dirty="0">
                <a:solidFill>
                  <a:srgbClr val="C00000"/>
                </a:solidFill>
                <a:latin typeface="Arial" pitchFamily="34" charset="0"/>
                <a:ea typeface="Arial" pitchFamily="34" charset="-122"/>
                <a:cs typeface="Arial" pitchFamily="34" charset="-120"/>
              </a:rPr>
              <a:t>RETURN</a:t>
            </a:r>
            <a:endParaRPr lang="en-US" sz="1400" dirty="0"/>
          </a:p>
        </p:txBody>
      </p:sp>
      <p:sp>
        <p:nvSpPr>
          <p:cNvPr id="31" name="Text 29"/>
          <p:cNvSpPr txBox="1"/>
          <p:nvPr/>
        </p:nvSpPr>
        <p:spPr>
          <a:xfrm>
            <a:off x="8271053" y="5102352"/>
            <a:ext cx="3216554" cy="950976"/>
          </a:xfrm>
          <a:prstGeom prst="rect">
            <a:avLst/>
          </a:prstGeom>
          <a:noFill/>
          <a:ln/>
        </p:spPr>
        <p:txBody>
          <a:bodyPr wrap="square" lIns="0" tIns="0" rIns="0" bIns="0" rtlCol="0" anchor="t"/>
          <a:lstStyle/>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₱86,796 saved per Band C fill</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₱22,446 saved per Band B fill</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37 vacancy days avoided per fill</a:t>
            </a:r>
            <a:endParaRPr lang="en-US" sz="1400" dirty="0"/>
          </a:p>
          <a:p>
            <a:pPr marL="342900" indent="-342900">
              <a:lnSpc>
                <a:spcPts val="1700"/>
              </a:lnSpc>
              <a:spcAft>
                <a:spcPts val="200"/>
              </a:spcAft>
              <a:buSzPct val="100000"/>
              <a:buChar char="•"/>
            </a:pPr>
            <a:r>
              <a:rPr lang="en-US" sz="1400" dirty="0">
                <a:solidFill>
                  <a:srgbClr val="374151"/>
                </a:solidFill>
                <a:latin typeface="Arial" pitchFamily="34" charset="0"/>
                <a:ea typeface="Arial" pitchFamily="34" charset="-122"/>
                <a:cs typeface="Arial" pitchFamily="34" charset="-120"/>
              </a:rPr>
              <a:t>Retention lift among movers</a:t>
            </a:r>
            <a:endParaRPr lang="en-US" sz="1400" dirty="0"/>
          </a:p>
        </p:txBody>
      </p:sp>
      <p:sp>
        <p:nvSpPr>
          <p:cNvPr id="32" name="Shape 30"/>
          <p:cNvSpPr/>
          <p:nvPr/>
        </p:nvSpPr>
        <p:spPr>
          <a:xfrm>
            <a:off x="502920" y="6291072"/>
            <a:ext cx="11185855" cy="0"/>
          </a:xfrm>
          <a:prstGeom prst="line">
            <a:avLst/>
          </a:prstGeom>
          <a:noFill/>
          <a:ln w="12700">
            <a:solidFill>
              <a:srgbClr val="E5E7EB"/>
            </a:solidFill>
            <a:prstDash val="solid"/>
          </a:ln>
        </p:spPr>
      </p:sp>
      <p:sp>
        <p:nvSpPr>
          <p:cNvPr id="33" name="Text 31"/>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The shift: we no longer sell "employees feel stuck" — our eNPS says otherwise. We sell cheaper fills, faster capacity and a live skills map.</a:t>
            </a:r>
            <a:endParaRPr lang="en-US" sz="1400" dirty="0"/>
          </a:p>
        </p:txBody>
      </p:sp>
      <p:sp>
        <p:nvSpPr>
          <p:cNvPr id="34" name="Text 32"/>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26</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APPENDIX · DEMAND EVIDENCE</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What our people asked for, in their own filings.</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None of this was collected for this project. All of it points the same way.</a:t>
            </a:r>
            <a:endParaRPr lang="en-US" sz="1600" dirty="0"/>
          </a:p>
        </p:txBody>
      </p:sp>
      <p:sp>
        <p:nvSpPr>
          <p:cNvPr id="5" name="Shape 3"/>
          <p:cNvSpPr/>
          <p:nvPr/>
        </p:nvSpPr>
        <p:spPr>
          <a:xfrm>
            <a:off x="502920" y="1773936"/>
            <a:ext cx="5257352" cy="2468880"/>
          </a:xfrm>
          <a:prstGeom prst="roundRect">
            <a:avLst>
              <a:gd name="adj" fmla="val 222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58952" y="1938528"/>
            <a:ext cx="4745288" cy="256032"/>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Stated career movement — 1,109 responses</a:t>
            </a:r>
            <a:endParaRPr lang="en-US" sz="17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58952" y="2212848"/>
          <a:ext cx="4745288" cy="914400"/>
        </p:xfrm>
        <a:graphic>
          <a:graphicData uri="http://schemas.openxmlformats.org/drawingml/2006/table">
            <a:tbl>
              <a:tblPr/>
              <a:tblGrid>
                <a:gridCol w="2514600"/>
                <a:gridCol w="1188720"/>
                <a:gridCol w="1042416"/>
              </a:tblGrid>
              <a:tr h="228600">
                <a:tc>
                  <a:txBody>
                    <a:bodyPr/>
                    <a:lstStyle/>
                    <a:p>
                      <a:pPr indent="0" marL="0">
                        <a:buNone/>
                      </a:pPr>
                      <a:r>
                        <a:rPr lang="en-US" sz="1400" b="1" dirty="0">
                          <a:solidFill>
                            <a:srgbClr val="6B7280"/>
                          </a:solidFill>
                          <a:latin typeface="Arial" pitchFamily="34" charset="0"/>
                          <a:ea typeface="Arial" pitchFamily="34" charset="-122"/>
                          <a:cs typeface="Arial" pitchFamily="34" charset="-120"/>
                        </a:rPr>
                        <a:t>Desired movement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Employees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Share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b="1" dirty="0">
                          <a:solidFill>
                            <a:srgbClr val="374151"/>
                          </a:solidFill>
                          <a:latin typeface="Arial" pitchFamily="34" charset="0"/>
                          <a:ea typeface="Arial" pitchFamily="34" charset="-122"/>
                          <a:cs typeface="Arial" pitchFamily="34" charset="-120"/>
                        </a:rPr>
                        <a:t>Vertical</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461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C00000"/>
                          </a:solidFill>
                          <a:latin typeface="Arial" pitchFamily="34" charset="0"/>
                          <a:ea typeface="Arial" pitchFamily="34" charset="-122"/>
                          <a:cs typeface="Arial" pitchFamily="34" charset="-120"/>
                        </a:rPr>
                        <a:t>42%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b="1" dirty="0">
                          <a:solidFill>
                            <a:srgbClr val="374151"/>
                          </a:solidFill>
                          <a:latin typeface="Arial" pitchFamily="34" charset="0"/>
                          <a:ea typeface="Arial" pitchFamily="34" charset="-122"/>
                          <a:cs typeface="Arial" pitchFamily="34" charset="-120"/>
                        </a:rPr>
                        <a:t>Enrichment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374151"/>
                          </a:solidFill>
                          <a:latin typeface="Arial" pitchFamily="34" charset="0"/>
                          <a:ea typeface="Arial" pitchFamily="34" charset="-122"/>
                          <a:cs typeface="Arial" pitchFamily="34" charset="-120"/>
                        </a:rPr>
                        <a:t>347</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C00000"/>
                          </a:solidFill>
                          <a:latin typeface="Arial" pitchFamily="34" charset="0"/>
                          <a:ea typeface="Arial" pitchFamily="34" charset="-122"/>
                          <a:cs typeface="Arial" pitchFamily="34" charset="-120"/>
                        </a:rPr>
                        <a:t>31%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dirty="0">
                          <a:solidFill>
                            <a:srgbClr val="374151"/>
                          </a:solidFill>
                          <a:latin typeface="Arial" pitchFamily="34" charset="0"/>
                          <a:ea typeface="Arial" pitchFamily="34" charset="-122"/>
                          <a:cs typeface="Arial" pitchFamily="34" charset="-120"/>
                        </a:rPr>
                        <a:t>Lateral</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134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dirty="0">
                          <a:solidFill>
                            <a:srgbClr val="374151"/>
                          </a:solidFill>
                          <a:latin typeface="Arial" pitchFamily="34" charset="0"/>
                          <a:ea typeface="Arial" pitchFamily="34" charset="-122"/>
                          <a:cs typeface="Arial" pitchFamily="34" charset="-120"/>
                        </a:rPr>
                        <a:t>Exploratory</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132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dirty="0">
                          <a:solidFill>
                            <a:srgbClr val="374151"/>
                          </a:solidFill>
                          <a:latin typeface="Arial" pitchFamily="34" charset="0"/>
                          <a:ea typeface="Arial" pitchFamily="34" charset="-122"/>
                          <a:cs typeface="Arial" pitchFamily="34" charset="-120"/>
                        </a:rPr>
                        <a:t>Relocation</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29</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28600">
                <a:tc>
                  <a:txBody>
                    <a:bodyPr/>
                    <a:lstStyle/>
                    <a:p>
                      <a:pPr indent="0" marL="0">
                        <a:buNone/>
                      </a:pPr>
                      <a:r>
                        <a:rPr lang="en-US" sz="1400" dirty="0">
                          <a:solidFill>
                            <a:srgbClr val="374151"/>
                          </a:solidFill>
                          <a:latin typeface="Arial" pitchFamily="34" charset="0"/>
                          <a:ea typeface="Arial" pitchFamily="34" charset="-122"/>
                          <a:cs typeface="Arial" pitchFamily="34" charset="-120"/>
                        </a:rPr>
                        <a:t>Realignment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bl>
          </a:graphicData>
        </a:graphic>
      </p:graphicFrame>
      <p:sp>
        <p:nvSpPr>
          <p:cNvPr id="8" name="Text 5"/>
          <p:cNvSpPr txBox="1"/>
          <p:nvPr/>
        </p:nvSpPr>
        <p:spPr>
          <a:xfrm>
            <a:off x="758952" y="4297680"/>
            <a:ext cx="4745288" cy="274320"/>
          </a:xfrm>
          <a:prstGeom prst="rect">
            <a:avLst/>
          </a:prstGeom>
          <a:noFill/>
          <a:ln/>
        </p:spPr>
        <p:txBody>
          <a:bodyPr wrap="square" lIns="0" tIns="0" rIns="0" bIns="0" rtlCol="0" anchor="ctr"/>
          <a:lstStyle/>
          <a:p>
            <a:pPr indent="0" marL="0">
              <a:buNone/>
            </a:pPr>
            <a:r>
              <a:rPr lang="en-US" sz="1400" b="1" dirty="0">
                <a:solidFill>
                  <a:srgbClr val="15803D"/>
                </a:solidFill>
                <a:latin typeface="Arial" pitchFamily="34" charset="0"/>
                <a:ea typeface="Arial" pitchFamily="34" charset="-122"/>
                <a:cs typeface="Arial" pitchFamily="34" charset="-120"/>
              </a:rPr>
              <a:t>73% of intent is what a marketplace serves.</a:t>
            </a:r>
            <a:endParaRPr lang="en-US" sz="1400" dirty="0"/>
          </a:p>
        </p:txBody>
      </p:sp>
      <p:sp>
        <p:nvSpPr>
          <p:cNvPr id="9" name="Shape 6"/>
          <p:cNvSpPr/>
          <p:nvPr/>
        </p:nvSpPr>
        <p:spPr>
          <a:xfrm>
            <a:off x="5998016" y="1773936"/>
            <a:ext cx="5690759" cy="2468880"/>
          </a:xfrm>
          <a:prstGeom prst="roundRect">
            <a:avLst>
              <a:gd name="adj" fmla="val 2222"/>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10" name="Text 7"/>
          <p:cNvSpPr txBox="1"/>
          <p:nvPr/>
        </p:nvSpPr>
        <p:spPr>
          <a:xfrm>
            <a:off x="6254048" y="1938528"/>
            <a:ext cx="5178695" cy="256032"/>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Top learning priorities in 2026 IDPs filed</a:t>
            </a:r>
            <a:endParaRPr lang="en-US" sz="17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54048" y="2212848"/>
          <a:ext cx="5178695" cy="914400"/>
        </p:xfrm>
        <a:graphic>
          <a:graphicData uri="http://schemas.openxmlformats.org/drawingml/2006/table">
            <a:tbl>
              <a:tblPr/>
              <a:tblGrid>
                <a:gridCol w="292608"/>
                <a:gridCol w="2910983"/>
                <a:gridCol w="1188720"/>
                <a:gridCol w="786384"/>
              </a:tblGrid>
              <a:tr h="274320">
                <a:tc>
                  <a:txBody>
                    <a:bodyPr/>
                    <a:lstStyle/>
                    <a:p>
                      <a:pPr indent="0" marL="0">
                        <a:buNone/>
                      </a:pPr>
                      <a:r>
                        <a:rPr lang="en-US" sz="1400" b="1" dirty="0">
                          <a:solidFill>
                            <a:srgbClr val="6B7280"/>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b="1" dirty="0">
                          <a:solidFill>
                            <a:srgbClr val="6B7280"/>
                          </a:solidFill>
                          <a:latin typeface="Arial" pitchFamily="34" charset="0"/>
                          <a:ea typeface="Arial" pitchFamily="34" charset="-122"/>
                          <a:cs typeface="Arial" pitchFamily="34" charset="-120"/>
                        </a:rPr>
                        <a:t>Skill theme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Employees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b="1" dirty="0">
                          <a:solidFill>
                            <a:srgbClr val="6B7280"/>
                          </a:solidFill>
                          <a:latin typeface="Arial" pitchFamily="34" charset="0"/>
                          <a:ea typeface="Arial" pitchFamily="34" charset="-122"/>
                          <a:cs typeface="Arial" pitchFamily="34" charset="-120"/>
                        </a:rPr>
                        <a:t>Share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74320">
                <a:tc>
                  <a:txBody>
                    <a:bodyPr/>
                    <a:lstStyle/>
                    <a:p>
                      <a:pPr indent="0" marL="0">
                        <a:buNone/>
                      </a:pPr>
                      <a:r>
                        <a:rPr lang="en-US" sz="1400" dirty="0">
                          <a:solidFill>
                            <a:srgbClr val="374151"/>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Data, analytics and AI tools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105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37.1%</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74320">
                <a:tc>
                  <a:txBody>
                    <a:bodyPr/>
                    <a:lstStyle/>
                    <a:p>
                      <a:pPr indent="0" marL="0">
                        <a:buNone/>
                      </a:pPr>
                      <a:r>
                        <a:rPr lang="en-US" sz="1400" dirty="0">
                          <a:solidFill>
                            <a:srgbClr val="37415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Functional and technical expertise</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35.3%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74320">
                <a:tc>
                  <a:txBody>
                    <a:bodyPr/>
                    <a:lstStyle/>
                    <a:p>
                      <a:pPr indent="0" marL="0">
                        <a:buNone/>
                      </a:pPr>
                      <a:r>
                        <a:rPr lang="en-US" sz="1400" dirty="0">
                          <a:solidFill>
                            <a:srgbClr val="374151"/>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Process and change management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87</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30.7%</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74320">
                <a:tc>
                  <a:txBody>
                    <a:bodyPr/>
                    <a:lstStyle/>
                    <a:p>
                      <a:pPr indent="0" marL="0">
                        <a:buNone/>
                      </a:pPr>
                      <a:r>
                        <a:rPr lang="en-US" sz="1400" dirty="0">
                          <a:solidFill>
                            <a:srgbClr val="374151"/>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Leadership and people management</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56</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19.8%</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r h="274320">
                <a:tc>
                  <a:txBody>
                    <a:bodyPr/>
                    <a:lstStyle/>
                    <a:p>
                      <a:pPr indent="0" marL="0">
                        <a:buNone/>
                      </a:pPr>
                      <a:r>
                        <a:rPr lang="en-US" sz="1400" dirty="0">
                          <a:solidFill>
                            <a:srgbClr val="374151"/>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indent="0" marL="0">
                        <a:buNone/>
                      </a:pPr>
                      <a:r>
                        <a:rPr lang="en-US" sz="1400" dirty="0">
                          <a:solidFill>
                            <a:srgbClr val="374151"/>
                          </a:solidFill>
                          <a:latin typeface="Arial" pitchFamily="34" charset="0"/>
                          <a:ea typeface="Arial" pitchFamily="34" charset="-122"/>
                          <a:cs typeface="Arial" pitchFamily="34" charset="-120"/>
                        </a:rPr>
                        <a:t>Communication and stakeholders</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48</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c>
                  <a:txBody>
                    <a:bodyPr/>
                    <a:lstStyle/>
                    <a:p>
                      <a:pPr algn="r" indent="0" marL="0">
                        <a:buNone/>
                      </a:pPr>
                      <a:r>
                        <a:rPr lang="en-US" sz="1400" dirty="0">
                          <a:solidFill>
                            <a:srgbClr val="374151"/>
                          </a:solidFill>
                          <a:latin typeface="Arial" pitchFamily="34" charset="0"/>
                          <a:ea typeface="Arial" pitchFamily="34" charset="-122"/>
                          <a:cs typeface="Arial" pitchFamily="34" charset="-120"/>
                        </a:rPr>
                        <a:t>17.0%</a:t>
                      </a:r>
                      <a:endParaRPr lang="en-US" sz="1400" dirty="0">
                        <a:latin typeface="Arial" charset="0"/>
                        <a:ea typeface="Arial" charset="0"/>
                        <a:cs typeface="Arial" charset="0"/>
                      </a:endParaRPr>
                    </a:p>
                  </a:txBody>
                  <a:tcPr marL="91440" marR="91440" marT="45720" marB="45720" anchor="ctr">
                    <a:lnL w="12700" cap="flat" cmpd="sng" algn="ctr">
                      <a:solidFill>
                        <a:srgbClr val="F1F5F9"/>
                      </a:solidFill>
                      <a:prstDash val="solid"/>
                      <a:round/>
                      <a:headEnd type="none" w="med" len="med"/>
                      <a:tailEnd type="none" w="med" len="med"/>
                    </a:lnL>
                    <a:lnR w="12700" cap="flat" cmpd="sng" algn="ctr">
                      <a:solidFill>
                        <a:srgbClr val="F1F5F9"/>
                      </a:solidFill>
                      <a:prstDash val="solid"/>
                      <a:round/>
                      <a:headEnd type="none" w="med" len="med"/>
                      <a:tailEnd type="none" w="med" len="med"/>
                    </a:lnR>
                    <a:lnT w="12700" cap="flat" cmpd="sng" algn="ctr">
                      <a:solidFill>
                        <a:srgbClr val="F1F5F9"/>
                      </a:solidFill>
                      <a:prstDash val="solid"/>
                      <a:round/>
                      <a:headEnd type="none" w="med" len="med"/>
                      <a:tailEnd type="none" w="med" len="med"/>
                    </a:lnT>
                    <a:lnB w="12700" cap="flat" cmpd="sng" algn="ctr">
                      <a:solidFill>
                        <a:srgbClr val="F1F5F9"/>
                      </a:solidFill>
                      <a:prstDash val="solid"/>
                      <a:round/>
                      <a:headEnd type="none" w="med" len="med"/>
                      <a:tailEnd type="none" w="med" len="med"/>
                    </a:lnB>
                  </a:tcPr>
                </a:tc>
              </a:tr>
            </a:tbl>
          </a:graphicData>
        </a:graphic>
      </p:graphicFrame>
      <p:sp>
        <p:nvSpPr>
          <p:cNvPr id="12" name="Text 8"/>
          <p:cNvSpPr txBox="1"/>
          <p:nvPr/>
        </p:nvSpPr>
        <p:spPr>
          <a:xfrm>
            <a:off x="6254048" y="4297680"/>
            <a:ext cx="5178695" cy="274320"/>
          </a:xfrm>
          <a:prstGeom prst="rect">
            <a:avLst/>
          </a:prstGeom>
          <a:noFill/>
          <a:ln/>
        </p:spPr>
        <p:txBody>
          <a:bodyPr wrap="square" lIns="0" tIns="0" rIns="0" bIns="0" rtlCol="0" anchor="ctr"/>
          <a:lstStyle/>
          <a:p>
            <a:pPr indent="0" marL="0">
              <a:buNone/>
            </a:pPr>
            <a:r>
              <a:rPr lang="en-US" sz="1400" dirty="0">
                <a:solidFill>
                  <a:srgbClr val="6B7280"/>
                </a:solidFill>
                <a:latin typeface="Arial" pitchFamily="34" charset="0"/>
                <a:ea typeface="Arial" pitchFamily="34" charset="-122"/>
                <a:cs typeface="Arial" pitchFamily="34" charset="-120"/>
              </a:rPr>
              <a:t>Base: 283 employees whose 2026 IDPs named a priority.</a:t>
            </a:r>
            <a:endParaRPr lang="en-US" sz="1400" dirty="0"/>
          </a:p>
        </p:txBody>
      </p:sp>
      <p:sp>
        <p:nvSpPr>
          <p:cNvPr id="13" name="Shape 9"/>
          <p:cNvSpPr/>
          <p:nvPr/>
        </p:nvSpPr>
        <p:spPr>
          <a:xfrm>
            <a:off x="502920" y="4663440"/>
            <a:ext cx="3582314" cy="1353312"/>
          </a:xfrm>
          <a:prstGeom prst="roundRect">
            <a:avLst>
              <a:gd name="adj" fmla="val 4054"/>
            </a:avLst>
          </a:prstGeom>
          <a:solidFill>
            <a:srgbClr val="F7F8FA"/>
          </a:solidFill>
          <a:ln w="12700">
            <a:solidFill>
              <a:srgbClr val="333333"/>
            </a:solidFill>
            <a:prstDash val="solid"/>
          </a:ln>
        </p:spPr>
      </p:sp>
      <p:sp>
        <p:nvSpPr>
          <p:cNvPr id="14" name="Text 10"/>
          <p:cNvSpPr txBox="1"/>
          <p:nvPr/>
        </p:nvSpPr>
        <p:spPr>
          <a:xfrm>
            <a:off x="758952" y="4809744"/>
            <a:ext cx="3070250" cy="402336"/>
          </a:xfrm>
          <a:prstGeom prst="rect">
            <a:avLst/>
          </a:prstGeom>
          <a:noFill/>
          <a:ln/>
        </p:spPr>
        <p:txBody>
          <a:bodyPr wrap="square" lIns="0" tIns="0" rIns="0" bIns="0" rtlCol="0" anchor="ctr"/>
          <a:lstStyle/>
          <a:p>
            <a:pPr indent="0" marL="0">
              <a:buNone/>
            </a:pPr>
            <a:r>
              <a:rPr lang="en-US" sz="2800" b="1" dirty="0">
                <a:solidFill>
                  <a:srgbClr val="C00000"/>
                </a:solidFill>
                <a:latin typeface="Arial" pitchFamily="34" charset="0"/>
                <a:ea typeface="Arial" pitchFamily="34" charset="-122"/>
                <a:cs typeface="Arial" pitchFamily="34" charset="-120"/>
              </a:rPr>
              <a:t>630</a:t>
            </a:r>
            <a:endParaRPr lang="en-US" sz="2800" dirty="0"/>
          </a:p>
        </p:txBody>
      </p:sp>
      <p:sp>
        <p:nvSpPr>
          <p:cNvPr id="15" name="Text 11"/>
          <p:cNvSpPr txBox="1"/>
          <p:nvPr/>
        </p:nvSpPr>
        <p:spPr>
          <a:xfrm>
            <a:off x="758952" y="5212080"/>
            <a:ext cx="3070250" cy="457200"/>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of 1,249 IDP filers want to learn by doing</a:t>
            </a:r>
            <a:endParaRPr lang="en-US" sz="1500" dirty="0"/>
          </a:p>
        </p:txBody>
      </p:sp>
      <p:sp>
        <p:nvSpPr>
          <p:cNvPr id="16" name="Text 12"/>
          <p:cNvSpPr txBox="1"/>
          <p:nvPr/>
        </p:nvSpPr>
        <p:spPr>
          <a:xfrm>
            <a:off x="758952" y="5687568"/>
            <a:ext cx="3070250" cy="292608"/>
          </a:xfrm>
          <a:prstGeom prst="rect">
            <a:avLst/>
          </a:prstGeom>
          <a:noFill/>
          <a:ln/>
        </p:spPr>
        <p:txBody>
          <a:bodyPr wrap="square" lIns="0" tIns="0" rIns="0" bIns="0" rtlCol="0" anchor="t"/>
          <a:lstStyle/>
          <a:p>
            <a:pPr indent="0" marL="0">
              <a:lnSpc>
                <a:spcPts val="1700"/>
              </a:lnSpc>
              <a:buNone/>
            </a:pPr>
            <a:r>
              <a:rPr lang="en-US" sz="1400" dirty="0">
                <a:solidFill>
                  <a:srgbClr val="6B7280"/>
                </a:solidFill>
                <a:latin typeface="Arial" pitchFamily="34" charset="0"/>
                <a:ea typeface="Arial" pitchFamily="34" charset="-122"/>
                <a:cs typeface="Arial" pitchFamily="34" charset="-120"/>
              </a:rPr>
              <a:t>614 by experience, 16 by immersion</a:t>
            </a:r>
            <a:endParaRPr lang="en-US" sz="1400" dirty="0"/>
          </a:p>
        </p:txBody>
      </p:sp>
      <p:sp>
        <p:nvSpPr>
          <p:cNvPr id="17" name="Shape 13"/>
          <p:cNvSpPr/>
          <p:nvPr/>
        </p:nvSpPr>
        <p:spPr>
          <a:xfrm>
            <a:off x="4304690" y="4663440"/>
            <a:ext cx="3582314" cy="1353312"/>
          </a:xfrm>
          <a:prstGeom prst="roundRect">
            <a:avLst>
              <a:gd name="adj" fmla="val 4054"/>
            </a:avLst>
          </a:prstGeom>
          <a:solidFill>
            <a:srgbClr val="F7F8FA"/>
          </a:solidFill>
          <a:ln w="12700">
            <a:solidFill>
              <a:srgbClr val="333333"/>
            </a:solidFill>
            <a:prstDash val="solid"/>
          </a:ln>
        </p:spPr>
      </p:sp>
      <p:sp>
        <p:nvSpPr>
          <p:cNvPr id="18" name="Text 14"/>
          <p:cNvSpPr txBox="1"/>
          <p:nvPr/>
        </p:nvSpPr>
        <p:spPr>
          <a:xfrm>
            <a:off x="4560722" y="4809744"/>
            <a:ext cx="3070250" cy="402336"/>
          </a:xfrm>
          <a:prstGeom prst="rect">
            <a:avLst/>
          </a:prstGeom>
          <a:noFill/>
          <a:ln/>
        </p:spPr>
        <p:txBody>
          <a:bodyPr wrap="square" lIns="0" tIns="0" rIns="0" bIns="0" rtlCol="0" anchor="ctr"/>
          <a:lstStyle/>
          <a:p>
            <a:pPr indent="0" marL="0">
              <a:buNone/>
            </a:pPr>
            <a:r>
              <a:rPr lang="en-US" sz="2800" b="1" dirty="0">
                <a:solidFill>
                  <a:srgbClr val="C00000"/>
                </a:solidFill>
                <a:latin typeface="Arial" pitchFamily="34" charset="0"/>
                <a:ea typeface="Arial" pitchFamily="34" charset="-122"/>
                <a:cs typeface="Arial" pitchFamily="34" charset="-120"/>
              </a:rPr>
              <a:t>55%</a:t>
            </a:r>
            <a:endParaRPr lang="en-US" sz="2800" dirty="0"/>
          </a:p>
        </p:txBody>
      </p:sp>
      <p:sp>
        <p:nvSpPr>
          <p:cNvPr id="19" name="Text 15"/>
          <p:cNvSpPr txBox="1"/>
          <p:nvPr/>
        </p:nvSpPr>
        <p:spPr>
          <a:xfrm>
            <a:off x="4560722" y="5212080"/>
            <a:ext cx="3070250" cy="457200"/>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want growth that is not a promotion</a:t>
            </a:r>
            <a:endParaRPr lang="en-US" sz="1500" dirty="0"/>
          </a:p>
        </p:txBody>
      </p:sp>
      <p:sp>
        <p:nvSpPr>
          <p:cNvPr id="20" name="Text 16"/>
          <p:cNvSpPr txBox="1"/>
          <p:nvPr/>
        </p:nvSpPr>
        <p:spPr>
          <a:xfrm>
            <a:off x="4560722" y="5687568"/>
            <a:ext cx="3070250" cy="292608"/>
          </a:xfrm>
          <a:prstGeom prst="rect">
            <a:avLst/>
          </a:prstGeom>
          <a:noFill/>
          <a:ln/>
        </p:spPr>
        <p:txBody>
          <a:bodyPr wrap="square" lIns="0" tIns="0" rIns="0" bIns="0" rtlCol="0" anchor="t"/>
          <a:lstStyle/>
          <a:p>
            <a:pPr indent="0" marL="0">
              <a:lnSpc>
                <a:spcPts val="1700"/>
              </a:lnSpc>
              <a:buNone/>
            </a:pPr>
            <a:r>
              <a:rPr lang="en-US" sz="1400" dirty="0">
                <a:solidFill>
                  <a:srgbClr val="6B7280"/>
                </a:solidFill>
                <a:latin typeface="Arial" pitchFamily="34" charset="0"/>
                <a:ea typeface="Arial" pitchFamily="34" charset="-122"/>
                <a:cs typeface="Arial" pitchFamily="34" charset="-120"/>
              </a:rPr>
              <a:t>2026 Midyear Review</a:t>
            </a:r>
            <a:endParaRPr lang="en-US" sz="1400" dirty="0"/>
          </a:p>
        </p:txBody>
      </p:sp>
      <p:sp>
        <p:nvSpPr>
          <p:cNvPr id="21" name="Shape 17"/>
          <p:cNvSpPr/>
          <p:nvPr/>
        </p:nvSpPr>
        <p:spPr>
          <a:xfrm>
            <a:off x="8106461" y="4663440"/>
            <a:ext cx="3582314" cy="1353312"/>
          </a:xfrm>
          <a:prstGeom prst="roundRect">
            <a:avLst>
              <a:gd name="adj" fmla="val 4054"/>
            </a:avLst>
          </a:prstGeom>
          <a:solidFill>
            <a:srgbClr val="F7F8FA"/>
          </a:solidFill>
          <a:ln w="12700">
            <a:solidFill>
              <a:srgbClr val="333333"/>
            </a:solidFill>
            <a:prstDash val="solid"/>
          </a:ln>
        </p:spPr>
      </p:sp>
      <p:sp>
        <p:nvSpPr>
          <p:cNvPr id="22" name="Text 18"/>
          <p:cNvSpPr txBox="1"/>
          <p:nvPr/>
        </p:nvSpPr>
        <p:spPr>
          <a:xfrm>
            <a:off x="8362493" y="4809744"/>
            <a:ext cx="3070250" cy="402336"/>
          </a:xfrm>
          <a:prstGeom prst="rect">
            <a:avLst/>
          </a:prstGeom>
          <a:noFill/>
          <a:ln/>
        </p:spPr>
        <p:txBody>
          <a:bodyPr wrap="square" lIns="0" tIns="0" rIns="0" bIns="0" rtlCol="0" anchor="ctr"/>
          <a:lstStyle/>
          <a:p>
            <a:pPr indent="0" marL="0">
              <a:buNone/>
            </a:pPr>
            <a:r>
              <a:rPr lang="en-US" sz="2800" b="1" dirty="0">
                <a:solidFill>
                  <a:srgbClr val="C00000"/>
                </a:solidFill>
                <a:latin typeface="Arial" pitchFamily="34" charset="0"/>
                <a:ea typeface="Arial" pitchFamily="34" charset="-122"/>
                <a:cs typeface="Arial" pitchFamily="34" charset="-120"/>
              </a:rPr>
              <a:t>2,506</a:t>
            </a:r>
            <a:endParaRPr lang="en-US" sz="2800" dirty="0"/>
          </a:p>
        </p:txBody>
      </p:sp>
      <p:sp>
        <p:nvSpPr>
          <p:cNvPr id="23" name="Text 19"/>
          <p:cNvSpPr txBox="1"/>
          <p:nvPr/>
        </p:nvSpPr>
        <p:spPr>
          <a:xfrm>
            <a:off x="8362493" y="5212080"/>
            <a:ext cx="3070250" cy="457200"/>
          </a:xfrm>
          <a:prstGeom prst="rect">
            <a:avLst/>
          </a:prstGeom>
          <a:noFill/>
          <a:ln/>
        </p:spPr>
        <p:txBody>
          <a:bodyPr wrap="square" lIns="0" tIns="0" rIns="0" bIns="0" rtlCol="0" anchor="t"/>
          <a:lstStyle/>
          <a:p>
            <a:pPr indent="0" marL="0">
              <a:lnSpc>
                <a:spcPts val="1900"/>
              </a:lnSpc>
              <a:buNone/>
            </a:pPr>
            <a:r>
              <a:rPr lang="en-US" sz="1500" b="1" dirty="0">
                <a:solidFill>
                  <a:srgbClr val="0F172A"/>
                </a:solidFill>
                <a:latin typeface="Arial" pitchFamily="34" charset="0"/>
                <a:ea typeface="Arial" pitchFamily="34" charset="-122"/>
                <a:cs typeface="Arial" pitchFamily="34" charset="-120"/>
              </a:rPr>
              <a:t>employee movements recorded in 2026</a:t>
            </a:r>
            <a:endParaRPr lang="en-US" sz="1500" dirty="0"/>
          </a:p>
        </p:txBody>
      </p:sp>
      <p:sp>
        <p:nvSpPr>
          <p:cNvPr id="24" name="Text 20"/>
          <p:cNvSpPr txBox="1"/>
          <p:nvPr/>
        </p:nvSpPr>
        <p:spPr>
          <a:xfrm>
            <a:off x="8362493" y="5687568"/>
            <a:ext cx="3070250" cy="292608"/>
          </a:xfrm>
          <a:prstGeom prst="rect">
            <a:avLst/>
          </a:prstGeom>
          <a:noFill/>
          <a:ln/>
        </p:spPr>
        <p:txBody>
          <a:bodyPr wrap="square" lIns="0" tIns="0" rIns="0" bIns="0" rtlCol="0" anchor="t"/>
          <a:lstStyle/>
          <a:p>
            <a:pPr indent="0" marL="0">
              <a:lnSpc>
                <a:spcPts val="1700"/>
              </a:lnSpc>
              <a:buNone/>
            </a:pPr>
            <a:r>
              <a:rPr lang="en-US" sz="1400" dirty="0">
                <a:solidFill>
                  <a:srgbClr val="6B7280"/>
                </a:solidFill>
                <a:latin typeface="Arial" pitchFamily="34" charset="0"/>
                <a:ea typeface="Arial" pitchFamily="34" charset="-122"/>
                <a:cs typeface="Arial" pitchFamily="34" charset="-120"/>
              </a:rPr>
              <a:t>242 promotions · 318 realignments</a:t>
            </a:r>
            <a:endParaRPr lang="en-US" sz="1400" dirty="0"/>
          </a:p>
        </p:txBody>
      </p:sp>
      <p:sp>
        <p:nvSpPr>
          <p:cNvPr id="25" name="Shape 21"/>
          <p:cNvSpPr/>
          <p:nvPr/>
        </p:nvSpPr>
        <p:spPr>
          <a:xfrm>
            <a:off x="502920" y="6291072"/>
            <a:ext cx="11185855" cy="0"/>
          </a:xfrm>
          <a:prstGeom prst="line">
            <a:avLst/>
          </a:prstGeom>
          <a:noFill/>
          <a:ln w="12700">
            <a:solidFill>
              <a:srgbClr val="E5E7EB"/>
            </a:solidFill>
            <a:prstDash val="solid"/>
          </a:ln>
        </p:spPr>
      </p:sp>
      <p:sp>
        <p:nvSpPr>
          <p:cNvPr id="26" name="Text 22"/>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Sources: 2026 IDP filings · 2026 Midyear Review · 2026 employee count per department and type of change.</a:t>
            </a:r>
            <a:endParaRPr lang="en-US" sz="1400" dirty="0"/>
          </a:p>
        </p:txBody>
      </p:sp>
      <p:sp>
        <p:nvSpPr>
          <p:cNvPr id="27" name="Text 23"/>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27</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400" b="1" spc="220" kern="0" dirty="0">
                <a:solidFill>
                  <a:srgbClr val="C00000"/>
                </a:solidFill>
                <a:latin typeface="Arial" pitchFamily="34" charset="0"/>
                <a:ea typeface="Arial" pitchFamily="34" charset="-122"/>
                <a:cs typeface="Arial" pitchFamily="34" charset="-120"/>
              </a:rPr>
              <a:t>APPENDIX · SOURCES AND ASSUMPTIONS</a:t>
            </a:r>
            <a:endParaRPr lang="en-US" sz="1400" dirty="0"/>
          </a:p>
        </p:txBody>
      </p:sp>
      <p:sp>
        <p:nvSpPr>
          <p:cNvPr id="3" name="Text 1"/>
          <p:cNvSpPr txBox="1"/>
          <p:nvPr/>
        </p:nvSpPr>
        <p:spPr>
          <a:xfrm>
            <a:off x="502920" y="576072"/>
            <a:ext cx="11185855" cy="566928"/>
          </a:xfrm>
          <a:prstGeom prst="rect">
            <a:avLst/>
          </a:prstGeom>
          <a:noFill/>
          <a:ln/>
        </p:spPr>
        <p:txBody>
          <a:bodyPr wrap="square" lIns="0" tIns="0" rIns="0" bIns="0" rtlCol="0" anchor="t"/>
          <a:lstStyle/>
          <a:p>
            <a:pPr indent="0" marL="0">
              <a:buNone/>
            </a:pPr>
            <a:r>
              <a:rPr lang="en-US" sz="3200" b="1" dirty="0">
                <a:solidFill>
                  <a:srgbClr val="0F172A"/>
                </a:solidFill>
                <a:latin typeface="Arial" pitchFamily="34" charset="0"/>
                <a:ea typeface="Arial" pitchFamily="34" charset="-122"/>
                <a:cs typeface="Arial" pitchFamily="34" charset="-120"/>
              </a:rPr>
              <a:t>Every number in this deck, and where it came from.</a:t>
            </a:r>
            <a:endParaRPr lang="en-US" sz="3200" dirty="0"/>
          </a:p>
        </p:txBody>
      </p:sp>
      <p:sp>
        <p:nvSpPr>
          <p:cNvPr id="4" name="Text 2"/>
          <p:cNvSpPr txBox="1"/>
          <p:nvPr/>
        </p:nvSpPr>
        <p:spPr>
          <a:xfrm>
            <a:off x="502920" y="1170432"/>
            <a:ext cx="11185855" cy="310896"/>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Anything marked as a planning assumption has not yet been measured and should be challenged.</a:t>
            </a:r>
            <a:endParaRPr lang="en-US" sz="1600" dirty="0"/>
          </a:p>
        </p:txBody>
      </p:sp>
      <p:sp>
        <p:nvSpPr>
          <p:cNvPr id="5" name="Shape 3"/>
          <p:cNvSpPr/>
          <p:nvPr/>
        </p:nvSpPr>
        <p:spPr>
          <a:xfrm>
            <a:off x="502920" y="1773936"/>
            <a:ext cx="5464912" cy="4224528"/>
          </a:xfrm>
          <a:prstGeom prst="roundRect">
            <a:avLst>
              <a:gd name="adj" fmla="val 129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6" name="Text 4"/>
          <p:cNvSpPr txBox="1"/>
          <p:nvPr/>
        </p:nvSpPr>
        <p:spPr>
          <a:xfrm>
            <a:off x="758952" y="1938528"/>
            <a:ext cx="4952848"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HOME CREDIT DATA</a:t>
            </a:r>
            <a:endParaRPr lang="en-US" sz="1400" dirty="0"/>
          </a:p>
        </p:txBody>
      </p:sp>
      <p:sp>
        <p:nvSpPr>
          <p:cNvPr id="7" name="Text 5"/>
          <p:cNvSpPr txBox="1"/>
          <p:nvPr/>
        </p:nvSpPr>
        <p:spPr>
          <a:xfrm>
            <a:off x="758952" y="2231136"/>
            <a:ext cx="4952848" cy="3675888"/>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Internal job posting data, 2024–2026 — 1,008 vacancies, 463 internal applicants, 170 accepted: a 16.9% internal fill rate.</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2025 hiring volumes: 324 roles, of which 186 Band B and 103 Band C.</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2024 cost-per-hire: ₱22,446 Band B, ₱86,796 Band C; headhunter fee 68% of Band C cost.</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Exit survey — "Career &amp; Better Opportunity", 22% of exits.</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eNPS on growth opportunity — 88% believe they can grow here.</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2026 IDP filings (1,249) and career movement preferences (1,109).</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HRIS headcount — 637 pilot, 1,113 with mass operations, 1,991 non-mass, 20,587 full organisation.</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HCPH Strategic Priorities '27–'29 (draft) · HR Strategic Priorities · OneHR Operating Model.</a:t>
            </a:r>
            <a:endParaRPr lang="en-US" sz="1400" dirty="0"/>
          </a:p>
        </p:txBody>
      </p:sp>
      <p:sp>
        <p:nvSpPr>
          <p:cNvPr id="8" name="Shape 6"/>
          <p:cNvSpPr/>
          <p:nvPr/>
        </p:nvSpPr>
        <p:spPr>
          <a:xfrm>
            <a:off x="6223864" y="1773936"/>
            <a:ext cx="5464912" cy="4224528"/>
          </a:xfrm>
          <a:prstGeom prst="roundRect">
            <a:avLst>
              <a:gd name="adj" fmla="val 1299"/>
            </a:avLst>
          </a:prstGeom>
          <a:solidFill>
            <a:srgbClr val="FFFFFF"/>
          </a:solidFill>
          <a:ln w="12700">
            <a:solidFill>
              <a:srgbClr val="E5E7EB"/>
            </a:solidFill>
            <a:prstDash val="solid"/>
          </a:ln>
          <a:effectLst>
            <a:outerShdw sx="100000" sy="100000" kx="0" ky="0" algn="bl" rotWithShape="0" blurRad="114300" dist="12700" dir="5400000">
              <a:srgbClr val="000000">
                <a:alpha val="7000"/>
              </a:srgbClr>
            </a:outerShdw>
          </a:effectLst>
        </p:spPr>
      </p:sp>
      <p:sp>
        <p:nvSpPr>
          <p:cNvPr id="9" name="Text 7"/>
          <p:cNvSpPr txBox="1"/>
          <p:nvPr/>
        </p:nvSpPr>
        <p:spPr>
          <a:xfrm>
            <a:off x="6479896" y="1938528"/>
            <a:ext cx="4952848" cy="237744"/>
          </a:xfrm>
          <a:prstGeom prst="rect">
            <a:avLst/>
          </a:prstGeom>
          <a:noFill/>
          <a:ln/>
        </p:spPr>
        <p:txBody>
          <a:bodyPr wrap="square" lIns="0" tIns="0" rIns="0" bIns="0" rtlCol="0" anchor="ctr"/>
          <a:lstStyle/>
          <a:p>
            <a:pPr indent="0" marL="0">
              <a:buNone/>
            </a:pPr>
            <a:r>
              <a:rPr lang="en-US" sz="1400" b="1" spc="140" kern="0" dirty="0">
                <a:solidFill>
                  <a:srgbClr val="B45309"/>
                </a:solidFill>
                <a:latin typeface="Arial" pitchFamily="34" charset="0"/>
                <a:ea typeface="Arial" pitchFamily="34" charset="-122"/>
                <a:cs typeface="Arial" pitchFamily="34" charset="-120"/>
              </a:rPr>
              <a:t>MODEL AND PLANNING ASSUMPTIONS</a:t>
            </a:r>
            <a:endParaRPr lang="en-US" sz="1400" dirty="0"/>
          </a:p>
        </p:txBody>
      </p:sp>
      <p:sp>
        <p:nvSpPr>
          <p:cNvPr id="10" name="Text 8"/>
          <p:cNvSpPr txBox="1"/>
          <p:nvPr/>
        </p:nvSpPr>
        <p:spPr>
          <a:xfrm>
            <a:off x="6479896" y="2231136"/>
            <a:ext cx="4952848" cy="3675888"/>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Build costed by IT in man-hours at ₱1,785,500, phased ₱1,454,200 in year one and ₱331,300 in year two.</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FX ₱61 = US$1. Discount rate 10%. Three-year horizon. Four of the five run lines are bought in dollars.</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Avoided agency fee per attributed fill ₱350,000; 37 vacancy days saved.</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Retention lift modelled at 3 points, discounted from the 13-point gap in v1 data — that gap is almost certainly selection bias.</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120 gig, immersion and service-offer participants a year.</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Vendor comparison is an RFP planning band, not a quote — no vendor publishes per-seat pricing.</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Excluded from benefits: gig output, skills built, network effects.</a:t>
            </a:r>
            <a:endParaRPr lang="en-US" sz="1400" dirty="0"/>
          </a:p>
          <a:p>
            <a:pPr marL="342900" indent="-342900">
              <a:lnSpc>
                <a:spcPts val="1800"/>
              </a:lnSpc>
              <a:spcAft>
                <a:spcPts val="500"/>
              </a:spcAft>
              <a:buSzPct val="100000"/>
              <a:buChar char="•"/>
            </a:pPr>
            <a:r>
              <a:rPr lang="en-US" sz="1400" dirty="0">
                <a:solidFill>
                  <a:srgbClr val="374151"/>
                </a:solidFill>
                <a:latin typeface="Arial" pitchFamily="34" charset="0"/>
                <a:ea typeface="Arial" pitchFamily="34" charset="-122"/>
                <a:cs typeface="Arial" pitchFamily="34" charset="-120"/>
              </a:rPr>
              <a:t>Excluded from costs: 0.2–0.3 FTE ownership from year two.</a:t>
            </a:r>
            <a:endParaRPr lang="en-US" sz="1400" dirty="0"/>
          </a:p>
        </p:txBody>
      </p:sp>
      <p:sp>
        <p:nvSpPr>
          <p:cNvPr id="11" name="Shape 9"/>
          <p:cNvSpPr/>
          <p:nvPr/>
        </p:nvSpPr>
        <p:spPr>
          <a:xfrm>
            <a:off x="502920" y="6291072"/>
            <a:ext cx="11185855" cy="0"/>
          </a:xfrm>
          <a:prstGeom prst="line">
            <a:avLst/>
          </a:prstGeom>
          <a:noFill/>
          <a:ln w="12700">
            <a:solidFill>
              <a:srgbClr val="E5E7EB"/>
            </a:solidFill>
            <a:prstDash val="solid"/>
          </a:ln>
        </p:spPr>
      </p:sp>
      <p:sp>
        <p:nvSpPr>
          <p:cNvPr id="12" name="Text 10"/>
          <p:cNvSpPr txBox="1"/>
          <p:nvPr/>
        </p:nvSpPr>
        <p:spPr>
          <a:xfrm>
            <a:off x="502920" y="6345936"/>
            <a:ext cx="10637215" cy="438912"/>
          </a:xfrm>
          <a:prstGeom prst="rect">
            <a:avLst/>
          </a:prstGeom>
          <a:noFill/>
          <a:ln/>
        </p:spPr>
        <p:txBody>
          <a:bodyPr wrap="square" lIns="0" tIns="0" rIns="0" bIns="0" rtlCol="0" anchor="t"/>
          <a:lstStyle/>
          <a:p>
            <a:pPr indent="0" marL="0">
              <a:lnSpc>
                <a:spcPts val="1700"/>
              </a:lnSpc>
              <a:buNone/>
            </a:pPr>
            <a:r>
              <a:rPr lang="en-US" sz="1400" dirty="0">
                <a:solidFill>
                  <a:srgbClr val="9CA3AF"/>
                </a:solidFill>
                <a:latin typeface="Arial" pitchFamily="34" charset="0"/>
                <a:ea typeface="Arial" pitchFamily="34" charset="-122"/>
                <a:cs typeface="Arial" pitchFamily="34" charset="-120"/>
              </a:rPr>
              <a:t>Working model: Growth-v2-CBA.xlsx · Requirements: BRD_V2 · Prototype: Growth v2. Internal — do not distribute outside the organization.</a:t>
            </a:r>
            <a:endParaRPr lang="en-US" sz="1400" dirty="0"/>
          </a:p>
        </p:txBody>
      </p:sp>
      <p:sp>
        <p:nvSpPr>
          <p:cNvPr id="13" name="Text 11"/>
          <p:cNvSpPr txBox="1"/>
          <p:nvPr/>
        </p:nvSpPr>
        <p:spPr>
          <a:xfrm>
            <a:off x="11277295" y="6345936"/>
            <a:ext cx="411480" cy="256032"/>
          </a:xfrm>
          <a:prstGeom prst="rect">
            <a:avLst/>
          </a:prstGeom>
          <a:noFill/>
          <a:ln/>
        </p:spPr>
        <p:txBody>
          <a:bodyPr wrap="square" lIns="0" tIns="0" rIns="0" bIns="0" rtlCol="0" anchor="ctr"/>
          <a:lstStyle/>
          <a:p>
            <a:pPr algn="r" indent="0" marL="0">
              <a:buNone/>
            </a:pPr>
            <a:r>
              <a:rPr lang="en-US" sz="1400" dirty="0">
                <a:solidFill>
                  <a:srgbClr val="9CA3AF"/>
                </a:solidFill>
                <a:latin typeface="Arial" pitchFamily="34" charset="0"/>
                <a:ea typeface="Arial" pitchFamily="34" charset="-122"/>
                <a:cs typeface="Arial" pitchFamily="34" charset="-120"/>
              </a:rPr>
              <a:t>28</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Home Credit Philippines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Growth — Talent Marketplace</dc:title>
  <dc:subject>PptxGenJS Presentation</dc:subject>
  <dc:creator>Ruffa Gayla Gonzales</dc:creator>
  <cp:lastModifiedBy>Ruffa Gayla Gonzales</cp:lastModifiedBy>
  <cp:revision>1</cp:revision>
  <dcterms:created xsi:type="dcterms:W3CDTF">2026-09-09T15:23:06Z</dcterms:created>
  <dcterms:modified xsi:type="dcterms:W3CDTF">2026-09-09T15:23:06Z</dcterms:modified>
</cp:coreProperties>
</file>