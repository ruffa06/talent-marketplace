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total cost, ₱ millions</c:v>
                </c:pt>
              </c:strCache>
            </c:strRef>
          </c:tx>
          <c:spPr>
            <a:solidFill>
              <a:srgbClr val="C00000"/>
            </a:solidFill>
            <a:effectLst/>
          </c:spPr>
          <c:invertIfNegative val="0"/>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94A3B8"/>
              </a:solidFill>
              <a:effectLst/>
            </c:spPr>
          </c:dPt>
          <c:dPt>
            <c:idx val="2"/>
            <c:invertIfNegative val="0"/>
            <c:bubble3D val="0"/>
            <c:spPr>
              <a:solidFill>
                <a:srgbClr val="94A3B8"/>
              </a:solidFill>
              <a:effectLst/>
            </c:spPr>
          </c:dPt>
          <c:cat>
            <c:multiLvlStrRef>
              <c:f>Sheet1!$A$2:$A$4</c:f>
              <c:multiLvlStrCache>
                <c:ptCount val="3"/>
                <c:lvl>
                  <c:pt idx="0">
                    <c:v>Growth — build in-house</c:v>
                  </c:pt>
                  <c:pt idx="1">
                    <c:v>External platform — low band</c:v>
                  </c:pt>
                  <c:pt idx="2">
                    <c:v>External platform — high band</c:v>
                  </c:pt>
                </c:lvl>
              </c:multiLvlStrCache>
            </c:multiLvlStrRef>
          </c:cat>
          <c:val>
            <c:numRef>
              <c:f>Sheet1!$B$2:$B$4</c:f>
              <c:numCache>
                <c:formatCode>General</c:formatCode>
                <c:ptCount val="3"/>
                <c:pt idx="0">
                  <c:v>1.05</c:v>
                </c:pt>
                <c:pt idx="1">
                  <c:v>10.15</c:v>
                </c:pt>
                <c:pt idx="2">
                  <c:v>27.84</c:v>
                </c:pt>
              </c:numCache>
            </c:numRef>
          </c:val>
        </c:ser>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"Growth is already available at Home Credit — you just cannot see it." Everything after this slide is about the plumbing that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reads nothing else, this is the slide. Lead with the fill rate, not engagement — our eNPS is healthy and saying so first buys credibility. Land on the one-liner.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eNPS number out loud before the CPO does. The credibility of the whole deck rests on not overclaiming an engagement problem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37% figure is the one that reframes the argument. When our people do apply internally, more than a third are hired — so the screening bar is not the obstacle. Almost nobody applies. That is a visibility and readiness problem, and it is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now". Every number here is a cost we are already paying. Nothing on it depends on the project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₱3.9M/yr is the gross avoided-cost prize on Bands B and C at the 30% benchmark. The cost-benefit slides later use a more conservative, attribution-safe subset of this.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pre-empt "is this just an HR fashion". The answer is that half the market is already doing it, and the published failure mode — intent without a route — is exactly what our own funnel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eight — not six. People &amp; Culture, Deep Focus on Tech, and Expand Horizons all depend on internal talent supply. Say which three and why,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CPO. Four of five HR priorities, and it lands as Tier 0 self-service rather than new headcount for HR to absorb.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build-versus-duplicate decision is the most defensible thing in the design. We deliberately gave up owning the vacancy flow so that we do not fragment recruitment — and we solved the attribution problem that decision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once, slowly. The panel needs to believe an employee can get from nothing to a match in a lunch break, and that a manager is never bypassed.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two-minute live walkthrough here if the panel wants it. The point of showing the real thing is that the build estimate on the next slides is not hypothetical — a working version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buy case properly. Speed and maturity are genuinely theirs. Then make the cost and ownership argument, which is genuinely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IDP number is the strongest demand evidence in the deck because our own people wrote it down unprompted: 630 of 1,249 asked for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deck carried a ₱4.2M placeholder with "IT to scope" against it. This replaces it with a bottom-up estimate from a completed BRD, which is why the number moved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two italic rows. Volunteering that the softest input can be deleted entirely and the case still clears at 3.8 is what makes the other numbers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that the vendor band is a planning estimate, not a quote — none of them publish per-seat pricing and at 637 seats the binding constraint is minimum contract value. The break-even framing survives even if the band is wrong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presses on one risk, it will be this one. Do not defend it with communications. Defend it with the incentive change, and say plainly that we will report Talent Exporter numbers to ExCo.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stop condition out loud is worth more than any target on this slide. It tells the panel this is a measured pilot, not a programme looking for a reason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two gates. Saying "we will not start the build until recruitment and the DPO have both said yes in writing" is the single most reassuring sentence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two free asks. They are what make the third one safe: if either gate fails, we have spent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not on a summary.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"can people really jump into management?". Band B is a reachable step up; Band C is a sideways move by people who are already managers. Neither requires a heroic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94000"/>
          </a:blip>
          <a:stretch>
            <a:fillRect/>
          </a:stretch>
        </p:blipFill>
        <p:spPr>
          <a:xfrm>
            <a:off x="502920" y="1481328"/>
            <a:ext cx="868680" cy="868680"/>
          </a:xfrm>
          <a:prstGeom prst="rect">
            <a:avLst/>
          </a:prstGeom>
        </p:spPr>
      </p:pic>
      <p:sp>
        <p:nvSpPr>
          <p:cNvPr id="3" name="Text 0"/>
          <p:cNvSpPr txBox="1"/>
          <p:nvPr/>
        </p:nvSpPr>
        <p:spPr>
          <a:xfrm>
            <a:off x="502920" y="2487168"/>
            <a:ext cx="10058400" cy="960120"/>
          </a:xfrm>
          <a:prstGeom prst="rect">
            <a:avLst/>
          </a:prstGeom>
          <a:noFill/>
          <a:ln/>
        </p:spPr>
        <p:txBody>
          <a:bodyPr wrap="square" lIns="0" tIns="0" rIns="0" bIns="0" rtlCol="0" anchor="ctr"/>
          <a:lstStyle/>
          <a:p>
            <a:pPr indent="0" marL="0">
              <a:buNone/>
            </a:pPr>
            <a:r>
              <a:rPr lang="en-US" sz="6000" b="1" spc="200" kern="0" dirty="0">
                <a:solidFill>
                  <a:srgbClr val="FFFFFF"/>
                </a:solidFill>
                <a:latin typeface="Arial" pitchFamily="34" charset="0"/>
                <a:ea typeface="Arial" pitchFamily="34" charset="-122"/>
                <a:cs typeface="Arial" pitchFamily="34" charset="-120"/>
              </a:rPr>
              <a:t>GROWTH</a:t>
            </a:r>
            <a:endParaRPr lang="en-US" sz="6000" dirty="0"/>
          </a:p>
        </p:txBody>
      </p:sp>
      <p:sp>
        <p:nvSpPr>
          <p:cNvPr id="4" name="Text 1"/>
          <p:cNvSpPr txBox="1"/>
          <p:nvPr/>
        </p:nvSpPr>
        <p:spPr>
          <a:xfrm>
            <a:off x="502920" y="3493008"/>
            <a:ext cx="9692640" cy="457200"/>
          </a:xfrm>
          <a:prstGeom prst="rect">
            <a:avLst/>
          </a:prstGeom>
          <a:noFill/>
          <a:ln/>
        </p:spPr>
        <p:txBody>
          <a:bodyPr wrap="square" lIns="0" tIns="0" rIns="0" bIns="0" rtlCol="0" anchor="ctr"/>
          <a:lstStyle/>
          <a:p>
            <a:pPr indent="0" marL="0">
              <a:buNone/>
            </a:pPr>
            <a:r>
              <a:rPr lang="en-US" sz="2400" dirty="0">
                <a:solidFill>
                  <a:srgbClr val="E2E8F0"/>
                </a:solidFill>
                <a:latin typeface="Arial" pitchFamily="34" charset="0"/>
                <a:ea typeface="Arial" pitchFamily="34" charset="-122"/>
                <a:cs typeface="Arial" pitchFamily="34" charset="-120"/>
              </a:rPr>
              <a:t>Find your next move — without leaving Home Credit.</a:t>
            </a:r>
            <a:endParaRPr lang="en-US" sz="2400" dirty="0"/>
          </a:p>
        </p:txBody>
      </p:sp>
      <p:sp>
        <p:nvSpPr>
          <p:cNvPr id="5" name="Text 2"/>
          <p:cNvSpPr txBox="1"/>
          <p:nvPr/>
        </p:nvSpPr>
        <p:spPr>
          <a:xfrm>
            <a:off x="502920" y="3968496"/>
            <a:ext cx="9692640" cy="329184"/>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An internal talent marketplace for Home Credit Philippines</a:t>
            </a:r>
            <a:endParaRPr lang="en-US" sz="1700" dirty="0"/>
          </a:p>
        </p:txBody>
      </p:sp>
      <p:sp>
        <p:nvSpPr>
          <p:cNvPr id="6" name="Shape 3"/>
          <p:cNvSpPr/>
          <p:nvPr/>
        </p:nvSpPr>
        <p:spPr>
          <a:xfrm>
            <a:off x="502920" y="4828032"/>
            <a:ext cx="4937760" cy="0"/>
          </a:xfrm>
          <a:prstGeom prst="line">
            <a:avLst/>
          </a:prstGeom>
          <a:noFill/>
          <a:ln w="38100">
            <a:solidFill>
              <a:srgbClr val="C00000"/>
            </a:solidFill>
            <a:prstDash val="solid"/>
          </a:ln>
        </p:spPr>
      </p:sp>
      <p:sp>
        <p:nvSpPr>
          <p:cNvPr id="7" name="Text 4"/>
          <p:cNvSpPr txBox="1"/>
          <p:nvPr/>
        </p:nvSpPr>
        <p:spPr>
          <a:xfrm>
            <a:off x="502920" y="5010912"/>
            <a:ext cx="1005840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Ruffa Gayla Gonzales</a:t>
            </a:r>
            <a:pPr indent="0" marL="0">
              <a:buNone/>
            </a:pPr>
            <a:r>
              <a:rPr lang="en-US" sz="1700" dirty="0">
                <a:solidFill>
                  <a:srgbClr val="94A3B8"/>
                </a:solidFill>
                <a:latin typeface="Arial" pitchFamily="34" charset="0"/>
                <a:ea typeface="Arial" pitchFamily="34" charset="-122"/>
                <a:cs typeface="Arial" pitchFamily="34" charset="-120"/>
              </a:rPr>
              <a:t>   ·   HR Organizational Effectiveness</a:t>
            </a:r>
            <a:endParaRPr lang="en-US" sz="1700" dirty="0"/>
          </a:p>
        </p:txBody>
      </p:sp>
      <p:sp>
        <p:nvSpPr>
          <p:cNvPr id="8" name="Text 5"/>
          <p:cNvSpPr txBox="1"/>
          <p:nvPr/>
        </p:nvSpPr>
        <p:spPr>
          <a:xfrm>
            <a:off x="502920" y="5321808"/>
            <a:ext cx="10607040" cy="274320"/>
          </a:xfrm>
          <a:prstGeom prst="rect">
            <a:avLst/>
          </a:prstGeom>
          <a:noFill/>
          <a:ln/>
        </p:spPr>
        <p:txBody>
          <a:bodyPr wrap="square" lIns="0" tIns="0" rIns="0" bIns="0" rtlCol="0" anchor="ctr"/>
          <a:lstStyle/>
          <a:p>
            <a:pPr indent="0" marL="0">
              <a:buNone/>
            </a:pPr>
            <a:r>
              <a:rPr lang="en-US" sz="1500" dirty="0">
                <a:solidFill>
                  <a:srgbClr val="64748B"/>
                </a:solidFill>
                <a:latin typeface="Arial" pitchFamily="34" charset="0"/>
                <a:ea typeface="Arial" pitchFamily="34" charset="-122"/>
                <a:cs typeface="Arial" pitchFamily="34" charset="-120"/>
              </a:rPr>
              <a:t>Sponsor: Barbs Mecua   ·   LIFT Management Development Programme   ·   Action Learning Project</a:t>
            </a:r>
            <a:endParaRPr lang="en-US" sz="1500" dirty="0"/>
          </a:p>
        </p:txBody>
      </p:sp>
      <p:sp>
        <p:nvSpPr>
          <p:cNvPr id="9" name="Text 6"/>
          <p:cNvSpPr txBox="1"/>
          <p:nvPr/>
        </p:nvSpPr>
        <p:spPr>
          <a:xfrm>
            <a:off x="502920" y="6272784"/>
            <a:ext cx="7315200" cy="274320"/>
          </a:xfrm>
          <a:prstGeom prst="rect">
            <a:avLst/>
          </a:prstGeom>
          <a:noFill/>
          <a:ln/>
        </p:spPr>
        <p:txBody>
          <a:bodyPr wrap="square" lIns="0" tIns="0" rIns="0" bIns="0" rtlCol="0" anchor="ctr"/>
          <a:lstStyle/>
          <a:p>
            <a:pPr indent="0" marL="0">
              <a:buNone/>
            </a:pPr>
            <a:r>
              <a:rPr lang="en-US" sz="1400" dirty="0">
                <a:solidFill>
                  <a:srgbClr val="475569"/>
                </a:solidFill>
                <a:latin typeface="Arial" pitchFamily="34" charset="0"/>
                <a:ea typeface="Arial" pitchFamily="34" charset="-122"/>
                <a:cs typeface="Arial" pitchFamily="34" charset="-120"/>
              </a:rPr>
              <a:t>Internal — do not distribute outside the organization.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page, four numbers, one decision.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Everything that follows is evidence for this slide.</a:t>
            </a:r>
            <a:endParaRPr lang="en-US" sz="1600" dirty="0"/>
          </a:p>
        </p:txBody>
      </p:sp>
      <p:sp>
        <p:nvSpPr>
          <p:cNvPr id="5" name="Shape 3"/>
          <p:cNvSpPr/>
          <p:nvPr/>
        </p:nvSpPr>
        <p:spPr>
          <a:xfrm>
            <a:off x="502920" y="1664208"/>
            <a:ext cx="2631872" cy="3547872"/>
          </a:xfrm>
          <a:prstGeom prst="roundRect">
            <a:avLst>
              <a:gd name="adj" fmla="val 2085"/>
            </a:avLst>
          </a:prstGeom>
          <a:solidFill>
            <a:srgbClr val="FDF1F1"/>
          </a:solidFill>
          <a:ln w="12700">
            <a:solidFill>
              <a:srgbClr val="333333"/>
            </a:solidFill>
            <a:prstDash val="solid"/>
          </a:ln>
        </p:spPr>
      </p:sp>
      <p:sp>
        <p:nvSpPr>
          <p:cNvPr id="6" name="Text 4"/>
          <p:cNvSpPr txBox="1"/>
          <p:nvPr/>
        </p:nvSpPr>
        <p:spPr>
          <a:xfrm>
            <a:off x="722376" y="1828800"/>
            <a:ext cx="219296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722376"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We fill 17.6% of roles internally against a ~30% benchmark. In 2025 we spent ₱13.4M hiring, ₱6.1M of it to headhunters for Band C alone — while 88% of our people say they can grow here.</a:t>
            </a:r>
            <a:endParaRPr lang="en-US" sz="1400" dirty="0"/>
          </a:p>
        </p:txBody>
      </p:sp>
      <p:sp>
        <p:nvSpPr>
          <p:cNvPr id="8" name="Shape 6"/>
          <p:cNvSpPr/>
          <p:nvPr/>
        </p:nvSpPr>
        <p:spPr>
          <a:xfrm>
            <a:off x="3354248" y="1664208"/>
            <a:ext cx="2631872" cy="3547872"/>
          </a:xfrm>
          <a:prstGeom prst="roundRect">
            <a:avLst>
              <a:gd name="adj" fmla="val 2085"/>
            </a:avLst>
          </a:prstGeom>
          <a:solidFill>
            <a:srgbClr val="EFF6FF"/>
          </a:solidFill>
          <a:ln w="12700">
            <a:solidFill>
              <a:srgbClr val="333333"/>
            </a:solidFill>
            <a:prstDash val="solid"/>
          </a:ln>
        </p:spPr>
      </p:sp>
      <p:sp>
        <p:nvSpPr>
          <p:cNvPr id="9" name="Text 7"/>
          <p:cNvSpPr txBox="1"/>
          <p:nvPr/>
        </p:nvSpPr>
        <p:spPr>
          <a:xfrm>
            <a:off x="3573704" y="1828800"/>
            <a:ext cx="2192960" cy="237744"/>
          </a:xfrm>
          <a:prstGeom prst="rect">
            <a:avLst/>
          </a:prstGeom>
          <a:noFill/>
          <a:ln/>
        </p:spPr>
        <p:txBody>
          <a:bodyPr wrap="square" lIns="0" tIns="0" rIns="0" bIns="0" rtlCol="0" anchor="ctr"/>
          <a:lstStyle/>
          <a:p>
            <a:pPr indent="0" marL="0">
              <a:buNone/>
            </a:pPr>
            <a:r>
              <a:rPr lang="en-US" sz="1400" b="1" spc="160" kern="0" dirty="0">
                <a:solidFill>
                  <a:srgbClr val="1D4ED8"/>
                </a:solidFill>
                <a:latin typeface="Arial" pitchFamily="34" charset="0"/>
                <a:ea typeface="Arial" pitchFamily="34" charset="-122"/>
                <a:cs typeface="Arial" pitchFamily="34" charset="-120"/>
              </a:rPr>
              <a:t>THE SOLUTION</a:t>
            </a:r>
            <a:endParaRPr lang="en-US" sz="1400" dirty="0"/>
          </a:p>
        </p:txBody>
      </p:sp>
      <p:sp>
        <p:nvSpPr>
          <p:cNvPr id="10" name="Text 8"/>
          <p:cNvSpPr txBox="1"/>
          <p:nvPr/>
        </p:nvSpPr>
        <p:spPr>
          <a:xfrm>
            <a:off x="3573704"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One internal marketplace for gigs, immersions and service offers, with AI matching. It promotes HC Connect vacancies rather than duplicating them — and proves which applications it caused.</a:t>
            </a:r>
            <a:endParaRPr lang="en-US" sz="1400" dirty="0"/>
          </a:p>
        </p:txBody>
      </p:sp>
      <p:sp>
        <p:nvSpPr>
          <p:cNvPr id="11" name="Shape 9"/>
          <p:cNvSpPr/>
          <p:nvPr/>
        </p:nvSpPr>
        <p:spPr>
          <a:xfrm>
            <a:off x="6205576" y="1664208"/>
            <a:ext cx="2631872" cy="3547872"/>
          </a:xfrm>
          <a:prstGeom prst="roundRect">
            <a:avLst>
              <a:gd name="adj" fmla="val 2085"/>
            </a:avLst>
          </a:prstGeom>
          <a:solidFill>
            <a:srgbClr val="F0FDF4"/>
          </a:solidFill>
          <a:ln w="12700">
            <a:solidFill>
              <a:srgbClr val="333333"/>
            </a:solidFill>
            <a:prstDash val="solid"/>
          </a:ln>
        </p:spPr>
      </p:sp>
      <p:sp>
        <p:nvSpPr>
          <p:cNvPr id="12" name="Text 10"/>
          <p:cNvSpPr txBox="1"/>
          <p:nvPr/>
        </p:nvSpPr>
        <p:spPr>
          <a:xfrm>
            <a:off x="6425032" y="1828800"/>
            <a:ext cx="2192960" cy="237744"/>
          </a:xfrm>
          <a:prstGeom prst="rect">
            <a:avLst/>
          </a:prstGeom>
          <a:noFill/>
          <a:ln/>
        </p:spPr>
        <p:txBody>
          <a:bodyPr wrap="square" lIns="0" tIns="0" rIns="0" bIns="0" rtlCol="0" anchor="ctr"/>
          <a:lstStyle/>
          <a:p>
            <a:pPr indent="0" marL="0">
              <a:buNone/>
            </a:pPr>
            <a:r>
              <a:rPr lang="en-US" sz="1400" b="1" spc="160" kern="0" dirty="0">
                <a:solidFill>
                  <a:srgbClr val="15803D"/>
                </a:solidFill>
                <a:latin typeface="Arial" pitchFamily="34" charset="0"/>
                <a:ea typeface="Arial" pitchFamily="34" charset="-122"/>
                <a:cs typeface="Arial" pitchFamily="34" charset="-120"/>
              </a:rPr>
              <a:t>THE MONEY</a:t>
            </a:r>
            <a:endParaRPr lang="en-US" sz="1400" dirty="0"/>
          </a:p>
        </p:txBody>
      </p:sp>
      <p:sp>
        <p:nvSpPr>
          <p:cNvPr id="13" name="Text 11"/>
          <p:cNvSpPr txBox="1"/>
          <p:nvPr/>
        </p:nvSpPr>
        <p:spPr>
          <a:xfrm>
            <a:off x="6425032"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₱1.05M over three years for a 637-person pilot — ₱550 per employee a year. Benefit ₱7.1M, benefit–cost ratio 6.8, payback in 9 months. Buying Gloat or Fuel50 costs ₱10.2M–₱27.8M.</a:t>
            </a:r>
            <a:endParaRPr lang="en-US" sz="1400" dirty="0"/>
          </a:p>
        </p:txBody>
      </p:sp>
      <p:sp>
        <p:nvSpPr>
          <p:cNvPr id="14" name="Shape 12"/>
          <p:cNvSpPr/>
          <p:nvPr/>
        </p:nvSpPr>
        <p:spPr>
          <a:xfrm>
            <a:off x="9056903" y="1664208"/>
            <a:ext cx="2631872" cy="3547872"/>
          </a:xfrm>
          <a:prstGeom prst="roundRect">
            <a:avLst>
              <a:gd name="adj" fmla="val 2085"/>
            </a:avLst>
          </a:prstGeom>
          <a:solidFill>
            <a:srgbClr val="F7F8FA"/>
          </a:solidFill>
          <a:ln w="12700">
            <a:solidFill>
              <a:srgbClr val="333333"/>
            </a:solidFill>
            <a:prstDash val="solid"/>
          </a:ln>
        </p:spPr>
      </p:sp>
      <p:sp>
        <p:nvSpPr>
          <p:cNvPr id="15" name="Text 13"/>
          <p:cNvSpPr txBox="1"/>
          <p:nvPr/>
        </p:nvSpPr>
        <p:spPr>
          <a:xfrm>
            <a:off x="9276359" y="1828800"/>
            <a:ext cx="2192960" cy="237744"/>
          </a:xfrm>
          <a:prstGeom prst="rect">
            <a:avLst/>
          </a:prstGeom>
          <a:noFill/>
          <a:ln/>
        </p:spPr>
        <p:txBody>
          <a:bodyPr wrap="square" lIns="0" tIns="0" rIns="0" bIns="0" rtlCol="0" anchor="ctr"/>
          <a:lstStyle/>
          <a:p>
            <a:pPr indent="0" marL="0">
              <a:buNone/>
            </a:pPr>
            <a:r>
              <a:rPr lang="en-US" sz="1400" b="1" spc="160" kern="0" dirty="0">
                <a:solidFill>
                  <a:srgbClr val="0F172A"/>
                </a:solidFill>
                <a:latin typeface="Arial" pitchFamily="34" charset="0"/>
                <a:ea typeface="Arial" pitchFamily="34" charset="-122"/>
                <a:cs typeface="Arial" pitchFamily="34" charset="-120"/>
              </a:rPr>
              <a:t>THE ASK</a:t>
            </a:r>
            <a:endParaRPr lang="en-US" sz="1400" dirty="0"/>
          </a:p>
        </p:txBody>
      </p:sp>
      <p:sp>
        <p:nvSpPr>
          <p:cNvPr id="16" name="Text 14"/>
          <p:cNvSpPr txBox="1"/>
          <p:nvPr/>
        </p:nvSpPr>
        <p:spPr>
          <a:xfrm>
            <a:off x="9276359"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Approve the ₱766k year-one build and a three-month pilot in IT, Operations and People &amp; Culture. And ask recruitment for one new source value in HC Connect — free to them, and what makes the benefit provable.</a:t>
            </a:r>
            <a:endParaRPr lang="en-US" sz="1400" dirty="0"/>
          </a:p>
        </p:txBody>
      </p:sp>
      <p:sp>
        <p:nvSpPr>
          <p:cNvPr id="17" name="Shape 15"/>
          <p:cNvSpPr/>
          <p:nvPr/>
        </p:nvSpPr>
        <p:spPr>
          <a:xfrm>
            <a:off x="502920" y="5376672"/>
            <a:ext cx="11185855" cy="786384"/>
          </a:xfrm>
          <a:prstGeom prst="roundRect">
            <a:avLst>
              <a:gd name="adj" fmla="val 6977"/>
            </a:avLst>
          </a:prstGeom>
          <a:solidFill>
            <a:srgbClr val="0F172A"/>
          </a:solidFill>
          <a:ln w="12700">
            <a:solidFill>
              <a:srgbClr val="333333"/>
            </a:solidFill>
            <a:prstDash val="solid"/>
          </a:ln>
        </p:spPr>
      </p:sp>
      <p:sp>
        <p:nvSpPr>
          <p:cNvPr id="18" name="Text 16"/>
          <p:cNvSpPr txBox="1"/>
          <p:nvPr/>
        </p:nvSpPr>
        <p:spPr>
          <a:xfrm>
            <a:off x="813816" y="5376672"/>
            <a:ext cx="10564063" cy="786384"/>
          </a:xfrm>
          <a:prstGeom prst="rect">
            <a:avLst/>
          </a:prstGeom>
          <a:noFill/>
          <a:ln/>
        </p:spPr>
        <p:txBody>
          <a:bodyPr wrap="square" lIns="0" tIns="0" rIns="0" bIns="0" rtlCol="0" anchor="ctr"/>
          <a:lstStyle/>
          <a:p>
            <a:pPr indent="0" marL="0">
              <a:buNone/>
            </a:pPr>
            <a:r>
              <a:rPr lang="en-US" sz="2100" b="1" dirty="0">
                <a:solidFill>
                  <a:srgbClr val="94A3B8"/>
                </a:solidFill>
                <a:latin typeface="Arial" pitchFamily="34" charset="0"/>
                <a:ea typeface="Arial" pitchFamily="34" charset="-122"/>
                <a:cs typeface="Arial" pitchFamily="34" charset="-120"/>
              </a:rPr>
              <a:t>In one line:  </a:t>
            </a:r>
            <a:pPr indent="0" marL="0">
              <a:buNone/>
            </a:pPr>
            <a:r>
              <a:rPr lang="en-US" sz="2100" b="1" dirty="0">
                <a:solidFill>
                  <a:srgbClr val="FFFFFF"/>
                </a:solidFill>
                <a:latin typeface="Arial" pitchFamily="34" charset="0"/>
                <a:ea typeface="Arial" pitchFamily="34" charset="-122"/>
                <a:cs typeface="Arial" pitchFamily="34" charset="-120"/>
              </a:rPr>
              <a:t>We are paying headhunters to find people we may already employ.</a:t>
            </a:r>
            <a:endParaRPr lang="en-US" sz="2100" dirty="0"/>
          </a:p>
        </p:txBody>
      </p:sp>
      <p:sp>
        <p:nvSpPr>
          <p:cNvPr id="19" name="Shape 17"/>
          <p:cNvSpPr/>
          <p:nvPr/>
        </p:nvSpPr>
        <p:spPr>
          <a:xfrm>
            <a:off x="502920" y="6291072"/>
            <a:ext cx="11185855" cy="0"/>
          </a:xfrm>
          <a:prstGeom prst="line">
            <a:avLst/>
          </a:prstGeom>
          <a:noFill/>
          <a:ln w="12700">
            <a:solidFill>
              <a:srgbClr val="E5E7EB"/>
            </a:solidFill>
            <a:prstDash val="solid"/>
          </a:ln>
        </p:spPr>
      </p:sp>
      <p:sp>
        <p:nvSpPr>
          <p:cNvPr id="20" name="Text 1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2024–2026 · HCPH exit survey and eNPS · v2 cost–benefit model.</a:t>
            </a:r>
            <a:endParaRPr lang="en-US" sz="1400" dirty="0"/>
          </a:p>
        </p:txBody>
      </p:sp>
      <p:sp>
        <p:nvSpPr>
          <p:cNvPr id="21" name="Text 1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BUSINESS PROBLEM</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problem isn't ambition. It's plumbing.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Our people believe they can grow here. The data says they mostly do not get to.</a:t>
            </a:r>
            <a:endParaRPr lang="en-US" sz="1600" dirty="0"/>
          </a:p>
        </p:txBody>
      </p:sp>
      <p:sp>
        <p:nvSpPr>
          <p:cNvPr id="5" name="Shape 3"/>
          <p:cNvSpPr/>
          <p:nvPr/>
        </p:nvSpPr>
        <p:spPr>
          <a:xfrm>
            <a:off x="502920"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755648"/>
            <a:ext cx="2229536"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88%</a:t>
            </a:r>
            <a:endParaRPr lang="en-US" sz="3000" dirty="0"/>
          </a:p>
        </p:txBody>
      </p:sp>
      <p:sp>
        <p:nvSpPr>
          <p:cNvPr id="7" name="Text 5"/>
          <p:cNvSpPr txBox="1"/>
          <p:nvPr/>
        </p:nvSpPr>
        <p:spPr>
          <a:xfrm>
            <a:off x="704088"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believe they can grow here</a:t>
            </a:r>
            <a:endParaRPr lang="en-US" sz="1500" dirty="0"/>
          </a:p>
        </p:txBody>
      </p:sp>
      <p:sp>
        <p:nvSpPr>
          <p:cNvPr id="8" name="Text 6"/>
          <p:cNvSpPr txBox="1"/>
          <p:nvPr/>
        </p:nvSpPr>
        <p:spPr>
          <a:xfrm>
            <a:off x="704088"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Our eNPS on growth opportunity is healthy</a:t>
            </a:r>
            <a:endParaRPr lang="en-US" sz="1400" dirty="0"/>
          </a:p>
        </p:txBody>
      </p:sp>
      <p:sp>
        <p:nvSpPr>
          <p:cNvPr id="9" name="Shape 7"/>
          <p:cNvSpPr/>
          <p:nvPr/>
        </p:nvSpPr>
        <p:spPr>
          <a:xfrm>
            <a:off x="3354248"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5416"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17.6%</a:t>
            </a:r>
            <a:endParaRPr lang="en-US" sz="3000" dirty="0"/>
          </a:p>
        </p:txBody>
      </p:sp>
      <p:sp>
        <p:nvSpPr>
          <p:cNvPr id="11" name="Text 9"/>
          <p:cNvSpPr txBox="1"/>
          <p:nvPr/>
        </p:nvSpPr>
        <p:spPr>
          <a:xfrm>
            <a:off x="3555416"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roles filled internally</a:t>
            </a:r>
            <a:endParaRPr lang="en-US" sz="1500" dirty="0"/>
          </a:p>
        </p:txBody>
      </p:sp>
      <p:sp>
        <p:nvSpPr>
          <p:cNvPr id="12" name="Text 10"/>
          <p:cNvSpPr txBox="1"/>
          <p:nvPr/>
        </p:nvSpPr>
        <p:spPr>
          <a:xfrm>
            <a:off x="3555416"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vs a ~30% benchmark, 50%+ for leaders</a:t>
            </a:r>
            <a:endParaRPr lang="en-US" sz="1400" dirty="0"/>
          </a:p>
        </p:txBody>
      </p:sp>
      <p:sp>
        <p:nvSpPr>
          <p:cNvPr id="13" name="Shape 11"/>
          <p:cNvSpPr/>
          <p:nvPr/>
        </p:nvSpPr>
        <p:spPr>
          <a:xfrm>
            <a:off x="6205576"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406744" y="1755648"/>
            <a:ext cx="2229536"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₱13.4M</a:t>
            </a:r>
            <a:endParaRPr lang="en-US" sz="3000" dirty="0"/>
          </a:p>
        </p:txBody>
      </p:sp>
      <p:sp>
        <p:nvSpPr>
          <p:cNvPr id="15" name="Text 13"/>
          <p:cNvSpPr txBox="1"/>
          <p:nvPr/>
        </p:nvSpPr>
        <p:spPr>
          <a:xfrm>
            <a:off x="6406744"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spent hiring in 2025</a:t>
            </a:r>
            <a:endParaRPr lang="en-US" sz="1500" dirty="0"/>
          </a:p>
        </p:txBody>
      </p:sp>
      <p:sp>
        <p:nvSpPr>
          <p:cNvPr id="16" name="Text 14"/>
          <p:cNvSpPr txBox="1"/>
          <p:nvPr/>
        </p:nvSpPr>
        <p:spPr>
          <a:xfrm>
            <a:off x="6406744"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324 roles at ₱41k blended per hire</a:t>
            </a:r>
            <a:endParaRPr lang="en-US" sz="1400" dirty="0"/>
          </a:p>
        </p:txBody>
      </p:sp>
      <p:sp>
        <p:nvSpPr>
          <p:cNvPr id="17" name="Shape 15"/>
          <p:cNvSpPr/>
          <p:nvPr/>
        </p:nvSpPr>
        <p:spPr>
          <a:xfrm>
            <a:off x="9056903"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58071"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a:t>
            </a:r>
            <a:endParaRPr lang="en-US" sz="3000" dirty="0"/>
          </a:p>
        </p:txBody>
      </p:sp>
      <p:sp>
        <p:nvSpPr>
          <p:cNvPr id="19" name="Text 17"/>
          <p:cNvSpPr txBox="1"/>
          <p:nvPr/>
        </p:nvSpPr>
        <p:spPr>
          <a:xfrm>
            <a:off x="9258071"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controllable reason for leaving</a:t>
            </a:r>
            <a:endParaRPr lang="en-US" sz="1500" dirty="0"/>
          </a:p>
        </p:txBody>
      </p:sp>
      <p:sp>
        <p:nvSpPr>
          <p:cNvPr id="20" name="Text 18"/>
          <p:cNvSpPr txBox="1"/>
          <p:nvPr/>
        </p:nvSpPr>
        <p:spPr>
          <a:xfrm>
            <a:off x="9258071"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Career &amp; Better Opportunity: 22% of exits</a:t>
            </a:r>
            <a:endParaRPr lang="en-US" sz="1400" dirty="0"/>
          </a:p>
        </p:txBody>
      </p:sp>
      <p:sp>
        <p:nvSpPr>
          <p:cNvPr id="21" name="Shape 19"/>
          <p:cNvSpPr/>
          <p:nvPr/>
        </p:nvSpPr>
        <p:spPr>
          <a:xfrm>
            <a:off x="502920" y="3456432"/>
            <a:ext cx="6879301" cy="1755648"/>
          </a:xfrm>
          <a:prstGeom prst="roundRect">
            <a:avLst>
              <a:gd name="adj" fmla="val 3125"/>
            </a:avLst>
          </a:prstGeom>
          <a:solidFill>
            <a:srgbClr val="F7F8FA"/>
          </a:solidFill>
          <a:ln w="12700">
            <a:solidFill>
              <a:srgbClr val="333333"/>
            </a:solidFill>
            <a:prstDash val="solid"/>
          </a:ln>
        </p:spPr>
      </p:sp>
      <p:sp>
        <p:nvSpPr>
          <p:cNvPr id="22" name="Text 20"/>
          <p:cNvSpPr txBox="1"/>
          <p:nvPr/>
        </p:nvSpPr>
        <p:spPr>
          <a:xfrm>
            <a:off x="777240" y="3602736"/>
            <a:ext cx="6330661" cy="274320"/>
          </a:xfrm>
          <a:prstGeom prst="rect">
            <a:avLst/>
          </a:prstGeom>
          <a:noFill/>
          <a:ln/>
        </p:spPr>
        <p:txBody>
          <a:bodyPr wrap="square" lIns="0" tIns="0" rIns="0" bIns="0" rtlCol="0" anchor="ctr"/>
          <a:lstStyle/>
          <a:p>
            <a:pPr indent="0" marL="0">
              <a:buNone/>
            </a:pPr>
            <a:r>
              <a:rPr lang="en-US" sz="1900" b="1" dirty="0">
                <a:solidFill>
                  <a:srgbClr val="0F172A"/>
                </a:solidFill>
                <a:latin typeface="Arial" pitchFamily="34" charset="0"/>
                <a:ea typeface="Arial" pitchFamily="34" charset="-122"/>
                <a:cs typeface="Arial" pitchFamily="34" charset="-120"/>
              </a:rPr>
              <a:t>The gap is between belief and mechanism</a:t>
            </a:r>
            <a:endParaRPr lang="en-US" sz="1900" dirty="0"/>
          </a:p>
        </p:txBody>
      </p:sp>
      <p:sp>
        <p:nvSpPr>
          <p:cNvPr id="23" name="Text 21"/>
          <p:cNvSpPr txBox="1"/>
          <p:nvPr/>
        </p:nvSpPr>
        <p:spPr>
          <a:xfrm>
            <a:off x="777240" y="3931920"/>
            <a:ext cx="6330661" cy="1170432"/>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When a role opens here it goes to an outsider four times out of five. That is not a morale problem — our people say they want to grow here and believe they can. It is a connection problem: nothing reliably shows an employee an opportunity they would fit, and nothing tells a hiring manager the person they need is already on payroll.</a:t>
            </a:r>
            <a:endParaRPr lang="en-US" sz="1400" dirty="0"/>
          </a:p>
        </p:txBody>
      </p:sp>
      <p:sp>
        <p:nvSpPr>
          <p:cNvPr id="24" name="Shape 22"/>
          <p:cNvSpPr/>
          <p:nvPr/>
        </p:nvSpPr>
        <p:spPr>
          <a:xfrm>
            <a:off x="7619965" y="3456432"/>
            <a:ext cx="4068810" cy="1755648"/>
          </a:xfrm>
          <a:prstGeom prst="roundRect">
            <a:avLst>
              <a:gd name="adj" fmla="val 3125"/>
            </a:avLst>
          </a:prstGeom>
          <a:solidFill>
            <a:srgbClr val="FDF1F1"/>
          </a:solidFill>
          <a:ln w="12700">
            <a:solidFill>
              <a:srgbClr val="333333"/>
            </a:solidFill>
            <a:prstDash val="solid"/>
          </a:ln>
        </p:spPr>
      </p:sp>
      <p:sp>
        <p:nvSpPr>
          <p:cNvPr id="25" name="Text 23"/>
          <p:cNvSpPr txBox="1"/>
          <p:nvPr/>
        </p:nvSpPr>
        <p:spPr>
          <a:xfrm>
            <a:off x="7894285" y="3602736"/>
            <a:ext cx="3520170" cy="274320"/>
          </a:xfrm>
          <a:prstGeom prst="rect">
            <a:avLst/>
          </a:prstGeom>
          <a:noFill/>
          <a:ln/>
        </p:spPr>
        <p:txBody>
          <a:bodyPr wrap="square" lIns="0" tIns="0" rIns="0" bIns="0" rtlCol="0" anchor="ctr"/>
          <a:lstStyle/>
          <a:p>
            <a:pPr indent="0" marL="0">
              <a:buNone/>
            </a:pPr>
            <a:r>
              <a:rPr lang="en-US" sz="1900" b="1" dirty="0">
                <a:solidFill>
                  <a:srgbClr val="C00000"/>
                </a:solidFill>
                <a:latin typeface="Arial" pitchFamily="34" charset="0"/>
                <a:ea typeface="Arial" pitchFamily="34" charset="-122"/>
                <a:cs typeface="Arial" pitchFamily="34" charset="-120"/>
              </a:rPr>
              <a:t>The industry says the same</a:t>
            </a:r>
            <a:endParaRPr lang="en-US" sz="1900" dirty="0"/>
          </a:p>
        </p:txBody>
      </p:sp>
      <p:sp>
        <p:nvSpPr>
          <p:cNvPr id="26" name="Text 24"/>
          <p:cNvSpPr txBox="1"/>
          <p:nvPr/>
        </p:nvSpPr>
        <p:spPr>
          <a:xfrm>
            <a:off x="7894285" y="3931920"/>
            <a:ext cx="3520170" cy="1170432"/>
          </a:xfrm>
          <a:prstGeom prst="rect">
            <a:avLst/>
          </a:prstGeom>
          <a:noFill/>
          <a:ln/>
        </p:spPr>
        <p:txBody>
          <a:bodyPr wrap="square" lIns="0" tIns="0" rIns="0" bIns="0" rtlCol="0" anchor="t"/>
          <a:lstStyle/>
          <a:p>
            <a:pPr indent="0" marL="0">
              <a:lnSpc>
                <a:spcPts val="1900"/>
              </a:lnSpc>
              <a:buNone/>
            </a:pPr>
            <a:r>
              <a:rPr lang="en-US" sz="1400" b="1" dirty="0">
                <a:solidFill>
                  <a:srgbClr val="0F172A"/>
                </a:solidFill>
                <a:latin typeface="Arial" pitchFamily="34" charset="0"/>
                <a:ea typeface="Arial" pitchFamily="34" charset="-122"/>
                <a:cs typeface="Arial" pitchFamily="34" charset="-120"/>
              </a:rPr>
              <a:t>50%</a:t>
            </a:r>
            <a:pPr indent="0" marL="0">
              <a:lnSpc>
                <a:spcPts val="1900"/>
              </a:lnSpc>
              <a:buNone/>
            </a:pPr>
            <a:r>
              <a:rPr lang="en-US" sz="1400" dirty="0">
                <a:solidFill>
                  <a:srgbClr val="374151"/>
                </a:solidFill>
                <a:latin typeface="Arial" pitchFamily="34" charset="0"/>
                <a:ea typeface="Arial" pitchFamily="34" charset="-122"/>
                <a:cs typeface="Arial" pitchFamily="34" charset="-120"/>
              </a:rPr>
              <a:t> of employees do not know internal opportunities exist.</a:t>
            </a:r>
            <a:pPr indent="0" marL="0">
              <a:lnSpc>
                <a:spcPts val="1900"/>
              </a:lnSpc>
              <a:buNone/>
            </a:pPr>
            <a:endParaRPr lang="en-US" sz="1400" dirty="0"/>
          </a:p>
          <a:p>
            <a:pPr indent="0" marL="0">
              <a:lnSpc>
                <a:spcPts val="1900"/>
              </a:lnSpc>
              <a:buNone/>
            </a:pPr>
            <a:endParaRPr lang="en-US" sz="1400" dirty="0"/>
          </a:p>
          <a:p>
            <a:pPr indent="0" marL="0">
              <a:lnSpc>
                <a:spcPts val="1900"/>
              </a:lnSpc>
              <a:buNone/>
            </a:pPr>
            <a:r>
              <a:rPr lang="en-US" sz="1400" dirty="0">
                <a:solidFill>
                  <a:srgbClr val="374151"/>
                </a:solidFill>
                <a:latin typeface="Arial" pitchFamily="34" charset="0"/>
                <a:ea typeface="Arial" pitchFamily="34" charset="-122"/>
                <a:cs typeface="Arial" pitchFamily="34" charset="-120"/>
              </a:rPr>
              <a:t>Only </a:t>
            </a:r>
            <a:endParaRPr lang="en-US" sz="1400" dirty="0"/>
          </a:p>
          <a:p>
            <a:pPr indent="0" marL="0">
              <a:lnSpc>
                <a:spcPts val="1900"/>
              </a:lnSpc>
              <a:buNone/>
            </a:pPr>
            <a:r>
              <a:rPr lang="en-US" sz="1400" b="1" dirty="0">
                <a:solidFill>
                  <a:srgbClr val="0F172A"/>
                </a:solidFill>
                <a:latin typeface="Arial" pitchFamily="34" charset="0"/>
                <a:ea typeface="Arial" pitchFamily="34" charset="-122"/>
                <a:cs typeface="Arial" pitchFamily="34" charset="-120"/>
              </a:rPr>
              <a:t>1 in 5</a:t>
            </a:r>
            <a:pPr indent="0" marL="0">
              <a:lnSpc>
                <a:spcPts val="1900"/>
              </a:lnSpc>
              <a:buNone/>
            </a:pPr>
            <a:r>
              <a:rPr lang="en-US" sz="1400" dirty="0">
                <a:solidFill>
                  <a:srgbClr val="374151"/>
                </a:solidFill>
                <a:latin typeface="Arial" pitchFamily="34" charset="0"/>
                <a:ea typeface="Arial" pitchFamily="34" charset="-122"/>
                <a:cs typeface="Arial" pitchFamily="34" charset="-120"/>
              </a:rPr>
              <a:t> feels confident making an internal move.</a:t>
            </a:r>
            <a:endParaRPr lang="en-US" sz="1400" dirty="0"/>
          </a:p>
        </p:txBody>
      </p:sp>
      <p:sp>
        <p:nvSpPr>
          <p:cNvPr id="27" name="Text 25"/>
          <p:cNvSpPr txBox="1"/>
          <p:nvPr/>
        </p:nvSpPr>
        <p:spPr>
          <a:xfrm>
            <a:off x="502920" y="5358384"/>
            <a:ext cx="11185855" cy="658368"/>
          </a:xfrm>
          <a:prstGeom prst="rect">
            <a:avLst/>
          </a:prstGeom>
          <a:noFill/>
          <a:ln/>
        </p:spPr>
        <p:txBody>
          <a:bodyPr wrap="square" lIns="0" tIns="0" rIns="0" bIns="0" rtlCol="0" anchor="ctr"/>
          <a:lstStyle/>
          <a:p>
            <a:pPr indent="0" marL="0">
              <a:lnSpc>
                <a:spcPts val="2400"/>
              </a:lnSpc>
              <a:buNone/>
            </a:pPr>
            <a:r>
              <a:rPr lang="en-US" sz="1700" b="1" dirty="0">
                <a:solidFill>
                  <a:srgbClr val="0F172A"/>
                </a:solidFill>
                <a:latin typeface="Arial" pitchFamily="34" charset="0"/>
                <a:ea typeface="Arial" pitchFamily="34" charset="-122"/>
                <a:cs typeface="Arial" pitchFamily="34" charset="-120"/>
              </a:rPr>
              <a:t>Business problem:  raise internal mobility from 17.6% to the 30% benchmark by making opportunities visible and matching people to them intelligently.</a:t>
            </a:r>
            <a:endParaRPr lang="en-US" sz="17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TA data · exit survey · eNPS · LinkedIn and Veris Insights internal-mobility research.</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ROOT CAUSE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failures. Only one is a technology problem.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of vacancy data show where the funnel actually leaks.</a:t>
            </a:r>
            <a:endParaRPr lang="en-US" sz="1600" dirty="0"/>
          </a:p>
        </p:txBody>
      </p:sp>
      <p:sp>
        <p:nvSpPr>
          <p:cNvPr id="5" name="Shape 3"/>
          <p:cNvSpPr/>
          <p:nvPr/>
        </p:nvSpPr>
        <p:spPr>
          <a:xfrm>
            <a:off x="502920"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865376"/>
            <a:ext cx="384048" cy="384048"/>
          </a:xfrm>
          <a:prstGeom prst="ellipse">
            <a:avLst/>
          </a:prstGeom>
          <a:solidFill>
            <a:srgbClr val="C00000"/>
          </a:solidFill>
          <a:ln w="12700">
            <a:solidFill>
              <a:srgbClr val="333333"/>
            </a:solidFill>
            <a:prstDash val="solid"/>
          </a:ln>
        </p:spPr>
      </p:sp>
      <p:sp>
        <p:nvSpPr>
          <p:cNvPr id="7" name="Text 5"/>
          <p:cNvSpPr txBox="1"/>
          <p:nvPr/>
        </p:nvSpPr>
        <p:spPr>
          <a:xfrm>
            <a:off x="722376"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722376"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Opportunities are invisible</a:t>
            </a:r>
            <a:endParaRPr lang="en-US" sz="1600" dirty="0"/>
          </a:p>
        </p:txBody>
      </p:sp>
      <p:sp>
        <p:nvSpPr>
          <p:cNvPr id="9" name="Text 7"/>
          <p:cNvSpPr txBox="1"/>
          <p:nvPr/>
        </p:nvSpPr>
        <p:spPr>
          <a:xfrm>
            <a:off x="722376"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HC Connect board is the only channel. For 10 vacancies, 4–5 people apply.</a:t>
            </a:r>
            <a:endParaRPr lang="en-US" sz="1400" dirty="0"/>
          </a:p>
        </p:txBody>
      </p:sp>
      <p:sp>
        <p:nvSpPr>
          <p:cNvPr id="10" name="Shape 8"/>
          <p:cNvSpPr/>
          <p:nvPr/>
        </p:nvSpPr>
        <p:spPr>
          <a:xfrm>
            <a:off x="2931553"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151009" y="1865376"/>
            <a:ext cx="384048" cy="384048"/>
          </a:xfrm>
          <a:prstGeom prst="ellipse">
            <a:avLst/>
          </a:prstGeom>
          <a:solidFill>
            <a:srgbClr val="C00000"/>
          </a:solidFill>
          <a:ln w="12700">
            <a:solidFill>
              <a:srgbClr val="333333"/>
            </a:solidFill>
            <a:prstDash val="solid"/>
          </a:ln>
        </p:spPr>
      </p:sp>
      <p:sp>
        <p:nvSpPr>
          <p:cNvPr id="12" name="Text 10"/>
          <p:cNvSpPr txBox="1"/>
          <p:nvPr/>
        </p:nvSpPr>
        <p:spPr>
          <a:xfrm>
            <a:off x="3151009"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3151009"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People do not feel ready</a:t>
            </a:r>
            <a:endParaRPr lang="en-US" sz="1600" dirty="0"/>
          </a:p>
        </p:txBody>
      </p:sp>
      <p:sp>
        <p:nvSpPr>
          <p:cNvPr id="14" name="Text 12"/>
          <p:cNvSpPr txBox="1"/>
          <p:nvPr/>
        </p:nvSpPr>
        <p:spPr>
          <a:xfrm>
            <a:off x="3151009"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Seeing a role is not seeing a path to it. Without a signal, people opt out.</a:t>
            </a:r>
            <a:endParaRPr lang="en-US" sz="1400" dirty="0"/>
          </a:p>
        </p:txBody>
      </p:sp>
      <p:sp>
        <p:nvSpPr>
          <p:cNvPr id="15" name="Shape 13"/>
          <p:cNvSpPr/>
          <p:nvPr/>
        </p:nvSpPr>
        <p:spPr>
          <a:xfrm>
            <a:off x="5360185"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5579641" y="1865376"/>
            <a:ext cx="384048" cy="384048"/>
          </a:xfrm>
          <a:prstGeom prst="ellipse">
            <a:avLst/>
          </a:prstGeom>
          <a:solidFill>
            <a:srgbClr val="C00000"/>
          </a:solidFill>
          <a:ln w="12700">
            <a:solidFill>
              <a:srgbClr val="333333"/>
            </a:solidFill>
            <a:prstDash val="solid"/>
          </a:ln>
        </p:spPr>
      </p:sp>
      <p:sp>
        <p:nvSpPr>
          <p:cNvPr id="17" name="Text 15"/>
          <p:cNvSpPr txBox="1"/>
          <p:nvPr/>
        </p:nvSpPr>
        <p:spPr>
          <a:xfrm>
            <a:off x="5579641"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5579641"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Nothing matches or prepares</a:t>
            </a:r>
            <a:endParaRPr lang="en-US" sz="1600" dirty="0"/>
          </a:p>
        </p:txBody>
      </p:sp>
      <p:sp>
        <p:nvSpPr>
          <p:cNvPr id="19" name="Text 17"/>
          <p:cNvSpPr txBox="1"/>
          <p:nvPr/>
        </p:nvSpPr>
        <p:spPr>
          <a:xfrm>
            <a:off x="5579641"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Nothing connects what a person can do to what an opening needs.</a:t>
            </a:r>
            <a:endParaRPr lang="en-US" sz="1400" dirty="0"/>
          </a:p>
        </p:txBody>
      </p:sp>
      <p:sp>
        <p:nvSpPr>
          <p:cNvPr id="20" name="Shape 18"/>
          <p:cNvSpPr/>
          <p:nvPr/>
        </p:nvSpPr>
        <p:spPr>
          <a:xfrm>
            <a:off x="7825394" y="1700784"/>
            <a:ext cx="3863381"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044850" y="1847088"/>
            <a:ext cx="3424469" cy="256032"/>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Internal applications, 2024–26</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4850" y="2176272"/>
          <a:ext cx="3424469" cy="914400"/>
        </p:xfrm>
        <a:graphic>
          <a:graphicData uri="http://schemas.openxmlformats.org/drawingml/2006/table">
            <a:tbl>
              <a:tblPr/>
              <a:tblGrid>
                <a:gridCol w="731520"/>
                <a:gridCol w="914400"/>
                <a:gridCol w="1005840"/>
                <a:gridCol w="777240"/>
              </a:tblGrid>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Vacancies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Internal</a:t>
                      </a:r>
                      <a:endParaRPr lang="en-US" sz="1400" dirty="0">
                        <a:latin typeface="Arial" charset="0"/>
                        <a:ea typeface="Arial" charset="0"/>
                        <a:cs typeface="Arial" charset="0"/>
                      </a:endParaRPr>
                    </a:p>
                    <a:p>
                      <a:pPr algn="r" indent="0" marL="0">
                        <a:buNone/>
                      </a:pPr>
                      <a:r>
                        <a:rPr lang="en-US" sz="1400" b="1" dirty="0">
                          <a:solidFill>
                            <a:srgbClr val="374151"/>
                          </a:solidFill>
                          <a:latin typeface="Arial" pitchFamily="34" charset="0"/>
                          <a:ea typeface="Arial" pitchFamily="34" charset="-122"/>
                          <a:cs typeface="Arial" pitchFamily="34" charset="-120"/>
                        </a:rPr>
                        <a:t>applicants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Accepted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1,008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3" name="Shape 20"/>
          <p:cNvSpPr/>
          <p:nvPr/>
        </p:nvSpPr>
        <p:spPr>
          <a:xfrm>
            <a:off x="502920" y="4023360"/>
            <a:ext cx="11185855" cy="1993392"/>
          </a:xfrm>
          <a:prstGeom prst="roundRect">
            <a:avLst>
              <a:gd name="adj" fmla="val 2752"/>
            </a:avLst>
          </a:prstGeom>
          <a:solidFill>
            <a:srgbClr val="0F172A"/>
          </a:solidFill>
          <a:ln w="12700">
            <a:solidFill>
              <a:srgbClr val="333333"/>
            </a:solidFill>
            <a:prstDash val="solid"/>
          </a:ln>
        </p:spPr>
      </p:sp>
      <p:sp>
        <p:nvSpPr>
          <p:cNvPr id="24" name="Text 21"/>
          <p:cNvSpPr txBox="1"/>
          <p:nvPr/>
        </p:nvSpPr>
        <p:spPr>
          <a:xfrm>
            <a:off x="832104" y="4206240"/>
            <a:ext cx="10527487" cy="310896"/>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leak is at the top of the funnel, not the bottom</a:t>
            </a:r>
            <a:endParaRPr lang="en-US" sz="2000" dirty="0"/>
          </a:p>
        </p:txBody>
      </p:sp>
      <p:sp>
        <p:nvSpPr>
          <p:cNvPr id="25" name="Text 22"/>
          <p:cNvSpPr txBox="1"/>
          <p:nvPr/>
        </p:nvSpPr>
        <p:spPr>
          <a:xfrm>
            <a:off x="832104"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0.46</a:t>
            </a:r>
            <a:endParaRPr lang="en-US" sz="2800" dirty="0"/>
          </a:p>
        </p:txBody>
      </p:sp>
      <p:sp>
        <p:nvSpPr>
          <p:cNvPr id="26" name="Text 23"/>
          <p:cNvSpPr txBox="1"/>
          <p:nvPr/>
        </p:nvSpPr>
        <p:spPr>
          <a:xfrm>
            <a:off x="832104"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internal applicants per vacancy</a:t>
            </a:r>
            <a:endParaRPr lang="en-US" sz="1500" dirty="0"/>
          </a:p>
        </p:txBody>
      </p:sp>
      <p:sp>
        <p:nvSpPr>
          <p:cNvPr id="27" name="Text 24"/>
          <p:cNvSpPr txBox="1"/>
          <p:nvPr/>
        </p:nvSpPr>
        <p:spPr>
          <a:xfrm>
            <a:off x="832104"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463 applicants across 1,008 openings</a:t>
            </a:r>
            <a:endParaRPr lang="en-US" sz="1400" dirty="0"/>
          </a:p>
        </p:txBody>
      </p:sp>
      <p:sp>
        <p:nvSpPr>
          <p:cNvPr id="28" name="Text 25"/>
          <p:cNvSpPr txBox="1"/>
          <p:nvPr/>
        </p:nvSpPr>
        <p:spPr>
          <a:xfrm>
            <a:off x="4432706" y="4608576"/>
            <a:ext cx="3326282" cy="420624"/>
          </a:xfrm>
          <a:prstGeom prst="rect">
            <a:avLst/>
          </a:prstGeom>
          <a:noFill/>
          <a:ln/>
        </p:spPr>
        <p:txBody>
          <a:bodyPr wrap="square" lIns="0" tIns="0" rIns="0" bIns="0" rtlCol="0" anchor="ctr"/>
          <a:lstStyle/>
          <a:p>
            <a:pPr indent="0" marL="0">
              <a:buNone/>
            </a:pPr>
            <a:r>
              <a:rPr lang="en-US" sz="2800" b="1" dirty="0">
                <a:solidFill>
                  <a:srgbClr val="4ADE80"/>
                </a:solidFill>
                <a:latin typeface="Arial" pitchFamily="34" charset="0"/>
                <a:ea typeface="Arial" pitchFamily="34" charset="-122"/>
                <a:cs typeface="Arial" pitchFamily="34" charset="-120"/>
              </a:rPr>
              <a:t>37%</a:t>
            </a:r>
            <a:endParaRPr lang="en-US" sz="2800" dirty="0"/>
          </a:p>
        </p:txBody>
      </p:sp>
      <p:sp>
        <p:nvSpPr>
          <p:cNvPr id="29" name="Text 26"/>
          <p:cNvSpPr txBox="1"/>
          <p:nvPr/>
        </p:nvSpPr>
        <p:spPr>
          <a:xfrm>
            <a:off x="4432706"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internal applicants are hired</a:t>
            </a:r>
            <a:endParaRPr lang="en-US" sz="1500" dirty="0"/>
          </a:p>
        </p:txBody>
      </p:sp>
      <p:sp>
        <p:nvSpPr>
          <p:cNvPr id="30" name="Text 27"/>
          <p:cNvSpPr txBox="1"/>
          <p:nvPr/>
        </p:nvSpPr>
        <p:spPr>
          <a:xfrm>
            <a:off x="4432706"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170 of 463 — the bar is not the problem</a:t>
            </a:r>
            <a:endParaRPr lang="en-US" sz="1400" dirty="0"/>
          </a:p>
        </p:txBody>
      </p:sp>
      <p:sp>
        <p:nvSpPr>
          <p:cNvPr id="31" name="Text 28"/>
          <p:cNvSpPr txBox="1"/>
          <p:nvPr/>
        </p:nvSpPr>
        <p:spPr>
          <a:xfrm>
            <a:off x="8033309"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16.9%</a:t>
            </a:r>
            <a:endParaRPr lang="en-US" sz="2800" dirty="0"/>
          </a:p>
        </p:txBody>
      </p:sp>
      <p:sp>
        <p:nvSpPr>
          <p:cNvPr id="32" name="Text 29"/>
          <p:cNvSpPr txBox="1"/>
          <p:nvPr/>
        </p:nvSpPr>
        <p:spPr>
          <a:xfrm>
            <a:off x="8033309"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vacancies filled internally</a:t>
            </a:r>
            <a:endParaRPr lang="en-US" sz="1500" dirty="0"/>
          </a:p>
        </p:txBody>
      </p:sp>
      <p:sp>
        <p:nvSpPr>
          <p:cNvPr id="33" name="Text 30"/>
          <p:cNvSpPr txBox="1"/>
          <p:nvPr/>
        </p:nvSpPr>
        <p:spPr>
          <a:xfrm>
            <a:off x="8033309"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the number we are trying to move</a:t>
            </a:r>
            <a:endParaRPr lang="en-US" sz="1400" dirty="0"/>
          </a:p>
        </p:txBody>
      </p:sp>
      <p:sp>
        <p:nvSpPr>
          <p:cNvPr id="34" name="Shape 31"/>
          <p:cNvSpPr/>
          <p:nvPr/>
        </p:nvSpPr>
        <p:spPr>
          <a:xfrm>
            <a:off x="502920" y="6291072"/>
            <a:ext cx="11185855" cy="0"/>
          </a:xfrm>
          <a:prstGeom prst="line">
            <a:avLst/>
          </a:prstGeom>
          <a:noFill/>
          <a:ln w="12700">
            <a:solidFill>
              <a:srgbClr val="E5E7EB"/>
            </a:solidFill>
            <a:prstDash val="solid"/>
          </a:ln>
        </p:spPr>
      </p:sp>
      <p:sp>
        <p:nvSpPr>
          <p:cNvPr id="35" name="Text 3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internal job posting data, 2024–2026 (1,008 vacancies).</a:t>
            </a:r>
            <a:endParaRPr lang="en-US" sz="1400" dirty="0"/>
          </a:p>
        </p:txBody>
      </p:sp>
      <p:sp>
        <p:nvSpPr>
          <p:cNvPr id="36" name="Text 3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PAIN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it costs us to leave this alone.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costs we are already paying, every year, for a problem we can see.</a:t>
            </a:r>
            <a:endParaRPr lang="en-US" sz="1600" dirty="0"/>
          </a:p>
        </p:txBody>
      </p:sp>
      <p:sp>
        <p:nvSpPr>
          <p:cNvPr id="5" name="Shape 3"/>
          <p:cNvSpPr/>
          <p:nvPr/>
        </p:nvSpPr>
        <p:spPr>
          <a:xfrm>
            <a:off x="50292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40664"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₱6.1M</a:t>
            </a:r>
            <a:endParaRPr lang="en-US" sz="3400" dirty="0"/>
          </a:p>
        </p:txBody>
      </p:sp>
      <p:sp>
        <p:nvSpPr>
          <p:cNvPr id="7" name="Text 5"/>
          <p:cNvSpPr txBox="1"/>
          <p:nvPr/>
        </p:nvSpPr>
        <p:spPr>
          <a:xfrm>
            <a:off x="74066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a year to headhunters, Band C alone</a:t>
            </a:r>
            <a:endParaRPr lang="en-US" sz="1600" dirty="0"/>
          </a:p>
        </p:txBody>
      </p:sp>
      <p:sp>
        <p:nvSpPr>
          <p:cNvPr id="8" name="Text 6"/>
          <p:cNvSpPr txBox="1"/>
          <p:nvPr/>
        </p:nvSpPr>
        <p:spPr>
          <a:xfrm>
            <a:off x="74066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₱58,823 per hire — 68% of the cost of filling a Band C role. Every internal fill returns that fee.</a:t>
            </a:r>
            <a:endParaRPr lang="en-US" sz="1400" dirty="0"/>
          </a:p>
        </p:txBody>
      </p:sp>
      <p:sp>
        <p:nvSpPr>
          <p:cNvPr id="9" name="Shape 7"/>
          <p:cNvSpPr/>
          <p:nvPr/>
        </p:nvSpPr>
        <p:spPr>
          <a:xfrm>
            <a:off x="430469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542434" y="1883664"/>
            <a:ext cx="3106826" cy="475488"/>
          </a:xfrm>
          <a:prstGeom prst="rect">
            <a:avLst/>
          </a:prstGeom>
          <a:noFill/>
          <a:ln/>
        </p:spPr>
        <p:txBody>
          <a:bodyPr wrap="square" lIns="0" tIns="0" rIns="0" bIns="0" rtlCol="0" anchor="ctr"/>
          <a:lstStyle/>
          <a:p>
            <a:pPr indent="0" marL="0">
              <a:buNone/>
            </a:pPr>
            <a:r>
              <a:rPr lang="en-US" sz="3400" b="1" dirty="0">
                <a:solidFill>
                  <a:srgbClr val="B45309"/>
                </a:solidFill>
                <a:latin typeface="Arial" pitchFamily="34" charset="0"/>
                <a:ea typeface="Arial" pitchFamily="34" charset="-122"/>
                <a:cs typeface="Arial" pitchFamily="34" charset="-120"/>
              </a:rPr>
              <a:t>37 days</a:t>
            </a:r>
            <a:endParaRPr lang="en-US" sz="3400" dirty="0"/>
          </a:p>
        </p:txBody>
      </p:sp>
      <p:sp>
        <p:nvSpPr>
          <p:cNvPr id="11" name="Text 9"/>
          <p:cNvSpPr txBox="1"/>
          <p:nvPr/>
        </p:nvSpPr>
        <p:spPr>
          <a:xfrm>
            <a:off x="454243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lost output per external hire</a:t>
            </a:r>
            <a:endParaRPr lang="en-US" sz="1600" dirty="0"/>
          </a:p>
        </p:txBody>
      </p:sp>
      <p:sp>
        <p:nvSpPr>
          <p:cNvPr id="12" name="Text 10"/>
          <p:cNvSpPr txBox="1"/>
          <p:nvPr/>
        </p:nvSpPr>
        <p:spPr>
          <a:xfrm>
            <a:off x="454243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 days to fill externally against 21 internally, on 289 Band B and C roles a year.</a:t>
            </a:r>
            <a:endParaRPr lang="en-US" sz="1400" dirty="0"/>
          </a:p>
        </p:txBody>
      </p:sp>
      <p:sp>
        <p:nvSpPr>
          <p:cNvPr id="13" name="Shape 11"/>
          <p:cNvSpPr/>
          <p:nvPr/>
        </p:nvSpPr>
        <p:spPr>
          <a:xfrm>
            <a:off x="8106461"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8344205"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22%</a:t>
            </a:r>
            <a:endParaRPr lang="en-US" sz="3400" dirty="0"/>
          </a:p>
        </p:txBody>
      </p:sp>
      <p:sp>
        <p:nvSpPr>
          <p:cNvPr id="15" name="Text 13"/>
          <p:cNvSpPr txBox="1"/>
          <p:nvPr/>
        </p:nvSpPr>
        <p:spPr>
          <a:xfrm>
            <a:off x="8344205"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exits cite career opportunity</a:t>
            </a:r>
            <a:endParaRPr lang="en-US" sz="1600" dirty="0"/>
          </a:p>
        </p:txBody>
      </p:sp>
      <p:sp>
        <p:nvSpPr>
          <p:cNvPr id="16" name="Text 14"/>
          <p:cNvSpPr txBox="1"/>
          <p:nvPr/>
        </p:nvSpPr>
        <p:spPr>
          <a:xfrm>
            <a:off x="8344205"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top controllable reason people leave. Replacing one costs 50–200% of annual salary.</a:t>
            </a:r>
            <a:endParaRPr lang="en-US" sz="1400" dirty="0"/>
          </a:p>
        </p:txBody>
      </p:sp>
      <p:sp>
        <p:nvSpPr>
          <p:cNvPr id="17" name="Shape 15"/>
          <p:cNvSpPr/>
          <p:nvPr/>
        </p:nvSpPr>
        <p:spPr>
          <a:xfrm>
            <a:off x="502920" y="3913632"/>
            <a:ext cx="5483200" cy="1170432"/>
          </a:xfrm>
          <a:prstGeom prst="roundRect">
            <a:avLst>
              <a:gd name="adj" fmla="val 4688"/>
            </a:avLst>
          </a:prstGeom>
          <a:solidFill>
            <a:srgbClr val="F7F8FA"/>
          </a:solidFill>
          <a:ln w="12700">
            <a:solidFill>
              <a:srgbClr val="333333"/>
            </a:solidFill>
            <a:prstDash val="solid"/>
          </a:ln>
        </p:spPr>
      </p:sp>
      <p:sp>
        <p:nvSpPr>
          <p:cNvPr id="18" name="Text 16"/>
          <p:cNvSpPr txBox="1"/>
          <p:nvPr/>
        </p:nvSpPr>
        <p:spPr>
          <a:xfrm>
            <a:off x="740664"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Priority work waits</a:t>
            </a:r>
            <a:endParaRPr lang="en-US" sz="1700" dirty="0"/>
          </a:p>
        </p:txBody>
      </p:sp>
      <p:sp>
        <p:nvSpPr>
          <p:cNvPr id="19" name="Text 17"/>
          <p:cNvSpPr txBox="1"/>
          <p:nvPr/>
        </p:nvSpPr>
        <p:spPr>
          <a:xfrm>
            <a:off x="740664"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ExCo initiatives get staffed by contractors, because we cannot see who inside could do the work.</a:t>
            </a:r>
            <a:endParaRPr lang="en-US" sz="1400" dirty="0"/>
          </a:p>
        </p:txBody>
      </p:sp>
      <p:sp>
        <p:nvSpPr>
          <p:cNvPr id="20" name="Shape 18"/>
          <p:cNvSpPr/>
          <p:nvPr/>
        </p:nvSpPr>
        <p:spPr>
          <a:xfrm>
            <a:off x="6205576" y="3913632"/>
            <a:ext cx="5483200" cy="1170432"/>
          </a:xfrm>
          <a:prstGeom prst="roundRect">
            <a:avLst>
              <a:gd name="adj" fmla="val 4688"/>
            </a:avLst>
          </a:prstGeom>
          <a:solidFill>
            <a:srgbClr val="F7F8FA"/>
          </a:solidFill>
          <a:ln w="12700">
            <a:solidFill>
              <a:srgbClr val="333333"/>
            </a:solidFill>
            <a:prstDash val="solid"/>
          </a:ln>
        </p:spPr>
      </p:sp>
      <p:sp>
        <p:nvSpPr>
          <p:cNvPr id="21" name="Text 19"/>
          <p:cNvSpPr txBox="1"/>
          <p:nvPr/>
        </p:nvSpPr>
        <p:spPr>
          <a:xfrm>
            <a:off x="6443320"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cannot answer "who can do X?"</a:t>
            </a:r>
            <a:endParaRPr lang="en-US" sz="1700" dirty="0"/>
          </a:p>
        </p:txBody>
      </p:sp>
      <p:sp>
        <p:nvSpPr>
          <p:cNvPr id="22" name="Text 20"/>
          <p:cNvSpPr txBox="1"/>
          <p:nvPr/>
        </p:nvSpPr>
        <p:spPr>
          <a:xfrm>
            <a:off x="6443320"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There is no skills inventory, so workforce planning runs on assumption rather than data.</a:t>
            </a:r>
            <a:endParaRPr lang="en-US" sz="1400" dirty="0"/>
          </a:p>
        </p:txBody>
      </p:sp>
      <p:sp>
        <p:nvSpPr>
          <p:cNvPr id="23" name="Shape 21"/>
          <p:cNvSpPr/>
          <p:nvPr/>
        </p:nvSpPr>
        <p:spPr>
          <a:xfrm>
            <a:off x="502920" y="5248656"/>
            <a:ext cx="11185855" cy="786384"/>
          </a:xfrm>
          <a:prstGeom prst="roundRect">
            <a:avLst>
              <a:gd name="adj" fmla="val 6977"/>
            </a:avLst>
          </a:prstGeom>
          <a:solidFill>
            <a:srgbClr val="FDF1F1"/>
          </a:solidFill>
          <a:ln w="12700">
            <a:solidFill>
              <a:srgbClr val="333333"/>
            </a:solidFill>
            <a:prstDash val="solid"/>
          </a:ln>
        </p:spPr>
      </p:sp>
      <p:sp>
        <p:nvSpPr>
          <p:cNvPr id="24" name="Text 22"/>
          <p:cNvSpPr txBox="1"/>
          <p:nvPr/>
        </p:nvSpPr>
        <p:spPr>
          <a:xfrm>
            <a:off x="813816" y="5248656"/>
            <a:ext cx="10564063" cy="786384"/>
          </a:xfrm>
          <a:prstGeom prst="rect">
            <a:avLst/>
          </a:prstGeom>
          <a:noFill/>
          <a:ln/>
        </p:spPr>
        <p:txBody>
          <a:bodyPr wrap="square" lIns="0" tIns="0" rIns="0" bIns="0" rtlCol="0" anchor="ctr"/>
          <a:lstStyle/>
          <a:p>
            <a:pPr indent="0" marL="0">
              <a:lnSpc>
                <a:spcPts val="2200"/>
              </a:lnSpc>
              <a:buNone/>
            </a:pPr>
            <a:r>
              <a:rPr lang="en-US" sz="1600" b="1" dirty="0">
                <a:solidFill>
                  <a:srgbClr val="C00000"/>
                </a:solidFill>
                <a:latin typeface="Arial" pitchFamily="34" charset="0"/>
                <a:ea typeface="Arial" pitchFamily="34" charset="-122"/>
                <a:cs typeface="Arial" pitchFamily="34" charset="-120"/>
              </a:rPr>
              <a:t>The cost of doing nothing is not zero. </a:t>
            </a:r>
            <a:pPr indent="0" marL="0">
              <a:lnSpc>
                <a:spcPts val="2200"/>
              </a:lnSpc>
              <a:buNone/>
            </a:pPr>
            <a:r>
              <a:rPr lang="en-US" sz="1600" dirty="0">
                <a:solidFill>
                  <a:srgbClr val="374151"/>
                </a:solidFill>
                <a:latin typeface="Arial" pitchFamily="34" charset="0"/>
                <a:ea typeface="Arial" pitchFamily="34" charset="-122"/>
                <a:cs typeface="Arial" pitchFamily="34" charset="-120"/>
              </a:rPr>
              <a:t>₱6.1M a year in avoidable fees, plus the people we will replace at 50–200% of salary — for want of a mechanism that costs ₱550 per employee a year.</a:t>
            </a:r>
            <a:endParaRPr lang="en-US" sz="1600" dirty="0"/>
          </a:p>
        </p:txBody>
      </p:sp>
      <p:sp>
        <p:nvSpPr>
          <p:cNvPr id="25" name="Shape 23"/>
          <p:cNvSpPr/>
          <p:nvPr/>
        </p:nvSpPr>
        <p:spPr>
          <a:xfrm>
            <a:off x="502920" y="6291072"/>
            <a:ext cx="11185855" cy="0"/>
          </a:xfrm>
          <a:prstGeom prst="line">
            <a:avLst/>
          </a:prstGeom>
          <a:noFill/>
          <a:ln w="12700">
            <a:solidFill>
              <a:srgbClr val="E5E7EB"/>
            </a:solidFill>
            <a:prstDash val="solid"/>
          </a:ln>
        </p:spPr>
      </p:sp>
      <p:sp>
        <p:nvSpPr>
          <p:cNvPr id="26"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2024 cost-per-hire · 2025 hiring volumes · HCPH exit survey · SHRM replacement-cost range.</a:t>
            </a:r>
            <a:endParaRPr lang="en-US" sz="1400" dirty="0"/>
          </a:p>
        </p:txBody>
      </p:sp>
      <p:sp>
        <p:nvSpPr>
          <p:cNvPr id="27"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PRIZE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we get back — beyond the fee we stop paying.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One hard number, four compounding ones.</a:t>
            </a:r>
            <a:endParaRPr lang="en-US" sz="1600" dirty="0"/>
          </a:p>
        </p:txBody>
      </p:sp>
      <p:sp>
        <p:nvSpPr>
          <p:cNvPr id="5" name="Shape 3"/>
          <p:cNvSpPr/>
          <p:nvPr/>
        </p:nvSpPr>
        <p:spPr>
          <a:xfrm>
            <a:off x="502920" y="1700784"/>
            <a:ext cx="4026908" cy="2286000"/>
          </a:xfrm>
          <a:prstGeom prst="roundRect">
            <a:avLst>
              <a:gd name="adj" fmla="val 2400"/>
            </a:avLst>
          </a:prstGeom>
          <a:solidFill>
            <a:srgbClr val="0F172A"/>
          </a:solidFill>
          <a:ln w="12700">
            <a:solidFill>
              <a:srgbClr val="333333"/>
            </a:solidFill>
            <a:prstDash val="solid"/>
          </a:ln>
        </p:spPr>
      </p:sp>
      <p:sp>
        <p:nvSpPr>
          <p:cNvPr id="6" name="Text 4"/>
          <p:cNvSpPr txBox="1"/>
          <p:nvPr/>
        </p:nvSpPr>
        <p:spPr>
          <a:xfrm>
            <a:off x="813816" y="1956816"/>
            <a:ext cx="3405116" cy="731520"/>
          </a:xfrm>
          <a:prstGeom prst="rect">
            <a:avLst/>
          </a:prstGeom>
          <a:noFill/>
          <a:ln/>
        </p:spPr>
        <p:txBody>
          <a:bodyPr wrap="square" lIns="0" tIns="0" rIns="0" bIns="0" rtlCol="0" anchor="ctr"/>
          <a:lstStyle/>
          <a:p>
            <a:pPr indent="0" marL="0">
              <a:buNone/>
            </a:pPr>
            <a:r>
              <a:rPr lang="en-US" sz="5200" b="1" dirty="0">
                <a:solidFill>
                  <a:srgbClr val="4ADE80"/>
                </a:solidFill>
                <a:latin typeface="Arial" pitchFamily="34" charset="0"/>
                <a:ea typeface="Arial" pitchFamily="34" charset="-122"/>
                <a:cs typeface="Arial" pitchFamily="34" charset="-120"/>
              </a:rPr>
              <a:t>₱3.9M</a:t>
            </a:r>
            <a:endParaRPr lang="en-US" sz="5200" dirty="0"/>
          </a:p>
        </p:txBody>
      </p:sp>
      <p:sp>
        <p:nvSpPr>
          <p:cNvPr id="7" name="Text 5"/>
          <p:cNvSpPr txBox="1"/>
          <p:nvPr/>
        </p:nvSpPr>
        <p:spPr>
          <a:xfrm>
            <a:off x="813816" y="2706624"/>
            <a:ext cx="3405116" cy="74980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Arial" pitchFamily="34" charset="0"/>
                <a:ea typeface="Arial" pitchFamily="34" charset="-122"/>
                <a:cs typeface="Arial" pitchFamily="34" charset="-120"/>
              </a:rPr>
              <a:t>a year, if Band B and Band C internal fill reaches the 30% benchmark</a:t>
            </a:r>
            <a:endParaRPr lang="en-US" sz="1600" dirty="0"/>
          </a:p>
        </p:txBody>
      </p:sp>
      <p:sp>
        <p:nvSpPr>
          <p:cNvPr id="8" name="Text 6"/>
          <p:cNvSpPr txBox="1"/>
          <p:nvPr/>
        </p:nvSpPr>
        <p:spPr>
          <a:xfrm>
            <a:off x="813816" y="3493008"/>
            <a:ext cx="3405116" cy="566928"/>
          </a:xfrm>
          <a:prstGeom prst="rect">
            <a:avLst/>
          </a:prstGeom>
          <a:noFill/>
          <a:ln/>
        </p:spPr>
        <p:txBody>
          <a:bodyPr wrap="square" lIns="0" tIns="0" rIns="0" bIns="0" rtlCol="0" anchor="t"/>
          <a:lstStyle/>
          <a:p>
            <a:pPr indent="0" marL="0">
              <a:lnSpc>
                <a:spcPts val="1900"/>
              </a:lnSpc>
              <a:buNone/>
            </a:pPr>
            <a:r>
              <a:rPr lang="en-US" sz="1400" dirty="0">
                <a:solidFill>
                  <a:srgbClr val="94A3B8"/>
                </a:solidFill>
                <a:latin typeface="Arial" pitchFamily="34" charset="0"/>
                <a:ea typeface="Arial" pitchFamily="34" charset="-122"/>
                <a:cs typeface="Arial" pitchFamily="34" charset="-120"/>
              </a:rPr>
              <a:t>≈ 87 internal fills a year: 56 Band B, 31 Band C.</a:t>
            </a:r>
            <a:endParaRPr lang="en-US" sz="1400" dirty="0"/>
          </a:p>
        </p:txBody>
      </p:sp>
      <p:sp>
        <p:nvSpPr>
          <p:cNvPr id="9" name="Shape 7"/>
          <p:cNvSpPr/>
          <p:nvPr/>
        </p:nvSpPr>
        <p:spPr>
          <a:xfrm>
            <a:off x="476757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987028" y="1828800"/>
            <a:ext cx="2911962" cy="274320"/>
          </a:xfrm>
          <a:prstGeom prst="rect">
            <a:avLst/>
          </a:prstGeom>
          <a:noFill/>
          <a:ln/>
        </p:spPr>
        <p:txBody>
          <a:bodyPr wrap="square" lIns="0" tIns="0" rIns="0" bIns="0" rtlCol="0" anchor="ctr"/>
          <a:lstStyle/>
          <a:p>
            <a:pPr indent="0" marL="0">
              <a:buNone/>
            </a:pPr>
            <a:r>
              <a:rPr lang="en-US" sz="1500" b="1" dirty="0">
                <a:solidFill>
                  <a:srgbClr val="15803D"/>
                </a:solidFill>
                <a:latin typeface="Arial" pitchFamily="34" charset="0"/>
                <a:ea typeface="Arial" pitchFamily="34" charset="-122"/>
                <a:cs typeface="Arial" pitchFamily="34" charset="-120"/>
              </a:rPr>
              <a:t>Retention</a:t>
            </a:r>
            <a:endParaRPr lang="en-US" sz="1500" dirty="0"/>
          </a:p>
        </p:txBody>
      </p:sp>
      <p:sp>
        <p:nvSpPr>
          <p:cNvPr id="11" name="Text 9"/>
          <p:cNvSpPr txBox="1"/>
          <p:nvPr/>
        </p:nvSpPr>
        <p:spPr>
          <a:xfrm>
            <a:off x="498702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movers stay materially longer than static peers.</a:t>
            </a:r>
            <a:endParaRPr lang="en-US" sz="1400" dirty="0"/>
          </a:p>
        </p:txBody>
      </p:sp>
      <p:sp>
        <p:nvSpPr>
          <p:cNvPr id="12" name="Shape 10"/>
          <p:cNvSpPr/>
          <p:nvPr/>
        </p:nvSpPr>
        <p:spPr>
          <a:xfrm>
            <a:off x="833790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1"/>
          <p:cNvSpPr txBox="1"/>
          <p:nvPr/>
        </p:nvSpPr>
        <p:spPr>
          <a:xfrm>
            <a:off x="8557358" y="1828800"/>
            <a:ext cx="2911962" cy="274320"/>
          </a:xfrm>
          <a:prstGeom prst="rect">
            <a:avLst/>
          </a:prstGeom>
          <a:noFill/>
          <a:ln/>
        </p:spPr>
        <p:txBody>
          <a:bodyPr wrap="square" lIns="0" tIns="0" rIns="0" bIns="0" rtlCol="0" anchor="ctr"/>
          <a:lstStyle/>
          <a:p>
            <a:pPr indent="0" marL="0">
              <a:buNone/>
            </a:pPr>
            <a:r>
              <a:rPr lang="en-US" sz="1500" b="1" dirty="0">
                <a:solidFill>
                  <a:srgbClr val="1D4ED8"/>
                </a:solidFill>
                <a:latin typeface="Arial" pitchFamily="34" charset="0"/>
                <a:ea typeface="Arial" pitchFamily="34" charset="-122"/>
                <a:cs typeface="Arial" pitchFamily="34" charset="-120"/>
              </a:rPr>
              <a:t>The 70 of 70-20-10</a:t>
            </a:r>
            <a:endParaRPr lang="en-US" sz="1500" dirty="0"/>
          </a:p>
        </p:txBody>
      </p:sp>
      <p:sp>
        <p:nvSpPr>
          <p:cNvPr id="14" name="Text 12"/>
          <p:cNvSpPr txBox="1"/>
          <p:nvPr/>
        </p:nvSpPr>
        <p:spPr>
          <a:xfrm>
            <a:off x="855735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How on-the-job development scales.</a:t>
            </a:r>
            <a:endParaRPr lang="en-US" sz="1400" dirty="0"/>
          </a:p>
        </p:txBody>
      </p:sp>
      <p:sp>
        <p:nvSpPr>
          <p:cNvPr id="15" name="Shape 13"/>
          <p:cNvSpPr/>
          <p:nvPr/>
        </p:nvSpPr>
        <p:spPr>
          <a:xfrm>
            <a:off x="476757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4987028" y="3026664"/>
            <a:ext cx="2911962" cy="274320"/>
          </a:xfrm>
          <a:prstGeom prst="rect">
            <a:avLst/>
          </a:prstGeom>
          <a:noFill/>
          <a:ln/>
        </p:spPr>
        <p:txBody>
          <a:bodyPr wrap="square" lIns="0" tIns="0" rIns="0" bIns="0" rtlCol="0" anchor="ctr"/>
          <a:lstStyle/>
          <a:p>
            <a:pPr indent="0" marL="0">
              <a:buNone/>
            </a:pPr>
            <a:r>
              <a:rPr lang="en-US" sz="1500" b="1" dirty="0">
                <a:solidFill>
                  <a:srgbClr val="B45309"/>
                </a:solidFill>
                <a:latin typeface="Arial" pitchFamily="34" charset="0"/>
                <a:ea typeface="Arial" pitchFamily="34" charset="-122"/>
                <a:cs typeface="Arial" pitchFamily="34" charset="-120"/>
              </a:rPr>
              <a:t>Gen Z engagement</a:t>
            </a:r>
            <a:endParaRPr lang="en-US" sz="1500" dirty="0"/>
          </a:p>
        </p:txBody>
      </p:sp>
      <p:sp>
        <p:nvSpPr>
          <p:cNvPr id="17" name="Text 15"/>
          <p:cNvSpPr txBox="1"/>
          <p:nvPr/>
        </p:nvSpPr>
        <p:spPr>
          <a:xfrm>
            <a:off x="498702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New, purposeful work — what 30% of HCPH responds to.</a:t>
            </a:r>
            <a:endParaRPr lang="en-US" sz="1400" dirty="0"/>
          </a:p>
        </p:txBody>
      </p:sp>
      <p:sp>
        <p:nvSpPr>
          <p:cNvPr id="18" name="Shape 16"/>
          <p:cNvSpPr/>
          <p:nvPr/>
        </p:nvSpPr>
        <p:spPr>
          <a:xfrm>
            <a:off x="833790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Text 17"/>
          <p:cNvSpPr txBox="1"/>
          <p:nvPr/>
        </p:nvSpPr>
        <p:spPr>
          <a:xfrm>
            <a:off x="8557358" y="3026664"/>
            <a:ext cx="2911962"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A live skills inventory</a:t>
            </a:r>
            <a:endParaRPr lang="en-US" sz="1500" dirty="0"/>
          </a:p>
        </p:txBody>
      </p:sp>
      <p:sp>
        <p:nvSpPr>
          <p:cNvPr id="20" name="Text 18"/>
          <p:cNvSpPr txBox="1"/>
          <p:nvPr/>
        </p:nvSpPr>
        <p:spPr>
          <a:xfrm>
            <a:off x="855735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Answers "who can do X?" — the people half of Unified Data.</a:t>
            </a:r>
            <a:endParaRPr lang="en-US" sz="1400" dirty="0"/>
          </a:p>
        </p:txBody>
      </p:sp>
      <p:sp>
        <p:nvSpPr>
          <p:cNvPr id="21" name="Shape 19"/>
          <p:cNvSpPr/>
          <p:nvPr/>
        </p:nvSpPr>
        <p:spPr>
          <a:xfrm>
            <a:off x="502920" y="4187952"/>
            <a:ext cx="11185855" cy="914400"/>
          </a:xfrm>
          <a:prstGeom prst="roundRect">
            <a:avLst>
              <a:gd name="adj" fmla="val 6000"/>
            </a:avLst>
          </a:prstGeom>
          <a:solidFill>
            <a:srgbClr val="F7F8FA"/>
          </a:solidFill>
          <a:ln w="12700">
            <a:solidFill>
              <a:srgbClr val="333333"/>
            </a:solidFill>
            <a:prstDash val="solid"/>
          </a:ln>
        </p:spPr>
      </p:sp>
      <p:sp>
        <p:nvSpPr>
          <p:cNvPr id="22" name="Text 20"/>
          <p:cNvSpPr txBox="1"/>
          <p:nvPr/>
        </p:nvSpPr>
        <p:spPr>
          <a:xfrm>
            <a:off x="813816" y="4187952"/>
            <a:ext cx="10564063" cy="914400"/>
          </a:xfrm>
          <a:prstGeom prst="rect">
            <a:avLst/>
          </a:prstGeom>
          <a:noFill/>
          <a:ln/>
        </p:spPr>
        <p:txBody>
          <a:bodyPr wrap="square" lIns="0" tIns="0" rIns="0" bIns="0" rtlCol="0" anchor="ctr"/>
          <a:lstStyle/>
          <a:p>
            <a:pPr indent="0" marL="0">
              <a:lnSpc>
                <a:spcPts val="2300"/>
              </a:lnSpc>
              <a:buNone/>
            </a:pPr>
            <a:r>
              <a:rPr lang="en-US" sz="1700" b="1" dirty="0">
                <a:solidFill>
                  <a:srgbClr val="0F172A"/>
                </a:solidFill>
                <a:latin typeface="Arial" pitchFamily="34" charset="0"/>
                <a:ea typeface="Arial" pitchFamily="34" charset="-122"/>
                <a:cs typeface="Arial" pitchFamily="34" charset="-120"/>
              </a:rPr>
              <a:t>The strategic prize:  </a:t>
            </a:r>
            <a:pPr indent="0" marL="0">
              <a:lnSpc>
                <a:spcPts val="2300"/>
              </a:lnSpc>
              <a:buNone/>
            </a:pPr>
            <a:r>
              <a:rPr lang="en-US" sz="1700" dirty="0">
                <a:solidFill>
                  <a:srgbClr val="374151"/>
                </a:solidFill>
                <a:latin typeface="Arial" pitchFamily="34" charset="0"/>
                <a:ea typeface="Arial" pitchFamily="34" charset="-122"/>
                <a:cs typeface="Arial" pitchFamily="34" charset="-120"/>
              </a:rPr>
              <a:t>a middle-management bench and a tech-talent pipeline built from people already on payroll — which is what "Go Wide, Go Deep" needs and what we cannot buy fast enough externally.</a:t>
            </a:r>
            <a:endParaRPr lang="en-US" sz="1700" dirty="0"/>
          </a:p>
        </p:txBody>
      </p:sp>
      <p:sp>
        <p:nvSpPr>
          <p:cNvPr id="23" name="Text 21"/>
          <p:cNvSpPr txBox="1"/>
          <p:nvPr/>
        </p:nvSpPr>
        <p:spPr>
          <a:xfrm>
            <a:off x="502920" y="5285232"/>
            <a:ext cx="11185855" cy="640080"/>
          </a:xfrm>
          <a:prstGeom prst="rect">
            <a:avLst/>
          </a:prstGeom>
          <a:noFill/>
          <a:ln/>
        </p:spPr>
        <p:txBody>
          <a:bodyPr wrap="square" lIns="0" tIns="0" rIns="0" bIns="0" rtlCol="0" anchor="t"/>
          <a:lstStyle/>
          <a:p>
            <a:pPr indent="0" marL="0">
              <a:lnSpc>
                <a:spcPts val="2100"/>
              </a:lnSpc>
              <a:buNone/>
            </a:pPr>
            <a:r>
              <a:rPr lang="en-US" sz="1500" i="1" dirty="0">
                <a:solidFill>
                  <a:srgbClr val="6B7280"/>
                </a:solidFill>
                <a:latin typeface="Arial" pitchFamily="34" charset="0"/>
                <a:ea typeface="Arial" pitchFamily="34" charset="-122"/>
                <a:cs typeface="Arial" pitchFamily="34" charset="-120"/>
              </a:rPr>
              <a:t>Deliberately not claimed: engagement uplift. Our eNPS on growth opportunity is already healthy, and this project is not a fix for a problem we do not have.</a:t>
            </a:r>
            <a:endParaRPr lang="en-US" sz="1500" dirty="0"/>
          </a:p>
        </p:txBody>
      </p:sp>
      <p:sp>
        <p:nvSpPr>
          <p:cNvPr id="24" name="Shape 22"/>
          <p:cNvSpPr/>
          <p:nvPr/>
        </p:nvSpPr>
        <p:spPr>
          <a:xfrm>
            <a:off x="502920" y="6291072"/>
            <a:ext cx="11185855" cy="0"/>
          </a:xfrm>
          <a:prstGeom prst="line">
            <a:avLst/>
          </a:prstGeom>
          <a:noFill/>
          <a:ln w="12700">
            <a:solidFill>
              <a:srgbClr val="E5E7EB"/>
            </a:solidFill>
            <a:prstDash val="solid"/>
          </a:ln>
        </p:spPr>
      </p:sp>
      <p:sp>
        <p:nvSpPr>
          <p:cNvPr id="25" name="Text 2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 Deloitte 2026 Gen Z survey · SHRM internal-mobility research · 70-20-10 model.</a:t>
            </a:r>
            <a:endParaRPr lang="en-US" sz="1400" dirty="0"/>
          </a:p>
        </p:txBody>
      </p:sp>
      <p:sp>
        <p:nvSpPr>
          <p:cNvPr id="26" name="Text 2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market has already moved this way.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findings, and the one conclusion they share.</a:t>
            </a:r>
            <a:endParaRPr lang="en-US" sz="1600" dirty="0"/>
          </a:p>
        </p:txBody>
      </p:sp>
      <p:sp>
        <p:nvSpPr>
          <p:cNvPr id="5" name="Shape 3"/>
          <p:cNvSpPr/>
          <p:nvPr/>
        </p:nvSpPr>
        <p:spPr>
          <a:xfrm>
            <a:off x="502920"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48%</a:t>
            </a:r>
            <a:endParaRPr lang="en-US" sz="3200" dirty="0"/>
          </a:p>
        </p:txBody>
      </p:sp>
      <p:sp>
        <p:nvSpPr>
          <p:cNvPr id="7" name="Text 5"/>
          <p:cNvSpPr txBox="1"/>
          <p:nvPr/>
        </p:nvSpPr>
        <p:spPr>
          <a:xfrm>
            <a:off x="704088"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now prioritise internal mobility to build leadership benches.</a:t>
            </a:r>
            <a:endParaRPr lang="en-US" sz="1400" dirty="0"/>
          </a:p>
        </p:txBody>
      </p:sp>
      <p:sp>
        <p:nvSpPr>
          <p:cNvPr id="8" name="Text 6"/>
          <p:cNvSpPr txBox="1"/>
          <p:nvPr/>
        </p:nvSpPr>
        <p:spPr>
          <a:xfrm>
            <a:off x="704088"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LinkedIn Workplace Learning</a:t>
            </a:r>
            <a:endParaRPr lang="en-US" sz="1400" dirty="0"/>
          </a:p>
        </p:txBody>
      </p:sp>
      <p:sp>
        <p:nvSpPr>
          <p:cNvPr id="9" name="Shape 7"/>
          <p:cNvSpPr/>
          <p:nvPr/>
        </p:nvSpPr>
        <p:spPr>
          <a:xfrm>
            <a:off x="2776667"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2977835"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83% / 47%</a:t>
            </a:r>
            <a:endParaRPr lang="en-US" sz="2400" dirty="0"/>
          </a:p>
        </p:txBody>
      </p:sp>
      <p:sp>
        <p:nvSpPr>
          <p:cNvPr id="11" name="Text 9"/>
          <p:cNvSpPr txBox="1"/>
          <p:nvPr/>
        </p:nvSpPr>
        <p:spPr>
          <a:xfrm>
            <a:off x="2977835"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want to build new skills — but 47% do not know where to start.</a:t>
            </a:r>
            <a:endParaRPr lang="en-US" sz="1400" dirty="0"/>
          </a:p>
        </p:txBody>
      </p:sp>
      <p:sp>
        <p:nvSpPr>
          <p:cNvPr id="12" name="Text 10"/>
          <p:cNvSpPr txBox="1"/>
          <p:nvPr/>
        </p:nvSpPr>
        <p:spPr>
          <a:xfrm>
            <a:off x="2977835"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Bright Horizons Education Index</a:t>
            </a:r>
            <a:endParaRPr lang="en-US" sz="1400" dirty="0"/>
          </a:p>
        </p:txBody>
      </p:sp>
      <p:sp>
        <p:nvSpPr>
          <p:cNvPr id="13" name="Shape 11"/>
          <p:cNvSpPr/>
          <p:nvPr/>
        </p:nvSpPr>
        <p:spPr>
          <a:xfrm>
            <a:off x="5050414"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5251582"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Higher</a:t>
            </a:r>
            <a:endParaRPr lang="en-US" sz="2400" dirty="0"/>
          </a:p>
        </p:txBody>
      </p:sp>
      <p:sp>
        <p:nvSpPr>
          <p:cNvPr id="15" name="Text 13"/>
          <p:cNvSpPr txBox="1"/>
          <p:nvPr/>
        </p:nvSpPr>
        <p:spPr>
          <a:xfrm>
            <a:off x="5251582"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multi-year retention among employees who move internally.</a:t>
            </a:r>
            <a:endParaRPr lang="en-US" sz="1400" dirty="0"/>
          </a:p>
        </p:txBody>
      </p:sp>
      <p:sp>
        <p:nvSpPr>
          <p:cNvPr id="16" name="Text 14"/>
          <p:cNvSpPr txBox="1"/>
          <p:nvPr/>
        </p:nvSpPr>
        <p:spPr>
          <a:xfrm>
            <a:off x="5251582"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SHRM</a:t>
            </a:r>
            <a:endParaRPr lang="en-US" sz="1400" dirty="0"/>
          </a:p>
        </p:txBody>
      </p:sp>
      <p:sp>
        <p:nvSpPr>
          <p:cNvPr id="17" name="Shape 15"/>
          <p:cNvSpPr/>
          <p:nvPr/>
        </p:nvSpPr>
        <p:spPr>
          <a:xfrm>
            <a:off x="7324161"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7525329"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94%</a:t>
            </a:r>
            <a:endParaRPr lang="en-US" sz="3200" dirty="0"/>
          </a:p>
        </p:txBody>
      </p:sp>
      <p:sp>
        <p:nvSpPr>
          <p:cNvPr id="19" name="Text 17"/>
          <p:cNvSpPr txBox="1"/>
          <p:nvPr/>
        </p:nvSpPr>
        <p:spPr>
          <a:xfrm>
            <a:off x="7525329"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would stay longer where a company invests in their career.</a:t>
            </a:r>
            <a:endParaRPr lang="en-US" sz="1400" dirty="0"/>
          </a:p>
        </p:txBody>
      </p:sp>
      <p:sp>
        <p:nvSpPr>
          <p:cNvPr id="20" name="Text 18"/>
          <p:cNvSpPr txBox="1"/>
          <p:nvPr/>
        </p:nvSpPr>
        <p:spPr>
          <a:xfrm>
            <a:off x="7525329"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1" name="Shape 19"/>
          <p:cNvSpPr/>
          <p:nvPr/>
        </p:nvSpPr>
        <p:spPr>
          <a:xfrm>
            <a:off x="9597908"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9799076"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2×</a:t>
            </a:r>
            <a:endParaRPr lang="en-US" sz="3200" dirty="0"/>
          </a:p>
        </p:txBody>
      </p:sp>
      <p:sp>
        <p:nvSpPr>
          <p:cNvPr id="23" name="Text 21"/>
          <p:cNvSpPr txBox="1"/>
          <p:nvPr/>
        </p:nvSpPr>
        <p:spPr>
          <a:xfrm>
            <a:off x="9799076"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retention where the learning culture is strong: 57% stay vs 27%.</a:t>
            </a:r>
            <a:endParaRPr lang="en-US" sz="1400" dirty="0"/>
          </a:p>
        </p:txBody>
      </p:sp>
      <p:sp>
        <p:nvSpPr>
          <p:cNvPr id="24" name="Text 22"/>
          <p:cNvSpPr txBox="1"/>
          <p:nvPr/>
        </p:nvSpPr>
        <p:spPr>
          <a:xfrm>
            <a:off x="9799076"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5" name="Shape 23"/>
          <p:cNvSpPr/>
          <p:nvPr/>
        </p:nvSpPr>
        <p:spPr>
          <a:xfrm>
            <a:off x="502920" y="4645152"/>
            <a:ext cx="11185855" cy="1371600"/>
          </a:xfrm>
          <a:prstGeom prst="roundRect">
            <a:avLst>
              <a:gd name="adj" fmla="val 4000"/>
            </a:avLst>
          </a:prstGeom>
          <a:solidFill>
            <a:srgbClr val="0F172A"/>
          </a:solidFill>
          <a:ln w="12700">
            <a:solidFill>
              <a:srgbClr val="333333"/>
            </a:solidFill>
            <a:prstDash val="solid"/>
          </a:ln>
        </p:spPr>
      </p:sp>
      <p:sp>
        <p:nvSpPr>
          <p:cNvPr id="26" name="Text 24"/>
          <p:cNvSpPr txBox="1"/>
          <p:nvPr/>
        </p:nvSpPr>
        <p:spPr>
          <a:xfrm>
            <a:off x="832104" y="4791456"/>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What all five have in common</a:t>
            </a:r>
            <a:endParaRPr lang="en-US" sz="1900" dirty="0"/>
          </a:p>
        </p:txBody>
      </p:sp>
      <p:sp>
        <p:nvSpPr>
          <p:cNvPr id="27" name="Text 25"/>
          <p:cNvSpPr txBox="1"/>
          <p:nvPr/>
        </p:nvSpPr>
        <p:spPr>
          <a:xfrm>
            <a:off x="832104" y="5102352"/>
            <a:ext cx="10527487" cy="786384"/>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finding points at the same gap, and none points at motivation. People want to move and organisations want them to — and in between there is no mechanism showing a specific person a specific opportunity they would fit. That gap is infrastructure, not culture, which is why it can be built and paid back.</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citations in the appendix. Percentages are as published by each source and are not Home Credit data.</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CORPORATE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of eight priorities run on internal talent.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'Go Wide, Go Deep' needs a bench, tech talent and a performance culture — we cannot buy all of it.</a:t>
            </a:r>
            <a:endParaRPr lang="en-US" sz="1600" dirty="0"/>
          </a:p>
        </p:txBody>
      </p:sp>
      <p:sp>
        <p:nvSpPr>
          <p:cNvPr id="5" name="Text 3"/>
          <p:cNvSpPr txBox="1"/>
          <p:nvPr/>
        </p:nvSpPr>
        <p:spPr>
          <a:xfrm>
            <a:off x="502920" y="1755648"/>
            <a:ext cx="4698059"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EIGHT PRIORITIES '27–'29</a:t>
            </a:r>
            <a:endParaRPr lang="en-US" sz="1400" dirty="0"/>
          </a:p>
        </p:txBody>
      </p:sp>
      <p:sp>
        <p:nvSpPr>
          <p:cNvPr id="6" name="Shape 4"/>
          <p:cNvSpPr/>
          <p:nvPr/>
        </p:nvSpPr>
        <p:spPr>
          <a:xfrm>
            <a:off x="502920" y="2011680"/>
            <a:ext cx="4698059" cy="438912"/>
          </a:xfrm>
          <a:prstGeom prst="roundRect">
            <a:avLst>
              <a:gd name="adj" fmla="val 10417"/>
            </a:avLst>
          </a:prstGeom>
          <a:solidFill>
            <a:srgbClr val="FDF1F1"/>
          </a:solidFill>
          <a:ln w="12700">
            <a:solidFill>
              <a:srgbClr val="F5C6C6"/>
            </a:solidFill>
            <a:prstDash val="solid"/>
          </a:ln>
        </p:spPr>
      </p:sp>
      <p:sp>
        <p:nvSpPr>
          <p:cNvPr id="7" name="Text 5"/>
          <p:cNvSpPr txBox="1"/>
          <p:nvPr/>
        </p:nvSpPr>
        <p:spPr>
          <a:xfrm>
            <a:off x="886968" y="2039112"/>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People &amp; Culture</a:t>
            </a:r>
            <a:endParaRPr lang="en-US" sz="1500" dirty="0"/>
          </a:p>
        </p:txBody>
      </p:sp>
      <p:sp>
        <p:nvSpPr>
          <p:cNvPr id="8" name="Text 6"/>
          <p:cNvSpPr txBox="1"/>
          <p:nvPr/>
        </p:nvSpPr>
        <p:spPr>
          <a:xfrm>
            <a:off x="886968" y="2240280"/>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Capabilities · performance culture</a:t>
            </a:r>
            <a:endParaRPr lang="en-US" sz="1400" dirty="0"/>
          </a:p>
        </p:txBody>
      </p:sp>
      <p:sp>
        <p:nvSpPr>
          <p:cNvPr id="9" name="Shape 7"/>
          <p:cNvSpPr/>
          <p:nvPr/>
        </p:nvSpPr>
        <p:spPr>
          <a:xfrm>
            <a:off x="594360" y="2103120"/>
            <a:ext cx="256032" cy="256032"/>
          </a:xfrm>
          <a:prstGeom prst="ellipse">
            <a:avLst/>
          </a:prstGeom>
          <a:solidFill>
            <a:srgbClr val="C00000"/>
          </a:solidFill>
          <a:ln w="12700">
            <a:solidFill>
              <a:srgbClr val="333333"/>
            </a:solidFill>
            <a:prstDash val="solid"/>
          </a:ln>
        </p:spPr>
      </p:sp>
      <p:sp>
        <p:nvSpPr>
          <p:cNvPr id="10" name="Text 8"/>
          <p:cNvSpPr txBox="1"/>
          <p:nvPr/>
        </p:nvSpPr>
        <p:spPr>
          <a:xfrm>
            <a:off x="594360" y="2107692"/>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1" name="Shape 9"/>
          <p:cNvSpPr/>
          <p:nvPr/>
        </p:nvSpPr>
        <p:spPr>
          <a:xfrm>
            <a:off x="502920" y="2528316"/>
            <a:ext cx="4698059" cy="438912"/>
          </a:xfrm>
          <a:prstGeom prst="roundRect">
            <a:avLst>
              <a:gd name="adj" fmla="val 10417"/>
            </a:avLst>
          </a:prstGeom>
          <a:solidFill>
            <a:srgbClr val="FDF1F1"/>
          </a:solidFill>
          <a:ln w="12700">
            <a:solidFill>
              <a:srgbClr val="F5C6C6"/>
            </a:solidFill>
            <a:prstDash val="solid"/>
          </a:ln>
        </p:spPr>
      </p:sp>
      <p:sp>
        <p:nvSpPr>
          <p:cNvPr id="12" name="Text 10"/>
          <p:cNvSpPr txBox="1"/>
          <p:nvPr/>
        </p:nvSpPr>
        <p:spPr>
          <a:xfrm>
            <a:off x="886968" y="2555748"/>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Deep Focus on Tech</a:t>
            </a:r>
            <a:endParaRPr lang="en-US" sz="1500" dirty="0"/>
          </a:p>
        </p:txBody>
      </p:sp>
      <p:sp>
        <p:nvSpPr>
          <p:cNvPr id="13" name="Text 11"/>
          <p:cNvSpPr txBox="1"/>
          <p:nvPr/>
        </p:nvSpPr>
        <p:spPr>
          <a:xfrm>
            <a:off x="886968" y="2756916"/>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Core platform · Unified Data</a:t>
            </a:r>
            <a:endParaRPr lang="en-US" sz="1400" dirty="0"/>
          </a:p>
        </p:txBody>
      </p:sp>
      <p:sp>
        <p:nvSpPr>
          <p:cNvPr id="14" name="Shape 12"/>
          <p:cNvSpPr/>
          <p:nvPr/>
        </p:nvSpPr>
        <p:spPr>
          <a:xfrm>
            <a:off x="594360" y="2619756"/>
            <a:ext cx="256032" cy="256032"/>
          </a:xfrm>
          <a:prstGeom prst="ellipse">
            <a:avLst/>
          </a:prstGeom>
          <a:solidFill>
            <a:srgbClr val="C00000"/>
          </a:solidFill>
          <a:ln w="12700">
            <a:solidFill>
              <a:srgbClr val="333333"/>
            </a:solidFill>
            <a:prstDash val="solid"/>
          </a:ln>
        </p:spPr>
      </p:sp>
      <p:sp>
        <p:nvSpPr>
          <p:cNvPr id="15" name="Text 13"/>
          <p:cNvSpPr txBox="1"/>
          <p:nvPr/>
        </p:nvSpPr>
        <p:spPr>
          <a:xfrm>
            <a:off x="594360" y="2624328"/>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502920" y="3044952"/>
            <a:ext cx="4698059" cy="438912"/>
          </a:xfrm>
          <a:prstGeom prst="roundRect">
            <a:avLst>
              <a:gd name="adj" fmla="val 10417"/>
            </a:avLst>
          </a:prstGeom>
          <a:solidFill>
            <a:srgbClr val="FDF1F1"/>
          </a:solidFill>
          <a:ln w="12700">
            <a:solidFill>
              <a:srgbClr val="F5C6C6"/>
            </a:solidFill>
            <a:prstDash val="solid"/>
          </a:ln>
        </p:spPr>
      </p:sp>
      <p:sp>
        <p:nvSpPr>
          <p:cNvPr id="17" name="Text 15"/>
          <p:cNvSpPr txBox="1"/>
          <p:nvPr/>
        </p:nvSpPr>
        <p:spPr>
          <a:xfrm>
            <a:off x="886968" y="3072384"/>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886968" y="3273552"/>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94360" y="3136392"/>
            <a:ext cx="256032" cy="256032"/>
          </a:xfrm>
          <a:prstGeom prst="ellipse">
            <a:avLst/>
          </a:prstGeom>
          <a:solidFill>
            <a:srgbClr val="C00000"/>
          </a:solidFill>
          <a:ln w="12700">
            <a:solidFill>
              <a:srgbClr val="333333"/>
            </a:solidFill>
            <a:prstDash val="solid"/>
          </a:ln>
        </p:spPr>
      </p:sp>
      <p:sp>
        <p:nvSpPr>
          <p:cNvPr id="20" name="Text 18"/>
          <p:cNvSpPr txBox="1"/>
          <p:nvPr/>
        </p:nvSpPr>
        <p:spPr>
          <a:xfrm>
            <a:off x="594360" y="3140964"/>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Shape 19"/>
          <p:cNvSpPr/>
          <p:nvPr/>
        </p:nvSpPr>
        <p:spPr>
          <a:xfrm>
            <a:off x="502920" y="3561588"/>
            <a:ext cx="4698059" cy="438912"/>
          </a:xfrm>
          <a:prstGeom prst="roundRect">
            <a:avLst>
              <a:gd name="adj" fmla="val 10417"/>
            </a:avLst>
          </a:prstGeom>
          <a:solidFill>
            <a:srgbClr val="FAFAFA"/>
          </a:solidFill>
          <a:ln w="12700">
            <a:solidFill>
              <a:srgbClr val="E5E7EB"/>
            </a:solidFill>
            <a:prstDash val="solid"/>
          </a:ln>
        </p:spPr>
      </p:sp>
      <p:sp>
        <p:nvSpPr>
          <p:cNvPr id="22" name="Text 20"/>
          <p:cNvSpPr txBox="1"/>
          <p:nvPr/>
        </p:nvSpPr>
        <p:spPr>
          <a:xfrm>
            <a:off x="886968" y="3589020"/>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POS — defend market position</a:t>
            </a:r>
            <a:endParaRPr lang="en-US" sz="1500" dirty="0"/>
          </a:p>
        </p:txBody>
      </p:sp>
      <p:sp>
        <p:nvSpPr>
          <p:cNvPr id="23" name="Text 21"/>
          <p:cNvSpPr txBox="1"/>
          <p:nvPr/>
        </p:nvSpPr>
        <p:spPr>
          <a:xfrm>
            <a:off x="886968" y="3790188"/>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Acquisition and retention channel</a:t>
            </a:r>
            <a:endParaRPr lang="en-US" sz="1400" dirty="0"/>
          </a:p>
        </p:txBody>
      </p:sp>
      <p:sp>
        <p:nvSpPr>
          <p:cNvPr id="24" name="Shape 22"/>
          <p:cNvSpPr/>
          <p:nvPr/>
        </p:nvSpPr>
        <p:spPr>
          <a:xfrm>
            <a:off x="502920" y="4078224"/>
            <a:ext cx="4698059" cy="438912"/>
          </a:xfrm>
          <a:prstGeom prst="roundRect">
            <a:avLst>
              <a:gd name="adj" fmla="val 10417"/>
            </a:avLst>
          </a:prstGeom>
          <a:solidFill>
            <a:srgbClr val="FAFAFA"/>
          </a:solidFill>
          <a:ln w="12700">
            <a:solidFill>
              <a:srgbClr val="E5E7EB"/>
            </a:solidFill>
            <a:prstDash val="solid"/>
          </a:ln>
        </p:spPr>
      </p:sp>
      <p:sp>
        <p:nvSpPr>
          <p:cNvPr id="25" name="Text 23"/>
          <p:cNvSpPr txBox="1"/>
          <p:nvPr/>
        </p:nvSpPr>
        <p:spPr>
          <a:xfrm>
            <a:off x="886968" y="4105656"/>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Cash Loan</a:t>
            </a:r>
            <a:endParaRPr lang="en-US" sz="1500" dirty="0"/>
          </a:p>
        </p:txBody>
      </p:sp>
      <p:sp>
        <p:nvSpPr>
          <p:cNvPr id="26" name="Text 24"/>
          <p:cNvSpPr txBox="1"/>
          <p:nvPr/>
        </p:nvSpPr>
        <p:spPr>
          <a:xfrm>
            <a:off x="886968" y="4306824"/>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Profitable, sustainable CLX portfolio</a:t>
            </a:r>
            <a:endParaRPr lang="en-US" sz="1400" dirty="0"/>
          </a:p>
        </p:txBody>
      </p:sp>
      <p:sp>
        <p:nvSpPr>
          <p:cNvPr id="27" name="Shape 25"/>
          <p:cNvSpPr/>
          <p:nvPr/>
        </p:nvSpPr>
        <p:spPr>
          <a:xfrm>
            <a:off x="502920" y="4594860"/>
            <a:ext cx="4698059" cy="438912"/>
          </a:xfrm>
          <a:prstGeom prst="roundRect">
            <a:avLst>
              <a:gd name="adj" fmla="val 10417"/>
            </a:avLst>
          </a:prstGeom>
          <a:solidFill>
            <a:srgbClr val="FAFAFA"/>
          </a:solidFill>
          <a:ln w="12700">
            <a:solidFill>
              <a:srgbClr val="E5E7EB"/>
            </a:solidFill>
            <a:prstDash val="solid"/>
          </a:ln>
        </p:spPr>
      </p:sp>
      <p:sp>
        <p:nvSpPr>
          <p:cNvPr id="28" name="Text 26"/>
          <p:cNvSpPr txBox="1"/>
          <p:nvPr/>
        </p:nvSpPr>
        <p:spPr>
          <a:xfrm>
            <a:off x="886968" y="4622292"/>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App-led lifecycle</a:t>
            </a:r>
            <a:endParaRPr lang="en-US" sz="1500" dirty="0"/>
          </a:p>
        </p:txBody>
      </p:sp>
      <p:sp>
        <p:nvSpPr>
          <p:cNvPr id="29" name="Text 27"/>
          <p:cNvSpPr txBox="1"/>
          <p:nvPr/>
        </p:nvSpPr>
        <p:spPr>
          <a:xfrm>
            <a:off x="886968" y="4823460"/>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Personalised engagement · revolving</a:t>
            </a:r>
            <a:endParaRPr lang="en-US" sz="1400" dirty="0"/>
          </a:p>
        </p:txBody>
      </p:sp>
      <p:sp>
        <p:nvSpPr>
          <p:cNvPr id="30" name="Shape 28"/>
          <p:cNvSpPr/>
          <p:nvPr/>
        </p:nvSpPr>
        <p:spPr>
          <a:xfrm>
            <a:off x="502920" y="5111496"/>
            <a:ext cx="4698059" cy="438912"/>
          </a:xfrm>
          <a:prstGeom prst="roundRect">
            <a:avLst>
              <a:gd name="adj" fmla="val 10417"/>
            </a:avLst>
          </a:prstGeom>
          <a:solidFill>
            <a:srgbClr val="FAFAFA"/>
          </a:solidFill>
          <a:ln w="12700">
            <a:solidFill>
              <a:srgbClr val="E5E7EB"/>
            </a:solidFill>
            <a:prstDash val="solid"/>
          </a:ln>
        </p:spPr>
      </p:sp>
      <p:sp>
        <p:nvSpPr>
          <p:cNvPr id="31" name="Text 29"/>
          <p:cNvSpPr txBox="1"/>
          <p:nvPr/>
        </p:nvSpPr>
        <p:spPr>
          <a:xfrm>
            <a:off x="886968" y="5138928"/>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Risk &amp; Collections</a:t>
            </a:r>
            <a:endParaRPr lang="en-US" sz="1500" dirty="0"/>
          </a:p>
        </p:txBody>
      </p:sp>
      <p:sp>
        <p:nvSpPr>
          <p:cNvPr id="32" name="Text 30"/>
          <p:cNvSpPr txBox="1"/>
          <p:nvPr/>
        </p:nvSpPr>
        <p:spPr>
          <a:xfrm>
            <a:off x="886968" y="5340096"/>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Customer-type scorecards · CE tools</a:t>
            </a:r>
            <a:endParaRPr lang="en-US" sz="1400" dirty="0"/>
          </a:p>
        </p:txBody>
      </p:sp>
      <p:sp>
        <p:nvSpPr>
          <p:cNvPr id="33" name="Shape 31"/>
          <p:cNvSpPr/>
          <p:nvPr/>
        </p:nvSpPr>
        <p:spPr>
          <a:xfrm>
            <a:off x="502920" y="5628132"/>
            <a:ext cx="4698059" cy="438912"/>
          </a:xfrm>
          <a:prstGeom prst="roundRect">
            <a:avLst>
              <a:gd name="adj" fmla="val 10417"/>
            </a:avLst>
          </a:prstGeom>
          <a:solidFill>
            <a:srgbClr val="FAFAFA"/>
          </a:solidFill>
          <a:ln w="12700">
            <a:solidFill>
              <a:srgbClr val="E5E7EB"/>
            </a:solidFill>
            <a:prstDash val="solid"/>
          </a:ln>
        </p:spPr>
      </p:sp>
      <p:sp>
        <p:nvSpPr>
          <p:cNvPr id="34" name="Text 32"/>
          <p:cNvSpPr txBox="1"/>
          <p:nvPr/>
        </p:nvSpPr>
        <p:spPr>
          <a:xfrm>
            <a:off x="886968" y="5655564"/>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Secure local funding</a:t>
            </a:r>
            <a:endParaRPr lang="en-US" sz="1500" dirty="0"/>
          </a:p>
        </p:txBody>
      </p:sp>
      <p:sp>
        <p:nvSpPr>
          <p:cNvPr id="35" name="Text 33"/>
          <p:cNvSpPr txBox="1"/>
          <p:nvPr/>
        </p:nvSpPr>
        <p:spPr>
          <a:xfrm>
            <a:off x="886968" y="5856732"/>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Diversify base · maintain spreads</a:t>
            </a:r>
            <a:endParaRPr lang="en-US" sz="1400" dirty="0"/>
          </a:p>
        </p:txBody>
      </p:sp>
      <p:sp>
        <p:nvSpPr>
          <p:cNvPr id="36" name="Text 34"/>
          <p:cNvSpPr txBox="1"/>
          <p:nvPr/>
        </p:nvSpPr>
        <p:spPr>
          <a:xfrm>
            <a:off x="5585027" y="1755648"/>
            <a:ext cx="6103748"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WHAT GROWTH DELIVERS AGAINST THEM</a:t>
            </a:r>
            <a:endParaRPr lang="en-US" sz="1400" dirty="0"/>
          </a:p>
        </p:txBody>
      </p:sp>
      <p:sp>
        <p:nvSpPr>
          <p:cNvPr id="37" name="Shape 35"/>
          <p:cNvSpPr/>
          <p:nvPr/>
        </p:nvSpPr>
        <p:spPr>
          <a:xfrm>
            <a:off x="5585027" y="1975104"/>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8" name="Text 36"/>
          <p:cNvSpPr txBox="1"/>
          <p:nvPr/>
        </p:nvSpPr>
        <p:spPr>
          <a:xfrm>
            <a:off x="5822771" y="2084832"/>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Strengthens the middle-management bench</a:t>
            </a:r>
            <a:endParaRPr lang="en-US" sz="1600" dirty="0"/>
          </a:p>
        </p:txBody>
      </p:sp>
      <p:sp>
        <p:nvSpPr>
          <p:cNvPr id="39" name="Text 37"/>
          <p:cNvSpPr txBox="1"/>
          <p:nvPr/>
        </p:nvSpPr>
        <p:spPr>
          <a:xfrm>
            <a:off x="5822771" y="2377440"/>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Band B pivots and Band C lateral moves become visible, matched and trackable — built from people already on payroll.</a:t>
            </a:r>
            <a:endParaRPr lang="en-US" sz="1400" dirty="0"/>
          </a:p>
        </p:txBody>
      </p:sp>
      <p:sp>
        <p:nvSpPr>
          <p:cNvPr id="40" name="Shape 38"/>
          <p:cNvSpPr/>
          <p:nvPr/>
        </p:nvSpPr>
        <p:spPr>
          <a:xfrm>
            <a:off x="5585027" y="3054096"/>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Text 39"/>
          <p:cNvSpPr txBox="1"/>
          <p:nvPr/>
        </p:nvSpPr>
        <p:spPr>
          <a:xfrm>
            <a:off x="5822771" y="3163824"/>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Builds tech talent from the inside</a:t>
            </a:r>
            <a:endParaRPr lang="en-US" sz="1600" dirty="0"/>
          </a:p>
        </p:txBody>
      </p:sp>
      <p:sp>
        <p:nvSpPr>
          <p:cNvPr id="42" name="Text 40"/>
          <p:cNvSpPr txBox="1"/>
          <p:nvPr/>
        </p:nvSpPr>
        <p:spPr>
          <a:xfrm>
            <a:off x="5822771" y="3456432"/>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Gigs and immersions let Operations, Risk and HR people cross into IT work before we pay a headhunter for it.</a:t>
            </a:r>
            <a:endParaRPr lang="en-US" sz="1400" dirty="0"/>
          </a:p>
        </p:txBody>
      </p:sp>
      <p:sp>
        <p:nvSpPr>
          <p:cNvPr id="43" name="Shape 41"/>
          <p:cNvSpPr/>
          <p:nvPr/>
        </p:nvSpPr>
        <p:spPr>
          <a:xfrm>
            <a:off x="5585027" y="4133088"/>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4" name="Text 42"/>
          <p:cNvSpPr txBox="1"/>
          <p:nvPr/>
        </p:nvSpPr>
        <p:spPr>
          <a:xfrm>
            <a:off x="5822771" y="4242816"/>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Creates the people half of Unified Data</a:t>
            </a:r>
            <a:endParaRPr lang="en-US" sz="1600" dirty="0"/>
          </a:p>
        </p:txBody>
      </p:sp>
      <p:sp>
        <p:nvSpPr>
          <p:cNvPr id="45" name="Text 43"/>
          <p:cNvSpPr txBox="1"/>
          <p:nvPr/>
        </p:nvSpPr>
        <p:spPr>
          <a:xfrm>
            <a:off x="5822771" y="4535424"/>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live skills inventory as a by-product — "who can do X?" answered from data rather than memory.</a:t>
            </a:r>
            <a:endParaRPr lang="en-US" sz="1400" dirty="0"/>
          </a:p>
        </p:txBody>
      </p:sp>
      <p:sp>
        <p:nvSpPr>
          <p:cNvPr id="46" name="Shape 44"/>
          <p:cNvSpPr/>
          <p:nvPr/>
        </p:nvSpPr>
        <p:spPr>
          <a:xfrm>
            <a:off x="5585027" y="5212080"/>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7" name="Text 45"/>
          <p:cNvSpPr txBox="1"/>
          <p:nvPr/>
        </p:nvSpPr>
        <p:spPr>
          <a:xfrm>
            <a:off x="5822771" y="5321808"/>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Staffs new growth engines in days</a:t>
            </a:r>
            <a:endParaRPr lang="en-US" sz="1600" dirty="0"/>
          </a:p>
        </p:txBody>
      </p:sp>
      <p:sp>
        <p:nvSpPr>
          <p:cNvPr id="48" name="Text 46"/>
          <p:cNvSpPr txBox="1"/>
          <p:nvPr/>
        </p:nvSpPr>
        <p:spPr>
          <a:xfrm>
            <a:off x="5822771" y="5614416"/>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MSME, e-commerce and the Unified App Journey resourced from internal capacity, not contractors.</a:t>
            </a:r>
            <a:endParaRPr lang="en-US" sz="1400" dirty="0"/>
          </a:p>
        </p:txBody>
      </p:sp>
      <p:sp>
        <p:nvSpPr>
          <p:cNvPr id="49" name="Shape 47"/>
          <p:cNvSpPr/>
          <p:nvPr/>
        </p:nvSpPr>
        <p:spPr>
          <a:xfrm>
            <a:off x="502920" y="6291072"/>
            <a:ext cx="11185855" cy="0"/>
          </a:xfrm>
          <a:prstGeom prst="line">
            <a:avLst/>
          </a:prstGeom>
          <a:noFill/>
          <a:ln w="12700">
            <a:solidFill>
              <a:srgbClr val="E5E7EB"/>
            </a:solidFill>
            <a:prstDash val="solid"/>
          </a:ln>
        </p:spPr>
      </p:sp>
      <p:sp>
        <p:nvSpPr>
          <p:cNvPr id="50" name="Text 4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Strategic Priorities '27–'29 — Go Wide, Go Deep (draft, to be finalised October).</a:t>
            </a:r>
            <a:endParaRPr lang="en-US" sz="1400" dirty="0"/>
          </a:p>
        </p:txBody>
      </p:sp>
      <p:sp>
        <p:nvSpPr>
          <p:cNvPr id="51" name="Text 4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PEOPLE &amp; CULTURE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advances four of the five HR priorities.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And in the OneHR operating model it lands as Tier 0 self-service — digital first, automated, guided.</a:t>
            </a:r>
            <a:endParaRPr lang="en-US" sz="1600" dirty="0"/>
          </a:p>
        </p:txBody>
      </p:sp>
      <p:sp>
        <p:nvSpPr>
          <p:cNvPr id="5" name="Shape 3"/>
          <p:cNvSpPr/>
          <p:nvPr/>
        </p:nvSpPr>
        <p:spPr>
          <a:xfrm>
            <a:off x="502920" y="1773936"/>
            <a:ext cx="2090867" cy="713232"/>
          </a:xfrm>
          <a:prstGeom prst="roundRect">
            <a:avLst>
              <a:gd name="adj" fmla="val 6410"/>
            </a:avLst>
          </a:prstGeom>
          <a:solidFill>
            <a:srgbClr val="C00000"/>
          </a:solidFill>
          <a:ln w="12700">
            <a:solidFill>
              <a:srgbClr val="333333"/>
            </a:solidFill>
            <a:prstDash val="solid"/>
          </a:ln>
        </p:spPr>
      </p:sp>
      <p:sp>
        <p:nvSpPr>
          <p:cNvPr id="6" name="Text 4"/>
          <p:cNvSpPr txBox="1"/>
          <p:nvPr/>
        </p:nvSpPr>
        <p:spPr>
          <a:xfrm>
            <a:off x="612648"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High-Performance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Culture</a:t>
            </a:r>
            <a:endParaRPr lang="en-US" sz="1500" dirty="0"/>
          </a:p>
        </p:txBody>
      </p:sp>
      <p:sp>
        <p:nvSpPr>
          <p:cNvPr id="7" name="Shape 5"/>
          <p:cNvSpPr/>
          <p:nvPr/>
        </p:nvSpPr>
        <p:spPr>
          <a:xfrm>
            <a:off x="502920" y="2560320"/>
            <a:ext cx="2090867" cy="1572768"/>
          </a:xfrm>
          <a:prstGeom prst="roundRect">
            <a:avLst>
              <a:gd name="adj" fmla="val 3488"/>
            </a:avLst>
          </a:prstGeom>
          <a:solidFill>
            <a:srgbClr val="F7F8FA"/>
          </a:solidFill>
          <a:ln w="12700">
            <a:solidFill>
              <a:srgbClr val="333333"/>
            </a:solidFill>
            <a:prstDash val="solid"/>
          </a:ln>
        </p:spPr>
      </p:sp>
      <p:sp>
        <p:nvSpPr>
          <p:cNvPr id="8" name="Text 6"/>
          <p:cNvSpPr txBox="1"/>
          <p:nvPr/>
        </p:nvSpPr>
        <p:spPr>
          <a:xfrm>
            <a:off x="685800"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Movement becomes evidence on a record, not a favour someone remembers.</a:t>
            </a:r>
            <a:endParaRPr lang="en-US" sz="1400" dirty="0"/>
          </a:p>
        </p:txBody>
      </p:sp>
      <p:sp>
        <p:nvSpPr>
          <p:cNvPr id="9" name="Shape 7"/>
          <p:cNvSpPr/>
          <p:nvPr/>
        </p:nvSpPr>
        <p:spPr>
          <a:xfrm>
            <a:off x="2776667" y="1773936"/>
            <a:ext cx="2090867" cy="713232"/>
          </a:xfrm>
          <a:prstGeom prst="roundRect">
            <a:avLst>
              <a:gd name="adj" fmla="val 6410"/>
            </a:avLst>
          </a:prstGeom>
          <a:solidFill>
            <a:srgbClr val="C00000"/>
          </a:solidFill>
          <a:ln w="12700">
            <a:solidFill>
              <a:srgbClr val="333333"/>
            </a:solidFill>
            <a:prstDash val="solid"/>
          </a:ln>
        </p:spPr>
      </p:sp>
      <p:sp>
        <p:nvSpPr>
          <p:cNvPr id="10" name="Text 8"/>
          <p:cNvSpPr txBox="1"/>
          <p:nvPr/>
        </p:nvSpPr>
        <p:spPr>
          <a:xfrm>
            <a:off x="2886395"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Leadership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Capability Development</a:t>
            </a:r>
            <a:endParaRPr lang="en-US" sz="1500" dirty="0"/>
          </a:p>
        </p:txBody>
      </p:sp>
      <p:sp>
        <p:nvSpPr>
          <p:cNvPr id="11" name="Shape 9"/>
          <p:cNvSpPr/>
          <p:nvPr/>
        </p:nvSpPr>
        <p:spPr>
          <a:xfrm>
            <a:off x="2776667" y="2560320"/>
            <a:ext cx="2090867" cy="1572768"/>
          </a:xfrm>
          <a:prstGeom prst="roundRect">
            <a:avLst>
              <a:gd name="adj" fmla="val 3488"/>
            </a:avLst>
          </a:prstGeom>
          <a:solidFill>
            <a:srgbClr val="F7F8FA"/>
          </a:solidFill>
          <a:ln w="12700">
            <a:solidFill>
              <a:srgbClr val="333333"/>
            </a:solidFill>
            <a:prstDash val="solid"/>
          </a:ln>
        </p:spPr>
      </p:sp>
      <p:sp>
        <p:nvSpPr>
          <p:cNvPr id="12" name="Text 10"/>
          <p:cNvSpPr txBox="1"/>
          <p:nvPr/>
        </p:nvSpPr>
        <p:spPr>
          <a:xfrm>
            <a:off x="2959547"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Immersions are the 70 of 70-20-10 — and how the bench gets built.</a:t>
            </a:r>
            <a:endParaRPr lang="en-US" sz="1400" dirty="0"/>
          </a:p>
        </p:txBody>
      </p:sp>
      <p:sp>
        <p:nvSpPr>
          <p:cNvPr id="13" name="Shape 11"/>
          <p:cNvSpPr/>
          <p:nvPr/>
        </p:nvSpPr>
        <p:spPr>
          <a:xfrm>
            <a:off x="5050414" y="1773936"/>
            <a:ext cx="2090867" cy="713232"/>
          </a:xfrm>
          <a:prstGeom prst="roundRect">
            <a:avLst>
              <a:gd name="adj" fmla="val 6410"/>
            </a:avLst>
          </a:prstGeom>
          <a:solidFill>
            <a:srgbClr val="C00000"/>
          </a:solidFill>
          <a:ln w="12700">
            <a:solidFill>
              <a:srgbClr val="333333"/>
            </a:solidFill>
            <a:prstDash val="solid"/>
          </a:ln>
        </p:spPr>
      </p:sp>
      <p:sp>
        <p:nvSpPr>
          <p:cNvPr id="14" name="Text 12"/>
          <p:cNvSpPr txBox="1"/>
          <p:nvPr/>
        </p:nvSpPr>
        <p:spPr>
          <a:xfrm>
            <a:off x="5160142"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Employee Experience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&amp; Engagement</a:t>
            </a:r>
            <a:endParaRPr lang="en-US" sz="1500" dirty="0"/>
          </a:p>
        </p:txBody>
      </p:sp>
      <p:sp>
        <p:nvSpPr>
          <p:cNvPr id="15" name="Shape 13"/>
          <p:cNvSpPr/>
          <p:nvPr/>
        </p:nvSpPr>
        <p:spPr>
          <a:xfrm>
            <a:off x="5050414" y="2560320"/>
            <a:ext cx="2090867" cy="1572768"/>
          </a:xfrm>
          <a:prstGeom prst="roundRect">
            <a:avLst>
              <a:gd name="adj" fmla="val 3488"/>
            </a:avLst>
          </a:prstGeom>
          <a:solidFill>
            <a:srgbClr val="F7F8FA"/>
          </a:solidFill>
          <a:ln w="12700">
            <a:solidFill>
              <a:srgbClr val="333333"/>
            </a:solidFill>
            <a:prstDash val="solid"/>
          </a:ln>
        </p:spPr>
      </p:sp>
      <p:sp>
        <p:nvSpPr>
          <p:cNvPr id="16" name="Text 14"/>
          <p:cNvSpPr txBox="1"/>
          <p:nvPr/>
        </p:nvSpPr>
        <p:spPr>
          <a:xfrm>
            <a:off x="5233294"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Delivers the stated priority: clear career progression pathways.</a:t>
            </a:r>
            <a:endParaRPr lang="en-US" sz="1400" dirty="0"/>
          </a:p>
        </p:txBody>
      </p:sp>
      <p:sp>
        <p:nvSpPr>
          <p:cNvPr id="17" name="Shape 15"/>
          <p:cNvSpPr/>
          <p:nvPr/>
        </p:nvSpPr>
        <p:spPr>
          <a:xfrm>
            <a:off x="7324161" y="1773936"/>
            <a:ext cx="2090867" cy="713232"/>
          </a:xfrm>
          <a:prstGeom prst="roundRect">
            <a:avLst>
              <a:gd name="adj" fmla="val 6410"/>
            </a:avLst>
          </a:prstGeom>
          <a:solidFill>
            <a:srgbClr val="C00000"/>
          </a:solidFill>
          <a:ln w="12700">
            <a:solidFill>
              <a:srgbClr val="333333"/>
            </a:solidFill>
            <a:prstDash val="solid"/>
          </a:ln>
        </p:spPr>
      </p:sp>
      <p:sp>
        <p:nvSpPr>
          <p:cNvPr id="18" name="Text 16"/>
          <p:cNvSpPr txBox="1"/>
          <p:nvPr/>
        </p:nvSpPr>
        <p:spPr>
          <a:xfrm>
            <a:off x="7433889"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Digital</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Transformation</a:t>
            </a:r>
            <a:endParaRPr lang="en-US" sz="1500" dirty="0"/>
          </a:p>
        </p:txBody>
      </p:sp>
      <p:sp>
        <p:nvSpPr>
          <p:cNvPr id="19" name="Shape 17"/>
          <p:cNvSpPr/>
          <p:nvPr/>
        </p:nvSpPr>
        <p:spPr>
          <a:xfrm>
            <a:off x="7324161" y="2560320"/>
            <a:ext cx="2090867" cy="1572768"/>
          </a:xfrm>
          <a:prstGeom prst="roundRect">
            <a:avLst>
              <a:gd name="adj" fmla="val 3488"/>
            </a:avLst>
          </a:prstGeom>
          <a:solidFill>
            <a:srgbClr val="F7F8FA"/>
          </a:solidFill>
          <a:ln w="12700">
            <a:solidFill>
              <a:srgbClr val="333333"/>
            </a:solidFill>
            <a:prstDash val="solid"/>
          </a:ln>
        </p:spPr>
      </p:sp>
      <p:sp>
        <p:nvSpPr>
          <p:cNvPr id="20" name="Text 18"/>
          <p:cNvSpPr txBox="1"/>
          <p:nvPr/>
        </p:nvSpPr>
        <p:spPr>
          <a:xfrm>
            <a:off x="7507041"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AI matching on a live skills inventory — decisions made from data.</a:t>
            </a:r>
            <a:endParaRPr lang="en-US" sz="1400" dirty="0"/>
          </a:p>
        </p:txBody>
      </p:sp>
      <p:sp>
        <p:nvSpPr>
          <p:cNvPr id="21" name="Shape 19"/>
          <p:cNvSpPr/>
          <p:nvPr/>
        </p:nvSpPr>
        <p:spPr>
          <a:xfrm>
            <a:off x="9597908" y="1773936"/>
            <a:ext cx="2090867" cy="713232"/>
          </a:xfrm>
          <a:prstGeom prst="roundRect">
            <a:avLst>
              <a:gd name="adj" fmla="val 6410"/>
            </a:avLst>
          </a:prstGeom>
          <a:solidFill>
            <a:srgbClr val="8A8F98"/>
          </a:solidFill>
          <a:ln w="12700">
            <a:solidFill>
              <a:srgbClr val="333333"/>
            </a:solidFill>
            <a:prstDash val="solid"/>
          </a:ln>
        </p:spPr>
      </p:sp>
      <p:sp>
        <p:nvSpPr>
          <p:cNvPr id="22" name="Text 20"/>
          <p:cNvSpPr txBox="1"/>
          <p:nvPr/>
        </p:nvSpPr>
        <p:spPr>
          <a:xfrm>
            <a:off x="9707636"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Risk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Compliance</a:t>
            </a:r>
            <a:endParaRPr lang="en-US" sz="1500" dirty="0"/>
          </a:p>
        </p:txBody>
      </p:sp>
      <p:sp>
        <p:nvSpPr>
          <p:cNvPr id="23" name="Shape 21"/>
          <p:cNvSpPr/>
          <p:nvPr/>
        </p:nvSpPr>
        <p:spPr>
          <a:xfrm>
            <a:off x="9597908" y="2560320"/>
            <a:ext cx="2090867" cy="1572768"/>
          </a:xfrm>
          <a:prstGeom prst="roundRect">
            <a:avLst>
              <a:gd name="adj" fmla="val 3488"/>
            </a:avLst>
          </a:prstGeom>
          <a:solidFill>
            <a:srgbClr val="F7F8FA"/>
          </a:solidFill>
          <a:ln w="12700">
            <a:solidFill>
              <a:srgbClr val="333333"/>
            </a:solidFill>
            <a:prstDash val="solid"/>
          </a:ln>
        </p:spPr>
      </p:sp>
      <p:sp>
        <p:nvSpPr>
          <p:cNvPr id="24" name="Text 22"/>
          <p:cNvSpPr txBox="1"/>
          <p:nvPr/>
        </p:nvSpPr>
        <p:spPr>
          <a:xfrm>
            <a:off x="9780788"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Governed by Policy 211_2021, with a full audit trail.</a:t>
            </a:r>
            <a:endParaRPr lang="en-US" sz="1400" dirty="0"/>
          </a:p>
        </p:txBody>
      </p:sp>
      <p:sp>
        <p:nvSpPr>
          <p:cNvPr id="25" name="Shape 23"/>
          <p:cNvSpPr/>
          <p:nvPr/>
        </p:nvSpPr>
        <p:spPr>
          <a:xfrm>
            <a:off x="502920" y="4315968"/>
            <a:ext cx="6543725" cy="1700784"/>
          </a:xfrm>
          <a:prstGeom prst="roundRect">
            <a:avLst>
              <a:gd name="adj" fmla="val 3226"/>
            </a:avLst>
          </a:prstGeom>
          <a:solidFill>
            <a:srgbClr val="0F172A"/>
          </a:solidFill>
          <a:ln w="12700">
            <a:solidFill>
              <a:srgbClr val="333333"/>
            </a:solidFill>
            <a:prstDash val="solid"/>
          </a:ln>
        </p:spPr>
      </p:sp>
      <p:sp>
        <p:nvSpPr>
          <p:cNvPr id="26" name="Text 24"/>
          <p:cNvSpPr txBox="1"/>
          <p:nvPr/>
        </p:nvSpPr>
        <p:spPr>
          <a:xfrm>
            <a:off x="813816" y="4517136"/>
            <a:ext cx="5921933"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Where it sits in the OneHR operating model</a:t>
            </a:r>
            <a:endParaRPr lang="en-US" sz="1800" dirty="0"/>
          </a:p>
        </p:txBody>
      </p:sp>
      <p:sp>
        <p:nvSpPr>
          <p:cNvPr id="27" name="Text 25"/>
          <p:cNvSpPr txBox="1"/>
          <p:nvPr/>
        </p:nvSpPr>
        <p:spPr>
          <a:xfrm>
            <a:off x="813816" y="4846320"/>
            <a:ext cx="5921933" cy="1042416"/>
          </a:xfrm>
          <a:prstGeom prst="rect">
            <a:avLst/>
          </a:prstGeom>
          <a:noFill/>
          <a:ln/>
        </p:spPr>
        <p:txBody>
          <a:bodyPr wrap="square" lIns="0" tIns="0" rIns="0" bIns="0" rtlCol="0" anchor="t"/>
          <a:lstStyle/>
          <a:p>
            <a:pPr indent="0" marL="0">
              <a:lnSpc>
                <a:spcPts val="2100"/>
              </a:lnSpc>
              <a:buNone/>
            </a:pPr>
            <a:r>
              <a:rPr lang="en-US" sz="1500" b="1" dirty="0">
                <a:solidFill>
                  <a:srgbClr val="FCA5A5"/>
                </a:solidFill>
                <a:latin typeface="Arial" pitchFamily="34" charset="0"/>
                <a:ea typeface="Arial" pitchFamily="34" charset="-122"/>
                <a:cs typeface="Arial" pitchFamily="34" charset="-120"/>
              </a:rPr>
              <a:t>Tier 0 — Employee &amp; Manager Self-Service.  </a:t>
            </a:r>
            <a:pPr indent="0" marL="0">
              <a:lnSpc>
                <a:spcPts val="2100"/>
              </a:lnSpc>
              <a:buNone/>
            </a:pPr>
            <a:r>
              <a:rPr lang="en-US" sz="1500" dirty="0">
                <a:solidFill>
                  <a:srgbClr val="CBD5E1"/>
                </a:solidFill>
                <a:latin typeface="Arial" pitchFamily="34" charset="0"/>
                <a:ea typeface="Arial" pitchFamily="34" charset="-122"/>
                <a:cs typeface="Arial" pitchFamily="34" charset="-120"/>
              </a:rPr>
              <a:t>Not another HR service to staff — a self-service layer that takes work off Tier 1 and feeds the Talent Acquisition and People &amp; Culture COEs a live view of internal supply.</a:t>
            </a:r>
            <a:endParaRPr lang="en-US" sz="1500" dirty="0"/>
          </a:p>
        </p:txBody>
      </p:sp>
      <p:sp>
        <p:nvSpPr>
          <p:cNvPr id="28" name="Shape 26"/>
          <p:cNvSpPr/>
          <p:nvPr/>
        </p:nvSpPr>
        <p:spPr>
          <a:xfrm>
            <a:off x="7284389" y="4315968"/>
            <a:ext cx="4404386" cy="1700784"/>
          </a:xfrm>
          <a:prstGeom prst="roundRect">
            <a:avLst>
              <a:gd name="adj" fmla="val 3226"/>
            </a:avLst>
          </a:prstGeom>
          <a:solidFill>
            <a:srgbClr val="F0FDF4"/>
          </a:solidFill>
          <a:ln w="12700">
            <a:solidFill>
              <a:srgbClr val="333333"/>
            </a:solidFill>
            <a:prstDash val="solid"/>
          </a:ln>
        </p:spPr>
      </p:sp>
      <p:sp>
        <p:nvSpPr>
          <p:cNvPr id="29" name="Text 27"/>
          <p:cNvSpPr txBox="1"/>
          <p:nvPr/>
        </p:nvSpPr>
        <p:spPr>
          <a:xfrm>
            <a:off x="7558709" y="4517136"/>
            <a:ext cx="3855746" cy="27432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It also serves Recruitment</a:t>
            </a:r>
            <a:endParaRPr lang="en-US" sz="1800" dirty="0"/>
          </a:p>
        </p:txBody>
      </p:sp>
      <p:sp>
        <p:nvSpPr>
          <p:cNvPr id="30" name="Text 28"/>
          <p:cNvSpPr txBox="1"/>
          <p:nvPr/>
        </p:nvSpPr>
        <p:spPr>
          <a:xfrm>
            <a:off x="7558709" y="4846320"/>
            <a:ext cx="3855746" cy="1042416"/>
          </a:xfrm>
          <a:prstGeom prst="rect">
            <a:avLst/>
          </a:prstGeom>
          <a:noFill/>
          <a:ln/>
        </p:spPr>
        <p:txBody>
          <a:bodyPr wrap="square" lIns="0" tIns="0" rIns="0" bIns="0" rtlCol="0" anchor="t"/>
          <a:lstStyle/>
          <a:p>
            <a:pPr indent="0" marL="0">
              <a:lnSpc>
                <a:spcPts val="2100"/>
              </a:lnSpc>
              <a:buNone/>
            </a:pPr>
            <a:r>
              <a:rPr lang="en-US" sz="1500" dirty="0">
                <a:solidFill>
                  <a:srgbClr val="166534"/>
                </a:solidFill>
                <a:latin typeface="Arial" pitchFamily="34" charset="0"/>
                <a:ea typeface="Arial" pitchFamily="34" charset="-122"/>
                <a:cs typeface="Arial" pitchFamily="34" charset="-120"/>
              </a:rPr>
              <a:t>A warm internal pipeline against every requisition, scored before anyone opens a CV.</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HR Strategic Priorities · OneHR Operating Model.</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place. Every opportunity. Matched to you.</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routes people can join, one they can offer, and every permanent vacancy promoted with a fit score.</a:t>
            </a:r>
            <a:endParaRPr lang="en-US" sz="1600" dirty="0"/>
          </a:p>
        </p:txBody>
      </p:sp>
      <p:sp>
        <p:nvSpPr>
          <p:cNvPr id="5" name="Shape 3"/>
          <p:cNvSpPr/>
          <p:nvPr/>
        </p:nvSpPr>
        <p:spPr>
          <a:xfrm>
            <a:off x="502920"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1243584" cy="310896"/>
          </a:xfrm>
          <a:prstGeom prst="roundRect">
            <a:avLst>
              <a:gd name="adj" fmla="val 50000"/>
            </a:avLst>
          </a:prstGeom>
          <a:solidFill>
            <a:srgbClr val="FDF1F1"/>
          </a:solidFill>
          <a:ln w="12700">
            <a:solidFill>
              <a:srgbClr val="333333"/>
            </a:solidFill>
            <a:prstDash val="solid"/>
          </a:ln>
        </p:spPr>
      </p:sp>
      <p:sp>
        <p:nvSpPr>
          <p:cNvPr id="7" name="Text 5"/>
          <p:cNvSpPr txBox="1"/>
          <p:nvPr/>
        </p:nvSpPr>
        <p:spPr>
          <a:xfrm>
            <a:off x="722376"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GIG</a:t>
            </a:r>
            <a:endParaRPr lang="en-US" sz="1400" dirty="0"/>
          </a:p>
        </p:txBody>
      </p:sp>
      <p:sp>
        <p:nvSpPr>
          <p:cNvPr id="8" name="Text 6"/>
          <p:cNvSpPr txBox="1"/>
          <p:nvPr/>
        </p:nvSpPr>
        <p:spPr>
          <a:xfrm>
            <a:off x="722376"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Short-term project</a:t>
            </a:r>
            <a:endParaRPr lang="en-US" sz="1700" dirty="0"/>
          </a:p>
        </p:txBody>
      </p:sp>
      <p:sp>
        <p:nvSpPr>
          <p:cNvPr id="9" name="Text 7"/>
          <p:cNvSpPr txBox="1"/>
          <p:nvPr/>
        </p:nvSpPr>
        <p:spPr>
          <a:xfrm>
            <a:off x="722376"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Hours to weeks on a real initiative, without changing roles. Outside work hours, or with the manager's permission.</a:t>
            </a:r>
            <a:endParaRPr lang="en-US" sz="1400" dirty="0"/>
          </a:p>
        </p:txBody>
      </p:sp>
      <p:sp>
        <p:nvSpPr>
          <p:cNvPr id="10" name="Shape 8"/>
          <p:cNvSpPr/>
          <p:nvPr/>
        </p:nvSpPr>
        <p:spPr>
          <a:xfrm>
            <a:off x="3349676"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569132" y="1956816"/>
            <a:ext cx="1243584" cy="310896"/>
          </a:xfrm>
          <a:prstGeom prst="roundRect">
            <a:avLst>
              <a:gd name="adj" fmla="val 50000"/>
            </a:avLst>
          </a:prstGeom>
          <a:solidFill>
            <a:srgbClr val="F0FDF4"/>
          </a:solidFill>
          <a:ln w="12700">
            <a:solidFill>
              <a:srgbClr val="333333"/>
            </a:solidFill>
            <a:prstDash val="solid"/>
          </a:ln>
        </p:spPr>
      </p:sp>
      <p:sp>
        <p:nvSpPr>
          <p:cNvPr id="12" name="Text 10"/>
          <p:cNvSpPr txBox="1"/>
          <p:nvPr/>
        </p:nvSpPr>
        <p:spPr>
          <a:xfrm>
            <a:off x="3569132"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5803D"/>
                </a:solidFill>
                <a:latin typeface="Arial" pitchFamily="34" charset="0"/>
                <a:ea typeface="Arial" pitchFamily="34" charset="-122"/>
                <a:cs typeface="Arial" pitchFamily="34" charset="-120"/>
              </a:rPr>
              <a:t>DJI</a:t>
            </a:r>
            <a:endParaRPr lang="en-US" sz="1400" dirty="0"/>
          </a:p>
        </p:txBody>
      </p:sp>
      <p:sp>
        <p:nvSpPr>
          <p:cNvPr id="13" name="Text 11"/>
          <p:cNvSpPr txBox="1"/>
          <p:nvPr/>
        </p:nvSpPr>
        <p:spPr>
          <a:xfrm>
            <a:off x="3569132"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Job Immersion</a:t>
            </a:r>
            <a:endParaRPr lang="en-US" sz="1700" dirty="0"/>
          </a:p>
        </p:txBody>
      </p:sp>
      <p:sp>
        <p:nvSpPr>
          <p:cNvPr id="14" name="Text 12"/>
          <p:cNvSpPr txBox="1"/>
          <p:nvPr/>
        </p:nvSpPr>
        <p:spPr>
          <a:xfrm>
            <a:off x="3569132"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Three to nine months in another function under Policy 211_2021. Headcount, salary and benefits stay put.</a:t>
            </a:r>
            <a:endParaRPr lang="en-US" sz="1400" dirty="0"/>
          </a:p>
        </p:txBody>
      </p:sp>
      <p:sp>
        <p:nvSpPr>
          <p:cNvPr id="15" name="Shape 13"/>
          <p:cNvSpPr/>
          <p:nvPr/>
        </p:nvSpPr>
        <p:spPr>
          <a:xfrm>
            <a:off x="6196432"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6415888" y="1956816"/>
            <a:ext cx="1243584" cy="310896"/>
          </a:xfrm>
          <a:prstGeom prst="roundRect">
            <a:avLst>
              <a:gd name="adj" fmla="val 50000"/>
            </a:avLst>
          </a:prstGeom>
          <a:solidFill>
            <a:srgbClr val="F5F3FF"/>
          </a:solidFill>
          <a:ln w="12700">
            <a:solidFill>
              <a:srgbClr val="333333"/>
            </a:solidFill>
            <a:prstDash val="solid"/>
          </a:ln>
        </p:spPr>
      </p:sp>
      <p:sp>
        <p:nvSpPr>
          <p:cNvPr id="17" name="Text 15"/>
          <p:cNvSpPr txBox="1"/>
          <p:nvPr/>
        </p:nvSpPr>
        <p:spPr>
          <a:xfrm>
            <a:off x="6415888"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6D28D9"/>
                </a:solidFill>
                <a:latin typeface="Arial" pitchFamily="34" charset="0"/>
                <a:ea typeface="Arial" pitchFamily="34" charset="-122"/>
                <a:cs typeface="Arial" pitchFamily="34" charset="-120"/>
              </a:rPr>
              <a:t>OFFER</a:t>
            </a:r>
            <a:endParaRPr lang="en-US" sz="1400" dirty="0"/>
          </a:p>
        </p:txBody>
      </p:sp>
      <p:sp>
        <p:nvSpPr>
          <p:cNvPr id="18" name="Text 16"/>
          <p:cNvSpPr txBox="1"/>
          <p:nvPr/>
        </p:nvSpPr>
        <p:spPr>
          <a:xfrm>
            <a:off x="6415888"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Service Offer</a:t>
            </a:r>
            <a:endParaRPr lang="en-US" sz="1700" dirty="0"/>
          </a:p>
        </p:txBody>
      </p:sp>
      <p:sp>
        <p:nvSpPr>
          <p:cNvPr id="19" name="Text 17"/>
          <p:cNvSpPr txBox="1"/>
          <p:nvPr/>
        </p:nvSpPr>
        <p:spPr>
          <a:xfrm>
            <a:off x="6415888"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Runs backwards: an employee publishes what they will help with, and teams request their time.</a:t>
            </a:r>
            <a:endParaRPr lang="en-US" sz="1400" dirty="0"/>
          </a:p>
        </p:txBody>
      </p:sp>
      <p:sp>
        <p:nvSpPr>
          <p:cNvPr id="20" name="Shape 18"/>
          <p:cNvSpPr/>
          <p:nvPr/>
        </p:nvSpPr>
        <p:spPr>
          <a:xfrm>
            <a:off x="9043187"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9262643" y="1956816"/>
            <a:ext cx="1243584" cy="310896"/>
          </a:xfrm>
          <a:prstGeom prst="roundRect">
            <a:avLst>
              <a:gd name="adj" fmla="val 50000"/>
            </a:avLst>
          </a:prstGeom>
          <a:solidFill>
            <a:srgbClr val="EFF6FF"/>
          </a:solidFill>
          <a:ln w="12700">
            <a:solidFill>
              <a:srgbClr val="333333"/>
            </a:solidFill>
            <a:prstDash val="solid"/>
          </a:ln>
        </p:spPr>
      </p:sp>
      <p:sp>
        <p:nvSpPr>
          <p:cNvPr id="22" name="Text 20"/>
          <p:cNvSpPr txBox="1"/>
          <p:nvPr/>
        </p:nvSpPr>
        <p:spPr>
          <a:xfrm>
            <a:off x="9262643"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VACANCY</a:t>
            </a:r>
            <a:endParaRPr lang="en-US" sz="1400" dirty="0"/>
          </a:p>
        </p:txBody>
      </p:sp>
      <p:sp>
        <p:nvSpPr>
          <p:cNvPr id="23" name="Text 21"/>
          <p:cNvSpPr txBox="1"/>
          <p:nvPr/>
        </p:nvSpPr>
        <p:spPr>
          <a:xfrm>
            <a:off x="9262643"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Promoted, not run</a:t>
            </a:r>
            <a:endParaRPr lang="en-US" sz="1700" dirty="0"/>
          </a:p>
        </p:txBody>
      </p:sp>
      <p:sp>
        <p:nvSpPr>
          <p:cNvPr id="24" name="Text 22"/>
          <p:cNvSpPr txBox="1"/>
          <p:nvPr/>
        </p:nvSpPr>
        <p:spPr>
          <a:xfrm>
            <a:off x="9262643"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Permanent roles listed and scored here, then handed to HC Connect with a referral code.</a:t>
            </a:r>
            <a:endParaRPr lang="en-US" sz="1400" dirty="0"/>
          </a:p>
        </p:txBody>
      </p:sp>
      <p:sp>
        <p:nvSpPr>
          <p:cNvPr id="25" name="Shape 23"/>
          <p:cNvSpPr/>
          <p:nvPr/>
        </p:nvSpPr>
        <p:spPr>
          <a:xfrm>
            <a:off x="502920" y="4315968"/>
            <a:ext cx="5481069" cy="1700784"/>
          </a:xfrm>
          <a:prstGeom prst="roundRect">
            <a:avLst>
              <a:gd name="adj" fmla="val 3226"/>
            </a:avLst>
          </a:prstGeom>
          <a:solidFill>
            <a:srgbClr val="F7F8FA"/>
          </a:solidFill>
          <a:ln w="12700">
            <a:solidFill>
              <a:srgbClr val="333333"/>
            </a:solidFill>
            <a:prstDash val="solid"/>
          </a:ln>
        </p:spPr>
      </p:sp>
      <p:sp>
        <p:nvSpPr>
          <p:cNvPr id="26" name="Text 24"/>
          <p:cNvSpPr txBox="1"/>
          <p:nvPr/>
        </p:nvSpPr>
        <p:spPr>
          <a:xfrm>
            <a:off x="795528" y="4480560"/>
            <a:ext cx="4895853"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design decision that matters</a:t>
            </a:r>
            <a:endParaRPr lang="en-US" sz="1800" dirty="0"/>
          </a:p>
        </p:txBody>
      </p:sp>
      <p:sp>
        <p:nvSpPr>
          <p:cNvPr id="27" name="Text 25"/>
          <p:cNvSpPr txBox="1"/>
          <p:nvPr/>
        </p:nvSpPr>
        <p:spPr>
          <a:xfrm>
            <a:off x="795528" y="4791456"/>
            <a:ext cx="4895853" cy="1097280"/>
          </a:xfrm>
          <a:prstGeom prst="rect">
            <a:avLst/>
          </a:prstGeom>
          <a:noFill/>
          <a:ln/>
        </p:spPr>
        <p:txBody>
          <a:bodyPr wrap="square" lIns="0" tIns="0" rIns="0" bIns="0" rtlCol="0" anchor="t"/>
          <a:lstStyle/>
          <a:p>
            <a:pPr indent="0" marL="0">
              <a:lnSpc>
                <a:spcPts val="2100"/>
              </a:lnSpc>
              <a:buNone/>
            </a:pPr>
            <a:r>
              <a:rPr lang="en-US" sz="1500" dirty="0">
                <a:solidFill>
                  <a:srgbClr val="374151"/>
                </a:solidFill>
                <a:latin typeface="Arial" pitchFamily="34" charset="0"/>
                <a:ea typeface="Arial" pitchFamily="34" charset="-122"/>
                <a:cs typeface="Arial" pitchFamily="34" charset="-120"/>
              </a:rPr>
              <a:t>Growth does not run vacancy applications. HC Connect owns the requisition, the screening and the offer, and a second queue would split one process in two.</a:t>
            </a:r>
            <a:endParaRPr lang="en-US" sz="1500" dirty="0"/>
          </a:p>
        </p:txBody>
      </p:sp>
      <p:sp>
        <p:nvSpPr>
          <p:cNvPr id="28" name="Shape 26"/>
          <p:cNvSpPr/>
          <p:nvPr/>
        </p:nvSpPr>
        <p:spPr>
          <a:xfrm>
            <a:off x="6221733" y="4315968"/>
            <a:ext cx="5467042" cy="1700784"/>
          </a:xfrm>
          <a:prstGeom prst="roundRect">
            <a:avLst>
              <a:gd name="adj" fmla="val 3226"/>
            </a:avLst>
          </a:prstGeom>
          <a:solidFill>
            <a:srgbClr val="0F172A"/>
          </a:solidFill>
          <a:ln w="12700">
            <a:solidFill>
              <a:srgbClr val="333333"/>
            </a:solidFill>
            <a:prstDash val="solid"/>
          </a:ln>
        </p:spPr>
      </p:sp>
      <p:sp>
        <p:nvSpPr>
          <p:cNvPr id="29" name="Text 27"/>
          <p:cNvSpPr txBox="1"/>
          <p:nvPr/>
        </p:nvSpPr>
        <p:spPr>
          <a:xfrm>
            <a:off x="6514341" y="4480560"/>
            <a:ext cx="4881826"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And it proves what it caused</a:t>
            </a:r>
            <a:endParaRPr lang="en-US" sz="1800" dirty="0"/>
          </a:p>
        </p:txBody>
      </p:sp>
      <p:sp>
        <p:nvSpPr>
          <p:cNvPr id="30" name="Text 28"/>
          <p:cNvSpPr txBox="1"/>
          <p:nvPr/>
        </p:nvSpPr>
        <p:spPr>
          <a:xfrm>
            <a:off x="6514341" y="4791456"/>
            <a:ext cx="4881826" cy="1097280"/>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handoff carries a referral code. Recruitment adds one source value; a quarterly join turns clicks into confirmed applications: </a:t>
            </a:r>
            <a:pPr indent="0" marL="0">
              <a:lnSpc>
                <a:spcPts val="2100"/>
              </a:lnSpc>
              <a:buNone/>
            </a:pPr>
            <a:r>
              <a:rPr lang="en-US" sz="1500" b="1" dirty="0">
                <a:solidFill>
                  <a:srgbClr val="4ADE80"/>
                </a:solidFill>
                <a:latin typeface="Arial" pitchFamily="34" charset="0"/>
                <a:ea typeface="Arial" pitchFamily="34" charset="-122"/>
                <a:cs typeface="Arial" pitchFamily="34" charset="-120"/>
              </a:rPr>
              <a:t>measured here</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FBBF24"/>
                </a:solidFill>
                <a:latin typeface="Arial" pitchFamily="34" charset="0"/>
                <a:ea typeface="Arial" pitchFamily="34" charset="-122"/>
                <a:cs typeface="Arial" pitchFamily="34" charset="-120"/>
              </a:rPr>
              <a:t>self-reported</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93C5FD"/>
                </a:solidFill>
                <a:latin typeface="Arial" pitchFamily="34" charset="0"/>
                <a:ea typeface="Arial" pitchFamily="34" charset="-122"/>
                <a:cs typeface="Arial" pitchFamily="34" charset="-120"/>
              </a:rPr>
              <a:t>confirmed by HC Connect</a:t>
            </a:r>
            <a:pPr indent="0" marL="0">
              <a:lnSpc>
                <a:spcPts val="2100"/>
              </a:lnSpc>
              <a:buNone/>
            </a:pPr>
            <a:r>
              <a:rPr lang="en-US" sz="1500" dirty="0">
                <a:solidFill>
                  <a:srgbClr val="CBD5E1"/>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HC Connect Internal Job Posting remains the system of record for all permanent internal recruitment.</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HOW IT WORKS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Profile to permanent record, in six steps.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Most people are through step three inside a lunch break.</a:t>
            </a:r>
            <a:endParaRPr lang="en-US" sz="1600" dirty="0"/>
          </a:p>
        </p:txBody>
      </p:sp>
      <p:sp>
        <p:nvSpPr>
          <p:cNvPr id="5" name="Shape 3"/>
          <p:cNvSpPr/>
          <p:nvPr/>
        </p:nvSpPr>
        <p:spPr>
          <a:xfrm>
            <a:off x="50292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1163803" y="1975104"/>
            <a:ext cx="420624" cy="420624"/>
          </a:xfrm>
          <a:prstGeom prst="ellipse">
            <a:avLst/>
          </a:prstGeom>
          <a:solidFill>
            <a:srgbClr val="C00000"/>
          </a:solidFill>
          <a:ln w="12700">
            <a:solidFill>
              <a:srgbClr val="333333"/>
            </a:solidFill>
            <a:prstDash val="solid"/>
          </a:ln>
        </p:spPr>
      </p:sp>
      <p:sp>
        <p:nvSpPr>
          <p:cNvPr id="7" name="Text 5"/>
          <p:cNvSpPr txBox="1"/>
          <p:nvPr/>
        </p:nvSpPr>
        <p:spPr>
          <a:xfrm>
            <a:off x="1163803"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63093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Build your profile</a:t>
            </a:r>
            <a:endParaRPr lang="en-US" sz="1500" dirty="0"/>
          </a:p>
        </p:txBody>
      </p:sp>
      <p:sp>
        <p:nvSpPr>
          <p:cNvPr id="9" name="Text 7"/>
          <p:cNvSpPr txBox="1"/>
          <p:nvPr/>
        </p:nvSpPr>
        <p:spPr>
          <a:xfrm>
            <a:off x="59436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5 MIN</a:t>
            </a:r>
            <a:endParaRPr lang="en-US" sz="1400" dirty="0"/>
          </a:p>
        </p:txBody>
      </p:sp>
      <p:sp>
        <p:nvSpPr>
          <p:cNvPr id="10" name="Text 8"/>
          <p:cNvSpPr txBox="1"/>
          <p:nvPr/>
        </p:nvSpPr>
        <p:spPr>
          <a:xfrm>
            <a:off x="63093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Add your skills, or confirm the ones P&amp;C already imported from HR records.</a:t>
            </a:r>
            <a:endParaRPr lang="en-US" sz="1400" dirty="0"/>
          </a:p>
        </p:txBody>
      </p:sp>
      <p:sp>
        <p:nvSpPr>
          <p:cNvPr id="11" name="Text 9"/>
          <p:cNvSpPr txBox="1"/>
          <p:nvPr/>
        </p:nvSpPr>
        <p:spPr>
          <a:xfrm>
            <a:off x="224988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39161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Shape 11"/>
          <p:cNvSpPr/>
          <p:nvPr/>
        </p:nvSpPr>
        <p:spPr>
          <a:xfrm>
            <a:off x="3052496" y="1975104"/>
            <a:ext cx="420624" cy="420624"/>
          </a:xfrm>
          <a:prstGeom prst="ellipse">
            <a:avLst/>
          </a:prstGeom>
          <a:solidFill>
            <a:srgbClr val="C00000"/>
          </a:solidFill>
          <a:ln w="12700">
            <a:solidFill>
              <a:srgbClr val="333333"/>
            </a:solidFill>
            <a:prstDash val="solid"/>
          </a:ln>
        </p:spPr>
      </p:sp>
      <p:sp>
        <p:nvSpPr>
          <p:cNvPr id="14" name="Text 12"/>
          <p:cNvSpPr txBox="1"/>
          <p:nvPr/>
        </p:nvSpPr>
        <p:spPr>
          <a:xfrm>
            <a:off x="3052496"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251962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Growth scores openings</a:t>
            </a:r>
            <a:endParaRPr lang="en-US" sz="1500" dirty="0"/>
          </a:p>
        </p:txBody>
      </p:sp>
      <p:sp>
        <p:nvSpPr>
          <p:cNvPr id="16" name="Text 14"/>
          <p:cNvSpPr txBox="1"/>
          <p:nvPr/>
        </p:nvSpPr>
        <p:spPr>
          <a:xfrm>
            <a:off x="248305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AUTOMATIC</a:t>
            </a:r>
            <a:endParaRPr lang="en-US" sz="1400" dirty="0"/>
          </a:p>
        </p:txBody>
      </p:sp>
      <p:sp>
        <p:nvSpPr>
          <p:cNvPr id="17" name="Text 15"/>
          <p:cNvSpPr txBox="1"/>
          <p:nvPr/>
        </p:nvSpPr>
        <p:spPr>
          <a:xfrm>
            <a:off x="251962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Every opening scored against your skills, with the reasoning shown.</a:t>
            </a:r>
            <a:endParaRPr lang="en-US" sz="1400" dirty="0"/>
          </a:p>
        </p:txBody>
      </p:sp>
      <p:sp>
        <p:nvSpPr>
          <p:cNvPr id="18" name="Text 16"/>
          <p:cNvSpPr txBox="1"/>
          <p:nvPr/>
        </p:nvSpPr>
        <p:spPr>
          <a:xfrm>
            <a:off x="413857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428030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0" name="Shape 18"/>
          <p:cNvSpPr/>
          <p:nvPr/>
        </p:nvSpPr>
        <p:spPr>
          <a:xfrm>
            <a:off x="4941189" y="1975104"/>
            <a:ext cx="420624" cy="420624"/>
          </a:xfrm>
          <a:prstGeom prst="ellipse">
            <a:avLst/>
          </a:prstGeom>
          <a:solidFill>
            <a:srgbClr val="C00000"/>
          </a:solidFill>
          <a:ln w="12700">
            <a:solidFill>
              <a:srgbClr val="333333"/>
            </a:solidFill>
            <a:prstDash val="solid"/>
          </a:ln>
        </p:spPr>
      </p:sp>
      <p:sp>
        <p:nvSpPr>
          <p:cNvPr id="21" name="Text 19"/>
          <p:cNvSpPr txBox="1"/>
          <p:nvPr/>
        </p:nvSpPr>
        <p:spPr>
          <a:xfrm>
            <a:off x="494118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2" name="Text 20"/>
          <p:cNvSpPr txBox="1"/>
          <p:nvPr/>
        </p:nvSpPr>
        <p:spPr>
          <a:xfrm>
            <a:off x="440832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apply</a:t>
            </a:r>
            <a:endParaRPr lang="en-US" sz="1500" dirty="0"/>
          </a:p>
        </p:txBody>
      </p:sp>
      <p:sp>
        <p:nvSpPr>
          <p:cNvPr id="23" name="Text 21"/>
          <p:cNvSpPr txBox="1"/>
          <p:nvPr/>
        </p:nvSpPr>
        <p:spPr>
          <a:xfrm>
            <a:off x="437174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A MANAGER</a:t>
            </a:r>
            <a:endParaRPr lang="en-US" sz="1400" dirty="0"/>
          </a:p>
        </p:txBody>
      </p:sp>
      <p:sp>
        <p:nvSpPr>
          <p:cNvPr id="24" name="Text 22"/>
          <p:cNvSpPr txBox="1"/>
          <p:nvPr/>
        </p:nvSpPr>
        <p:spPr>
          <a:xfrm>
            <a:off x="440832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One click. Managers can also nominate people directly.</a:t>
            </a:r>
            <a:endParaRPr lang="en-US" sz="1400" dirty="0"/>
          </a:p>
        </p:txBody>
      </p:sp>
      <p:sp>
        <p:nvSpPr>
          <p:cNvPr id="25" name="Text 23"/>
          <p:cNvSpPr txBox="1"/>
          <p:nvPr/>
        </p:nvSpPr>
        <p:spPr>
          <a:xfrm>
            <a:off x="6027268"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26" name="Shape 24"/>
          <p:cNvSpPr/>
          <p:nvPr/>
        </p:nvSpPr>
        <p:spPr>
          <a:xfrm>
            <a:off x="616900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Shape 25"/>
          <p:cNvSpPr/>
          <p:nvPr/>
        </p:nvSpPr>
        <p:spPr>
          <a:xfrm>
            <a:off x="6829882" y="1975104"/>
            <a:ext cx="420624" cy="420624"/>
          </a:xfrm>
          <a:prstGeom prst="ellipse">
            <a:avLst/>
          </a:prstGeom>
          <a:solidFill>
            <a:srgbClr val="C00000"/>
          </a:solidFill>
          <a:ln w="12700">
            <a:solidFill>
              <a:srgbClr val="333333"/>
            </a:solidFill>
            <a:prstDash val="solid"/>
          </a:ln>
        </p:spPr>
      </p:sp>
      <p:sp>
        <p:nvSpPr>
          <p:cNvPr id="28" name="Text 26"/>
          <p:cNvSpPr txBox="1"/>
          <p:nvPr/>
        </p:nvSpPr>
        <p:spPr>
          <a:xfrm>
            <a:off x="6829882"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7"/>
          <p:cNvSpPr txBox="1"/>
          <p:nvPr/>
        </p:nvSpPr>
        <p:spPr>
          <a:xfrm>
            <a:off x="629701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Sign-off</a:t>
            </a:r>
            <a:endParaRPr lang="en-US" sz="1500" dirty="0"/>
          </a:p>
        </p:txBody>
      </p:sp>
      <p:sp>
        <p:nvSpPr>
          <p:cNvPr id="30" name="Text 28"/>
          <p:cNvSpPr txBox="1"/>
          <p:nvPr/>
        </p:nvSpPr>
        <p:spPr>
          <a:xfrm>
            <a:off x="626044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OWNER + MANAGER</a:t>
            </a:r>
            <a:endParaRPr lang="en-US" sz="1400" dirty="0"/>
          </a:p>
        </p:txBody>
      </p:sp>
      <p:sp>
        <p:nvSpPr>
          <p:cNvPr id="31" name="Text 29"/>
          <p:cNvSpPr txBox="1"/>
          <p:nvPr/>
        </p:nvSpPr>
        <p:spPr>
          <a:xfrm>
            <a:off x="629701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 decision inside 7 working days. Immersions add a four-party plan.</a:t>
            </a:r>
            <a:endParaRPr lang="en-US" sz="1400" dirty="0"/>
          </a:p>
        </p:txBody>
      </p:sp>
      <p:sp>
        <p:nvSpPr>
          <p:cNvPr id="32" name="Text 30"/>
          <p:cNvSpPr txBox="1"/>
          <p:nvPr/>
        </p:nvSpPr>
        <p:spPr>
          <a:xfrm>
            <a:off x="791596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33" name="Shape 31"/>
          <p:cNvSpPr/>
          <p:nvPr/>
        </p:nvSpPr>
        <p:spPr>
          <a:xfrm>
            <a:off x="805769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4" name="Shape 32"/>
          <p:cNvSpPr/>
          <p:nvPr/>
        </p:nvSpPr>
        <p:spPr>
          <a:xfrm>
            <a:off x="8718575" y="1975104"/>
            <a:ext cx="420624" cy="420624"/>
          </a:xfrm>
          <a:prstGeom prst="ellipse">
            <a:avLst/>
          </a:prstGeom>
          <a:solidFill>
            <a:srgbClr val="C00000"/>
          </a:solidFill>
          <a:ln w="12700">
            <a:solidFill>
              <a:srgbClr val="333333"/>
            </a:solidFill>
            <a:prstDash val="solid"/>
          </a:ln>
        </p:spPr>
      </p:sp>
      <p:sp>
        <p:nvSpPr>
          <p:cNvPr id="35" name="Text 33"/>
          <p:cNvSpPr txBox="1"/>
          <p:nvPr/>
        </p:nvSpPr>
        <p:spPr>
          <a:xfrm>
            <a:off x="871857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6" name="Text 34"/>
          <p:cNvSpPr txBox="1"/>
          <p:nvPr/>
        </p:nvSpPr>
        <p:spPr>
          <a:xfrm>
            <a:off x="818570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do the work</a:t>
            </a:r>
            <a:endParaRPr lang="en-US" sz="1500" dirty="0"/>
          </a:p>
        </p:txBody>
      </p:sp>
      <p:sp>
        <p:nvSpPr>
          <p:cNvPr id="37" name="Text 35"/>
          <p:cNvSpPr txBox="1"/>
          <p:nvPr/>
        </p:nvSpPr>
        <p:spPr>
          <a:xfrm>
            <a:off x="814913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HOST TEAM</a:t>
            </a:r>
            <a:endParaRPr lang="en-US" sz="1400" dirty="0"/>
          </a:p>
        </p:txBody>
      </p:sp>
      <p:sp>
        <p:nvSpPr>
          <p:cNvPr id="38" name="Text 36"/>
          <p:cNvSpPr txBox="1"/>
          <p:nvPr/>
        </p:nvSpPr>
        <p:spPr>
          <a:xfrm>
            <a:off x="818570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Hours to weeks, or 3–9 months. Role, pay and headcount stay put.</a:t>
            </a:r>
            <a:endParaRPr lang="en-US" sz="1400" dirty="0"/>
          </a:p>
        </p:txBody>
      </p:sp>
      <p:sp>
        <p:nvSpPr>
          <p:cNvPr id="39" name="Text 37"/>
          <p:cNvSpPr txBox="1"/>
          <p:nvPr/>
        </p:nvSpPr>
        <p:spPr>
          <a:xfrm>
            <a:off x="980465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40" name="Shape 38"/>
          <p:cNvSpPr/>
          <p:nvPr/>
        </p:nvSpPr>
        <p:spPr>
          <a:xfrm>
            <a:off x="994638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Shape 39"/>
          <p:cNvSpPr/>
          <p:nvPr/>
        </p:nvSpPr>
        <p:spPr>
          <a:xfrm>
            <a:off x="10607269" y="1975104"/>
            <a:ext cx="420624" cy="420624"/>
          </a:xfrm>
          <a:prstGeom prst="ellipse">
            <a:avLst/>
          </a:prstGeom>
          <a:solidFill>
            <a:srgbClr val="C00000"/>
          </a:solidFill>
          <a:ln w="12700">
            <a:solidFill>
              <a:srgbClr val="333333"/>
            </a:solidFill>
            <a:prstDash val="solid"/>
          </a:ln>
        </p:spPr>
      </p:sp>
      <p:sp>
        <p:nvSpPr>
          <p:cNvPr id="42" name="Text 40"/>
          <p:cNvSpPr txBox="1"/>
          <p:nvPr/>
        </p:nvSpPr>
        <p:spPr>
          <a:xfrm>
            <a:off x="1060726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43" name="Text 41"/>
          <p:cNvSpPr txBox="1"/>
          <p:nvPr/>
        </p:nvSpPr>
        <p:spPr>
          <a:xfrm>
            <a:off x="1007440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Rated and recorded</a:t>
            </a:r>
            <a:endParaRPr lang="en-US" sz="1500" dirty="0"/>
          </a:p>
        </p:txBody>
      </p:sp>
      <p:sp>
        <p:nvSpPr>
          <p:cNvPr id="44" name="Text 42"/>
          <p:cNvSpPr txBox="1"/>
          <p:nvPr/>
        </p:nvSpPr>
        <p:spPr>
          <a:xfrm>
            <a:off x="1003782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PEOPLE &amp; CULTURE</a:t>
            </a:r>
            <a:endParaRPr lang="en-US" sz="1400" dirty="0"/>
          </a:p>
        </p:txBody>
      </p:sp>
      <p:sp>
        <p:nvSpPr>
          <p:cNvPr id="45" name="Text 43"/>
          <p:cNvSpPr txBox="1"/>
          <p:nvPr/>
        </p:nvSpPr>
        <p:spPr>
          <a:xfrm>
            <a:off x="1007440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Rated by the host, surveyed the same day, and on your HR file.</a:t>
            </a:r>
            <a:endParaRPr lang="en-US" sz="1400" dirty="0"/>
          </a:p>
        </p:txBody>
      </p:sp>
      <p:sp>
        <p:nvSpPr>
          <p:cNvPr id="46" name="Shape 44"/>
          <p:cNvSpPr/>
          <p:nvPr/>
        </p:nvSpPr>
        <p:spPr>
          <a:xfrm>
            <a:off x="502920" y="4645152"/>
            <a:ext cx="5474056" cy="1371600"/>
          </a:xfrm>
          <a:prstGeom prst="roundRect">
            <a:avLst>
              <a:gd name="adj" fmla="val 4000"/>
            </a:avLst>
          </a:prstGeom>
          <a:solidFill>
            <a:srgbClr val="EFF6FF"/>
          </a:solidFill>
          <a:ln w="12700">
            <a:solidFill>
              <a:srgbClr val="333333"/>
            </a:solidFill>
            <a:prstDash val="solid"/>
          </a:ln>
        </p:spPr>
      </p:sp>
      <p:sp>
        <p:nvSpPr>
          <p:cNvPr id="47" name="Text 45"/>
          <p:cNvSpPr txBox="1"/>
          <p:nvPr/>
        </p:nvSpPr>
        <p:spPr>
          <a:xfrm>
            <a:off x="777240" y="4791456"/>
            <a:ext cx="4925416" cy="256032"/>
          </a:xfrm>
          <a:prstGeom prst="rect">
            <a:avLst/>
          </a:prstGeom>
          <a:noFill/>
          <a:ln/>
        </p:spPr>
        <p:txBody>
          <a:bodyPr wrap="square" lIns="0" tIns="0" rIns="0" bIns="0" rtlCol="0" anchor="ctr"/>
          <a:lstStyle/>
          <a:p>
            <a:pPr indent="0" marL="0">
              <a:buNone/>
            </a:pPr>
            <a:r>
              <a:rPr lang="en-US" sz="1700" b="1" dirty="0">
                <a:solidFill>
                  <a:srgbClr val="1D4ED8"/>
                </a:solidFill>
                <a:latin typeface="Arial" pitchFamily="34" charset="0"/>
                <a:ea typeface="Arial" pitchFamily="34" charset="-122"/>
                <a:cs typeface="Arial" pitchFamily="34" charset="-120"/>
              </a:rPr>
              <a:t>If it is a permanent vacancy</a:t>
            </a:r>
            <a:endParaRPr lang="en-US" sz="1700" dirty="0"/>
          </a:p>
        </p:txBody>
      </p:sp>
      <p:sp>
        <p:nvSpPr>
          <p:cNvPr id="48" name="Text 46"/>
          <p:cNvSpPr txBox="1"/>
          <p:nvPr/>
        </p:nvSpPr>
        <p:spPr>
          <a:xfrm>
            <a:off x="7772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1E40AF"/>
                </a:solidFill>
                <a:latin typeface="Arial" pitchFamily="34" charset="0"/>
                <a:ea typeface="Arial" pitchFamily="34" charset="-122"/>
                <a:cs typeface="Arial" pitchFamily="34" charset="-120"/>
              </a:rPr>
              <a:t>Growth lists it and scores the fit, then hands the employee to HC Connect on a link carrying a referral code — the only proof Growth sent them.</a:t>
            </a:r>
            <a:endParaRPr lang="en-US" sz="1400" dirty="0"/>
          </a:p>
        </p:txBody>
      </p:sp>
      <p:sp>
        <p:nvSpPr>
          <p:cNvPr id="49" name="Shape 47"/>
          <p:cNvSpPr/>
          <p:nvPr/>
        </p:nvSpPr>
        <p:spPr>
          <a:xfrm>
            <a:off x="6214720" y="4645152"/>
            <a:ext cx="5474056" cy="1371600"/>
          </a:xfrm>
          <a:prstGeom prst="roundRect">
            <a:avLst>
              <a:gd name="adj" fmla="val 4000"/>
            </a:avLst>
          </a:prstGeom>
          <a:solidFill>
            <a:srgbClr val="F5F3FF"/>
          </a:solidFill>
          <a:ln w="12700">
            <a:solidFill>
              <a:srgbClr val="333333"/>
            </a:solidFill>
            <a:prstDash val="solid"/>
          </a:ln>
        </p:spPr>
      </p:sp>
      <p:sp>
        <p:nvSpPr>
          <p:cNvPr id="50" name="Text 48"/>
          <p:cNvSpPr txBox="1"/>
          <p:nvPr/>
        </p:nvSpPr>
        <p:spPr>
          <a:xfrm>
            <a:off x="6489040" y="4791456"/>
            <a:ext cx="4925416" cy="256032"/>
          </a:xfrm>
          <a:prstGeom prst="rect">
            <a:avLst/>
          </a:prstGeom>
          <a:noFill/>
          <a:ln/>
        </p:spPr>
        <p:txBody>
          <a:bodyPr wrap="square" lIns="0" tIns="0" rIns="0" bIns="0" rtlCol="0" anchor="ctr"/>
          <a:lstStyle/>
          <a:p>
            <a:pPr indent="0" marL="0">
              <a:buNone/>
            </a:pPr>
            <a:r>
              <a:rPr lang="en-US" sz="1700" b="1" dirty="0">
                <a:solidFill>
                  <a:srgbClr val="6D28D9"/>
                </a:solidFill>
                <a:latin typeface="Arial" pitchFamily="34" charset="0"/>
                <a:ea typeface="Arial" pitchFamily="34" charset="-122"/>
                <a:cs typeface="Arial" pitchFamily="34" charset="-120"/>
              </a:rPr>
              <a:t>The one route that runs backwards</a:t>
            </a:r>
            <a:endParaRPr lang="en-US" sz="1700" dirty="0"/>
          </a:p>
        </p:txBody>
      </p:sp>
      <p:sp>
        <p:nvSpPr>
          <p:cNvPr id="51" name="Text 49"/>
          <p:cNvSpPr txBox="1"/>
          <p:nvPr/>
        </p:nvSpPr>
        <p:spPr>
          <a:xfrm>
            <a:off x="64890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5B21B6"/>
                </a:solidFill>
                <a:latin typeface="Arial" pitchFamily="34" charset="0"/>
                <a:ea typeface="Arial" pitchFamily="34" charset="-122"/>
                <a:cs typeface="Arial" pitchFamily="34" charset="-120"/>
              </a:rPr>
              <a:t>A Service Offer skips steps 2 and 3: the employee publishes what they will help with, and every completed request lands on the same record.</a:t>
            </a:r>
            <a:endParaRPr lang="en-US" sz="1400" dirty="0"/>
          </a:p>
        </p:txBody>
      </p:sp>
      <p:sp>
        <p:nvSpPr>
          <p:cNvPr id="52" name="Shape 50"/>
          <p:cNvSpPr/>
          <p:nvPr/>
        </p:nvSpPr>
        <p:spPr>
          <a:xfrm>
            <a:off x="502920" y="6291072"/>
            <a:ext cx="11185855" cy="0"/>
          </a:xfrm>
          <a:prstGeom prst="line">
            <a:avLst/>
          </a:prstGeom>
          <a:noFill/>
          <a:ln w="12700">
            <a:solidFill>
              <a:srgbClr val="E5E7EB"/>
            </a:solidFill>
            <a:prstDash val="solid"/>
          </a:ln>
        </p:spPr>
      </p:sp>
      <p:sp>
        <p:nvSpPr>
          <p:cNvPr id="53" name="Text 5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Developmental Job Immersions are governed by HCPH Policy 211_2021 v1.0.</a:t>
            </a:r>
            <a:endParaRPr lang="en-US" sz="1400" dirty="0"/>
          </a:p>
        </p:txBody>
      </p:sp>
      <p:sp>
        <p:nvSpPr>
          <p:cNvPr id="54" name="Text 5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PRODUCT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exists. A working prototype, not a mock-up.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Built in-house — the same asset the costing on the next slides pays for.</a:t>
            </a:r>
            <a:endParaRPr lang="en-US" sz="1600" dirty="0"/>
          </a:p>
        </p:txBody>
      </p:sp>
      <p:pic>
        <p:nvPicPr>
          <p:cNvPr id="5" name="Image 0" descr="preencoded.png">    </p:cNvPr>
          <p:cNvPicPr>
            <a:picLocks noChangeAspect="1"/>
          </p:cNvPicPr>
          <p:nvPr/>
        </p:nvPicPr>
        <p:blipFill>
          <a:blip r:embed="rId1"/>
          <a:stretch>
            <a:fillRect/>
          </a:stretch>
        </p:blipFill>
        <p:spPr>
          <a:xfrm>
            <a:off x="502920" y="1773936"/>
            <a:ext cx="6766560" cy="4233672"/>
          </a:xfrm>
          <a:prstGeom prst="rect">
            <a:avLst/>
          </a:prstGeom>
          <a:effectLst>
            <a:outerShdw sx="100000" sy="100000" kx="0" ky="0" algn="bl" rotWithShape="0" blurRad="114300" dist="12700" dir="5400000">
              <a:srgbClr val="000000">
                <a:alpha val="7000"/>
              </a:srgbClr>
            </a:outerShdw>
          </a:effectLst>
        </p:spPr>
      </p:pic>
      <p:sp>
        <p:nvSpPr>
          <p:cNvPr id="6" name="Shape 3"/>
          <p:cNvSpPr/>
          <p:nvPr/>
        </p:nvSpPr>
        <p:spPr>
          <a:xfrm>
            <a:off x="7580376" y="1773936"/>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799832" y="1883664"/>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Every role, scored against you</a:t>
            </a:r>
            <a:endParaRPr lang="en-US" sz="1600" dirty="0"/>
          </a:p>
        </p:txBody>
      </p:sp>
      <p:sp>
        <p:nvSpPr>
          <p:cNvPr id="8" name="Text 5"/>
          <p:cNvSpPr txBox="1"/>
          <p:nvPr/>
        </p:nvSpPr>
        <p:spPr>
          <a:xfrm>
            <a:off x="7799832" y="2176272"/>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90% match and a 34% sit on one board. The score never blocks you.</a:t>
            </a:r>
            <a:endParaRPr lang="en-US" sz="1400" dirty="0"/>
          </a:p>
        </p:txBody>
      </p:sp>
      <p:sp>
        <p:nvSpPr>
          <p:cNvPr id="9" name="Shape 6"/>
          <p:cNvSpPr/>
          <p:nvPr/>
        </p:nvSpPr>
        <p:spPr>
          <a:xfrm>
            <a:off x="7580376" y="2889504"/>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799832" y="2999232"/>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The job description, up front</a:t>
            </a:r>
            <a:endParaRPr lang="en-US" sz="1600" dirty="0"/>
          </a:p>
        </p:txBody>
      </p:sp>
      <p:sp>
        <p:nvSpPr>
          <p:cNvPr id="11" name="Text 8"/>
          <p:cNvSpPr txBox="1"/>
          <p:nvPr/>
        </p:nvSpPr>
        <p:spPr>
          <a:xfrm>
            <a:off x="7799832" y="3291840"/>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Carried across from the requisition — people decide on substance, not a title.</a:t>
            </a:r>
            <a:endParaRPr lang="en-US" sz="1400" dirty="0"/>
          </a:p>
        </p:txBody>
      </p:sp>
      <p:sp>
        <p:nvSpPr>
          <p:cNvPr id="12" name="Shape 9"/>
          <p:cNvSpPr/>
          <p:nvPr/>
        </p:nvSpPr>
        <p:spPr>
          <a:xfrm>
            <a:off x="7580376" y="4005072"/>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799832" y="4114800"/>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 referral code on every handoff</a:t>
            </a:r>
            <a:endParaRPr lang="en-US" sz="1600" dirty="0"/>
          </a:p>
        </p:txBody>
      </p:sp>
      <p:sp>
        <p:nvSpPr>
          <p:cNvPr id="14" name="Text 11"/>
          <p:cNvSpPr txBox="1"/>
          <p:nvPr/>
        </p:nvSpPr>
        <p:spPr>
          <a:xfrm>
            <a:off x="7799832" y="4407408"/>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Generated at the click and carried on the link into HC Connect.</a:t>
            </a:r>
            <a:endParaRPr lang="en-US" sz="1400" dirty="0"/>
          </a:p>
        </p:txBody>
      </p:sp>
      <p:sp>
        <p:nvSpPr>
          <p:cNvPr id="15" name="Shape 12"/>
          <p:cNvSpPr/>
          <p:nvPr/>
        </p:nvSpPr>
        <p:spPr>
          <a:xfrm>
            <a:off x="7580376" y="5120640"/>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3"/>
          <p:cNvSpPr txBox="1"/>
          <p:nvPr/>
        </p:nvSpPr>
        <p:spPr>
          <a:xfrm>
            <a:off x="7799832" y="5230368"/>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An attribution funnel for P&amp;C</a:t>
            </a:r>
            <a:endParaRPr lang="en-US" sz="1600" dirty="0"/>
          </a:p>
        </p:txBody>
      </p:sp>
      <p:sp>
        <p:nvSpPr>
          <p:cNvPr id="17" name="Text 14"/>
          <p:cNvSpPr txBox="1"/>
          <p:nvPr/>
        </p:nvSpPr>
        <p:spPr>
          <a:xfrm>
            <a:off x="7799832" y="5522976"/>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Views, referrals, applications and confirmations — each labelled.</a:t>
            </a:r>
            <a:endParaRPr lang="en-US" sz="1400" dirty="0"/>
          </a:p>
        </p:txBody>
      </p:sp>
      <p:sp>
        <p:nvSpPr>
          <p:cNvPr id="18" name="Shape 15"/>
          <p:cNvSpPr/>
          <p:nvPr/>
        </p:nvSpPr>
        <p:spPr>
          <a:xfrm>
            <a:off x="502920" y="6291072"/>
            <a:ext cx="11185855" cy="0"/>
          </a:xfrm>
          <a:prstGeom prst="line">
            <a:avLst/>
          </a:prstGeom>
          <a:noFill/>
          <a:ln w="12700">
            <a:solidFill>
              <a:srgbClr val="E5E7EB"/>
            </a:solidFill>
            <a:prstDash val="solid"/>
          </a:ln>
        </p:spPr>
      </p:sp>
      <p:sp>
        <p:nvSpPr>
          <p:cNvPr id="19" name="Text 16"/>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Live prototype · six modules · three roles · seeded vacancy board with attached job descriptions.</a:t>
            </a:r>
            <a:endParaRPr lang="en-US" sz="1400" dirty="0"/>
          </a:p>
        </p:txBody>
      </p:sp>
      <p:sp>
        <p:nvSpPr>
          <p:cNvPr id="20" name="Text 17"/>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POSITIONING</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Why build this rather than buy Gloat or Fuel50.</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The vendors are proven — and a per-head cost that never stops.</a:t>
            </a:r>
            <a:endParaRPr lang="en-US" sz="1600" dirty="0"/>
          </a:p>
        </p:txBody>
      </p:sp>
      <p:sp>
        <p:nvSpPr>
          <p:cNvPr id="5" name="Shape 3"/>
          <p:cNvSpPr/>
          <p:nvPr/>
        </p:nvSpPr>
        <p:spPr>
          <a:xfrm>
            <a:off x="502920"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329184" cy="329184"/>
          </a:xfrm>
          <a:prstGeom prst="ellipse">
            <a:avLst/>
          </a:prstGeom>
          <a:solidFill>
            <a:srgbClr val="FDF1F1"/>
          </a:solidFill>
          <a:ln w="12700">
            <a:solidFill>
              <a:srgbClr val="333333"/>
            </a:solidFill>
            <a:prstDash val="solid"/>
          </a:ln>
        </p:spPr>
      </p:sp>
      <p:sp>
        <p:nvSpPr>
          <p:cNvPr id="7" name="Text 5"/>
          <p:cNvSpPr txBox="1"/>
          <p:nvPr/>
        </p:nvSpPr>
        <p:spPr>
          <a:xfrm>
            <a:off x="722376"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43000"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Cheaper than hiring out</a:t>
            </a:r>
            <a:endParaRPr lang="en-US" sz="1700" dirty="0"/>
          </a:p>
        </p:txBody>
      </p:sp>
      <p:sp>
        <p:nvSpPr>
          <p:cNvPr id="9" name="Text 7"/>
          <p:cNvSpPr txBox="1"/>
          <p:nvPr/>
        </p:nvSpPr>
        <p:spPr>
          <a:xfrm>
            <a:off x="722376"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₱86,796 saved on every Band C internal fill. It pays for itself on Band C alone.</a:t>
            </a:r>
            <a:endParaRPr lang="en-US" sz="1400" dirty="0"/>
          </a:p>
        </p:txBody>
      </p:sp>
      <p:sp>
        <p:nvSpPr>
          <p:cNvPr id="10" name="Shape 8"/>
          <p:cNvSpPr/>
          <p:nvPr/>
        </p:nvSpPr>
        <p:spPr>
          <a:xfrm>
            <a:off x="4298594"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4518050" y="1956816"/>
            <a:ext cx="329184" cy="329184"/>
          </a:xfrm>
          <a:prstGeom prst="ellipse">
            <a:avLst/>
          </a:prstGeom>
          <a:solidFill>
            <a:srgbClr val="FDF1F1"/>
          </a:solidFill>
          <a:ln w="12700">
            <a:solidFill>
              <a:srgbClr val="333333"/>
            </a:solidFill>
            <a:prstDash val="solid"/>
          </a:ln>
        </p:spPr>
      </p:sp>
      <p:sp>
        <p:nvSpPr>
          <p:cNvPr id="12" name="Text 10"/>
          <p:cNvSpPr txBox="1"/>
          <p:nvPr/>
        </p:nvSpPr>
        <p:spPr>
          <a:xfrm>
            <a:off x="4518050"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4938674"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Faster than recruiting</a:t>
            </a:r>
            <a:endParaRPr lang="en-US" sz="1700" dirty="0"/>
          </a:p>
        </p:txBody>
      </p:sp>
      <p:sp>
        <p:nvSpPr>
          <p:cNvPr id="14" name="Text 12"/>
          <p:cNvSpPr txBox="1"/>
          <p:nvPr/>
        </p:nvSpPr>
        <p:spPr>
          <a:xfrm>
            <a:off x="4518050"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priority project staffed in days from people already on payroll.</a:t>
            </a:r>
            <a:endParaRPr lang="en-US" sz="1400" dirty="0"/>
          </a:p>
        </p:txBody>
      </p:sp>
      <p:sp>
        <p:nvSpPr>
          <p:cNvPr id="15" name="Shape 13"/>
          <p:cNvSpPr/>
          <p:nvPr/>
        </p:nvSpPr>
        <p:spPr>
          <a:xfrm>
            <a:off x="8094269"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8313725" y="1956816"/>
            <a:ext cx="329184" cy="329184"/>
          </a:xfrm>
          <a:prstGeom prst="ellipse">
            <a:avLst/>
          </a:prstGeom>
          <a:solidFill>
            <a:srgbClr val="FDF1F1"/>
          </a:solidFill>
          <a:ln w="12700">
            <a:solidFill>
              <a:srgbClr val="333333"/>
            </a:solidFill>
            <a:prstDash val="solid"/>
          </a:ln>
        </p:spPr>
      </p:sp>
      <p:sp>
        <p:nvSpPr>
          <p:cNvPr id="17" name="Text 15"/>
          <p:cNvSpPr txBox="1"/>
          <p:nvPr/>
        </p:nvSpPr>
        <p:spPr>
          <a:xfrm>
            <a:off x="8313725"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8734349"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 skills map, free</a:t>
            </a:r>
            <a:endParaRPr lang="en-US" sz="1700" dirty="0"/>
          </a:p>
        </p:txBody>
      </p:sp>
      <p:sp>
        <p:nvSpPr>
          <p:cNvPr id="19" name="Text 17"/>
          <p:cNvSpPr txBox="1"/>
          <p:nvPr/>
        </p:nvSpPr>
        <p:spPr>
          <a:xfrm>
            <a:off x="8313725"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Answers "who can do X?" as a by-product of simply running.</a:t>
            </a:r>
            <a:endParaRPr lang="en-US" sz="1400" dirty="0"/>
          </a:p>
        </p:txBody>
      </p:sp>
      <p:sp>
        <p:nvSpPr>
          <p:cNvPr id="20" name="Shape 18"/>
          <p:cNvSpPr/>
          <p:nvPr/>
        </p:nvSpPr>
        <p:spPr>
          <a:xfrm>
            <a:off x="502920"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722376" y="3438144"/>
            <a:ext cx="329184" cy="329184"/>
          </a:xfrm>
          <a:prstGeom prst="ellipse">
            <a:avLst/>
          </a:prstGeom>
          <a:solidFill>
            <a:srgbClr val="FDF1F1"/>
          </a:solidFill>
          <a:ln w="12700">
            <a:solidFill>
              <a:srgbClr val="333333"/>
            </a:solidFill>
            <a:prstDash val="solid"/>
          </a:ln>
        </p:spPr>
      </p:sp>
      <p:sp>
        <p:nvSpPr>
          <p:cNvPr id="22" name="Text 20"/>
          <p:cNvSpPr txBox="1"/>
          <p:nvPr/>
        </p:nvSpPr>
        <p:spPr>
          <a:xfrm>
            <a:off x="722376"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4</a:t>
            </a:r>
            <a:endParaRPr lang="en-US" sz="1500" dirty="0"/>
          </a:p>
        </p:txBody>
      </p:sp>
      <p:sp>
        <p:nvSpPr>
          <p:cNvPr id="23" name="Text 21"/>
          <p:cNvSpPr txBox="1"/>
          <p:nvPr/>
        </p:nvSpPr>
        <p:spPr>
          <a:xfrm>
            <a:off x="1143000"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own it</a:t>
            </a:r>
            <a:endParaRPr lang="en-US" sz="1700" dirty="0"/>
          </a:p>
        </p:txBody>
      </p:sp>
      <p:sp>
        <p:nvSpPr>
          <p:cNvPr id="24" name="Text 22"/>
          <p:cNvSpPr txBox="1"/>
          <p:nvPr/>
        </p:nvSpPr>
        <p:spPr>
          <a:xfrm>
            <a:off x="722376"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asset, our data, our logic. No per-head licence and no lock-in.</a:t>
            </a:r>
            <a:endParaRPr lang="en-US" sz="1400" dirty="0"/>
          </a:p>
        </p:txBody>
      </p:sp>
      <p:sp>
        <p:nvSpPr>
          <p:cNvPr id="25" name="Shape 23"/>
          <p:cNvSpPr/>
          <p:nvPr/>
        </p:nvSpPr>
        <p:spPr>
          <a:xfrm>
            <a:off x="4298594"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Shape 24"/>
          <p:cNvSpPr/>
          <p:nvPr/>
        </p:nvSpPr>
        <p:spPr>
          <a:xfrm>
            <a:off x="4518050" y="3438144"/>
            <a:ext cx="329184" cy="329184"/>
          </a:xfrm>
          <a:prstGeom prst="ellipse">
            <a:avLst/>
          </a:prstGeom>
          <a:solidFill>
            <a:srgbClr val="FDF1F1"/>
          </a:solidFill>
          <a:ln w="12700">
            <a:solidFill>
              <a:srgbClr val="333333"/>
            </a:solidFill>
            <a:prstDash val="solid"/>
          </a:ln>
        </p:spPr>
      </p:sp>
      <p:sp>
        <p:nvSpPr>
          <p:cNvPr id="27" name="Text 25"/>
          <p:cNvSpPr txBox="1"/>
          <p:nvPr/>
        </p:nvSpPr>
        <p:spPr>
          <a:xfrm>
            <a:off x="4518050"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5</a:t>
            </a:r>
            <a:endParaRPr lang="en-US" sz="1500" dirty="0"/>
          </a:p>
        </p:txBody>
      </p:sp>
      <p:sp>
        <p:nvSpPr>
          <p:cNvPr id="28" name="Text 26"/>
          <p:cNvSpPr txBox="1"/>
          <p:nvPr/>
        </p:nvSpPr>
        <p:spPr>
          <a:xfrm>
            <a:off x="4938674"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Built for Home Credit</a:t>
            </a:r>
            <a:endParaRPr lang="en-US" sz="1700" dirty="0"/>
          </a:p>
        </p:txBody>
      </p:sp>
      <p:sp>
        <p:nvSpPr>
          <p:cNvPr id="29" name="Text 27"/>
          <p:cNvSpPr txBox="1"/>
          <p:nvPr/>
        </p:nvSpPr>
        <p:spPr>
          <a:xfrm>
            <a:off x="4518050"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bands, our Policy 211_2021, our HC Connect handoff.</a:t>
            </a:r>
            <a:endParaRPr lang="en-US" sz="1400" dirty="0"/>
          </a:p>
        </p:txBody>
      </p:sp>
      <p:sp>
        <p:nvSpPr>
          <p:cNvPr id="30" name="Shape 28"/>
          <p:cNvSpPr/>
          <p:nvPr/>
        </p:nvSpPr>
        <p:spPr>
          <a:xfrm>
            <a:off x="8094269"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1" name="Shape 29"/>
          <p:cNvSpPr/>
          <p:nvPr/>
        </p:nvSpPr>
        <p:spPr>
          <a:xfrm>
            <a:off x="8313725" y="3438144"/>
            <a:ext cx="329184" cy="329184"/>
          </a:xfrm>
          <a:prstGeom prst="ellipse">
            <a:avLst/>
          </a:prstGeom>
          <a:solidFill>
            <a:srgbClr val="FDF1F1"/>
          </a:solidFill>
          <a:ln w="12700">
            <a:solidFill>
              <a:srgbClr val="333333"/>
            </a:solidFill>
            <a:prstDash val="solid"/>
          </a:ln>
        </p:spPr>
      </p:sp>
      <p:sp>
        <p:nvSpPr>
          <p:cNvPr id="32" name="Text 30"/>
          <p:cNvSpPr txBox="1"/>
          <p:nvPr/>
        </p:nvSpPr>
        <p:spPr>
          <a:xfrm>
            <a:off x="8313725"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6</a:t>
            </a:r>
            <a:endParaRPr lang="en-US" sz="1500" dirty="0"/>
          </a:p>
        </p:txBody>
      </p:sp>
      <p:sp>
        <p:nvSpPr>
          <p:cNvPr id="33" name="Text 31"/>
          <p:cNvSpPr txBox="1"/>
          <p:nvPr/>
        </p:nvSpPr>
        <p:spPr>
          <a:xfrm>
            <a:off x="8734349"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Low risk to try</a:t>
            </a:r>
            <a:endParaRPr lang="en-US" sz="1700" dirty="0"/>
          </a:p>
        </p:txBody>
      </p:sp>
      <p:sp>
        <p:nvSpPr>
          <p:cNvPr id="34" name="Text 32"/>
          <p:cNvSpPr txBox="1"/>
          <p:nvPr/>
        </p:nvSpPr>
        <p:spPr>
          <a:xfrm>
            <a:off x="8313725"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Voluntary and ad-hoc, with no KPI or salary impact.</a:t>
            </a:r>
            <a:endParaRPr lang="en-US" sz="1400" dirty="0"/>
          </a:p>
        </p:txBody>
      </p:sp>
      <p:sp>
        <p:nvSpPr>
          <p:cNvPr id="35" name="Shape 33"/>
          <p:cNvSpPr/>
          <p:nvPr/>
        </p:nvSpPr>
        <p:spPr>
          <a:xfrm>
            <a:off x="502920" y="4700016"/>
            <a:ext cx="11185855" cy="1316736"/>
          </a:xfrm>
          <a:prstGeom prst="roundRect">
            <a:avLst>
              <a:gd name="adj" fmla="val 4167"/>
            </a:avLst>
          </a:prstGeom>
          <a:solidFill>
            <a:srgbClr val="0F172A"/>
          </a:solidFill>
          <a:ln w="12700">
            <a:solidFill>
              <a:srgbClr val="333333"/>
            </a:solidFill>
            <a:prstDash val="solid"/>
          </a:ln>
        </p:spPr>
      </p:sp>
      <p:sp>
        <p:nvSpPr>
          <p:cNvPr id="36" name="Text 34"/>
          <p:cNvSpPr txBox="1"/>
          <p:nvPr/>
        </p:nvSpPr>
        <p:spPr>
          <a:xfrm>
            <a:off x="832104" y="4828032"/>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honest version of the buy case</a:t>
            </a:r>
            <a:endParaRPr lang="en-US" sz="1800" dirty="0"/>
          </a:p>
        </p:txBody>
      </p:sp>
      <p:sp>
        <p:nvSpPr>
          <p:cNvPr id="37" name="Text 35"/>
          <p:cNvSpPr txBox="1"/>
          <p:nvPr/>
        </p:nvSpPr>
        <p:spPr>
          <a:xfrm>
            <a:off x="832104" y="5120640"/>
            <a:ext cx="10527487" cy="841248"/>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Gloat, Fuel50 and 365Talents are mature products with track records we do not have, and would be live sooner. What they cannot do is stop costing money: at 637 seats the three-year licence lands between ₱10.2M and ₱27.8M, and recurs forever. If speed to launch were the binding constraint, buying would win. It is not.</a:t>
            </a:r>
            <a:endParaRPr lang="en-US" sz="1500" dirty="0"/>
          </a:p>
        </p:txBody>
      </p:sp>
      <p:sp>
        <p:nvSpPr>
          <p:cNvPr id="38" name="Shape 36"/>
          <p:cNvSpPr/>
          <p:nvPr/>
        </p:nvSpPr>
        <p:spPr>
          <a:xfrm>
            <a:off x="502920" y="6291072"/>
            <a:ext cx="11185855" cy="0"/>
          </a:xfrm>
          <a:prstGeom prst="line">
            <a:avLst/>
          </a:prstGeom>
          <a:noFill/>
          <a:ln w="12700">
            <a:solidFill>
              <a:srgbClr val="E5E7EB"/>
            </a:solidFill>
            <a:prstDash val="solid"/>
          </a:ln>
        </p:spPr>
      </p:sp>
      <p:sp>
        <p:nvSpPr>
          <p:cNvPr id="39" name="Text 3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 see the comparison slide.</a:t>
            </a:r>
            <a:endParaRPr lang="en-US" sz="1400" dirty="0"/>
          </a:p>
        </p:txBody>
      </p:sp>
      <p:sp>
        <p:nvSpPr>
          <p:cNvPr id="40" name="Text 3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Our people already wrote the demand down.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Pilot scope: 637 employees across IT, Operations and People &amp; Culture.</a:t>
            </a:r>
            <a:endParaRPr lang="en-US" sz="1600" dirty="0"/>
          </a:p>
        </p:txBody>
      </p:sp>
      <p:sp>
        <p:nvSpPr>
          <p:cNvPr id="5" name="Shape 3"/>
          <p:cNvSpPr/>
          <p:nvPr/>
        </p:nvSpPr>
        <p:spPr>
          <a:xfrm>
            <a:off x="502920" y="1773936"/>
            <a:ext cx="4026908" cy="2395728"/>
          </a:xfrm>
          <a:prstGeom prst="roundRect">
            <a:avLst>
              <a:gd name="adj" fmla="val 2290"/>
            </a:avLst>
          </a:prstGeom>
          <a:solidFill>
            <a:srgbClr val="F7F8FA"/>
          </a:solidFill>
          <a:ln w="12700">
            <a:solidFill>
              <a:srgbClr val="333333"/>
            </a:solidFill>
            <a:prstDash val="solid"/>
          </a:ln>
        </p:spPr>
      </p:sp>
      <p:sp>
        <p:nvSpPr>
          <p:cNvPr id="6" name="Text 4"/>
          <p:cNvSpPr txBox="1"/>
          <p:nvPr/>
        </p:nvSpPr>
        <p:spPr>
          <a:xfrm>
            <a:off x="777240" y="1920240"/>
            <a:ext cx="3478268" cy="237744"/>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Pilot population</a:t>
            </a:r>
            <a:endParaRPr lang="en-US" sz="1500" dirty="0"/>
          </a:p>
        </p:txBody>
      </p:sp>
      <p:sp>
        <p:nvSpPr>
          <p:cNvPr id="7" name="Text 5"/>
          <p:cNvSpPr txBox="1"/>
          <p:nvPr/>
        </p:nvSpPr>
        <p:spPr>
          <a:xfrm>
            <a:off x="777240" y="2231136"/>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IT &amp; Innovation</a:t>
            </a:r>
            <a:endParaRPr lang="en-US" sz="1600" dirty="0"/>
          </a:p>
        </p:txBody>
      </p:sp>
      <p:sp>
        <p:nvSpPr>
          <p:cNvPr id="8" name="Text 6"/>
          <p:cNvSpPr txBox="1"/>
          <p:nvPr/>
        </p:nvSpPr>
        <p:spPr>
          <a:xfrm>
            <a:off x="3158228" y="2231136"/>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463</a:t>
            </a:r>
            <a:endParaRPr lang="en-US" sz="1600" dirty="0"/>
          </a:p>
        </p:txBody>
      </p:sp>
      <p:sp>
        <p:nvSpPr>
          <p:cNvPr id="9" name="Text 7"/>
          <p:cNvSpPr txBox="1"/>
          <p:nvPr/>
        </p:nvSpPr>
        <p:spPr>
          <a:xfrm>
            <a:off x="777240" y="2560320"/>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Operations</a:t>
            </a:r>
            <a:endParaRPr lang="en-US" sz="1600" dirty="0"/>
          </a:p>
        </p:txBody>
      </p:sp>
      <p:sp>
        <p:nvSpPr>
          <p:cNvPr id="10" name="Text 8"/>
          <p:cNvSpPr txBox="1"/>
          <p:nvPr/>
        </p:nvSpPr>
        <p:spPr>
          <a:xfrm>
            <a:off x="3158228" y="2560320"/>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37</a:t>
            </a:r>
            <a:endParaRPr lang="en-US" sz="1600" dirty="0"/>
          </a:p>
        </p:txBody>
      </p:sp>
      <p:sp>
        <p:nvSpPr>
          <p:cNvPr id="11" name="Text 9"/>
          <p:cNvSpPr txBox="1"/>
          <p:nvPr/>
        </p:nvSpPr>
        <p:spPr>
          <a:xfrm>
            <a:off x="777240" y="2889504"/>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People &amp; Culture</a:t>
            </a:r>
            <a:endParaRPr lang="en-US" sz="1600" dirty="0"/>
          </a:p>
        </p:txBody>
      </p:sp>
      <p:sp>
        <p:nvSpPr>
          <p:cNvPr id="12" name="Text 10"/>
          <p:cNvSpPr txBox="1"/>
          <p:nvPr/>
        </p:nvSpPr>
        <p:spPr>
          <a:xfrm>
            <a:off x="3158228" y="2889504"/>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137</a:t>
            </a:r>
            <a:endParaRPr lang="en-US" sz="1600" dirty="0"/>
          </a:p>
        </p:txBody>
      </p:sp>
      <p:sp>
        <p:nvSpPr>
          <p:cNvPr id="13" name="Shape 11"/>
          <p:cNvSpPr/>
          <p:nvPr/>
        </p:nvSpPr>
        <p:spPr>
          <a:xfrm>
            <a:off x="777240" y="3273552"/>
            <a:ext cx="3478268" cy="0"/>
          </a:xfrm>
          <a:prstGeom prst="line">
            <a:avLst/>
          </a:prstGeom>
          <a:noFill/>
          <a:ln w="12700">
            <a:solidFill>
              <a:srgbClr val="E5E7EB"/>
            </a:solidFill>
            <a:prstDash val="solid"/>
          </a:ln>
        </p:spPr>
      </p:sp>
      <p:sp>
        <p:nvSpPr>
          <p:cNvPr id="14" name="Text 12"/>
          <p:cNvSpPr txBox="1"/>
          <p:nvPr/>
        </p:nvSpPr>
        <p:spPr>
          <a:xfrm>
            <a:off x="777240" y="3346704"/>
            <a:ext cx="2655308" cy="292608"/>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total</a:t>
            </a:r>
            <a:endParaRPr lang="en-US" sz="1700" dirty="0"/>
          </a:p>
        </p:txBody>
      </p:sp>
      <p:sp>
        <p:nvSpPr>
          <p:cNvPr id="15" name="Text 13"/>
          <p:cNvSpPr txBox="1"/>
          <p:nvPr/>
        </p:nvSpPr>
        <p:spPr>
          <a:xfrm>
            <a:off x="3158228" y="3346704"/>
            <a:ext cx="1097280" cy="292608"/>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637</a:t>
            </a:r>
            <a:endParaRPr lang="en-US" sz="2200" dirty="0"/>
          </a:p>
        </p:txBody>
      </p:sp>
      <p:sp>
        <p:nvSpPr>
          <p:cNvPr id="16" name="Text 14"/>
          <p:cNvSpPr txBox="1"/>
          <p:nvPr/>
        </p:nvSpPr>
        <p:spPr>
          <a:xfrm>
            <a:off x="777240" y="3694176"/>
            <a:ext cx="3478268"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Full launch: 1,978 non-mass employees</a:t>
            </a:r>
            <a:endParaRPr lang="en-US" sz="1400" dirty="0"/>
          </a:p>
        </p:txBody>
      </p:sp>
      <p:sp>
        <p:nvSpPr>
          <p:cNvPr id="17" name="Shape 15"/>
          <p:cNvSpPr/>
          <p:nvPr/>
        </p:nvSpPr>
        <p:spPr>
          <a:xfrm>
            <a:off x="4785860"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5005316"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630</a:t>
            </a:r>
            <a:endParaRPr lang="en-US" sz="2600" dirty="0"/>
          </a:p>
        </p:txBody>
      </p:sp>
      <p:sp>
        <p:nvSpPr>
          <p:cNvPr id="19" name="Text 17"/>
          <p:cNvSpPr txBox="1"/>
          <p:nvPr/>
        </p:nvSpPr>
        <p:spPr>
          <a:xfrm>
            <a:off x="5005316"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to learn by doing</a:t>
            </a:r>
            <a:endParaRPr lang="en-US" sz="1400" dirty="0"/>
          </a:p>
        </p:txBody>
      </p:sp>
      <p:sp>
        <p:nvSpPr>
          <p:cNvPr id="20" name="Text 18"/>
          <p:cNvSpPr txBox="1"/>
          <p:nvPr/>
        </p:nvSpPr>
        <p:spPr>
          <a:xfrm>
            <a:off x="5005316"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21" name="Shape 19"/>
          <p:cNvSpPr/>
          <p:nvPr/>
        </p:nvSpPr>
        <p:spPr>
          <a:xfrm>
            <a:off x="8337902"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8557358"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55%</a:t>
            </a:r>
            <a:endParaRPr lang="en-US" sz="2600" dirty="0"/>
          </a:p>
        </p:txBody>
      </p:sp>
      <p:sp>
        <p:nvSpPr>
          <p:cNvPr id="23" name="Text 21"/>
          <p:cNvSpPr txBox="1"/>
          <p:nvPr/>
        </p:nvSpPr>
        <p:spPr>
          <a:xfrm>
            <a:off x="8557358"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growth, not a promotion</a:t>
            </a:r>
            <a:endParaRPr lang="en-US" sz="1400" dirty="0"/>
          </a:p>
        </p:txBody>
      </p:sp>
      <p:sp>
        <p:nvSpPr>
          <p:cNvPr id="24" name="Text 22"/>
          <p:cNvSpPr txBox="1"/>
          <p:nvPr/>
        </p:nvSpPr>
        <p:spPr>
          <a:xfrm>
            <a:off x="8557358"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Said at the 2026 midyear review.</a:t>
            </a:r>
            <a:endParaRPr lang="en-US" sz="1400" dirty="0"/>
          </a:p>
        </p:txBody>
      </p:sp>
      <p:sp>
        <p:nvSpPr>
          <p:cNvPr id="25" name="Shape 23"/>
          <p:cNvSpPr/>
          <p:nvPr/>
        </p:nvSpPr>
        <p:spPr>
          <a:xfrm>
            <a:off x="4785860"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Text 24"/>
          <p:cNvSpPr txBox="1"/>
          <p:nvPr/>
        </p:nvSpPr>
        <p:spPr>
          <a:xfrm>
            <a:off x="5005316"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73%</a:t>
            </a:r>
            <a:endParaRPr lang="en-US" sz="2600" dirty="0"/>
          </a:p>
        </p:txBody>
      </p:sp>
      <p:sp>
        <p:nvSpPr>
          <p:cNvPr id="27" name="Text 25"/>
          <p:cNvSpPr txBox="1"/>
          <p:nvPr/>
        </p:nvSpPr>
        <p:spPr>
          <a:xfrm>
            <a:off x="5005316"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a vertical or enrichment</a:t>
            </a:r>
            <a:endParaRPr lang="en-US" sz="1400" dirty="0"/>
          </a:p>
        </p:txBody>
      </p:sp>
      <p:sp>
        <p:nvSpPr>
          <p:cNvPr id="28" name="Text 26"/>
          <p:cNvSpPr txBox="1"/>
          <p:nvPr/>
        </p:nvSpPr>
        <p:spPr>
          <a:xfrm>
            <a:off x="5005316"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461 vertical, 347 enrichment.</a:t>
            </a:r>
            <a:endParaRPr lang="en-US" sz="1400" dirty="0"/>
          </a:p>
        </p:txBody>
      </p:sp>
      <p:sp>
        <p:nvSpPr>
          <p:cNvPr id="29" name="Shape 27"/>
          <p:cNvSpPr/>
          <p:nvPr/>
        </p:nvSpPr>
        <p:spPr>
          <a:xfrm>
            <a:off x="8337902"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557358"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80</a:t>
            </a:r>
            <a:endParaRPr lang="en-US" sz="2600" dirty="0"/>
          </a:p>
        </p:txBody>
      </p:sp>
      <p:sp>
        <p:nvSpPr>
          <p:cNvPr id="31" name="Text 29"/>
          <p:cNvSpPr txBox="1"/>
          <p:nvPr/>
        </p:nvSpPr>
        <p:spPr>
          <a:xfrm>
            <a:off x="8557358"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resigned and later came back</a:t>
            </a:r>
            <a:endParaRPr lang="en-US" sz="1400" dirty="0"/>
          </a:p>
        </p:txBody>
      </p:sp>
      <p:sp>
        <p:nvSpPr>
          <p:cNvPr id="32" name="Text 30"/>
          <p:cNvSpPr txBox="1"/>
          <p:nvPr/>
        </p:nvSpPr>
        <p:spPr>
          <a:xfrm>
            <a:off x="8557358"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They wanted to be here. They could not find a way to move.</a:t>
            </a:r>
            <a:endParaRPr lang="en-US" sz="1400" dirty="0"/>
          </a:p>
        </p:txBody>
      </p:sp>
      <p:sp>
        <p:nvSpPr>
          <p:cNvPr id="33" name="Shape 31"/>
          <p:cNvSpPr/>
          <p:nvPr/>
        </p:nvSpPr>
        <p:spPr>
          <a:xfrm>
            <a:off x="502920" y="4663440"/>
            <a:ext cx="11185855" cy="1353312"/>
          </a:xfrm>
          <a:prstGeom prst="roundRect">
            <a:avLst>
              <a:gd name="adj" fmla="val 4054"/>
            </a:avLst>
          </a:prstGeom>
          <a:solidFill>
            <a:srgbClr val="0F172A"/>
          </a:solidFill>
          <a:ln w="12700">
            <a:solidFill>
              <a:srgbClr val="333333"/>
            </a:solidFill>
            <a:prstDash val="solid"/>
          </a:ln>
        </p:spPr>
      </p:sp>
      <p:sp>
        <p:nvSpPr>
          <p:cNvPr id="34" name="Text 32"/>
          <p:cNvSpPr txBox="1"/>
          <p:nvPr/>
        </p:nvSpPr>
        <p:spPr>
          <a:xfrm>
            <a:off x="832104" y="4809744"/>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start at 637 and not 1,978</a:t>
            </a:r>
            <a:endParaRPr lang="en-US" sz="1800" dirty="0"/>
          </a:p>
        </p:txBody>
      </p:sp>
      <p:sp>
        <p:nvSpPr>
          <p:cNvPr id="35" name="Text 33"/>
          <p:cNvSpPr txBox="1"/>
          <p:nvPr/>
        </p:nvSpPr>
        <p:spPr>
          <a:xfrm>
            <a:off x="832104" y="5120640"/>
            <a:ext cx="10527487" cy="822960"/>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These three functions are where internal moves already happen most and where the tech-talent priority bites hardest, so the pilot tests the hard case. The build is one-time: extending to all 1,978 non-mass employees costs the run line only — under ₱35 per extra employee a year. Mass-market roles are out of scope by design.</a:t>
            </a:r>
            <a:endParaRPr lang="en-US" sz="1500" dirty="0"/>
          </a:p>
        </p:txBody>
      </p:sp>
      <p:sp>
        <p:nvSpPr>
          <p:cNvPr id="36" name="Shape 34"/>
          <p:cNvSpPr/>
          <p:nvPr/>
        </p:nvSpPr>
        <p:spPr>
          <a:xfrm>
            <a:off x="502920" y="6291072"/>
            <a:ext cx="11185855" cy="0"/>
          </a:xfrm>
          <a:prstGeom prst="line">
            <a:avLst/>
          </a:prstGeom>
          <a:noFill/>
          <a:ln w="12700">
            <a:solidFill>
              <a:srgbClr val="E5E7EB"/>
            </a:solidFill>
            <a:prstDash val="solid"/>
          </a:ln>
        </p:spPr>
      </p:sp>
      <p:sp>
        <p:nvSpPr>
          <p:cNvPr id="37" name="Text 35"/>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stated career-movement preferences · HRIS headcount.</a:t>
            </a:r>
            <a:endParaRPr lang="en-US" sz="1400" dirty="0"/>
          </a:p>
        </p:txBody>
      </p:sp>
      <p:sp>
        <p:nvSpPr>
          <p:cNvPr id="38" name="Text 36"/>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COSTING · V2</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₱1.05M over three years. ₱550 per employee a year.</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Bottom-up from a completed Business Requirements Document — not a placeholder. Population 637, FX ₱58 = US$1.</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₱766,125</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one</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build ₱711k, run ₱55k</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₱223,125</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two</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referral engine,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₱61,125</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three</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run only</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₱1,050,375</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total</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₱1,649 per employee</a:t>
            </a:r>
            <a:endParaRPr lang="en-US" sz="1400" dirty="0"/>
          </a:p>
        </p:txBody>
      </p:sp>
      <p:sp>
        <p:nvSpPr>
          <p:cNvPr id="21" name="Shape 19"/>
          <p:cNvSpPr/>
          <p:nvPr/>
        </p:nvSpPr>
        <p:spPr>
          <a:xfrm>
            <a:off x="502920" y="3310128"/>
            <a:ext cx="6096291"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558422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Year-one build — where the money goes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 y="3749040"/>
          <a:ext cx="5584227" cy="914400"/>
        </p:xfrm>
        <a:graphic>
          <a:graphicData uri="http://schemas.openxmlformats.org/drawingml/2006/table">
            <a:tbl>
              <a:tblPr/>
              <a:tblGrid>
                <a:gridCol w="4160520"/>
                <a:gridCol w="142646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Item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Full-stack developer, 1.4 months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210,000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Designer, 1.5 months at 50%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82,500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Project manager / analyst, 4 months at 30%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180,000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Security review, DPA assessment and DPIA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120,000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Contingency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118,500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Build, year one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711,000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6836955" y="3310128"/>
            <a:ext cx="4851820" cy="1243584"/>
          </a:xfrm>
          <a:prstGeom prst="roundRect">
            <a:avLst>
              <a:gd name="adj" fmla="val 4412"/>
            </a:avLst>
          </a:prstGeom>
          <a:solidFill>
            <a:srgbClr val="F0FDF4"/>
          </a:solidFill>
          <a:ln w="12700">
            <a:solidFill>
              <a:srgbClr val="333333"/>
            </a:solidFill>
            <a:prstDash val="solid"/>
          </a:ln>
        </p:spPr>
      </p:sp>
      <p:sp>
        <p:nvSpPr>
          <p:cNvPr id="25" name="Text 22"/>
          <p:cNvSpPr txBox="1"/>
          <p:nvPr/>
        </p:nvSpPr>
        <p:spPr>
          <a:xfrm>
            <a:off x="7111275" y="3456432"/>
            <a:ext cx="4303180" cy="256032"/>
          </a:xfrm>
          <a:prstGeom prst="rect">
            <a:avLst/>
          </a:prstGeom>
          <a:noFill/>
          <a:ln/>
        </p:spPr>
        <p:txBody>
          <a:bodyPr wrap="square" lIns="0" tIns="0" rIns="0" bIns="0" rtlCol="0" anchor="ctr"/>
          <a:lstStyle/>
          <a:p>
            <a:pPr indent="0" marL="0">
              <a:buNone/>
            </a:pPr>
            <a:r>
              <a:rPr lang="en-US" sz="1700" b="1" dirty="0">
                <a:solidFill>
                  <a:srgbClr val="15803D"/>
                </a:solidFill>
                <a:latin typeface="Arial" pitchFamily="34" charset="0"/>
                <a:ea typeface="Arial" pitchFamily="34" charset="-122"/>
                <a:cs typeface="Arial" pitchFamily="34" charset="-120"/>
              </a:rPr>
              <a:t>Cheaper than v1, doing more</a:t>
            </a:r>
            <a:endParaRPr lang="en-US" sz="1700" dirty="0"/>
          </a:p>
        </p:txBody>
      </p:sp>
      <p:sp>
        <p:nvSpPr>
          <p:cNvPr id="26" name="Text 23"/>
          <p:cNvSpPr txBox="1"/>
          <p:nvPr/>
        </p:nvSpPr>
        <p:spPr>
          <a:xfrm>
            <a:off x="7111275" y="3749040"/>
            <a:ext cx="4303180" cy="731520"/>
          </a:xfrm>
          <a:prstGeom prst="rect">
            <a:avLst/>
          </a:prstGeom>
          <a:noFill/>
          <a:ln/>
        </p:spPr>
        <p:txBody>
          <a:bodyPr wrap="square" lIns="0" tIns="0" rIns="0" bIns="0" rtlCol="0" anchor="t"/>
          <a:lstStyle/>
          <a:p>
            <a:pPr indent="0" marL="0">
              <a:lnSpc>
                <a:spcPts val="1900"/>
              </a:lnSpc>
              <a:buNone/>
            </a:pPr>
            <a:r>
              <a:rPr lang="en-US" sz="1400" dirty="0">
                <a:solidFill>
                  <a:srgbClr val="166534"/>
                </a:solidFill>
                <a:latin typeface="Arial" pitchFamily="34" charset="0"/>
                <a:ea typeface="Arial" pitchFamily="34" charset="-122"/>
                <a:cs typeface="Arial" pitchFamily="34" charset="-120"/>
              </a:rPr>
              <a:t>Five decisions took ₱491,761 out of the first estimate without touching anything that drives internal growth.</a:t>
            </a:r>
            <a:endParaRPr lang="en-US" sz="1400" dirty="0"/>
          </a:p>
        </p:txBody>
      </p:sp>
      <p:sp>
        <p:nvSpPr>
          <p:cNvPr id="27" name="Shape 24"/>
          <p:cNvSpPr/>
          <p:nvPr/>
        </p:nvSpPr>
        <p:spPr>
          <a:xfrm>
            <a:off x="6836955" y="4700016"/>
            <a:ext cx="4851820" cy="1353312"/>
          </a:xfrm>
          <a:prstGeom prst="roundRect">
            <a:avLst>
              <a:gd name="adj" fmla="val 4054"/>
            </a:avLst>
          </a:prstGeom>
          <a:solidFill>
            <a:srgbClr val="FFFBEB"/>
          </a:solidFill>
          <a:ln w="12700">
            <a:solidFill>
              <a:srgbClr val="333333"/>
            </a:solidFill>
            <a:prstDash val="solid"/>
          </a:ln>
        </p:spPr>
      </p:sp>
      <p:sp>
        <p:nvSpPr>
          <p:cNvPr id="28" name="Text 25"/>
          <p:cNvSpPr txBox="1"/>
          <p:nvPr/>
        </p:nvSpPr>
        <p:spPr>
          <a:xfrm>
            <a:off x="7111275" y="4846320"/>
            <a:ext cx="4303180" cy="256032"/>
          </a:xfrm>
          <a:prstGeom prst="rect">
            <a:avLst/>
          </a:prstGeom>
          <a:noFill/>
          <a:ln/>
        </p:spPr>
        <p:txBody>
          <a:bodyPr wrap="square" lIns="0" tIns="0" rIns="0" bIns="0" rtlCol="0" anchor="ctr"/>
          <a:lstStyle/>
          <a:p>
            <a:pPr indent="0" marL="0">
              <a:buNone/>
            </a:pPr>
            <a:r>
              <a:rPr lang="en-US" sz="1700" b="1" dirty="0">
                <a:solidFill>
                  <a:srgbClr val="B45309"/>
                </a:solidFill>
                <a:latin typeface="Arial" pitchFamily="34" charset="0"/>
                <a:ea typeface="Arial" pitchFamily="34" charset="-122"/>
                <a:cs typeface="Arial" pitchFamily="34" charset="-120"/>
              </a:rPr>
              <a:t>What this figure excludes</a:t>
            </a:r>
            <a:endParaRPr lang="en-US" sz="1700" dirty="0"/>
          </a:p>
        </p:txBody>
      </p:sp>
      <p:sp>
        <p:nvSpPr>
          <p:cNvPr id="29" name="Text 26"/>
          <p:cNvSpPr txBox="1"/>
          <p:nvPr/>
        </p:nvSpPr>
        <p:spPr>
          <a:xfrm>
            <a:off x="7111275" y="5138928"/>
            <a:ext cx="4303180" cy="841248"/>
          </a:xfrm>
          <a:prstGeom prst="rect">
            <a:avLst/>
          </a:prstGeom>
          <a:noFill/>
          <a:ln/>
        </p:spPr>
        <p:txBody>
          <a:bodyPr wrap="square" lIns="0" tIns="0" rIns="0" bIns="0" rtlCol="0" anchor="t"/>
          <a:lstStyle/>
          <a:p>
            <a:pPr indent="0" marL="0">
              <a:lnSpc>
                <a:spcPts val="1900"/>
              </a:lnSpc>
              <a:buNone/>
            </a:pPr>
            <a:r>
              <a:rPr lang="en-US" sz="1400" dirty="0">
                <a:solidFill>
                  <a:srgbClr val="92400E"/>
                </a:solidFill>
                <a:latin typeface="Arial" pitchFamily="34" charset="0"/>
                <a:ea typeface="Arial" pitchFamily="34" charset="-122"/>
                <a:cs typeface="Arial" pitchFamily="34" charset="-120"/>
              </a:rPr>
              <a:t>Ongoing ownership from year two: 0.2–0.3 FTE, ₱360k–₱540k a year. At 0.25 FTE the BCR falls to about 3.1.</a:t>
            </a:r>
            <a:endParaRPr lang="en-US" sz="1400" dirty="0"/>
          </a:p>
        </p:txBody>
      </p:sp>
      <p:sp>
        <p:nvSpPr>
          <p:cNvPr id="30" name="Shape 27"/>
          <p:cNvSpPr/>
          <p:nvPr/>
        </p:nvSpPr>
        <p:spPr>
          <a:xfrm>
            <a:off x="502920" y="6291072"/>
            <a:ext cx="11185855" cy="0"/>
          </a:xfrm>
          <a:prstGeom prst="line">
            <a:avLst/>
          </a:prstGeom>
          <a:noFill/>
          <a:ln w="12700">
            <a:solidFill>
              <a:srgbClr val="E5E7EB"/>
            </a:solidFill>
            <a:prstDash val="solid"/>
          </a:ln>
        </p:spPr>
      </p:sp>
      <p:sp>
        <p:nvSpPr>
          <p:cNvPr id="31" name="Text 2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Annual run: Supabase ₱17,400 · Claude API ₱22,065 · email ₱8,700 · monitoring ₱6,960 · reconciliation ₱6,000.   Basis: BRD_V2 build-unit estimate and Growth-v2-CBA.xlsx — every figure is a live formula.</a:t>
            </a:r>
            <a:endParaRPr lang="en-US" sz="1400" dirty="0"/>
          </a:p>
        </p:txBody>
      </p:sp>
      <p:sp>
        <p:nvSpPr>
          <p:cNvPr id="32" name="Text 2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COST–BENEFIT ANALYSIS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Benefit–cost ratio 6.8. Payback in nine months.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10% discount rate. Break-even is one attributed internal hire a year.</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₱7.13M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benefit</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hires + retention</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₱6.08M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net of every peso of cost</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after all build and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6.8</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benefit–cost ratio</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NPV ₱4.84M at 10%</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9 months</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payback</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benefit from month 4</a:t>
            </a:r>
            <a:endParaRPr lang="en-US" sz="1400" dirty="0"/>
          </a:p>
        </p:txBody>
      </p:sp>
      <p:sp>
        <p:nvSpPr>
          <p:cNvPr id="21" name="Shape 19"/>
          <p:cNvSpPr/>
          <p:nvPr/>
        </p:nvSpPr>
        <p:spPr>
          <a:xfrm>
            <a:off x="502920" y="3310128"/>
            <a:ext cx="6711513"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6199449"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How sensitive is it?</a:t>
            </a:r>
            <a:endParaRPr lang="en-US" sz="1700" dirty="0"/>
          </a:p>
        </p:txBody>
      </p:sp>
      <p:sp>
        <p:nvSpPr>
          <p:cNvPr id="23" name="Text 21"/>
          <p:cNvSpPr txBox="1"/>
          <p:nvPr/>
        </p:nvSpPr>
        <p:spPr>
          <a:xfrm>
            <a:off x="758952" y="3694176"/>
            <a:ext cx="6199449" cy="21945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case survives the removal of either benefit stream.</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8952" y="3968496"/>
          <a:ext cx="6199449" cy="914400"/>
        </p:xfrm>
        <a:graphic>
          <a:graphicData uri="http://schemas.openxmlformats.org/drawingml/2006/table">
            <a:tbl>
              <a:tblPr/>
              <a:tblGrid>
                <a:gridCol w="2267712"/>
                <a:gridCol w="1060704"/>
                <a:gridCol w="1024128"/>
                <a:gridCol w="786384"/>
                <a:gridCol w="106070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Scenario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Net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Payback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Conservative · 2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₱4.07M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Base · 4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₱7.13M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₱6.08M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6.8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9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Optimistic · 7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₱10.14M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₱9.09M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7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removed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₱4.02M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₱2.97M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14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only, no hires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₱3.11M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16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5" name="Text 22"/>
          <p:cNvSpPr txBox="1"/>
          <p:nvPr/>
        </p:nvSpPr>
        <p:spPr>
          <a:xfrm>
            <a:off x="758952" y="5705856"/>
            <a:ext cx="6199449" cy="292608"/>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Both halves would have to be wrong at once for this to fail.</a:t>
            </a:r>
            <a:endParaRPr lang="en-US" sz="1400" dirty="0"/>
          </a:p>
        </p:txBody>
      </p:sp>
      <p:sp>
        <p:nvSpPr>
          <p:cNvPr id="26" name="Shape 23"/>
          <p:cNvSpPr/>
          <p:nvPr/>
        </p:nvSpPr>
        <p:spPr>
          <a:xfrm>
            <a:off x="7452177" y="3310128"/>
            <a:ext cx="4236598" cy="1298448"/>
          </a:xfrm>
          <a:prstGeom prst="roundRect">
            <a:avLst>
              <a:gd name="adj" fmla="val 4225"/>
            </a:avLst>
          </a:prstGeom>
          <a:solidFill>
            <a:srgbClr val="0F172A"/>
          </a:solidFill>
          <a:ln w="12700">
            <a:solidFill>
              <a:srgbClr val="333333"/>
            </a:solidFill>
            <a:prstDash val="solid"/>
          </a:ln>
        </p:spPr>
      </p:sp>
      <p:sp>
        <p:nvSpPr>
          <p:cNvPr id="27" name="Text 24"/>
          <p:cNvSpPr txBox="1"/>
          <p:nvPr/>
        </p:nvSpPr>
        <p:spPr>
          <a:xfrm>
            <a:off x="7726497" y="3456432"/>
            <a:ext cx="3687958" cy="25603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Break-even: 1.0 hire a year</a:t>
            </a:r>
            <a:endParaRPr lang="en-US" sz="1700" dirty="0"/>
          </a:p>
        </p:txBody>
      </p:sp>
      <p:sp>
        <p:nvSpPr>
          <p:cNvPr id="28" name="Text 25"/>
          <p:cNvSpPr txBox="1"/>
          <p:nvPr/>
        </p:nvSpPr>
        <p:spPr>
          <a:xfrm>
            <a:off x="7726497" y="3749040"/>
            <a:ext cx="3687958" cy="786384"/>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One internal fill out of roughly 60 internal requisitions a year — a 1.7% hit rate — repays the whole three-year cost.</a:t>
            </a:r>
            <a:endParaRPr lang="en-US" sz="1400" dirty="0"/>
          </a:p>
        </p:txBody>
      </p:sp>
      <p:sp>
        <p:nvSpPr>
          <p:cNvPr id="29" name="Shape 26"/>
          <p:cNvSpPr/>
          <p:nvPr/>
        </p:nvSpPr>
        <p:spPr>
          <a:xfrm>
            <a:off x="7452177" y="4754880"/>
            <a:ext cx="4236598" cy="1298448"/>
          </a:xfrm>
          <a:prstGeom prst="roundRect">
            <a:avLst>
              <a:gd name="adj" fmla="val 4225"/>
            </a:avLst>
          </a:prstGeom>
          <a:solidFill>
            <a:srgbClr val="F7F8FA"/>
          </a:solidFill>
          <a:ln w="12700">
            <a:solidFill>
              <a:srgbClr val="333333"/>
            </a:solidFill>
            <a:prstDash val="solid"/>
          </a:ln>
        </p:spPr>
      </p:sp>
      <p:sp>
        <p:nvSpPr>
          <p:cNvPr id="30" name="Text 27"/>
          <p:cNvSpPr txBox="1"/>
          <p:nvPr/>
        </p:nvSpPr>
        <p:spPr>
          <a:xfrm>
            <a:off x="7726497" y="4882896"/>
            <a:ext cx="368795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benefit comes from</a:t>
            </a:r>
            <a:endParaRPr lang="en-US" sz="1700" dirty="0"/>
          </a:p>
        </p:txBody>
      </p:sp>
      <p:sp>
        <p:nvSpPr>
          <p:cNvPr id="31" name="Text 28"/>
          <p:cNvSpPr txBox="1"/>
          <p:nvPr/>
        </p:nvSpPr>
        <p:spPr>
          <a:xfrm>
            <a:off x="7726497" y="5157216"/>
            <a:ext cx="3687958" cy="859536"/>
          </a:xfrm>
          <a:prstGeom prst="rect">
            <a:avLst/>
          </a:prstGeom>
          <a:noFill/>
          <a:ln/>
        </p:spPr>
        <p:txBody>
          <a:bodyPr wrap="square" lIns="0" tIns="0" rIns="0" bIns="0" rtlCol="0" anchor="t"/>
          <a:lstStyle/>
          <a:p>
            <a:pPr indent="0" marL="0">
              <a:lnSpc>
                <a:spcPts val="1800"/>
              </a:lnSpc>
              <a:buNone/>
            </a:pPr>
            <a:r>
              <a:rPr lang="en-US" sz="1400" b="1" dirty="0">
                <a:solidFill>
                  <a:srgbClr val="C00000"/>
                </a:solidFill>
                <a:latin typeface="Arial" pitchFamily="34" charset="0"/>
                <a:ea typeface="Arial" pitchFamily="34" charset="-122"/>
                <a:cs typeface="Arial" pitchFamily="34" charset="-120"/>
              </a:rPr>
              <a:t>Attributed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agency fees and vacancy days avoided.
</a:t>
            </a:r>
            <a:pPr indent="0" marL="0">
              <a:lnSpc>
                <a:spcPts val="1800"/>
              </a:lnSpc>
              <a:buNone/>
            </a:pPr>
            <a:r>
              <a:rPr lang="en-US" sz="1400" b="1" dirty="0">
                <a:solidFill>
                  <a:srgbClr val="15803D"/>
                </a:solidFill>
                <a:latin typeface="Arial" pitchFamily="34" charset="0"/>
                <a:ea typeface="Arial" pitchFamily="34" charset="-122"/>
                <a:cs typeface="Arial" pitchFamily="34" charset="-120"/>
              </a:rPr>
              <a:t>Owned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retention among participants, needing no attribution.</a:t>
            </a:r>
            <a:endParaRPr lang="en-US" sz="1400" dirty="0"/>
          </a:p>
        </p:txBody>
      </p:sp>
      <p:sp>
        <p:nvSpPr>
          <p:cNvPr id="32" name="Shape 29"/>
          <p:cNvSpPr/>
          <p:nvPr/>
        </p:nvSpPr>
        <p:spPr>
          <a:xfrm>
            <a:off x="502920" y="6291072"/>
            <a:ext cx="11185855" cy="0"/>
          </a:xfrm>
          <a:prstGeom prst="line">
            <a:avLst/>
          </a:prstGeom>
          <a:noFill/>
          <a:ln w="12700">
            <a:solidFill>
              <a:srgbClr val="E5E7EB"/>
            </a:solidFill>
            <a:prstDash val="solid"/>
          </a:ln>
        </p:spPr>
      </p:sp>
      <p:sp>
        <p:nvSpPr>
          <p:cNvPr id="33"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Basis: Growth-v2-CBA.xlsx. Excludes gig output value, skills built and network effects — real, but not reliably measurable.</a:t>
            </a:r>
            <a:endParaRPr lang="en-US" sz="1400" dirty="0"/>
          </a:p>
        </p:txBody>
      </p:sp>
      <p:sp>
        <p:nvSpPr>
          <p:cNvPr id="34"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AGAINST 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Ten to twenty-seven times cheaper than buying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Gloat · Fuel50 · Eightfold · Workday Talent Marketplace — three-year total cost at 637 seats.</a:t>
            </a:r>
            <a:endParaRPr lang="en-US" sz="1600" dirty="0"/>
          </a:p>
        </p:txBody>
      </p:sp>
      <p:graphicFrame>
        <p:nvGraphicFramePr>
          <p:cNvPr id="5" name="Chart 0" descr=""/>
          <p:cNvGraphicFramePr/>
          <p:nvPr/>
        </p:nvGraphicFramePr>
        <p:xfrm>
          <a:off x="502920" y="1810512"/>
          <a:ext cx="6152220" cy="230428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929460" y="1810512"/>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148916" y="1865376"/>
            <a:ext cx="4320403" cy="329184"/>
          </a:xfrm>
          <a:prstGeom prst="rect">
            <a:avLst/>
          </a:prstGeom>
          <a:noFill/>
          <a:ln/>
        </p:spPr>
        <p:txBody>
          <a:bodyPr wrap="square" lIns="0" tIns="0" rIns="0" bIns="0" rtlCol="0" anchor="ctr"/>
          <a:lstStyle/>
          <a:p>
            <a:pPr indent="0" marL="0">
              <a:buNone/>
            </a:pPr>
            <a:r>
              <a:rPr lang="en-US" sz="2400" b="1" dirty="0">
                <a:solidFill>
                  <a:srgbClr val="15803D"/>
                </a:solidFill>
                <a:latin typeface="Arial" pitchFamily="34" charset="0"/>
                <a:ea typeface="Arial" pitchFamily="34" charset="-122"/>
                <a:cs typeface="Arial" pitchFamily="34" charset="-120"/>
              </a:rPr>
              <a:t>₱1.05M</a:t>
            </a:r>
            <a:endParaRPr lang="en-US" sz="2400" dirty="0"/>
          </a:p>
        </p:txBody>
      </p:sp>
      <p:sp>
        <p:nvSpPr>
          <p:cNvPr id="8" name="Text 5"/>
          <p:cNvSpPr txBox="1"/>
          <p:nvPr/>
        </p:nvSpPr>
        <p:spPr>
          <a:xfrm>
            <a:off x="7148916" y="2212848"/>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Growth, built in-house · ₱1,649 per employee</a:t>
            </a:r>
            <a:endParaRPr lang="en-US" sz="1400" dirty="0"/>
          </a:p>
        </p:txBody>
      </p:sp>
      <p:sp>
        <p:nvSpPr>
          <p:cNvPr id="9" name="Shape 6"/>
          <p:cNvSpPr/>
          <p:nvPr/>
        </p:nvSpPr>
        <p:spPr>
          <a:xfrm>
            <a:off x="6929460" y="2615184"/>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148916" y="2670048"/>
            <a:ext cx="4320403" cy="329184"/>
          </a:xfrm>
          <a:prstGeom prst="rect">
            <a:avLst/>
          </a:prstGeom>
          <a:noFill/>
          <a:ln/>
        </p:spPr>
        <p:txBody>
          <a:bodyPr wrap="square" lIns="0" tIns="0" rIns="0" bIns="0" rtlCol="0" anchor="ctr"/>
          <a:lstStyle/>
          <a:p>
            <a:pPr indent="0" marL="0">
              <a:buNone/>
            </a:pPr>
            <a:r>
              <a:rPr lang="en-US" sz="2400" b="1" dirty="0">
                <a:solidFill>
                  <a:srgbClr val="6B7280"/>
                </a:solidFill>
                <a:latin typeface="Arial" pitchFamily="34" charset="0"/>
                <a:ea typeface="Arial" pitchFamily="34" charset="-122"/>
                <a:cs typeface="Arial" pitchFamily="34" charset="-120"/>
              </a:rPr>
              <a:t>₱10.2M – ₱27.8M</a:t>
            </a:r>
            <a:endParaRPr lang="en-US" sz="2400" dirty="0"/>
          </a:p>
        </p:txBody>
      </p:sp>
      <p:sp>
        <p:nvSpPr>
          <p:cNvPr id="11" name="Text 8"/>
          <p:cNvSpPr txBox="1"/>
          <p:nvPr/>
        </p:nvSpPr>
        <p:spPr>
          <a:xfrm>
            <a:off x="7148916" y="3017520"/>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External platform · ₱15,934–₱43,705 per employee</a:t>
            </a:r>
            <a:endParaRPr lang="en-US" sz="1400" dirty="0"/>
          </a:p>
        </p:txBody>
      </p:sp>
      <p:sp>
        <p:nvSpPr>
          <p:cNvPr id="12" name="Shape 9"/>
          <p:cNvSpPr/>
          <p:nvPr/>
        </p:nvSpPr>
        <p:spPr>
          <a:xfrm>
            <a:off x="6929460" y="3419856"/>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148916" y="3474720"/>
            <a:ext cx="4320403" cy="32918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₱9.1M – ₱26.8M</a:t>
            </a:r>
            <a:endParaRPr lang="en-US" sz="2400" dirty="0"/>
          </a:p>
        </p:txBody>
      </p:sp>
      <p:sp>
        <p:nvSpPr>
          <p:cNvPr id="14" name="Text 11"/>
          <p:cNvSpPr txBox="1"/>
          <p:nvPr/>
        </p:nvSpPr>
        <p:spPr>
          <a:xfrm>
            <a:off x="7148916" y="3822192"/>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three-year cost difference</a:t>
            </a:r>
            <a:endParaRPr lang="en-US" sz="1400" dirty="0"/>
          </a:p>
        </p:txBody>
      </p:sp>
      <p:sp>
        <p:nvSpPr>
          <p:cNvPr id="15" name="Shape 12"/>
          <p:cNvSpPr/>
          <p:nvPr/>
        </p:nvSpPr>
        <p:spPr>
          <a:xfrm>
            <a:off x="502920" y="4315968"/>
            <a:ext cx="11185855" cy="1700784"/>
          </a:xfrm>
          <a:prstGeom prst="roundRect">
            <a:avLst>
              <a:gd name="adj" fmla="val 3226"/>
            </a:avLst>
          </a:prstGeom>
          <a:solidFill>
            <a:srgbClr val="0F172A"/>
          </a:solidFill>
          <a:ln w="12700">
            <a:solidFill>
              <a:srgbClr val="333333"/>
            </a:solidFill>
            <a:prstDash val="solid"/>
          </a:ln>
        </p:spPr>
      </p:sp>
      <p:sp>
        <p:nvSpPr>
          <p:cNvPr id="16" name="Text 13"/>
          <p:cNvSpPr txBox="1"/>
          <p:nvPr/>
        </p:nvSpPr>
        <p:spPr>
          <a:xfrm>
            <a:off x="832104" y="4498848"/>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 framing that actually decides it: break-even in internal hires</a:t>
            </a:r>
            <a:endParaRPr lang="en-US" sz="1900" dirty="0"/>
          </a:p>
        </p:txBody>
      </p:sp>
      <p:sp>
        <p:nvSpPr>
          <p:cNvPr id="17" name="Text 14"/>
          <p:cNvSpPr txBox="1"/>
          <p:nvPr/>
        </p:nvSpPr>
        <p:spPr>
          <a:xfrm>
            <a:off x="832104"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29</a:t>
            </a:r>
            <a:endParaRPr lang="en-US" sz="3600" dirty="0"/>
          </a:p>
        </p:txBody>
      </p:sp>
      <p:sp>
        <p:nvSpPr>
          <p:cNvPr id="18" name="Text 15"/>
          <p:cNvSpPr txBox="1"/>
          <p:nvPr/>
        </p:nvSpPr>
        <p:spPr>
          <a:xfrm>
            <a:off x="832104"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low band</a:t>
            </a:r>
            <a:endParaRPr lang="en-US" sz="1500" dirty="0"/>
          </a:p>
        </p:txBody>
      </p:sp>
      <p:sp>
        <p:nvSpPr>
          <p:cNvPr id="19" name="Text 16"/>
          <p:cNvSpPr txBox="1"/>
          <p:nvPr/>
        </p:nvSpPr>
        <p:spPr>
          <a:xfrm>
            <a:off x="832104"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just to cover the licence</a:t>
            </a:r>
            <a:endParaRPr lang="en-US" sz="1400" dirty="0"/>
          </a:p>
        </p:txBody>
      </p:sp>
      <p:sp>
        <p:nvSpPr>
          <p:cNvPr id="20" name="Text 17"/>
          <p:cNvSpPr txBox="1"/>
          <p:nvPr/>
        </p:nvSpPr>
        <p:spPr>
          <a:xfrm>
            <a:off x="4432706"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80</a:t>
            </a:r>
            <a:endParaRPr lang="en-US" sz="3600" dirty="0"/>
          </a:p>
        </p:txBody>
      </p:sp>
      <p:sp>
        <p:nvSpPr>
          <p:cNvPr id="21" name="Text 18"/>
          <p:cNvSpPr txBox="1"/>
          <p:nvPr/>
        </p:nvSpPr>
        <p:spPr>
          <a:xfrm>
            <a:off x="4432706"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high band</a:t>
            </a:r>
            <a:endParaRPr lang="en-US" sz="1500" dirty="0"/>
          </a:p>
        </p:txBody>
      </p:sp>
      <p:sp>
        <p:nvSpPr>
          <p:cNvPr id="22" name="Text 19"/>
          <p:cNvSpPr txBox="1"/>
          <p:nvPr/>
        </p:nvSpPr>
        <p:spPr>
          <a:xfrm>
            <a:off x="4432706"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to cover the licence</a:t>
            </a:r>
            <a:endParaRPr lang="en-US" sz="1400" dirty="0"/>
          </a:p>
        </p:txBody>
      </p:sp>
      <p:sp>
        <p:nvSpPr>
          <p:cNvPr id="23" name="Text 20"/>
          <p:cNvSpPr txBox="1"/>
          <p:nvPr/>
        </p:nvSpPr>
        <p:spPr>
          <a:xfrm>
            <a:off x="8033309" y="4846320"/>
            <a:ext cx="3326282" cy="475488"/>
          </a:xfrm>
          <a:prstGeom prst="rect">
            <a:avLst/>
          </a:prstGeom>
          <a:noFill/>
          <a:ln/>
        </p:spPr>
        <p:txBody>
          <a:bodyPr wrap="square" lIns="0" tIns="0" rIns="0" bIns="0" rtlCol="0" anchor="ctr"/>
          <a:lstStyle/>
          <a:p>
            <a:pPr indent="0" marL="0">
              <a:buNone/>
            </a:pPr>
            <a:r>
              <a:rPr lang="en-US" sz="3600" b="1" dirty="0">
                <a:solidFill>
                  <a:srgbClr val="4ADE80"/>
                </a:solidFill>
                <a:latin typeface="Arial" pitchFamily="34" charset="0"/>
                <a:ea typeface="Arial" pitchFamily="34" charset="-122"/>
                <a:cs typeface="Arial" pitchFamily="34" charset="-120"/>
              </a:rPr>
              <a:t>3</a:t>
            </a:r>
            <a:endParaRPr lang="en-US" sz="3600" dirty="0"/>
          </a:p>
        </p:txBody>
      </p:sp>
      <p:sp>
        <p:nvSpPr>
          <p:cNvPr id="24" name="Text 21"/>
          <p:cNvSpPr txBox="1"/>
          <p:nvPr/>
        </p:nvSpPr>
        <p:spPr>
          <a:xfrm>
            <a:off x="8033309"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Growth, built in-house</a:t>
            </a:r>
            <a:endParaRPr lang="en-US" sz="1500" dirty="0"/>
          </a:p>
        </p:txBody>
      </p:sp>
      <p:sp>
        <p:nvSpPr>
          <p:cNvPr id="25" name="Text 22"/>
          <p:cNvSpPr txBox="1"/>
          <p:nvPr/>
        </p:nvSpPr>
        <p:spPr>
          <a:xfrm>
            <a:off x="8033309"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 one a year</a:t>
            </a:r>
            <a:endParaRPr lang="en-US" sz="14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Issue an RFP stating 637 seats and ask for minimum annual contract value before deciding.</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ADOPTION PLAN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Adoption is the risk, not the technology.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 great platform nobody climbs into is wasted money. Four phases, and one behaviour we have to design against.</a:t>
            </a:r>
            <a:endParaRPr lang="en-US" sz="1600" dirty="0"/>
          </a:p>
        </p:txBody>
      </p:sp>
      <p:sp>
        <p:nvSpPr>
          <p:cNvPr id="5" name="Shape 3"/>
          <p:cNvSpPr/>
          <p:nvPr/>
        </p:nvSpPr>
        <p:spPr>
          <a:xfrm>
            <a:off x="502920"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22376"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0</a:t>
            </a:r>
            <a:endParaRPr lang="en-US" sz="1400" dirty="0"/>
          </a:p>
        </p:txBody>
      </p:sp>
      <p:sp>
        <p:nvSpPr>
          <p:cNvPr id="7" name="Text 5"/>
          <p:cNvSpPr txBox="1"/>
          <p:nvPr/>
        </p:nvSpPr>
        <p:spPr>
          <a:xfrm>
            <a:off x="722376"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Seed the shelves</a:t>
            </a:r>
            <a:endParaRPr lang="en-US" sz="1800" dirty="0"/>
          </a:p>
        </p:txBody>
      </p:sp>
      <p:sp>
        <p:nvSpPr>
          <p:cNvPr id="8" name="Text 6"/>
          <p:cNvSpPr txBox="1"/>
          <p:nvPr/>
        </p:nvSpPr>
        <p:spPr>
          <a:xfrm>
            <a:off x="722376"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Pre-launch · 2 weeks</a:t>
            </a:r>
            <a:endParaRPr lang="en-US" sz="1400" dirty="0"/>
          </a:p>
        </p:txBody>
      </p:sp>
      <p:sp>
        <p:nvSpPr>
          <p:cNvPr id="9" name="Text 7"/>
          <p:cNvSpPr txBox="1"/>
          <p:nvPr/>
        </p:nvSpPr>
        <p:spPr>
          <a:xfrm>
            <a:off x="722376"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Pre-load 20–30 opportunities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Recruit 5–8 champion managers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Secure 2–3 ExCo anchor gigs</a:t>
            </a:r>
            <a:endParaRPr lang="en-US" sz="1400" dirty="0"/>
          </a:p>
        </p:txBody>
      </p:sp>
      <p:sp>
        <p:nvSpPr>
          <p:cNvPr id="10" name="Shape 8"/>
          <p:cNvSpPr/>
          <p:nvPr/>
        </p:nvSpPr>
        <p:spPr>
          <a:xfrm>
            <a:off x="3345104"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Text 9"/>
          <p:cNvSpPr txBox="1"/>
          <p:nvPr/>
        </p:nvSpPr>
        <p:spPr>
          <a:xfrm>
            <a:off x="3564560"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1</a:t>
            </a:r>
            <a:endParaRPr lang="en-US" sz="1400" dirty="0"/>
          </a:p>
        </p:txBody>
      </p:sp>
      <p:sp>
        <p:nvSpPr>
          <p:cNvPr id="12" name="Text 10"/>
          <p:cNvSpPr txBox="1"/>
          <p:nvPr/>
        </p:nvSpPr>
        <p:spPr>
          <a:xfrm>
            <a:off x="3564560"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Land the idea</a:t>
            </a:r>
            <a:endParaRPr lang="en-US" sz="1800" dirty="0"/>
          </a:p>
        </p:txBody>
      </p:sp>
      <p:sp>
        <p:nvSpPr>
          <p:cNvPr id="13" name="Text 11"/>
          <p:cNvSpPr txBox="1"/>
          <p:nvPr/>
        </p:nvSpPr>
        <p:spPr>
          <a:xfrm>
            <a:off x="3564560"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Launch · weeks 1–2</a:t>
            </a:r>
            <a:endParaRPr lang="en-US" sz="1400" dirty="0"/>
          </a:p>
        </p:txBody>
      </p:sp>
      <p:sp>
        <p:nvSpPr>
          <p:cNvPr id="14" name="Text 12"/>
          <p:cNvSpPr txBox="1"/>
          <p:nvPr/>
        </p:nvSpPr>
        <p:spPr>
          <a:xfrm>
            <a:off x="3564560"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Sponsor sends the first note</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"Growth is not a ladder" campaign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Live demo and Q&amp;A at town hall</a:t>
            </a:r>
            <a:endParaRPr lang="en-US" sz="1400" dirty="0"/>
          </a:p>
        </p:txBody>
      </p:sp>
      <p:sp>
        <p:nvSpPr>
          <p:cNvPr id="15" name="Shape 13"/>
          <p:cNvSpPr/>
          <p:nvPr/>
        </p:nvSpPr>
        <p:spPr>
          <a:xfrm>
            <a:off x="6187288"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6406744"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2</a:t>
            </a:r>
            <a:endParaRPr lang="en-US" sz="1400" dirty="0"/>
          </a:p>
        </p:txBody>
      </p:sp>
      <p:sp>
        <p:nvSpPr>
          <p:cNvPr id="17" name="Text 15"/>
          <p:cNvSpPr txBox="1"/>
          <p:nvPr/>
        </p:nvSpPr>
        <p:spPr>
          <a:xfrm>
            <a:off x="6406744"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Make it social</a:t>
            </a:r>
            <a:endParaRPr lang="en-US" sz="1800" dirty="0"/>
          </a:p>
        </p:txBody>
      </p:sp>
      <p:sp>
        <p:nvSpPr>
          <p:cNvPr id="18" name="Text 16"/>
          <p:cNvSpPr txBox="1"/>
          <p:nvPr/>
        </p:nvSpPr>
        <p:spPr>
          <a:xfrm>
            <a:off x="6406744"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Weeks 3–12</a:t>
            </a:r>
            <a:endParaRPr lang="en-US" sz="1400" dirty="0"/>
          </a:p>
        </p:txBody>
      </p:sp>
      <p:sp>
        <p:nvSpPr>
          <p:cNvPr id="19" name="Text 17"/>
          <p:cNvSpPr txBox="1"/>
          <p:nvPr/>
        </p:nvSpPr>
        <p:spPr>
          <a:xfrm>
            <a:off x="6406744"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first-mover stories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"Talent Exporter" recognition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Weekly "new this week" digest</a:t>
            </a:r>
            <a:endParaRPr lang="en-US" sz="1400" dirty="0"/>
          </a:p>
        </p:txBody>
      </p:sp>
      <p:sp>
        <p:nvSpPr>
          <p:cNvPr id="20" name="Shape 18"/>
          <p:cNvSpPr/>
          <p:nvPr/>
        </p:nvSpPr>
        <p:spPr>
          <a:xfrm>
            <a:off x="9029471"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9248927"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3</a:t>
            </a:r>
            <a:endParaRPr lang="en-US" sz="1400" dirty="0"/>
          </a:p>
        </p:txBody>
      </p:sp>
      <p:sp>
        <p:nvSpPr>
          <p:cNvPr id="22" name="Text 20"/>
          <p:cNvSpPr txBox="1"/>
          <p:nvPr/>
        </p:nvSpPr>
        <p:spPr>
          <a:xfrm>
            <a:off x="9248927"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Prove and scale</a:t>
            </a:r>
            <a:endParaRPr lang="en-US" sz="1800" dirty="0"/>
          </a:p>
        </p:txBody>
      </p:sp>
      <p:sp>
        <p:nvSpPr>
          <p:cNvPr id="23" name="Text 21"/>
          <p:cNvSpPr txBox="1"/>
          <p:nvPr/>
        </p:nvSpPr>
        <p:spPr>
          <a:xfrm>
            <a:off x="9248927"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Month 3 onward</a:t>
            </a:r>
            <a:endParaRPr lang="en-US" sz="1400" dirty="0"/>
          </a:p>
        </p:txBody>
      </p:sp>
      <p:sp>
        <p:nvSpPr>
          <p:cNvPr id="24" name="Text 22"/>
          <p:cNvSpPr txBox="1"/>
          <p:nvPr/>
        </p:nvSpPr>
        <p:spPr>
          <a:xfrm>
            <a:off x="9248927"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Report fills and savings to ExCo</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match quality</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Extend beyond the pilot bands</a:t>
            </a:r>
            <a:endParaRPr lang="en-US" sz="1400" dirty="0"/>
          </a:p>
        </p:txBody>
      </p:sp>
      <p:sp>
        <p:nvSpPr>
          <p:cNvPr id="25" name="Shape 23"/>
          <p:cNvSpPr/>
          <p:nvPr/>
        </p:nvSpPr>
        <p:spPr>
          <a:xfrm>
            <a:off x="502920" y="4718304"/>
            <a:ext cx="11185855" cy="1298448"/>
          </a:xfrm>
          <a:prstGeom prst="roundRect">
            <a:avLst>
              <a:gd name="adj" fmla="val 4225"/>
            </a:avLst>
          </a:prstGeom>
          <a:solidFill>
            <a:srgbClr val="FFFBEB"/>
          </a:solidFill>
          <a:ln w="12700">
            <a:solidFill>
              <a:srgbClr val="333333"/>
            </a:solidFill>
            <a:prstDash val="solid"/>
          </a:ln>
        </p:spPr>
      </p:sp>
      <p:sp>
        <p:nvSpPr>
          <p:cNvPr id="26" name="Text 24"/>
          <p:cNvSpPr txBox="1"/>
          <p:nvPr/>
        </p:nvSpPr>
        <p:spPr>
          <a:xfrm>
            <a:off x="832104" y="4864608"/>
            <a:ext cx="10527487" cy="274320"/>
          </a:xfrm>
          <a:prstGeom prst="rect">
            <a:avLst/>
          </a:prstGeom>
          <a:noFill/>
          <a:ln/>
        </p:spPr>
        <p:txBody>
          <a:bodyPr wrap="square" lIns="0" tIns="0" rIns="0" bIns="0" rtlCol="0" anchor="ctr"/>
          <a:lstStyle/>
          <a:p>
            <a:pPr indent="0" marL="0">
              <a:buNone/>
            </a:pPr>
            <a:r>
              <a:rPr lang="en-US" sz="1800" b="1" dirty="0">
                <a:solidFill>
                  <a:srgbClr val="B45309"/>
                </a:solidFill>
                <a:latin typeface="Arial" pitchFamily="34" charset="0"/>
                <a:ea typeface="Arial" pitchFamily="34" charset="-122"/>
                <a:cs typeface="Arial" pitchFamily="34" charset="-120"/>
              </a:rPr>
              <a:t>The adoption killer we have to design against: manager hoarding</a:t>
            </a:r>
            <a:endParaRPr lang="en-US" sz="1800" dirty="0"/>
          </a:p>
        </p:txBody>
      </p:sp>
      <p:sp>
        <p:nvSpPr>
          <p:cNvPr id="27" name="Text 25"/>
          <p:cNvSpPr txBox="1"/>
          <p:nvPr/>
        </p:nvSpPr>
        <p:spPr>
          <a:xfrm>
            <a:off x="832104" y="5157216"/>
            <a:ext cx="10527487" cy="786384"/>
          </a:xfrm>
          <a:prstGeom prst="rect">
            <a:avLst/>
          </a:prstGeom>
          <a:noFill/>
          <a:ln/>
        </p:spPr>
        <p:txBody>
          <a:bodyPr wrap="square" lIns="0" tIns="0" rIns="0" bIns="0" rtlCol="0" anchor="t"/>
          <a:lstStyle/>
          <a:p>
            <a:pPr indent="0" marL="0">
              <a:lnSpc>
                <a:spcPts val="2000"/>
              </a:lnSpc>
              <a:buNone/>
            </a:pPr>
            <a:r>
              <a:rPr lang="en-US" sz="1500" dirty="0">
                <a:solidFill>
                  <a:srgbClr val="92400E"/>
                </a:solidFill>
                <a:latin typeface="Arial" pitchFamily="34" charset="0"/>
                <a:ea typeface="Arial" pitchFamily="34" charset="-122"/>
                <a:cs typeface="Arial" pitchFamily="34" charset="-120"/>
              </a:rPr>
              <a:t>Every manager wants access to other teams' talent and resists lending their own, and no messaging changes that because the incentive points the other way. The counter is a "Talent Exporter" metric: recognise the leaders whose people grow and move, and report it alongside their other numbers.</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Phase 0 is non-negotiable — an empty marketplace on day one kills the product before it is judged.</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SUCCESS MEASURES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2700" b="1" dirty="0">
                <a:solidFill>
                  <a:srgbClr val="0F172A"/>
                </a:solidFill>
                <a:latin typeface="Arial" pitchFamily="34" charset="0"/>
                <a:ea typeface="Arial" pitchFamily="34" charset="-122"/>
                <a:cs typeface="Arial" pitchFamily="34" charset="-120"/>
              </a:rPr>
              <a:t>How we will know it worked — and what we are not claiming.</a:t>
            </a:r>
            <a:endParaRPr lang="en-US" sz="27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Business metrics lead. Engagement metrics support; they do not carry the case.</a:t>
            </a:r>
            <a:endParaRPr lang="en-US" sz="1600" dirty="0"/>
          </a:p>
        </p:txBody>
      </p:sp>
      <p:sp>
        <p:nvSpPr>
          <p:cNvPr id="5" name="Shape 3"/>
          <p:cNvSpPr/>
          <p:nvPr/>
        </p:nvSpPr>
        <p:spPr>
          <a:xfrm>
            <a:off x="502920" y="1773936"/>
            <a:ext cx="6879301" cy="4242816"/>
          </a:xfrm>
          <a:prstGeom prst="roundRect">
            <a:avLst>
              <a:gd name="adj" fmla="val 129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636723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targets — three months, 637 employees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58952" y="2231136"/>
          <a:ext cx="6367237" cy="914400"/>
        </p:xfrm>
        <a:graphic>
          <a:graphicData uri="http://schemas.openxmlformats.org/drawingml/2006/table">
            <a:tbl>
              <a:tblPr/>
              <a:tblGrid>
                <a:gridCol w="2651760"/>
                <a:gridCol w="932688"/>
                <a:gridCol w="1005840"/>
                <a:gridCol w="2286000"/>
              </a:tblGrid>
              <a:tr h="365760">
                <a:tc>
                  <a:txBody>
                    <a:bodyPr/>
                    <a:lstStyle/>
                    <a:p>
                      <a:pPr indent="0" marL="0">
                        <a:buNone/>
                      </a:pPr>
                      <a:r>
                        <a:rPr lang="en-US" sz="1400" b="1" dirty="0">
                          <a:solidFill>
                            <a:srgbClr val="6B7280"/>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Today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Pilot target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Why it matters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Internal fill rate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17.6%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The headline number.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External-hire spend, B and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₱13.1M/yr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₱22k saved per B fill, ₱87k per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Gigs and immersions filled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 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Capacity we could not create.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Time to staff a priority project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Weeks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Days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Agility for ExCo work.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Confirmed referrals to HC Connect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Evidence for attributed pesos.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Match quality, rated both sides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4.0 / 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Bad matches destroy trust fast.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Profiles with skills on file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80%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An empty profile matches nothing.</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Shape 5"/>
          <p:cNvSpPr/>
          <p:nvPr/>
        </p:nvSpPr>
        <p:spPr>
          <a:xfrm>
            <a:off x="7619965" y="1773936"/>
            <a:ext cx="4068810" cy="2103120"/>
          </a:xfrm>
          <a:prstGeom prst="roundRect">
            <a:avLst>
              <a:gd name="adj" fmla="val 2609"/>
            </a:avLst>
          </a:prstGeom>
          <a:solidFill>
            <a:srgbClr val="F7F8FA"/>
          </a:solidFill>
          <a:ln w="12700">
            <a:solidFill>
              <a:srgbClr val="333333"/>
            </a:solidFill>
            <a:prstDash val="solid"/>
          </a:ln>
        </p:spPr>
      </p:sp>
      <p:sp>
        <p:nvSpPr>
          <p:cNvPr id="9" name="Text 6"/>
          <p:cNvSpPr txBox="1"/>
          <p:nvPr/>
        </p:nvSpPr>
        <p:spPr>
          <a:xfrm>
            <a:off x="7894285" y="1938528"/>
            <a:ext cx="3520170" cy="256032"/>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we are not claiming</a:t>
            </a:r>
            <a:endParaRPr lang="en-US" sz="1800" dirty="0"/>
          </a:p>
        </p:txBody>
      </p:sp>
      <p:sp>
        <p:nvSpPr>
          <p:cNvPr id="10" name="Text 7"/>
          <p:cNvSpPr txBox="1"/>
          <p:nvPr/>
        </p:nvSpPr>
        <p:spPr>
          <a:xfrm>
            <a:off x="7894285" y="2231136"/>
            <a:ext cx="3520170" cy="157276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Our eNPS on growth opportunity is already healthy, so this is not a fix for a broken career ladder. Nor should internal fill reach 100% — some external hiring brings skills we need. We target the gap between 17.6% and the benchmark.</a:t>
            </a:r>
            <a:endParaRPr lang="en-US" sz="1400" dirty="0"/>
          </a:p>
        </p:txBody>
      </p:sp>
      <p:sp>
        <p:nvSpPr>
          <p:cNvPr id="11" name="Shape 8"/>
          <p:cNvSpPr/>
          <p:nvPr/>
        </p:nvSpPr>
        <p:spPr>
          <a:xfrm>
            <a:off x="7619965" y="4041648"/>
            <a:ext cx="4068810" cy="1938528"/>
          </a:xfrm>
          <a:prstGeom prst="roundRect">
            <a:avLst>
              <a:gd name="adj" fmla="val 2830"/>
            </a:avLst>
          </a:prstGeom>
          <a:solidFill>
            <a:srgbClr val="0F172A"/>
          </a:solidFill>
          <a:ln w="12700">
            <a:solidFill>
              <a:srgbClr val="333333"/>
            </a:solidFill>
            <a:prstDash val="solid"/>
          </a:ln>
        </p:spPr>
      </p:sp>
      <p:sp>
        <p:nvSpPr>
          <p:cNvPr id="12" name="Text 9"/>
          <p:cNvSpPr txBox="1"/>
          <p:nvPr/>
        </p:nvSpPr>
        <p:spPr>
          <a:xfrm>
            <a:off x="7894285" y="4206240"/>
            <a:ext cx="3520170" cy="256032"/>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the pilot will be judged</a:t>
            </a:r>
            <a:endParaRPr lang="en-US" sz="1800" dirty="0"/>
          </a:p>
        </p:txBody>
      </p:sp>
      <p:sp>
        <p:nvSpPr>
          <p:cNvPr id="13" name="Text 10"/>
          <p:cNvSpPr txBox="1"/>
          <p:nvPr/>
        </p:nvSpPr>
        <p:spPr>
          <a:xfrm>
            <a:off x="7894285" y="4498848"/>
            <a:ext cx="3520170" cy="1371600"/>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Three months, 637 employees in IT, Operations and P&amp;C, on Band B pivots and Band C lateral moves. Judged on fills and savings. If the fill rate has not moved by month three, we stop and say so.</a:t>
            </a:r>
            <a:endParaRPr lang="en-US" sz="1400" dirty="0"/>
          </a:p>
        </p:txBody>
      </p:sp>
      <p:sp>
        <p:nvSpPr>
          <p:cNvPr id="14" name="Shape 11"/>
          <p:cNvSpPr/>
          <p:nvPr/>
        </p:nvSpPr>
        <p:spPr>
          <a:xfrm>
            <a:off x="502920" y="6291072"/>
            <a:ext cx="11185855" cy="0"/>
          </a:xfrm>
          <a:prstGeom prst="line">
            <a:avLst/>
          </a:prstGeom>
          <a:noFill/>
          <a:ln w="12700">
            <a:solidFill>
              <a:srgbClr val="E5E7EB"/>
            </a:solidFill>
            <a:prstDash val="solid"/>
          </a:ln>
        </p:spPr>
      </p:sp>
      <p:sp>
        <p:nvSpPr>
          <p:cNvPr id="15" name="Text 1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Baselines: 2024–2026 internal job posting data · 2024 cost-per-hire · 2025 hiring volumes.</a:t>
            </a:r>
            <a:endParaRPr lang="en-US" sz="1400" dirty="0"/>
          </a:p>
        </p:txBody>
      </p:sp>
      <p:sp>
        <p:nvSpPr>
          <p:cNvPr id="16" name="Text 1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RISKS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could break this, and what we do about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Listed worst-first. The top two are gates: we settle them before a peso is spent.</a:t>
            </a:r>
            <a:endParaRPr lang="en-US" sz="1600" dirty="0"/>
          </a:p>
        </p:txBody>
      </p:sp>
      <p:sp>
        <p:nvSpPr>
          <p:cNvPr id="5" name="Text 3"/>
          <p:cNvSpPr txBox="1"/>
          <p:nvPr/>
        </p:nvSpPr>
        <p:spPr>
          <a:xfrm>
            <a:off x="521208" y="1773936"/>
            <a:ext cx="32004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RISK</a:t>
            </a:r>
            <a:endParaRPr lang="en-US" sz="1400" dirty="0"/>
          </a:p>
        </p:txBody>
      </p:sp>
      <p:sp>
        <p:nvSpPr>
          <p:cNvPr id="6" name="Text 4"/>
          <p:cNvSpPr txBox="1"/>
          <p:nvPr/>
        </p:nvSpPr>
        <p:spPr>
          <a:xfrm>
            <a:off x="4572000" y="1773936"/>
            <a:ext cx="338328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IMPACT IF IT HAPPENS</a:t>
            </a:r>
            <a:endParaRPr lang="en-US" sz="1400" dirty="0"/>
          </a:p>
        </p:txBody>
      </p:sp>
      <p:sp>
        <p:nvSpPr>
          <p:cNvPr id="7" name="Text 5"/>
          <p:cNvSpPr txBox="1"/>
          <p:nvPr/>
        </p:nvSpPr>
        <p:spPr>
          <a:xfrm>
            <a:off x="8046720" y="1773936"/>
            <a:ext cx="36576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MITIGATION</a:t>
            </a:r>
            <a:endParaRPr lang="en-US" sz="1400" dirty="0"/>
          </a:p>
        </p:txBody>
      </p:sp>
      <p:sp>
        <p:nvSpPr>
          <p:cNvPr id="8" name="Shape 6"/>
          <p:cNvSpPr/>
          <p:nvPr/>
        </p:nvSpPr>
        <p:spPr>
          <a:xfrm>
            <a:off x="502920" y="2048256"/>
            <a:ext cx="11185855" cy="566928"/>
          </a:xfrm>
          <a:prstGeom prst="roundRect">
            <a:avLst>
              <a:gd name="adj" fmla="val 9677"/>
            </a:avLst>
          </a:prstGeom>
          <a:solidFill>
            <a:srgbClr val="FDF1F1"/>
          </a:solidFill>
          <a:ln w="12700">
            <a:solidFill>
              <a:srgbClr val="333333"/>
            </a:solidFill>
            <a:prstDash val="solid"/>
          </a:ln>
        </p:spPr>
      </p:sp>
      <p:sp>
        <p:nvSpPr>
          <p:cNvPr id="9" name="Text 7"/>
          <p:cNvSpPr txBox="1"/>
          <p:nvPr/>
        </p:nvSpPr>
        <p:spPr>
          <a:xfrm>
            <a:off x="722376" y="20848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Recruitment declines the HC Connect source field</a:t>
            </a:r>
            <a:endParaRPr lang="en-US" sz="1500" dirty="0"/>
          </a:p>
        </p:txBody>
      </p:sp>
      <p:sp>
        <p:nvSpPr>
          <p:cNvPr id="10" name="Shape 8"/>
          <p:cNvSpPr/>
          <p:nvPr/>
        </p:nvSpPr>
        <p:spPr>
          <a:xfrm>
            <a:off x="3904488" y="2194560"/>
            <a:ext cx="713232" cy="274320"/>
          </a:xfrm>
          <a:prstGeom prst="roundRect">
            <a:avLst>
              <a:gd name="adj" fmla="val 50000"/>
            </a:avLst>
          </a:prstGeom>
          <a:solidFill>
            <a:srgbClr val="C00000"/>
          </a:solidFill>
          <a:ln w="12700">
            <a:solidFill>
              <a:srgbClr val="333333"/>
            </a:solidFill>
            <a:prstDash val="solid"/>
          </a:ln>
        </p:spPr>
      </p:sp>
      <p:sp>
        <p:nvSpPr>
          <p:cNvPr id="11" name="Text 9"/>
          <p:cNvSpPr txBox="1"/>
          <p:nvPr/>
        </p:nvSpPr>
        <p:spPr>
          <a:xfrm>
            <a:off x="3904488" y="21945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2" name="Text 10"/>
          <p:cNvSpPr txBox="1"/>
          <p:nvPr/>
        </p:nvSpPr>
        <p:spPr>
          <a:xfrm>
            <a:off x="4791456" y="20848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Attributed benefit becomes unprovable. BCR falls to 3.0.</a:t>
            </a:r>
            <a:endParaRPr lang="en-US" sz="1400" dirty="0"/>
          </a:p>
        </p:txBody>
      </p:sp>
      <p:sp>
        <p:nvSpPr>
          <p:cNvPr id="13" name="Text 11"/>
          <p:cNvSpPr txBox="1"/>
          <p:nvPr/>
        </p:nvSpPr>
        <p:spPr>
          <a:xfrm>
            <a:off x="8083296" y="20848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it before the build starts. Configuration, not integration.</a:t>
            </a:r>
            <a:endParaRPr lang="en-US" sz="1400" dirty="0"/>
          </a:p>
        </p:txBody>
      </p:sp>
      <p:sp>
        <p:nvSpPr>
          <p:cNvPr id="14" name="Shape 12"/>
          <p:cNvSpPr/>
          <p:nvPr/>
        </p:nvSpPr>
        <p:spPr>
          <a:xfrm>
            <a:off x="502920" y="2688336"/>
            <a:ext cx="11185855" cy="566928"/>
          </a:xfrm>
          <a:prstGeom prst="roundRect">
            <a:avLst>
              <a:gd name="adj" fmla="val 9677"/>
            </a:avLst>
          </a:prstGeom>
          <a:solidFill>
            <a:srgbClr val="FDF1F1"/>
          </a:solidFill>
          <a:ln w="12700">
            <a:solidFill>
              <a:srgbClr val="333333"/>
            </a:solidFill>
            <a:prstDash val="solid"/>
          </a:ln>
        </p:spPr>
      </p:sp>
      <p:sp>
        <p:nvSpPr>
          <p:cNvPr id="15" name="Text 13"/>
          <p:cNvSpPr txBox="1"/>
          <p:nvPr/>
        </p:nvSpPr>
        <p:spPr>
          <a:xfrm>
            <a:off x="722376" y="272491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DPO blocks the referral log</a:t>
            </a:r>
            <a:endParaRPr lang="en-US" sz="1500" dirty="0"/>
          </a:p>
        </p:txBody>
      </p:sp>
      <p:sp>
        <p:nvSpPr>
          <p:cNvPr id="16" name="Shape 14"/>
          <p:cNvSpPr/>
          <p:nvPr/>
        </p:nvSpPr>
        <p:spPr>
          <a:xfrm>
            <a:off x="3904488" y="2834640"/>
            <a:ext cx="713232" cy="274320"/>
          </a:xfrm>
          <a:prstGeom prst="roundRect">
            <a:avLst>
              <a:gd name="adj" fmla="val 50000"/>
            </a:avLst>
          </a:prstGeom>
          <a:solidFill>
            <a:srgbClr val="C00000"/>
          </a:solidFill>
          <a:ln w="12700">
            <a:solidFill>
              <a:srgbClr val="333333"/>
            </a:solidFill>
            <a:prstDash val="solid"/>
          </a:ln>
        </p:spPr>
      </p:sp>
      <p:sp>
        <p:nvSpPr>
          <p:cNvPr id="17" name="Text 15"/>
          <p:cNvSpPr txBox="1"/>
          <p:nvPr/>
        </p:nvSpPr>
        <p:spPr>
          <a:xfrm>
            <a:off x="3904488" y="283464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8" name="Text 16"/>
          <p:cNvSpPr txBox="1"/>
          <p:nvPr/>
        </p:nvSpPr>
        <p:spPr>
          <a:xfrm>
            <a:off x="4791456" y="272491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The attribution tier is unavailable. Retention benefits are unaffected.</a:t>
            </a:r>
            <a:endParaRPr lang="en-US" sz="1400" dirty="0"/>
          </a:p>
        </p:txBody>
      </p:sp>
      <p:sp>
        <p:nvSpPr>
          <p:cNvPr id="19" name="Text 17"/>
          <p:cNvSpPr txBox="1"/>
          <p:nvPr/>
        </p:nvSpPr>
        <p:spPr>
          <a:xfrm>
            <a:off x="8083296" y="272491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Get the position in writing before build. The DPIA is already costed in.</a:t>
            </a:r>
            <a:endParaRPr lang="en-US" sz="1400" dirty="0"/>
          </a:p>
        </p:txBody>
      </p:sp>
      <p:sp>
        <p:nvSpPr>
          <p:cNvPr id="20" name="Shape 18"/>
          <p:cNvSpPr/>
          <p:nvPr/>
        </p:nvSpPr>
        <p:spPr>
          <a:xfrm>
            <a:off x="502920" y="3328416"/>
            <a:ext cx="11185855" cy="566928"/>
          </a:xfrm>
          <a:prstGeom prst="roundRect">
            <a:avLst>
              <a:gd name="adj" fmla="val 9677"/>
            </a:avLst>
          </a:prstGeom>
          <a:solidFill>
            <a:srgbClr val="F7F8FA"/>
          </a:solidFill>
          <a:ln w="12700">
            <a:solidFill>
              <a:srgbClr val="333333"/>
            </a:solidFill>
            <a:prstDash val="solid"/>
          </a:ln>
        </p:spPr>
      </p:sp>
      <p:sp>
        <p:nvSpPr>
          <p:cNvPr id="21" name="Text 19"/>
          <p:cNvSpPr txBox="1"/>
          <p:nvPr/>
        </p:nvSpPr>
        <p:spPr>
          <a:xfrm>
            <a:off x="722376" y="336499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Managers hoard their people</a:t>
            </a:r>
            <a:endParaRPr lang="en-US" sz="1500" dirty="0"/>
          </a:p>
        </p:txBody>
      </p:sp>
      <p:sp>
        <p:nvSpPr>
          <p:cNvPr id="22" name="Shape 20"/>
          <p:cNvSpPr/>
          <p:nvPr/>
        </p:nvSpPr>
        <p:spPr>
          <a:xfrm>
            <a:off x="3904488" y="3474720"/>
            <a:ext cx="713232" cy="274320"/>
          </a:xfrm>
          <a:prstGeom prst="roundRect">
            <a:avLst>
              <a:gd name="adj" fmla="val 50000"/>
            </a:avLst>
          </a:prstGeom>
          <a:solidFill>
            <a:srgbClr val="B45309"/>
          </a:solidFill>
          <a:ln w="12700">
            <a:solidFill>
              <a:srgbClr val="333333"/>
            </a:solidFill>
            <a:prstDash val="solid"/>
          </a:ln>
        </p:spPr>
      </p:sp>
      <p:sp>
        <p:nvSpPr>
          <p:cNvPr id="23" name="Text 21"/>
          <p:cNvSpPr txBox="1"/>
          <p:nvPr/>
        </p:nvSpPr>
        <p:spPr>
          <a:xfrm>
            <a:off x="3904488" y="347472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24" name="Text 22"/>
          <p:cNvSpPr txBox="1"/>
          <p:nvPr/>
        </p:nvSpPr>
        <p:spPr>
          <a:xfrm>
            <a:off x="4791456" y="336499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Opportunities are never posted and the shelves stay empty.</a:t>
            </a:r>
            <a:endParaRPr lang="en-US" sz="1400" dirty="0"/>
          </a:p>
        </p:txBody>
      </p:sp>
      <p:sp>
        <p:nvSpPr>
          <p:cNvPr id="25" name="Text 23"/>
          <p:cNvSpPr txBox="1"/>
          <p:nvPr/>
        </p:nvSpPr>
        <p:spPr>
          <a:xfrm>
            <a:off x="8083296" y="336499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"Talent Exporter" recognition to ExCo; champions seed Phase 0.</a:t>
            </a:r>
            <a:endParaRPr lang="en-US" sz="1400" dirty="0"/>
          </a:p>
        </p:txBody>
      </p:sp>
      <p:sp>
        <p:nvSpPr>
          <p:cNvPr id="26" name="Shape 24"/>
          <p:cNvSpPr/>
          <p:nvPr/>
        </p:nvSpPr>
        <p:spPr>
          <a:xfrm>
            <a:off x="502920" y="3968496"/>
            <a:ext cx="11185855" cy="566928"/>
          </a:xfrm>
          <a:prstGeom prst="roundRect">
            <a:avLst>
              <a:gd name="adj" fmla="val 9677"/>
            </a:avLst>
          </a:prstGeom>
          <a:solidFill>
            <a:srgbClr val="F7F8FA"/>
          </a:solidFill>
          <a:ln w="12700">
            <a:solidFill>
              <a:srgbClr val="333333"/>
            </a:solidFill>
            <a:prstDash val="solid"/>
          </a:ln>
        </p:spPr>
      </p:sp>
      <p:sp>
        <p:nvSpPr>
          <p:cNvPr id="27" name="Text 25"/>
          <p:cNvSpPr txBox="1"/>
          <p:nvPr/>
        </p:nvSpPr>
        <p:spPr>
          <a:xfrm>
            <a:off x="722376" y="400507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Employees arrive to an empty profile</a:t>
            </a:r>
            <a:endParaRPr lang="en-US" sz="1500" dirty="0"/>
          </a:p>
        </p:txBody>
      </p:sp>
      <p:sp>
        <p:nvSpPr>
          <p:cNvPr id="28" name="Shape 26"/>
          <p:cNvSpPr/>
          <p:nvPr/>
        </p:nvSpPr>
        <p:spPr>
          <a:xfrm>
            <a:off x="3904488" y="4114800"/>
            <a:ext cx="713232" cy="274320"/>
          </a:xfrm>
          <a:prstGeom prst="roundRect">
            <a:avLst>
              <a:gd name="adj" fmla="val 50000"/>
            </a:avLst>
          </a:prstGeom>
          <a:solidFill>
            <a:srgbClr val="B45309"/>
          </a:solidFill>
          <a:ln w="12700">
            <a:solidFill>
              <a:srgbClr val="333333"/>
            </a:solidFill>
            <a:prstDash val="solid"/>
          </a:ln>
        </p:spPr>
      </p:sp>
      <p:sp>
        <p:nvSpPr>
          <p:cNvPr id="29" name="Text 27"/>
          <p:cNvSpPr txBox="1"/>
          <p:nvPr/>
        </p:nvSpPr>
        <p:spPr>
          <a:xfrm>
            <a:off x="3904488" y="411480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30" name="Text 28"/>
          <p:cNvSpPr txBox="1"/>
          <p:nvPr/>
        </p:nvSpPr>
        <p:spPr>
          <a:xfrm>
            <a:off x="4791456" y="400507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No skills on file means no matches, an empty board, and no return visit.</a:t>
            </a:r>
            <a:endParaRPr lang="en-US" sz="1400" dirty="0"/>
          </a:p>
        </p:txBody>
      </p:sp>
      <p:sp>
        <p:nvSpPr>
          <p:cNvPr id="31" name="Text 29"/>
          <p:cNvSpPr txBox="1"/>
          <p:nvPr/>
        </p:nvSpPr>
        <p:spPr>
          <a:xfrm>
            <a:off x="8083296" y="400507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from the HRIS and the LMS. Correcting a list beats authoring one.</a:t>
            </a:r>
            <a:endParaRPr lang="en-US" sz="1400" dirty="0"/>
          </a:p>
        </p:txBody>
      </p:sp>
      <p:sp>
        <p:nvSpPr>
          <p:cNvPr id="32" name="Shape 30"/>
          <p:cNvSpPr/>
          <p:nvPr/>
        </p:nvSpPr>
        <p:spPr>
          <a:xfrm>
            <a:off x="502920" y="4608576"/>
            <a:ext cx="11185855" cy="566928"/>
          </a:xfrm>
          <a:prstGeom prst="roundRect">
            <a:avLst>
              <a:gd name="adj" fmla="val 9677"/>
            </a:avLst>
          </a:prstGeom>
          <a:solidFill>
            <a:srgbClr val="F7F8FA"/>
          </a:solidFill>
          <a:ln w="12700">
            <a:solidFill>
              <a:srgbClr val="333333"/>
            </a:solidFill>
            <a:prstDash val="solid"/>
          </a:ln>
        </p:spPr>
      </p:sp>
      <p:sp>
        <p:nvSpPr>
          <p:cNvPr id="33" name="Text 31"/>
          <p:cNvSpPr txBox="1"/>
          <p:nvPr/>
        </p:nvSpPr>
        <p:spPr>
          <a:xfrm>
            <a:off x="722376" y="464515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retention lift is zero</a:t>
            </a:r>
            <a:endParaRPr lang="en-US" sz="1500" dirty="0"/>
          </a:p>
        </p:txBody>
      </p:sp>
      <p:sp>
        <p:nvSpPr>
          <p:cNvPr id="34" name="Shape 32"/>
          <p:cNvSpPr/>
          <p:nvPr/>
        </p:nvSpPr>
        <p:spPr>
          <a:xfrm>
            <a:off x="3904488" y="4754880"/>
            <a:ext cx="713232" cy="274320"/>
          </a:xfrm>
          <a:prstGeom prst="roundRect">
            <a:avLst>
              <a:gd name="adj" fmla="val 50000"/>
            </a:avLst>
          </a:prstGeom>
          <a:solidFill>
            <a:srgbClr val="6B7280"/>
          </a:solidFill>
          <a:ln w="12700">
            <a:solidFill>
              <a:srgbClr val="333333"/>
            </a:solidFill>
            <a:prstDash val="solid"/>
          </a:ln>
        </p:spPr>
      </p:sp>
      <p:sp>
        <p:nvSpPr>
          <p:cNvPr id="35" name="Text 33"/>
          <p:cNvSpPr txBox="1"/>
          <p:nvPr/>
        </p:nvSpPr>
        <p:spPr>
          <a:xfrm>
            <a:off x="3904488" y="475488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36" name="Text 34"/>
          <p:cNvSpPr txBox="1"/>
          <p:nvPr/>
        </p:nvSpPr>
        <p:spPr>
          <a:xfrm>
            <a:off x="4791456" y="464515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Benefits fall to the attributed rows — still BCR 3.8, 14-month payback.</a:t>
            </a:r>
            <a:endParaRPr lang="en-US" sz="1400" dirty="0"/>
          </a:p>
        </p:txBody>
      </p:sp>
      <p:sp>
        <p:nvSpPr>
          <p:cNvPr id="37" name="Text 35"/>
          <p:cNvSpPr txBox="1"/>
          <p:nvPr/>
        </p:nvSpPr>
        <p:spPr>
          <a:xfrm>
            <a:off x="8083296" y="464515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Already modelled. A year-one holdout measures it properly.</a:t>
            </a:r>
            <a:endParaRPr lang="en-US" sz="1400" dirty="0"/>
          </a:p>
        </p:txBody>
      </p:sp>
      <p:sp>
        <p:nvSpPr>
          <p:cNvPr id="38" name="Shape 36"/>
          <p:cNvSpPr/>
          <p:nvPr/>
        </p:nvSpPr>
        <p:spPr>
          <a:xfrm>
            <a:off x="502920" y="5248656"/>
            <a:ext cx="11185855" cy="566928"/>
          </a:xfrm>
          <a:prstGeom prst="roundRect">
            <a:avLst>
              <a:gd name="adj" fmla="val 9677"/>
            </a:avLst>
          </a:prstGeom>
          <a:solidFill>
            <a:srgbClr val="F7F8FA"/>
          </a:solidFill>
          <a:ln w="12700">
            <a:solidFill>
              <a:srgbClr val="333333"/>
            </a:solidFill>
            <a:prstDash val="solid"/>
          </a:ln>
        </p:spPr>
      </p:sp>
      <p:sp>
        <p:nvSpPr>
          <p:cNvPr id="39" name="Text 37"/>
          <p:cNvSpPr txBox="1"/>
          <p:nvPr/>
        </p:nvSpPr>
        <p:spPr>
          <a:xfrm>
            <a:off x="722376" y="52852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Build effort doubles</a:t>
            </a:r>
            <a:endParaRPr lang="en-US" sz="1500" dirty="0"/>
          </a:p>
        </p:txBody>
      </p:sp>
      <p:sp>
        <p:nvSpPr>
          <p:cNvPr id="40" name="Shape 38"/>
          <p:cNvSpPr/>
          <p:nvPr/>
        </p:nvSpPr>
        <p:spPr>
          <a:xfrm>
            <a:off x="3904488" y="5394960"/>
            <a:ext cx="713232" cy="274320"/>
          </a:xfrm>
          <a:prstGeom prst="roundRect">
            <a:avLst>
              <a:gd name="adj" fmla="val 50000"/>
            </a:avLst>
          </a:prstGeom>
          <a:solidFill>
            <a:srgbClr val="6B7280"/>
          </a:solidFill>
          <a:ln w="12700">
            <a:solidFill>
              <a:srgbClr val="333333"/>
            </a:solidFill>
            <a:prstDash val="solid"/>
          </a:ln>
        </p:spPr>
      </p:sp>
      <p:sp>
        <p:nvSpPr>
          <p:cNvPr id="41" name="Text 39"/>
          <p:cNvSpPr txBox="1"/>
          <p:nvPr/>
        </p:nvSpPr>
        <p:spPr>
          <a:xfrm>
            <a:off x="3904488" y="53949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42" name="Text 40"/>
          <p:cNvSpPr txBox="1"/>
          <p:nvPr/>
        </p:nvSpPr>
        <p:spPr>
          <a:xfrm>
            <a:off x="4791456" y="52852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Three-year cost rises to ₱1.76M; base BCR falls to 4.0.</a:t>
            </a:r>
            <a:endParaRPr lang="en-US" sz="1400" dirty="0"/>
          </a:p>
        </p:txBody>
      </p:sp>
      <p:sp>
        <p:nvSpPr>
          <p:cNvPr id="43" name="Text 41"/>
          <p:cNvSpPr txBox="1"/>
          <p:nvPr/>
        </p:nvSpPr>
        <p:spPr>
          <a:xfrm>
            <a:off x="8083296" y="52852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Still clears, and still far under the vendor bands.</a:t>
            </a:r>
            <a:endParaRPr lang="en-US" sz="1400" dirty="0"/>
          </a:p>
        </p:txBody>
      </p:sp>
      <p:sp>
        <p:nvSpPr>
          <p:cNvPr id="44" name="Shape 42"/>
          <p:cNvSpPr/>
          <p:nvPr/>
        </p:nvSpPr>
        <p:spPr>
          <a:xfrm>
            <a:off x="502920" y="6291072"/>
            <a:ext cx="11185855" cy="0"/>
          </a:xfrm>
          <a:prstGeom prst="line">
            <a:avLst/>
          </a:prstGeom>
          <a:noFill/>
          <a:ln w="12700">
            <a:solidFill>
              <a:srgbClr val="E5E7EB"/>
            </a:solidFill>
            <a:prstDash val="solid"/>
          </a:ln>
        </p:spPr>
      </p:sp>
      <p:sp>
        <p:nvSpPr>
          <p:cNvPr id="45" name="Text 4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risk register with owners and dates in the Business Requirements Document.</a:t>
            </a:r>
            <a:endParaRPr lang="en-US" sz="1400" dirty="0"/>
          </a:p>
        </p:txBody>
      </p:sp>
      <p:sp>
        <p:nvSpPr>
          <p:cNvPr id="46" name="Text 4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ASK</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decisions, and the first two are free.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Nothing here commits Home Credit beyond a three-month pilot in three functions.</a:t>
            </a:r>
            <a:endParaRPr lang="en-US" sz="1600" dirty="0"/>
          </a:p>
        </p:txBody>
      </p:sp>
      <p:sp>
        <p:nvSpPr>
          <p:cNvPr id="5" name="Shape 3"/>
          <p:cNvSpPr/>
          <p:nvPr/>
        </p:nvSpPr>
        <p:spPr>
          <a:xfrm>
            <a:off x="50292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40664" y="1975104"/>
            <a:ext cx="420624" cy="420624"/>
          </a:xfrm>
          <a:prstGeom prst="ellipse">
            <a:avLst/>
          </a:prstGeom>
          <a:solidFill>
            <a:srgbClr val="15803D"/>
          </a:solidFill>
          <a:ln w="12700">
            <a:solidFill>
              <a:srgbClr val="333333"/>
            </a:solidFill>
            <a:prstDash val="solid"/>
          </a:ln>
        </p:spPr>
      </p:sp>
      <p:sp>
        <p:nvSpPr>
          <p:cNvPr id="7" name="Text 5"/>
          <p:cNvSpPr txBox="1"/>
          <p:nvPr/>
        </p:nvSpPr>
        <p:spPr>
          <a:xfrm>
            <a:off x="74066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2588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9" name="Text 7"/>
          <p:cNvSpPr txBox="1"/>
          <p:nvPr/>
        </p:nvSpPr>
        <p:spPr>
          <a:xfrm>
            <a:off x="74066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Ask recruitment for one form field</a:t>
            </a:r>
            <a:endParaRPr lang="en-US" sz="1800" dirty="0"/>
          </a:p>
        </p:txBody>
      </p:sp>
      <p:sp>
        <p:nvSpPr>
          <p:cNvPr id="10" name="Text 8"/>
          <p:cNvSpPr txBox="1"/>
          <p:nvPr/>
        </p:nvSpPr>
        <p:spPr>
          <a:xfrm>
            <a:off x="74066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Add a "Growth" source value and a referral-code field to the HC Connect form. Without it, half the case cannot be proven.</a:t>
            </a:r>
            <a:endParaRPr lang="en-US" sz="1500" dirty="0"/>
          </a:p>
        </p:txBody>
      </p:sp>
      <p:sp>
        <p:nvSpPr>
          <p:cNvPr id="11" name="Shape 9"/>
          <p:cNvSpPr/>
          <p:nvPr/>
        </p:nvSpPr>
        <p:spPr>
          <a:xfrm>
            <a:off x="430469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Shape 10"/>
          <p:cNvSpPr/>
          <p:nvPr/>
        </p:nvSpPr>
        <p:spPr>
          <a:xfrm>
            <a:off x="4542434" y="1975104"/>
            <a:ext cx="420624" cy="420624"/>
          </a:xfrm>
          <a:prstGeom prst="ellipse">
            <a:avLst/>
          </a:prstGeom>
          <a:solidFill>
            <a:srgbClr val="15803D"/>
          </a:solidFill>
          <a:ln w="12700">
            <a:solidFill>
              <a:srgbClr val="333333"/>
            </a:solidFill>
            <a:prstDash val="solid"/>
          </a:ln>
        </p:spPr>
      </p:sp>
      <p:sp>
        <p:nvSpPr>
          <p:cNvPr id="13" name="Text 11"/>
          <p:cNvSpPr txBox="1"/>
          <p:nvPr/>
        </p:nvSpPr>
        <p:spPr>
          <a:xfrm>
            <a:off x="454243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12765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15" name="Text 13"/>
          <p:cNvSpPr txBox="1"/>
          <p:nvPr/>
        </p:nvSpPr>
        <p:spPr>
          <a:xfrm>
            <a:off x="454243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Get the DPO position in writing</a:t>
            </a:r>
            <a:endParaRPr lang="en-US" sz="1800" dirty="0"/>
          </a:p>
        </p:txBody>
      </p:sp>
      <p:sp>
        <p:nvSpPr>
          <p:cNvPr id="16" name="Text 14"/>
          <p:cNvSpPr txBox="1"/>
          <p:nvPr/>
        </p:nvSpPr>
        <p:spPr>
          <a:xfrm>
            <a:off x="454243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 referral log records who opened which requisition. The assessment is costed; we need the answer first.</a:t>
            </a:r>
            <a:endParaRPr lang="en-US" sz="1500" dirty="0"/>
          </a:p>
        </p:txBody>
      </p:sp>
      <p:sp>
        <p:nvSpPr>
          <p:cNvPr id="17" name="Shape 15"/>
          <p:cNvSpPr/>
          <p:nvPr/>
        </p:nvSpPr>
        <p:spPr>
          <a:xfrm>
            <a:off x="8106461"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Shape 16"/>
          <p:cNvSpPr/>
          <p:nvPr/>
        </p:nvSpPr>
        <p:spPr>
          <a:xfrm>
            <a:off x="8344205" y="1975104"/>
            <a:ext cx="420624" cy="420624"/>
          </a:xfrm>
          <a:prstGeom prst="ellipse">
            <a:avLst/>
          </a:prstGeom>
          <a:solidFill>
            <a:srgbClr val="C00000"/>
          </a:solidFill>
          <a:ln w="12700">
            <a:solidFill>
              <a:srgbClr val="333333"/>
            </a:solidFill>
            <a:prstDash val="solid"/>
          </a:ln>
        </p:spPr>
      </p:sp>
      <p:sp>
        <p:nvSpPr>
          <p:cNvPr id="19" name="Text 17"/>
          <p:cNvSpPr txBox="1"/>
          <p:nvPr/>
        </p:nvSpPr>
        <p:spPr>
          <a:xfrm>
            <a:off x="834420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8929421" y="1975104"/>
            <a:ext cx="2521610" cy="420624"/>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₱766,125</a:t>
            </a:r>
            <a:endParaRPr lang="en-US" sz="2200" dirty="0"/>
          </a:p>
        </p:txBody>
      </p:sp>
      <p:sp>
        <p:nvSpPr>
          <p:cNvPr id="21" name="Text 19"/>
          <p:cNvSpPr txBox="1"/>
          <p:nvPr/>
        </p:nvSpPr>
        <p:spPr>
          <a:xfrm>
            <a:off x="8344205"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Approve the year-one build</a:t>
            </a:r>
            <a:endParaRPr lang="en-US" sz="1800" dirty="0"/>
          </a:p>
        </p:txBody>
      </p:sp>
      <p:sp>
        <p:nvSpPr>
          <p:cNvPr id="22" name="Text 20"/>
          <p:cNvSpPr txBox="1"/>
          <p:nvPr/>
        </p:nvSpPr>
        <p:spPr>
          <a:xfrm>
            <a:off x="8344205"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₱766,125 to build and run Growth for 637 employees for twelve months — then a go / no-go on the pilot numbers.</a:t>
            </a:r>
            <a:endParaRPr lang="en-US" sz="1500" dirty="0"/>
          </a:p>
        </p:txBody>
      </p:sp>
      <p:sp>
        <p:nvSpPr>
          <p:cNvPr id="23" name="Text 21"/>
          <p:cNvSpPr txBox="1"/>
          <p:nvPr/>
        </p:nvSpPr>
        <p:spPr>
          <a:xfrm>
            <a:off x="502920" y="4590288"/>
            <a:ext cx="11185855"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NEXT 90 DAYS</a:t>
            </a:r>
            <a:endParaRPr lang="en-US" sz="1400" dirty="0"/>
          </a:p>
        </p:txBody>
      </p:sp>
      <p:sp>
        <p:nvSpPr>
          <p:cNvPr id="24" name="Shape 22"/>
          <p:cNvSpPr/>
          <p:nvPr/>
        </p:nvSpPr>
        <p:spPr>
          <a:xfrm>
            <a:off x="502920" y="4882896"/>
            <a:ext cx="2120128" cy="1133856"/>
          </a:xfrm>
          <a:prstGeom prst="roundRect">
            <a:avLst>
              <a:gd name="adj" fmla="val 4839"/>
            </a:avLst>
          </a:prstGeom>
          <a:solidFill>
            <a:srgbClr val="F7F8FA"/>
          </a:solidFill>
          <a:ln w="12700">
            <a:solidFill>
              <a:srgbClr val="333333"/>
            </a:solidFill>
            <a:prstDash val="solid"/>
          </a:ln>
        </p:spPr>
      </p:sp>
      <p:sp>
        <p:nvSpPr>
          <p:cNvPr id="25" name="Text 23"/>
          <p:cNvSpPr txBox="1"/>
          <p:nvPr/>
        </p:nvSpPr>
        <p:spPr>
          <a:xfrm>
            <a:off x="685800"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1–2</a:t>
            </a:r>
            <a:endParaRPr lang="en-US" sz="1500" dirty="0"/>
          </a:p>
        </p:txBody>
      </p:sp>
      <p:sp>
        <p:nvSpPr>
          <p:cNvPr id="26" name="Text 24"/>
          <p:cNvSpPr txBox="1"/>
          <p:nvPr/>
        </p:nvSpPr>
        <p:spPr>
          <a:xfrm>
            <a:off x="685800"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the source field and the DPO position</a:t>
            </a:r>
            <a:endParaRPr lang="en-US" sz="1400" dirty="0"/>
          </a:p>
        </p:txBody>
      </p:sp>
      <p:sp>
        <p:nvSpPr>
          <p:cNvPr id="27" name="Text 25"/>
          <p:cNvSpPr txBox="1"/>
          <p:nvPr/>
        </p:nvSpPr>
        <p:spPr>
          <a:xfrm>
            <a:off x="2627620"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2769352" y="4882896"/>
            <a:ext cx="2120128" cy="1133856"/>
          </a:xfrm>
          <a:prstGeom prst="roundRect">
            <a:avLst>
              <a:gd name="adj" fmla="val 4839"/>
            </a:avLst>
          </a:prstGeom>
          <a:solidFill>
            <a:srgbClr val="F7F8FA"/>
          </a:solidFill>
          <a:ln w="12700">
            <a:solidFill>
              <a:srgbClr val="333333"/>
            </a:solidFill>
            <a:prstDash val="solid"/>
          </a:ln>
        </p:spPr>
      </p:sp>
      <p:sp>
        <p:nvSpPr>
          <p:cNvPr id="29" name="Text 27"/>
          <p:cNvSpPr txBox="1"/>
          <p:nvPr/>
        </p:nvSpPr>
        <p:spPr>
          <a:xfrm>
            <a:off x="2952232"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3–8</a:t>
            </a:r>
            <a:endParaRPr lang="en-US" sz="1500" dirty="0"/>
          </a:p>
        </p:txBody>
      </p:sp>
      <p:sp>
        <p:nvSpPr>
          <p:cNvPr id="30" name="Text 28"/>
          <p:cNvSpPr txBox="1"/>
          <p:nvPr/>
        </p:nvSpPr>
        <p:spPr>
          <a:xfrm>
            <a:off x="2952232"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Build the board, matching, JD reader and handoff</a:t>
            </a:r>
            <a:endParaRPr lang="en-US" sz="1400" dirty="0"/>
          </a:p>
        </p:txBody>
      </p:sp>
      <p:sp>
        <p:nvSpPr>
          <p:cNvPr id="31" name="Text 29"/>
          <p:cNvSpPr txBox="1"/>
          <p:nvPr/>
        </p:nvSpPr>
        <p:spPr>
          <a:xfrm>
            <a:off x="4894052"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2" name="Shape 30"/>
          <p:cNvSpPr/>
          <p:nvPr/>
        </p:nvSpPr>
        <p:spPr>
          <a:xfrm>
            <a:off x="5035784" y="4882896"/>
            <a:ext cx="2120128" cy="1133856"/>
          </a:xfrm>
          <a:prstGeom prst="roundRect">
            <a:avLst>
              <a:gd name="adj" fmla="val 4839"/>
            </a:avLst>
          </a:prstGeom>
          <a:solidFill>
            <a:srgbClr val="F7F8FA"/>
          </a:solidFill>
          <a:ln w="12700">
            <a:solidFill>
              <a:srgbClr val="333333"/>
            </a:solidFill>
            <a:prstDash val="solid"/>
          </a:ln>
        </p:spPr>
      </p:sp>
      <p:sp>
        <p:nvSpPr>
          <p:cNvPr id="33" name="Text 31"/>
          <p:cNvSpPr txBox="1"/>
          <p:nvPr/>
        </p:nvSpPr>
        <p:spPr>
          <a:xfrm>
            <a:off x="5218664"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7–8</a:t>
            </a:r>
            <a:endParaRPr lang="en-US" sz="1500" dirty="0"/>
          </a:p>
        </p:txBody>
      </p:sp>
      <p:sp>
        <p:nvSpPr>
          <p:cNvPr id="34" name="Text 32"/>
          <p:cNvSpPr txBox="1"/>
          <p:nvPr/>
        </p:nvSpPr>
        <p:spPr>
          <a:xfrm>
            <a:off x="5218664"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skills; seed 20–30 opportunities</a:t>
            </a:r>
            <a:endParaRPr lang="en-US" sz="1400" dirty="0"/>
          </a:p>
        </p:txBody>
      </p:sp>
      <p:sp>
        <p:nvSpPr>
          <p:cNvPr id="35" name="Text 33"/>
          <p:cNvSpPr txBox="1"/>
          <p:nvPr/>
        </p:nvSpPr>
        <p:spPr>
          <a:xfrm>
            <a:off x="7160484"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6" name="Shape 34"/>
          <p:cNvSpPr/>
          <p:nvPr/>
        </p:nvSpPr>
        <p:spPr>
          <a:xfrm>
            <a:off x="7302216" y="4882896"/>
            <a:ext cx="2120128" cy="1133856"/>
          </a:xfrm>
          <a:prstGeom prst="roundRect">
            <a:avLst>
              <a:gd name="adj" fmla="val 4839"/>
            </a:avLst>
          </a:prstGeom>
          <a:solidFill>
            <a:srgbClr val="F7F8FA"/>
          </a:solidFill>
          <a:ln w="12700">
            <a:solidFill>
              <a:srgbClr val="333333"/>
            </a:solidFill>
            <a:prstDash val="solid"/>
          </a:ln>
        </p:spPr>
      </p:sp>
      <p:sp>
        <p:nvSpPr>
          <p:cNvPr id="37" name="Text 35"/>
          <p:cNvSpPr txBox="1"/>
          <p:nvPr/>
        </p:nvSpPr>
        <p:spPr>
          <a:xfrm>
            <a:off x="7485096"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9–12</a:t>
            </a:r>
            <a:endParaRPr lang="en-US" sz="1500" dirty="0"/>
          </a:p>
        </p:txBody>
      </p:sp>
      <p:sp>
        <p:nvSpPr>
          <p:cNvPr id="38" name="Text 36"/>
          <p:cNvSpPr txBox="1"/>
          <p:nvPr/>
        </p:nvSpPr>
        <p:spPr>
          <a:xfrm>
            <a:off x="7485096"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Pilot live in IT, Operations and P&amp;C</a:t>
            </a:r>
            <a:endParaRPr lang="en-US" sz="1400" dirty="0"/>
          </a:p>
        </p:txBody>
      </p:sp>
      <p:sp>
        <p:nvSpPr>
          <p:cNvPr id="39" name="Text 37"/>
          <p:cNvSpPr txBox="1"/>
          <p:nvPr/>
        </p:nvSpPr>
        <p:spPr>
          <a:xfrm>
            <a:off x="9426915"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40" name="Shape 38"/>
          <p:cNvSpPr/>
          <p:nvPr/>
        </p:nvSpPr>
        <p:spPr>
          <a:xfrm>
            <a:off x="9568647" y="4882896"/>
            <a:ext cx="2120128" cy="1133856"/>
          </a:xfrm>
          <a:prstGeom prst="roundRect">
            <a:avLst>
              <a:gd name="adj" fmla="val 4839"/>
            </a:avLst>
          </a:prstGeom>
          <a:solidFill>
            <a:srgbClr val="0F172A"/>
          </a:solidFill>
          <a:ln w="12700">
            <a:solidFill>
              <a:srgbClr val="333333"/>
            </a:solidFill>
            <a:prstDash val="solid"/>
          </a:ln>
        </p:spPr>
      </p:sp>
      <p:sp>
        <p:nvSpPr>
          <p:cNvPr id="41" name="Text 39"/>
          <p:cNvSpPr txBox="1"/>
          <p:nvPr/>
        </p:nvSpPr>
        <p:spPr>
          <a:xfrm>
            <a:off x="9751527" y="5029200"/>
            <a:ext cx="1754368" cy="237744"/>
          </a:xfrm>
          <a:prstGeom prst="rect">
            <a:avLst/>
          </a:prstGeom>
          <a:noFill/>
          <a:ln/>
        </p:spPr>
        <p:txBody>
          <a:bodyPr wrap="square" lIns="0" tIns="0" rIns="0" bIns="0" rtlCol="0" anchor="ctr"/>
          <a:lstStyle/>
          <a:p>
            <a:pPr indent="0" marL="0">
              <a:buNone/>
            </a:pPr>
            <a:r>
              <a:rPr lang="en-US" sz="1500" b="1" dirty="0">
                <a:solidFill>
                  <a:srgbClr val="4ADE80"/>
                </a:solidFill>
                <a:latin typeface="Arial" pitchFamily="34" charset="0"/>
                <a:ea typeface="Arial" pitchFamily="34" charset="-122"/>
                <a:cs typeface="Arial" pitchFamily="34" charset="-120"/>
              </a:rPr>
              <a:t>Month 4</a:t>
            </a:r>
            <a:endParaRPr lang="en-US" sz="1500" dirty="0"/>
          </a:p>
        </p:txBody>
      </p:sp>
      <p:sp>
        <p:nvSpPr>
          <p:cNvPr id="42" name="Text 40"/>
          <p:cNvSpPr txBox="1"/>
          <p:nvPr/>
        </p:nvSpPr>
        <p:spPr>
          <a:xfrm>
            <a:off x="9751527"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CBD5E1"/>
                </a:solidFill>
                <a:latin typeface="Arial" pitchFamily="34" charset="0"/>
                <a:ea typeface="Arial" pitchFamily="34" charset="-122"/>
                <a:cs typeface="Arial" pitchFamily="34" charset="-120"/>
              </a:rPr>
              <a:t>Report to ExCo — go or no-go</a:t>
            </a:r>
            <a:endParaRPr lang="en-US" sz="1400" dirty="0"/>
          </a:p>
        </p:txBody>
      </p:sp>
      <p:sp>
        <p:nvSpPr>
          <p:cNvPr id="43" name="Shape 41"/>
          <p:cNvSpPr/>
          <p:nvPr/>
        </p:nvSpPr>
        <p:spPr>
          <a:xfrm>
            <a:off x="502920" y="6291072"/>
            <a:ext cx="11185855" cy="0"/>
          </a:xfrm>
          <a:prstGeom prst="line">
            <a:avLst/>
          </a:prstGeom>
          <a:noFill/>
          <a:ln w="12700">
            <a:solidFill>
              <a:srgbClr val="E5E7EB"/>
            </a:solidFill>
            <a:prstDash val="solid"/>
          </a:ln>
        </p:spPr>
      </p:sp>
      <p:sp>
        <p:nvSpPr>
          <p:cNvPr id="44" name="Text 4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Year-one figure includes build ₱711,000 and run ₱55,125. Years two and three add ₱223,125 and ₱61,125.</a:t>
            </a:r>
            <a:endParaRPr lang="en-US" sz="1400" dirty="0"/>
          </a:p>
        </p:txBody>
      </p:sp>
      <p:sp>
        <p:nvSpPr>
          <p:cNvPr id="45" name="Text 4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502920" y="1298448"/>
            <a:ext cx="731520" cy="731520"/>
          </a:xfrm>
          <a:prstGeom prst="rect">
            <a:avLst/>
          </a:prstGeom>
        </p:spPr>
      </p:pic>
      <p:sp>
        <p:nvSpPr>
          <p:cNvPr id="3" name="Text 0"/>
          <p:cNvSpPr txBox="1"/>
          <p:nvPr/>
        </p:nvSpPr>
        <p:spPr>
          <a:xfrm>
            <a:off x="502920" y="2267712"/>
            <a:ext cx="10424160" cy="210312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Arial" pitchFamily="34" charset="0"/>
                <a:ea typeface="Arial" pitchFamily="34" charset="-122"/>
                <a:cs typeface="Arial" pitchFamily="34" charset="-120"/>
              </a:rPr>
              <a:t>We are paying headhunters</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to find people we</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may already employ.</a:t>
            </a:r>
            <a:endParaRPr lang="en-US" sz="4200" dirty="0"/>
          </a:p>
        </p:txBody>
      </p:sp>
      <p:sp>
        <p:nvSpPr>
          <p:cNvPr id="4" name="Shape 1"/>
          <p:cNvSpPr/>
          <p:nvPr/>
        </p:nvSpPr>
        <p:spPr>
          <a:xfrm>
            <a:off x="502920" y="4626864"/>
            <a:ext cx="4937760" cy="0"/>
          </a:xfrm>
          <a:prstGeom prst="line">
            <a:avLst/>
          </a:prstGeom>
          <a:noFill/>
          <a:ln w="38100">
            <a:solidFill>
              <a:srgbClr val="C00000"/>
            </a:solidFill>
            <a:prstDash val="solid"/>
          </a:ln>
        </p:spPr>
      </p:sp>
      <p:sp>
        <p:nvSpPr>
          <p:cNvPr id="5" name="Text 2"/>
          <p:cNvSpPr txBox="1"/>
          <p:nvPr/>
        </p:nvSpPr>
        <p:spPr>
          <a:xfrm>
            <a:off x="502920" y="4828032"/>
            <a:ext cx="9509760" cy="731520"/>
          </a:xfrm>
          <a:prstGeom prst="rect">
            <a:avLst/>
          </a:prstGeom>
          <a:noFill/>
          <a:ln/>
        </p:spPr>
        <p:txBody>
          <a:bodyPr wrap="square" lIns="0" tIns="0" rIns="0" bIns="0" rtlCol="0" anchor="t"/>
          <a:lstStyle/>
          <a:p>
            <a:pPr indent="0" marL="0">
              <a:lnSpc>
                <a:spcPts val="2700"/>
              </a:lnSpc>
              <a:buNone/>
            </a:pPr>
            <a:r>
              <a:rPr lang="en-US" sz="1900" dirty="0">
                <a:solidFill>
                  <a:srgbClr val="CBD5E1"/>
                </a:solidFill>
                <a:latin typeface="Arial" pitchFamily="34" charset="0"/>
                <a:ea typeface="Arial" pitchFamily="34" charset="-122"/>
                <a:cs typeface="Arial" pitchFamily="34" charset="-120"/>
              </a:rPr>
              <a:t>₱1.05M over three years to stop doing that. Benefit–cost ratio 6.8, payback in nine months, and a live skills map we have never had.</a:t>
            </a:r>
            <a:endParaRPr lang="en-US" sz="1900" dirty="0"/>
          </a:p>
        </p:txBody>
      </p:sp>
      <p:sp>
        <p:nvSpPr>
          <p:cNvPr id="6" name="Text 3"/>
          <p:cNvSpPr txBox="1"/>
          <p:nvPr/>
        </p:nvSpPr>
        <p:spPr>
          <a:xfrm>
            <a:off x="502920" y="5669280"/>
            <a:ext cx="7315200" cy="329184"/>
          </a:xfrm>
          <a:prstGeom prst="rect">
            <a:avLst/>
          </a:prstGeom>
          <a:noFill/>
          <a:ln/>
        </p:spPr>
        <p:txBody>
          <a:bodyPr wrap="square" lIns="0" tIns="0" rIns="0" bIns="0" rtlCol="0" anchor="ctr"/>
          <a:lstStyle/>
          <a:p>
            <a:pPr indent="0" marL="0">
              <a:buNone/>
            </a:pPr>
            <a:r>
              <a:rPr lang="en-US" sz="1700" b="1" dirty="0">
                <a:solidFill>
                  <a:srgbClr val="94A3B8"/>
                </a:solidFill>
                <a:latin typeface="Arial" pitchFamily="34" charset="0"/>
                <a:ea typeface="Arial" pitchFamily="34" charset="-122"/>
                <a:cs typeface="Arial" pitchFamily="34" charset="-120"/>
              </a:rPr>
              <a:t>Thank you.   Questions welcome.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02920" y="2743200"/>
            <a:ext cx="7315200" cy="731520"/>
          </a:xfrm>
          <a:prstGeom prst="rect">
            <a:avLst/>
          </a:prstGeom>
          <a:noFill/>
          <a:ln/>
        </p:spPr>
        <p:txBody>
          <a:bodyPr wrap="square" lIns="0" tIns="0" rIns="0" bIns="0"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02920" y="3566160"/>
            <a:ext cx="9509760" cy="365760"/>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Band economics  ·  business model canvas  ·  demand evidence  ·  sources and assumptions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WHERE THE MONEY 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Two realistic moves, not one heroic leap.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Band C is where the fee is largest — and the move there is lateral, which is why the saving is credible.</a:t>
            </a:r>
            <a:endParaRPr lang="en-US" sz="1600" dirty="0"/>
          </a:p>
        </p:txBody>
      </p:sp>
      <p:sp>
        <p:nvSpPr>
          <p:cNvPr id="5" name="Shape 3"/>
          <p:cNvSpPr/>
          <p:nvPr/>
        </p:nvSpPr>
        <p:spPr>
          <a:xfrm>
            <a:off x="502920"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58952" y="1956816"/>
            <a:ext cx="1133856" cy="310896"/>
          </a:xfrm>
          <a:prstGeom prst="roundRect">
            <a:avLst>
              <a:gd name="adj" fmla="val 50000"/>
            </a:avLst>
          </a:prstGeom>
          <a:solidFill>
            <a:srgbClr val="EFF6FF"/>
          </a:solidFill>
          <a:ln w="12700">
            <a:solidFill>
              <a:srgbClr val="333333"/>
            </a:solidFill>
            <a:prstDash val="solid"/>
          </a:ln>
        </p:spPr>
      </p:sp>
      <p:sp>
        <p:nvSpPr>
          <p:cNvPr id="7" name="Text 5"/>
          <p:cNvSpPr txBox="1"/>
          <p:nvPr/>
        </p:nvSpPr>
        <p:spPr>
          <a:xfrm>
            <a:off x="758952"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BAND B</a:t>
            </a:r>
            <a:endParaRPr lang="en-US" sz="1400" dirty="0"/>
          </a:p>
        </p:txBody>
      </p:sp>
      <p:sp>
        <p:nvSpPr>
          <p:cNvPr id="8" name="Text 6"/>
          <p:cNvSpPr txBox="1"/>
          <p:nvPr/>
        </p:nvSpPr>
        <p:spPr>
          <a:xfrm>
            <a:off x="758952"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The upward pivot</a:t>
            </a:r>
            <a:endParaRPr lang="en-US" sz="2000" dirty="0"/>
          </a:p>
        </p:txBody>
      </p:sp>
      <p:sp>
        <p:nvSpPr>
          <p:cNvPr id="9" name="Text 7"/>
          <p:cNvSpPr txBox="1"/>
          <p:nvPr/>
        </p:nvSpPr>
        <p:spPr>
          <a:xfrm>
            <a:off x="758952"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Employees growing into a reachable next-level role — the natural, believable step up.</a:t>
            </a:r>
            <a:endParaRPr lang="en-US" sz="1500" dirty="0"/>
          </a:p>
        </p:txBody>
      </p:sp>
      <p:sp>
        <p:nvSpPr>
          <p:cNvPr id="10" name="Text 8"/>
          <p:cNvSpPr txBox="1"/>
          <p:nvPr/>
        </p:nvSpPr>
        <p:spPr>
          <a:xfrm>
            <a:off x="758952"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11" name="Text 9"/>
          <p:cNvSpPr txBox="1"/>
          <p:nvPr/>
        </p:nvSpPr>
        <p:spPr>
          <a:xfrm>
            <a:off x="4230472"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186</a:t>
            </a:r>
            <a:endParaRPr lang="en-US" sz="1600" dirty="0"/>
          </a:p>
        </p:txBody>
      </p:sp>
      <p:sp>
        <p:nvSpPr>
          <p:cNvPr id="12" name="Text 10"/>
          <p:cNvSpPr txBox="1"/>
          <p:nvPr/>
        </p:nvSpPr>
        <p:spPr>
          <a:xfrm>
            <a:off x="758952"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13" name="Text 11"/>
          <p:cNvSpPr txBox="1"/>
          <p:nvPr/>
        </p:nvSpPr>
        <p:spPr>
          <a:xfrm>
            <a:off x="4230472"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₱22,446</a:t>
            </a:r>
            <a:endParaRPr lang="en-US" sz="1600" dirty="0"/>
          </a:p>
        </p:txBody>
      </p:sp>
      <p:sp>
        <p:nvSpPr>
          <p:cNvPr id="14" name="Text 12"/>
          <p:cNvSpPr txBox="1"/>
          <p:nvPr/>
        </p:nvSpPr>
        <p:spPr>
          <a:xfrm>
            <a:off x="758952"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a:t>
            </a:r>
            <a:endParaRPr lang="en-US" sz="1500" dirty="0"/>
          </a:p>
        </p:txBody>
      </p:sp>
      <p:sp>
        <p:nvSpPr>
          <p:cNvPr id="15" name="Text 13"/>
          <p:cNvSpPr txBox="1"/>
          <p:nvPr/>
        </p:nvSpPr>
        <p:spPr>
          <a:xfrm>
            <a:off x="4230472"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₱9,791</a:t>
            </a:r>
            <a:endParaRPr lang="en-US" sz="1600" dirty="0"/>
          </a:p>
        </p:txBody>
      </p:sp>
      <p:sp>
        <p:nvSpPr>
          <p:cNvPr id="16" name="Shape 14"/>
          <p:cNvSpPr/>
          <p:nvPr/>
        </p:nvSpPr>
        <p:spPr>
          <a:xfrm>
            <a:off x="758952" y="4224528"/>
            <a:ext cx="4952848" cy="402336"/>
          </a:xfrm>
          <a:prstGeom prst="roundRect">
            <a:avLst>
              <a:gd name="adj" fmla="val 13636"/>
            </a:avLst>
          </a:prstGeom>
          <a:solidFill>
            <a:srgbClr val="EFF6FF"/>
          </a:solidFill>
          <a:ln w="12700">
            <a:solidFill>
              <a:srgbClr val="333333"/>
            </a:solidFill>
            <a:prstDash val="solid"/>
          </a:ln>
        </p:spPr>
      </p:sp>
      <p:sp>
        <p:nvSpPr>
          <p:cNvPr id="17" name="Text 15"/>
          <p:cNvSpPr txBox="1"/>
          <p:nvPr/>
        </p:nvSpPr>
        <p:spPr>
          <a:xfrm>
            <a:off x="758952" y="4224528"/>
            <a:ext cx="4952848" cy="402336"/>
          </a:xfrm>
          <a:prstGeom prst="rect">
            <a:avLst/>
          </a:prstGeom>
          <a:noFill/>
          <a:ln/>
        </p:spPr>
        <p:txBody>
          <a:bodyPr wrap="square" lIns="0" tIns="0" rIns="0" bIns="0"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₱22,446 saved per internal fill</a:t>
            </a:r>
            <a:endParaRPr lang="en-US" sz="1600" dirty="0"/>
          </a:p>
        </p:txBody>
      </p:sp>
      <p:sp>
        <p:nvSpPr>
          <p:cNvPr id="18" name="Shape 16"/>
          <p:cNvSpPr/>
          <p:nvPr/>
        </p:nvSpPr>
        <p:spPr>
          <a:xfrm>
            <a:off x="6223864"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Shape 17"/>
          <p:cNvSpPr/>
          <p:nvPr/>
        </p:nvSpPr>
        <p:spPr>
          <a:xfrm>
            <a:off x="6479896" y="1956816"/>
            <a:ext cx="1133856" cy="310896"/>
          </a:xfrm>
          <a:prstGeom prst="roundRect">
            <a:avLst>
              <a:gd name="adj" fmla="val 50000"/>
            </a:avLst>
          </a:prstGeom>
          <a:solidFill>
            <a:srgbClr val="FDF1F1"/>
          </a:solidFill>
          <a:ln w="12700">
            <a:solidFill>
              <a:srgbClr val="333333"/>
            </a:solidFill>
            <a:prstDash val="solid"/>
          </a:ln>
        </p:spPr>
      </p:sp>
      <p:sp>
        <p:nvSpPr>
          <p:cNvPr id="20" name="Text 18"/>
          <p:cNvSpPr txBox="1"/>
          <p:nvPr/>
        </p:nvSpPr>
        <p:spPr>
          <a:xfrm>
            <a:off x="6479896"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BAND C</a:t>
            </a:r>
            <a:endParaRPr lang="en-US" sz="1400" dirty="0"/>
          </a:p>
        </p:txBody>
      </p:sp>
      <p:sp>
        <p:nvSpPr>
          <p:cNvPr id="21" name="Text 19"/>
          <p:cNvSpPr txBox="1"/>
          <p:nvPr/>
        </p:nvSpPr>
        <p:spPr>
          <a:xfrm>
            <a:off x="6479896"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Lateral mobility</a:t>
            </a:r>
            <a:endParaRPr lang="en-US" sz="2000" dirty="0"/>
          </a:p>
        </p:txBody>
      </p:sp>
      <p:sp>
        <p:nvSpPr>
          <p:cNvPr id="22" name="Text 20"/>
          <p:cNvSpPr txBox="1"/>
          <p:nvPr/>
        </p:nvSpPr>
        <p:spPr>
          <a:xfrm>
            <a:off x="6479896"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Existing managers and senior managers moving across functions. Not a level leap — a sideways move.</a:t>
            </a:r>
            <a:endParaRPr lang="en-US" sz="1500" dirty="0"/>
          </a:p>
        </p:txBody>
      </p:sp>
      <p:sp>
        <p:nvSpPr>
          <p:cNvPr id="23" name="Text 21"/>
          <p:cNvSpPr txBox="1"/>
          <p:nvPr/>
        </p:nvSpPr>
        <p:spPr>
          <a:xfrm>
            <a:off x="6479896"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24" name="Text 22"/>
          <p:cNvSpPr txBox="1"/>
          <p:nvPr/>
        </p:nvSpPr>
        <p:spPr>
          <a:xfrm>
            <a:off x="9951415"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103</a:t>
            </a:r>
            <a:endParaRPr lang="en-US" sz="1600" dirty="0"/>
          </a:p>
        </p:txBody>
      </p:sp>
      <p:sp>
        <p:nvSpPr>
          <p:cNvPr id="25" name="Text 23"/>
          <p:cNvSpPr txBox="1"/>
          <p:nvPr/>
        </p:nvSpPr>
        <p:spPr>
          <a:xfrm>
            <a:off x="6479896"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26" name="Text 24"/>
          <p:cNvSpPr txBox="1"/>
          <p:nvPr/>
        </p:nvSpPr>
        <p:spPr>
          <a:xfrm>
            <a:off x="9951415"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₱86,796</a:t>
            </a:r>
            <a:endParaRPr lang="en-US" sz="1600" dirty="0"/>
          </a:p>
        </p:txBody>
      </p:sp>
      <p:sp>
        <p:nvSpPr>
          <p:cNvPr id="27" name="Text 25"/>
          <p:cNvSpPr txBox="1"/>
          <p:nvPr/>
        </p:nvSpPr>
        <p:spPr>
          <a:xfrm>
            <a:off x="6479896"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 (68%)</a:t>
            </a:r>
            <a:endParaRPr lang="en-US" sz="1500" dirty="0"/>
          </a:p>
        </p:txBody>
      </p:sp>
      <p:sp>
        <p:nvSpPr>
          <p:cNvPr id="28" name="Text 26"/>
          <p:cNvSpPr txBox="1"/>
          <p:nvPr/>
        </p:nvSpPr>
        <p:spPr>
          <a:xfrm>
            <a:off x="9951415"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₱58,823</a:t>
            </a:r>
            <a:endParaRPr lang="en-US" sz="1600" dirty="0"/>
          </a:p>
        </p:txBody>
      </p:sp>
      <p:sp>
        <p:nvSpPr>
          <p:cNvPr id="29" name="Shape 27"/>
          <p:cNvSpPr/>
          <p:nvPr/>
        </p:nvSpPr>
        <p:spPr>
          <a:xfrm>
            <a:off x="6479896" y="4224528"/>
            <a:ext cx="4952848" cy="402336"/>
          </a:xfrm>
          <a:prstGeom prst="roundRect">
            <a:avLst>
              <a:gd name="adj" fmla="val 13636"/>
            </a:avLst>
          </a:prstGeom>
          <a:solidFill>
            <a:srgbClr val="FDF1F1"/>
          </a:solidFill>
          <a:ln w="12700">
            <a:solidFill>
              <a:srgbClr val="333333"/>
            </a:solidFill>
            <a:prstDash val="solid"/>
          </a:ln>
        </p:spPr>
      </p:sp>
      <p:sp>
        <p:nvSpPr>
          <p:cNvPr id="30" name="Text 28"/>
          <p:cNvSpPr txBox="1"/>
          <p:nvPr/>
        </p:nvSpPr>
        <p:spPr>
          <a:xfrm>
            <a:off x="6479896" y="4224528"/>
            <a:ext cx="4952848" cy="402336"/>
          </a:xfrm>
          <a:prstGeom prst="rect">
            <a:avLst/>
          </a:prstGeom>
          <a:noFill/>
          <a:ln/>
        </p:spPr>
        <p:txBody>
          <a:bodyPr wrap="square" lIns="0" tIns="0" rIns="0" bIns="0" rtlCol="0" anchor="ctr"/>
          <a:lstStyle/>
          <a:p>
            <a:pPr algn="ctr" indent="0" marL="0">
              <a:buNone/>
            </a:pPr>
            <a:r>
              <a:rPr lang="en-US" sz="1600" b="1" dirty="0">
                <a:solidFill>
                  <a:srgbClr val="C00000"/>
                </a:solidFill>
                <a:latin typeface="Arial" pitchFamily="34" charset="0"/>
                <a:ea typeface="Arial" pitchFamily="34" charset="-122"/>
                <a:cs typeface="Arial" pitchFamily="34" charset="-120"/>
              </a:rPr>
              <a:t>₱86,796 saved per internal fill</a:t>
            </a:r>
            <a:endParaRPr lang="en-US" sz="1600" dirty="0"/>
          </a:p>
        </p:txBody>
      </p:sp>
      <p:sp>
        <p:nvSpPr>
          <p:cNvPr id="31" name="Shape 29"/>
          <p:cNvSpPr/>
          <p:nvPr/>
        </p:nvSpPr>
        <p:spPr>
          <a:xfrm>
            <a:off x="502920" y="4736592"/>
            <a:ext cx="11185855" cy="1389888"/>
          </a:xfrm>
          <a:prstGeom prst="roundRect">
            <a:avLst>
              <a:gd name="adj" fmla="val 3947"/>
            </a:avLst>
          </a:prstGeom>
          <a:solidFill>
            <a:srgbClr val="F7F8FA"/>
          </a:solidFill>
          <a:ln w="12700">
            <a:solidFill>
              <a:srgbClr val="333333"/>
            </a:solidFill>
            <a:prstDash val="solid"/>
          </a:ln>
        </p:spPr>
      </p:sp>
      <p:sp>
        <p:nvSpPr>
          <p:cNvPr id="32" name="Text 30"/>
          <p:cNvSpPr txBox="1"/>
          <p:nvPr/>
        </p:nvSpPr>
        <p:spPr>
          <a:xfrm>
            <a:off x="813816" y="4901184"/>
            <a:ext cx="10564063"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At the ~30% industry benchmark across both bands</a:t>
            </a:r>
            <a:endParaRPr lang="en-US" sz="1700" dirty="0"/>
          </a:p>
        </p:txBody>
      </p:sp>
      <p:sp>
        <p:nvSpPr>
          <p:cNvPr id="33" name="Text 31"/>
          <p:cNvSpPr txBox="1"/>
          <p:nvPr/>
        </p:nvSpPr>
        <p:spPr>
          <a:xfrm>
            <a:off x="813816"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 87</a:t>
            </a:r>
            <a:endParaRPr lang="en-US" sz="2400" dirty="0"/>
          </a:p>
        </p:txBody>
      </p:sp>
      <p:sp>
        <p:nvSpPr>
          <p:cNvPr id="34" name="Text 32"/>
          <p:cNvSpPr txBox="1"/>
          <p:nvPr/>
        </p:nvSpPr>
        <p:spPr>
          <a:xfrm>
            <a:off x="813816"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internal fills a year</a:t>
            </a:r>
            <a:endParaRPr lang="en-US" sz="1400" dirty="0"/>
          </a:p>
        </p:txBody>
      </p:sp>
      <p:sp>
        <p:nvSpPr>
          <p:cNvPr id="35" name="Text 33"/>
          <p:cNvSpPr txBox="1"/>
          <p:nvPr/>
        </p:nvSpPr>
        <p:spPr>
          <a:xfrm>
            <a:off x="813816"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56 Band B + 31 Band C</a:t>
            </a:r>
            <a:endParaRPr lang="en-US" sz="1400" dirty="0"/>
          </a:p>
        </p:txBody>
      </p:sp>
      <p:sp>
        <p:nvSpPr>
          <p:cNvPr id="36" name="Text 34"/>
          <p:cNvSpPr txBox="1"/>
          <p:nvPr/>
        </p:nvSpPr>
        <p:spPr>
          <a:xfrm>
            <a:off x="4426610"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₱3.9M</a:t>
            </a:r>
            <a:endParaRPr lang="en-US" sz="2400" dirty="0"/>
          </a:p>
        </p:txBody>
      </p:sp>
      <p:sp>
        <p:nvSpPr>
          <p:cNvPr id="37" name="Text 35"/>
          <p:cNvSpPr txBox="1"/>
          <p:nvPr/>
        </p:nvSpPr>
        <p:spPr>
          <a:xfrm>
            <a:off x="4426610"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gross avoided cost a year</a:t>
            </a:r>
            <a:endParaRPr lang="en-US" sz="1400" dirty="0"/>
          </a:p>
        </p:txBody>
      </p:sp>
      <p:sp>
        <p:nvSpPr>
          <p:cNvPr id="38" name="Text 36"/>
          <p:cNvSpPr txBox="1"/>
          <p:nvPr/>
        </p:nvSpPr>
        <p:spPr>
          <a:xfrm>
            <a:off x="4426610"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2025 volumes, 2024 cost-per-hire</a:t>
            </a:r>
            <a:endParaRPr lang="en-US" sz="1400" dirty="0"/>
          </a:p>
        </p:txBody>
      </p:sp>
      <p:sp>
        <p:nvSpPr>
          <p:cNvPr id="39" name="Text 37"/>
          <p:cNvSpPr txBox="1"/>
          <p:nvPr/>
        </p:nvSpPr>
        <p:spPr>
          <a:xfrm>
            <a:off x="8039405" y="5157216"/>
            <a:ext cx="3338474" cy="859536"/>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Arial" pitchFamily="34" charset="0"/>
                <a:ea typeface="Arial" pitchFamily="34" charset="-122"/>
                <a:cs typeface="Arial" pitchFamily="34" charset="-120"/>
              </a:rPr>
              <a:t>Caveats we own:  </a:t>
            </a:r>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moves create backfill, usually cheaper · some external hiring is healthy · 2024 costs applied to 2025 volumes</a:t>
            </a:r>
            <a:endParaRPr lang="en-US" sz="1400" dirty="0"/>
          </a:p>
        </p:txBody>
      </p:sp>
      <p:sp>
        <p:nvSpPr>
          <p:cNvPr id="40" name="Shape 38"/>
          <p:cNvSpPr/>
          <p:nvPr/>
        </p:nvSpPr>
        <p:spPr>
          <a:xfrm>
            <a:off x="502920" y="6291072"/>
            <a:ext cx="11185855" cy="0"/>
          </a:xfrm>
          <a:prstGeom prst="line">
            <a:avLst/>
          </a:prstGeom>
          <a:noFill/>
          <a:ln w="12700">
            <a:solidFill>
              <a:srgbClr val="E5E7EB"/>
            </a:solidFill>
            <a:prstDash val="solid"/>
          </a:ln>
        </p:spPr>
      </p:sp>
      <p:sp>
        <p:nvSpPr>
          <p:cNvPr id="41" name="Text 3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cost–benefit slides use a narrower, attribution-safe subset of this figure — not the ₱3.9M gross.</a:t>
            </a:r>
            <a:endParaRPr lang="en-US" sz="1400" dirty="0"/>
          </a:p>
        </p:txBody>
      </p:sp>
      <p:sp>
        <p:nvSpPr>
          <p:cNvPr id="42" name="Text 4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BUSINESS MODEL CANVAS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An internal-fill engine, not an engagement tool.</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Career growth is the employee-facing promise. Cheaper fills and faster capacity are the argument.</a:t>
            </a:r>
            <a:endParaRPr lang="en-US" sz="1600" dirty="0"/>
          </a:p>
        </p:txBody>
      </p:sp>
      <p:sp>
        <p:nvSpPr>
          <p:cNvPr id="5" name="Shape 3"/>
          <p:cNvSpPr/>
          <p:nvPr/>
        </p:nvSpPr>
        <p:spPr>
          <a:xfrm>
            <a:off x="502920"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PROBLEM</a:t>
            </a:r>
            <a:endParaRPr lang="en-US" sz="1400" dirty="0"/>
          </a:p>
        </p:txBody>
      </p:sp>
      <p:sp>
        <p:nvSpPr>
          <p:cNvPr id="7" name="Text 5"/>
          <p:cNvSpPr txBox="1"/>
          <p:nvPr/>
        </p:nvSpPr>
        <p:spPr>
          <a:xfrm>
            <a:off x="704088"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17.6% internal fill vs ~30%</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₱6.1M a year to headhunters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Projects staffed by contractors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No visibility of skills</a:t>
            </a:r>
            <a:endParaRPr lang="en-US" sz="1400" dirty="0"/>
          </a:p>
        </p:txBody>
      </p:sp>
      <p:sp>
        <p:nvSpPr>
          <p:cNvPr id="8" name="Shape 6"/>
          <p:cNvSpPr/>
          <p:nvPr/>
        </p:nvSpPr>
        <p:spPr>
          <a:xfrm>
            <a:off x="4286402"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4487570"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SOLUTION</a:t>
            </a:r>
            <a:endParaRPr lang="en-US" sz="1400" dirty="0"/>
          </a:p>
        </p:txBody>
      </p:sp>
      <p:sp>
        <p:nvSpPr>
          <p:cNvPr id="10" name="Text 8"/>
          <p:cNvSpPr txBox="1"/>
          <p:nvPr/>
        </p:nvSpPr>
        <p:spPr>
          <a:xfrm>
            <a:off x="4487570"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One board: gigs, immersions, offers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vacancies scored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AI matching on skills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inventory as a by-product</a:t>
            </a:r>
            <a:endParaRPr lang="en-US" sz="1400" dirty="0"/>
          </a:p>
        </p:txBody>
      </p:sp>
      <p:sp>
        <p:nvSpPr>
          <p:cNvPr id="11" name="Shape 9"/>
          <p:cNvSpPr/>
          <p:nvPr/>
        </p:nvSpPr>
        <p:spPr>
          <a:xfrm>
            <a:off x="8069885"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Text 10"/>
          <p:cNvSpPr txBox="1"/>
          <p:nvPr/>
        </p:nvSpPr>
        <p:spPr>
          <a:xfrm>
            <a:off x="8271053"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CUSTOMER SEGMENTS</a:t>
            </a:r>
            <a:endParaRPr lang="en-US" sz="1400" dirty="0"/>
          </a:p>
        </p:txBody>
      </p:sp>
      <p:sp>
        <p:nvSpPr>
          <p:cNvPr id="13" name="Text 11"/>
          <p:cNvSpPr txBox="1"/>
          <p:nvPr/>
        </p:nvSpPr>
        <p:spPr>
          <a:xfrm>
            <a:off x="8271053"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Talent Acquisition — cheaper fills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Managers —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Employees — growth and pivots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HR — workforce intelligence</a:t>
            </a:r>
            <a:endParaRPr lang="en-US" sz="1400" dirty="0"/>
          </a:p>
        </p:txBody>
      </p:sp>
      <p:sp>
        <p:nvSpPr>
          <p:cNvPr id="14" name="Shape 12"/>
          <p:cNvSpPr/>
          <p:nvPr/>
        </p:nvSpPr>
        <p:spPr>
          <a:xfrm>
            <a:off x="502920"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5" name="Text 13"/>
          <p:cNvSpPr txBox="1"/>
          <p:nvPr/>
        </p:nvSpPr>
        <p:spPr>
          <a:xfrm>
            <a:off x="704088"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VALUE PROPOSITION</a:t>
            </a:r>
            <a:endParaRPr lang="en-US" sz="1400" dirty="0"/>
          </a:p>
        </p:txBody>
      </p:sp>
      <p:sp>
        <p:nvSpPr>
          <p:cNvPr id="16" name="Text 14"/>
          <p:cNvSpPr txBox="1"/>
          <p:nvPr/>
        </p:nvSpPr>
        <p:spPr>
          <a:xfrm>
            <a:off x="704088"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Business: cut headhunter spend,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staff priority work in days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 see and reach real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opportunities</a:t>
            </a:r>
            <a:endParaRPr lang="en-US" sz="1400" dirty="0"/>
          </a:p>
        </p:txBody>
      </p:sp>
      <p:sp>
        <p:nvSpPr>
          <p:cNvPr id="17" name="Shape 15"/>
          <p:cNvSpPr/>
          <p:nvPr/>
        </p:nvSpPr>
        <p:spPr>
          <a:xfrm>
            <a:off x="4286402"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4487570"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ACTIVITIES</a:t>
            </a:r>
            <a:endParaRPr lang="en-US" sz="1400" dirty="0"/>
          </a:p>
        </p:txBody>
      </p:sp>
      <p:sp>
        <p:nvSpPr>
          <p:cNvPr id="19" name="Text 17"/>
          <p:cNvSpPr txBox="1"/>
          <p:nvPr/>
        </p:nvSpPr>
        <p:spPr>
          <a:xfrm>
            <a:off x="4487570"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Post and moderate opportunities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Match and surface candidates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Run immersions with approval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Close the loop with feedback</a:t>
            </a:r>
            <a:endParaRPr lang="en-US" sz="1400" dirty="0"/>
          </a:p>
        </p:txBody>
      </p:sp>
      <p:sp>
        <p:nvSpPr>
          <p:cNvPr id="20" name="Shape 18"/>
          <p:cNvSpPr/>
          <p:nvPr/>
        </p:nvSpPr>
        <p:spPr>
          <a:xfrm>
            <a:off x="8069885"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271053"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RESOURCES</a:t>
            </a:r>
            <a:endParaRPr lang="en-US" sz="1400" dirty="0"/>
          </a:p>
        </p:txBody>
      </p:sp>
      <p:sp>
        <p:nvSpPr>
          <p:cNvPr id="22" name="Text 20"/>
          <p:cNvSpPr txBox="1"/>
          <p:nvPr/>
        </p:nvSpPr>
        <p:spPr>
          <a:xfrm>
            <a:off x="8271053"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Claude API matching engine</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development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Programme owner in P&amp;C</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data from HRIS and MyDevt</a:t>
            </a:r>
            <a:endParaRPr lang="en-US" sz="1400" dirty="0"/>
          </a:p>
        </p:txBody>
      </p:sp>
      <p:sp>
        <p:nvSpPr>
          <p:cNvPr id="23" name="Shape 21"/>
          <p:cNvSpPr/>
          <p:nvPr/>
        </p:nvSpPr>
        <p:spPr>
          <a:xfrm>
            <a:off x="502920"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4" name="Text 22"/>
          <p:cNvSpPr txBox="1"/>
          <p:nvPr/>
        </p:nvSpPr>
        <p:spPr>
          <a:xfrm>
            <a:off x="704088"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CHANNELS</a:t>
            </a:r>
            <a:endParaRPr lang="en-US" sz="1400" dirty="0"/>
          </a:p>
        </p:txBody>
      </p:sp>
      <p:sp>
        <p:nvSpPr>
          <p:cNvPr id="25" name="Text 23"/>
          <p:cNvSpPr txBox="1"/>
          <p:nvPr/>
        </p:nvSpPr>
        <p:spPr>
          <a:xfrm>
            <a:off x="704088"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intranet, newsletter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 cascades and town halls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Recruitment as the first funnel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Champion network</a:t>
            </a:r>
            <a:endParaRPr lang="en-US" sz="1400" dirty="0"/>
          </a:p>
        </p:txBody>
      </p:sp>
      <p:sp>
        <p:nvSpPr>
          <p:cNvPr id="26" name="Shape 24"/>
          <p:cNvSpPr/>
          <p:nvPr/>
        </p:nvSpPr>
        <p:spPr>
          <a:xfrm>
            <a:off x="4286402"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Text 25"/>
          <p:cNvSpPr txBox="1"/>
          <p:nvPr/>
        </p:nvSpPr>
        <p:spPr>
          <a:xfrm>
            <a:off x="4487570"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COST STRUCTURE</a:t>
            </a:r>
            <a:endParaRPr lang="en-US" sz="1400" dirty="0"/>
          </a:p>
        </p:txBody>
      </p:sp>
      <p:sp>
        <p:nvSpPr>
          <p:cNvPr id="28" name="Text 26"/>
          <p:cNvSpPr txBox="1"/>
          <p:nvPr/>
        </p:nvSpPr>
        <p:spPr>
          <a:xfrm>
            <a:off x="4487570"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₱711k one-time build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₱55k–₱61k a year to run</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0.2–0.3 FTE programme ownership from year two</a:t>
            </a:r>
            <a:endParaRPr lang="en-US" sz="1400" dirty="0"/>
          </a:p>
        </p:txBody>
      </p:sp>
      <p:sp>
        <p:nvSpPr>
          <p:cNvPr id="29" name="Shape 27"/>
          <p:cNvSpPr/>
          <p:nvPr/>
        </p:nvSpPr>
        <p:spPr>
          <a:xfrm>
            <a:off x="8069885"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271053"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RETURN</a:t>
            </a:r>
            <a:endParaRPr lang="en-US" sz="1400" dirty="0"/>
          </a:p>
        </p:txBody>
      </p:sp>
      <p:sp>
        <p:nvSpPr>
          <p:cNvPr id="31" name="Text 29"/>
          <p:cNvSpPr txBox="1"/>
          <p:nvPr/>
        </p:nvSpPr>
        <p:spPr>
          <a:xfrm>
            <a:off x="8271053"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₱86,796 saved per Band C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₱22,446 saved per Band B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37 vacancy days avoided per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Retention lift among movers</a:t>
            </a:r>
            <a:endParaRPr lang="en-US" sz="1400" dirty="0"/>
          </a:p>
        </p:txBody>
      </p:sp>
      <p:sp>
        <p:nvSpPr>
          <p:cNvPr id="32" name="Shape 30"/>
          <p:cNvSpPr/>
          <p:nvPr/>
        </p:nvSpPr>
        <p:spPr>
          <a:xfrm>
            <a:off x="502920" y="6291072"/>
            <a:ext cx="11185855" cy="0"/>
          </a:xfrm>
          <a:prstGeom prst="line">
            <a:avLst/>
          </a:prstGeom>
          <a:noFill/>
          <a:ln w="12700">
            <a:solidFill>
              <a:srgbClr val="E5E7EB"/>
            </a:solidFill>
            <a:prstDash val="solid"/>
          </a:ln>
        </p:spPr>
      </p:sp>
      <p:sp>
        <p:nvSpPr>
          <p:cNvPr id="33" name="Text 3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shift: we no longer sell "employees feel stuck" — our eNPS says otherwise. We sell cheaper fills, faster capacity and a live skills map.</a:t>
            </a:r>
            <a:endParaRPr lang="en-US" sz="1400" dirty="0"/>
          </a:p>
        </p:txBody>
      </p:sp>
      <p:sp>
        <p:nvSpPr>
          <p:cNvPr id="34" name="Text 3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DEMAND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our people asked for, in their own filings.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None of this was collected for this project. All of it points the same way.</a:t>
            </a:r>
            <a:endParaRPr lang="en-US" sz="1600" dirty="0"/>
          </a:p>
        </p:txBody>
      </p:sp>
      <p:sp>
        <p:nvSpPr>
          <p:cNvPr id="5" name="Shape 3"/>
          <p:cNvSpPr/>
          <p:nvPr/>
        </p:nvSpPr>
        <p:spPr>
          <a:xfrm>
            <a:off x="502920" y="1773936"/>
            <a:ext cx="5257352"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74528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Stated career movement — 1,109 responses</a:t>
            </a:r>
            <a:endParaRPr lang="en-US" sz="1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58952" y="2212848"/>
          <a:ext cx="4745288" cy="914400"/>
        </p:xfrm>
        <a:graphic>
          <a:graphicData uri="http://schemas.openxmlformats.org/drawingml/2006/table">
            <a:tbl>
              <a:tblPr/>
              <a:tblGrid>
                <a:gridCol w="2514600"/>
                <a:gridCol w="1188720"/>
                <a:gridCol w="1042416"/>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Desired movement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Vertical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42%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Enrichment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347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Lateral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Exploratory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Relocation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Realignment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Text 5"/>
          <p:cNvSpPr txBox="1"/>
          <p:nvPr/>
        </p:nvSpPr>
        <p:spPr>
          <a:xfrm>
            <a:off x="758952" y="4297680"/>
            <a:ext cx="4745288" cy="274320"/>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73% of intent is what a marketplace serves.</a:t>
            </a:r>
            <a:endParaRPr lang="en-US" sz="1400" dirty="0"/>
          </a:p>
        </p:txBody>
      </p:sp>
      <p:sp>
        <p:nvSpPr>
          <p:cNvPr id="9" name="Shape 6"/>
          <p:cNvSpPr/>
          <p:nvPr/>
        </p:nvSpPr>
        <p:spPr>
          <a:xfrm>
            <a:off x="5998016" y="1773936"/>
            <a:ext cx="5690759"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6254048" y="1938528"/>
            <a:ext cx="5178695"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Top learning priorities in 2026 IDPs filed</a:t>
            </a:r>
            <a:endParaRPr lang="en-US" sz="17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54048" y="2212848"/>
          <a:ext cx="5178695" cy="914400"/>
        </p:xfrm>
        <a:graphic>
          <a:graphicData uri="http://schemas.openxmlformats.org/drawingml/2006/table">
            <a:tbl>
              <a:tblPr/>
              <a:tblGrid>
                <a:gridCol w="292608"/>
                <a:gridCol w="2910983"/>
                <a:gridCol w="1188720"/>
                <a:gridCol w="786384"/>
              </a:tblGrid>
              <a:tr h="274320">
                <a:tc>
                  <a:txBody>
                    <a:bodyPr/>
                    <a:lstStyle/>
                    <a:p>
                      <a:pP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Skill theme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Data, analytics and AI tools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37.1%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Functional and technical expertise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Process and change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Leadership and people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Communication and stakeholders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12" name="Text 8"/>
          <p:cNvSpPr txBox="1"/>
          <p:nvPr/>
        </p:nvSpPr>
        <p:spPr>
          <a:xfrm>
            <a:off x="6254048" y="4297680"/>
            <a:ext cx="5178695" cy="27432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Base: 283 employees whose 2026 IDPs named a priority.</a:t>
            </a:r>
            <a:endParaRPr lang="en-US" sz="1400" dirty="0"/>
          </a:p>
        </p:txBody>
      </p:sp>
      <p:sp>
        <p:nvSpPr>
          <p:cNvPr id="13" name="Shape 9"/>
          <p:cNvSpPr/>
          <p:nvPr/>
        </p:nvSpPr>
        <p:spPr>
          <a:xfrm>
            <a:off x="502920" y="4663440"/>
            <a:ext cx="3582314" cy="1353312"/>
          </a:xfrm>
          <a:prstGeom prst="roundRect">
            <a:avLst>
              <a:gd name="adj" fmla="val 4054"/>
            </a:avLst>
          </a:prstGeom>
          <a:solidFill>
            <a:srgbClr val="F7F8FA"/>
          </a:solidFill>
          <a:ln w="12700">
            <a:solidFill>
              <a:srgbClr val="333333"/>
            </a:solidFill>
            <a:prstDash val="solid"/>
          </a:ln>
        </p:spPr>
      </p:sp>
      <p:sp>
        <p:nvSpPr>
          <p:cNvPr id="14" name="Text 10"/>
          <p:cNvSpPr txBox="1"/>
          <p:nvPr/>
        </p:nvSpPr>
        <p:spPr>
          <a:xfrm>
            <a:off x="75895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630</a:t>
            </a:r>
            <a:endParaRPr lang="en-US" sz="2800" dirty="0"/>
          </a:p>
        </p:txBody>
      </p:sp>
      <p:sp>
        <p:nvSpPr>
          <p:cNvPr id="15" name="Text 11"/>
          <p:cNvSpPr txBox="1"/>
          <p:nvPr/>
        </p:nvSpPr>
        <p:spPr>
          <a:xfrm>
            <a:off x="75895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1,249 IDP filers want to learn by doing</a:t>
            </a:r>
            <a:endParaRPr lang="en-US" sz="1500" dirty="0"/>
          </a:p>
        </p:txBody>
      </p:sp>
      <p:sp>
        <p:nvSpPr>
          <p:cNvPr id="16" name="Text 12"/>
          <p:cNvSpPr txBox="1"/>
          <p:nvPr/>
        </p:nvSpPr>
        <p:spPr>
          <a:xfrm>
            <a:off x="75895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17" name="Shape 13"/>
          <p:cNvSpPr/>
          <p:nvPr/>
        </p:nvSpPr>
        <p:spPr>
          <a:xfrm>
            <a:off x="4304690" y="4663440"/>
            <a:ext cx="3582314" cy="1353312"/>
          </a:xfrm>
          <a:prstGeom prst="roundRect">
            <a:avLst>
              <a:gd name="adj" fmla="val 4054"/>
            </a:avLst>
          </a:prstGeom>
          <a:solidFill>
            <a:srgbClr val="F7F8FA"/>
          </a:solidFill>
          <a:ln w="12700">
            <a:solidFill>
              <a:srgbClr val="333333"/>
            </a:solidFill>
            <a:prstDash val="solid"/>
          </a:ln>
        </p:spPr>
      </p:sp>
      <p:sp>
        <p:nvSpPr>
          <p:cNvPr id="18" name="Text 14"/>
          <p:cNvSpPr txBox="1"/>
          <p:nvPr/>
        </p:nvSpPr>
        <p:spPr>
          <a:xfrm>
            <a:off x="456072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55%</a:t>
            </a:r>
            <a:endParaRPr lang="en-US" sz="2800" dirty="0"/>
          </a:p>
        </p:txBody>
      </p:sp>
      <p:sp>
        <p:nvSpPr>
          <p:cNvPr id="19" name="Text 15"/>
          <p:cNvSpPr txBox="1"/>
          <p:nvPr/>
        </p:nvSpPr>
        <p:spPr>
          <a:xfrm>
            <a:off x="456072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want growth that is not a promotion</a:t>
            </a:r>
            <a:endParaRPr lang="en-US" sz="1500" dirty="0"/>
          </a:p>
        </p:txBody>
      </p:sp>
      <p:sp>
        <p:nvSpPr>
          <p:cNvPr id="20" name="Text 16"/>
          <p:cNvSpPr txBox="1"/>
          <p:nvPr/>
        </p:nvSpPr>
        <p:spPr>
          <a:xfrm>
            <a:off x="456072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2026 Midyear Review</a:t>
            </a:r>
            <a:endParaRPr lang="en-US" sz="1400" dirty="0"/>
          </a:p>
        </p:txBody>
      </p:sp>
      <p:sp>
        <p:nvSpPr>
          <p:cNvPr id="21" name="Shape 17"/>
          <p:cNvSpPr/>
          <p:nvPr/>
        </p:nvSpPr>
        <p:spPr>
          <a:xfrm>
            <a:off x="8106461" y="4663440"/>
            <a:ext cx="3582314" cy="1353312"/>
          </a:xfrm>
          <a:prstGeom prst="roundRect">
            <a:avLst>
              <a:gd name="adj" fmla="val 4054"/>
            </a:avLst>
          </a:prstGeom>
          <a:solidFill>
            <a:srgbClr val="F7F8FA"/>
          </a:solidFill>
          <a:ln w="12700">
            <a:solidFill>
              <a:srgbClr val="333333"/>
            </a:solidFill>
            <a:prstDash val="solid"/>
          </a:ln>
        </p:spPr>
      </p:sp>
      <p:sp>
        <p:nvSpPr>
          <p:cNvPr id="22" name="Text 18"/>
          <p:cNvSpPr txBox="1"/>
          <p:nvPr/>
        </p:nvSpPr>
        <p:spPr>
          <a:xfrm>
            <a:off x="8362493"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2,506</a:t>
            </a:r>
            <a:endParaRPr lang="en-US" sz="2800" dirty="0"/>
          </a:p>
        </p:txBody>
      </p:sp>
      <p:sp>
        <p:nvSpPr>
          <p:cNvPr id="23" name="Text 19"/>
          <p:cNvSpPr txBox="1"/>
          <p:nvPr/>
        </p:nvSpPr>
        <p:spPr>
          <a:xfrm>
            <a:off x="8362493"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 movements recorded in 2026</a:t>
            </a:r>
            <a:endParaRPr lang="en-US" sz="1500" dirty="0"/>
          </a:p>
        </p:txBody>
      </p:sp>
      <p:sp>
        <p:nvSpPr>
          <p:cNvPr id="24" name="Text 20"/>
          <p:cNvSpPr txBox="1"/>
          <p:nvPr/>
        </p:nvSpPr>
        <p:spPr>
          <a:xfrm>
            <a:off x="8362493"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242 promotions · 318 realignments</a:t>
            </a:r>
            <a:endParaRPr lang="en-US" sz="1400" dirty="0"/>
          </a:p>
        </p:txBody>
      </p:sp>
      <p:sp>
        <p:nvSpPr>
          <p:cNvPr id="25" name="Shape 21"/>
          <p:cNvSpPr/>
          <p:nvPr/>
        </p:nvSpPr>
        <p:spPr>
          <a:xfrm>
            <a:off x="502920" y="6291072"/>
            <a:ext cx="11185855" cy="0"/>
          </a:xfrm>
          <a:prstGeom prst="line">
            <a:avLst/>
          </a:prstGeom>
          <a:noFill/>
          <a:ln w="12700">
            <a:solidFill>
              <a:srgbClr val="E5E7EB"/>
            </a:solidFill>
            <a:prstDash val="solid"/>
          </a:ln>
        </p:spPr>
      </p:sp>
      <p:sp>
        <p:nvSpPr>
          <p:cNvPr id="26" name="Text 2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2026 employee count per department and type of change.</a:t>
            </a:r>
            <a:endParaRPr lang="en-US" sz="1400" dirty="0"/>
          </a:p>
        </p:txBody>
      </p:sp>
      <p:sp>
        <p:nvSpPr>
          <p:cNvPr id="27" name="Text 2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SOURCES AND ASSUMPTIONS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Every number in this deck, and where it came from.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Anything marked as a planning assumption has not yet been measured and should be challenged.</a:t>
            </a:r>
            <a:endParaRPr lang="en-US" sz="1600" dirty="0"/>
          </a:p>
        </p:txBody>
      </p:sp>
      <p:sp>
        <p:nvSpPr>
          <p:cNvPr id="5" name="Shape 3"/>
          <p:cNvSpPr/>
          <p:nvPr/>
        </p:nvSpPr>
        <p:spPr>
          <a:xfrm>
            <a:off x="502920"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95284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HOME CREDIT DATA</a:t>
            </a:r>
            <a:endParaRPr lang="en-US" sz="1400" dirty="0"/>
          </a:p>
        </p:txBody>
      </p:sp>
      <p:sp>
        <p:nvSpPr>
          <p:cNvPr id="7" name="Text 5"/>
          <p:cNvSpPr txBox="1"/>
          <p:nvPr/>
        </p:nvSpPr>
        <p:spPr>
          <a:xfrm>
            <a:off x="758952"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Internal job posting data, 2024–2026 — 1,008 vacancies, 463 internal applicants, 170 accepted.</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2025 hiring volumes: 324 roles, of which 186 Band B and 103 Band C.</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2024 cost-per-hire: ₱22,446 Band B, ₱86,796 Band C; headhunter fee 68% of Band C cost.</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Exit survey — "Career &amp; Better Opportunity", 22% of exits.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eNPS on growth opportunity — 88% believe they can grow here.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2026 IDP filings (1,249) and career movement preferences (1,109).</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HRIS headcount — 637 pilot, 1,978 non-mass.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HCPH Strategic Priorities '27–'29 (draft) · HR Strategic Priorities · OneHR Operating Model.</a:t>
            </a:r>
            <a:endParaRPr lang="en-US" sz="1400" dirty="0"/>
          </a:p>
        </p:txBody>
      </p:sp>
      <p:sp>
        <p:nvSpPr>
          <p:cNvPr id="8" name="Shape 6"/>
          <p:cNvSpPr/>
          <p:nvPr/>
        </p:nvSpPr>
        <p:spPr>
          <a:xfrm>
            <a:off x="6223864"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6479896" y="1938528"/>
            <a:ext cx="4952848" cy="237744"/>
          </a:xfrm>
          <a:prstGeom prst="rect">
            <a:avLst/>
          </a:prstGeom>
          <a:noFill/>
          <a:ln/>
        </p:spPr>
        <p:txBody>
          <a:bodyPr wrap="square" lIns="0" tIns="0" rIns="0" bIns="0" rtlCol="0" anchor="ctr"/>
          <a:lstStyle/>
          <a:p>
            <a:pPr indent="0" marL="0">
              <a:buNone/>
            </a:pPr>
            <a:r>
              <a:rPr lang="en-US" sz="1400" b="1" spc="140" kern="0" dirty="0">
                <a:solidFill>
                  <a:srgbClr val="B45309"/>
                </a:solidFill>
                <a:latin typeface="Arial" pitchFamily="34" charset="0"/>
                <a:ea typeface="Arial" pitchFamily="34" charset="-122"/>
                <a:cs typeface="Arial" pitchFamily="34" charset="-120"/>
              </a:rPr>
              <a:t>MODEL AND PLANNING ASSUMPTIONS</a:t>
            </a:r>
            <a:endParaRPr lang="en-US" sz="1400" dirty="0"/>
          </a:p>
        </p:txBody>
      </p:sp>
      <p:sp>
        <p:nvSpPr>
          <p:cNvPr id="10" name="Text 8"/>
          <p:cNvSpPr txBox="1"/>
          <p:nvPr/>
        </p:nvSpPr>
        <p:spPr>
          <a:xfrm>
            <a:off x="6479896"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Build estimate is bottom-up from the completed BRD at ₱150k per developer-month. Not yet validated by IT.</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FX ₱58 = US$1. Discount rate 10%. Three-year horizon.</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Avoided agency fee per attributed fill ₱350,000; 37 vacancy days saved.</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Retention lift modelled at 3 points, discounted from the 13-point gap in v1 data — that gap is almost certainly selection bias.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120 gig, immersion and service-offer participants a year.</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Vendor comparison is an RFP planning band, not a quote — no vendor publishes per-seat pricing.</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benefits: gig output, skills built, network effects.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costs: 0.2–0.3 FTE ownership from year two.</a:t>
            </a:r>
            <a:endParaRPr lang="en-US" sz="1400" dirty="0"/>
          </a:p>
        </p:txBody>
      </p:sp>
      <p:sp>
        <p:nvSpPr>
          <p:cNvPr id="11" name="Shape 9"/>
          <p:cNvSpPr/>
          <p:nvPr/>
        </p:nvSpPr>
        <p:spPr>
          <a:xfrm>
            <a:off x="502920" y="6291072"/>
            <a:ext cx="11185855" cy="0"/>
          </a:xfrm>
          <a:prstGeom prst="line">
            <a:avLst/>
          </a:prstGeom>
          <a:noFill/>
          <a:ln w="12700">
            <a:solidFill>
              <a:srgbClr val="E5E7EB"/>
            </a:solidFill>
            <a:prstDash val="solid"/>
          </a:ln>
        </p:spPr>
      </p:sp>
      <p:sp>
        <p:nvSpPr>
          <p:cNvPr id="12" name="Text 1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Working model: Growth-v2-CBA.xlsx · Requirements: BRD_V2 · Prototype: Growth v2. Internal — do not distribute outside the organization.</a:t>
            </a:r>
            <a:endParaRPr lang="en-US" sz="1400" dirty="0"/>
          </a:p>
        </p:txBody>
      </p:sp>
      <p:sp>
        <p:nvSpPr>
          <p:cNvPr id="13" name="Text 1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Talent Marketplace</dc:title>
  <dc:subject>PptxGenJS Presentation</dc:subject>
  <dc:creator>Ruffa Gayla Gonzales</dc:creator>
  <cp:lastModifiedBy>Ruffa Gayla Gonzales</cp:lastModifiedBy>
  <cp:revision>1</cp:revision>
  <dcterms:created xsi:type="dcterms:W3CDTF">2026-09-02T17:58:30Z</dcterms:created>
  <dcterms:modified xsi:type="dcterms:W3CDTF">2026-09-02T17:58:30Z</dcterms:modified>
</cp:coreProperties>
</file>