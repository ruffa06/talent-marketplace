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3-year TCO</c:v>
                </c:pt>
              </c:strCache>
            </c:strRef>
          </c:tx>
          <c:spPr>
            <a:solidFill>
              <a:srgbClr val="94A3B8"/>
            </a:solidFill>
            <a:effectLst/>
          </c:spPr>
          <c:invertIfNegative val="0"/>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C00000"/>
              </a:solidFill>
              <a:effectLst/>
            </c:spPr>
          </c:dPt>
          <c:cat>
            <c:multiLvlStrRef>
              <c:f>Sheet1!$A$2:$A$4</c:f>
              <c:multiLvlStrCache>
                <c:ptCount val="3"/>
                <c:lvl>
                  <c:pt idx="0">
                    <c:v>v2 as first scoped</c:v>
                  </c:pt>
                  <c:pt idx="1">
                    <c:v>v1 — vacancies in-house</c:v>
                  </c:pt>
                  <c:pt idx="2">
                    <c:v>v2-lean — recommended</c:v>
                  </c:pt>
                </c:lvl>
              </c:multiLvlStrCache>
            </c:multiLvlStrRef>
          </c:cat>
          <c:val>
            <c:numRef>
              <c:f>Sheet1!$B$2:$B$4</c:f>
              <c:numCache>
                <c:formatCode>General</c:formatCode>
                <c:ptCount val="3"/>
                <c:pt idx="0">
                  <c:v>1542136</c:v>
                </c:pt>
                <c:pt idx="1">
                  <c:v>1112420</c:v>
                </c:pt>
                <c:pt idx="2">
                  <c:v>1050375</c:v>
                </c:pt>
              </c:numCache>
            </c:numRef>
          </c:val>
        </c:ser>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gapWidth val="58"/>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Calibri"/>
              </a:defRPr>
            </a:pPr>
            <a:endParaRPr lang="en-US"/>
          </a:p>
        </c:txPr>
        <c:crossAx val="2094734552"/>
        <c:crosses val="autoZero"/>
        <c:auto val="1"/>
        <c:lblAlgn val="ctr"/>
        <c:noMultiLvlLbl val="1"/>
      </c:catAx>
      <c:valAx>
        <c:axId val="2094734552"/>
        <c:scaling>
          <c:orientation val="minMax"/>
          <c:max val="1800000"/>
        </c:scaling>
        <c:delete val="0"/>
        <c:axPos val="b"/>
        <c:majorGridlines>
          <c:spPr>
            <a:ln w="12700" cap="flat">
              <a:solidFill>
                <a:srgbClr val="EEF2F6"/>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Calibri"/>
              </a:defRPr>
            </a:pPr>
            <a:endParaRPr lang="en-US"/>
          </a:p>
        </c:txPr>
        <c:crossAx val="2094734554"/>
        <c:crosses val="autoZero"/>
        <c:crossBetween val="between"/>
      </c:valAx>
      <c:spPr>
        <a:solidFill>
          <a:srgbClr val="F8FAFC"/>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3-year cost</c:v>
                </c:pt>
              </c:strCache>
            </c:strRef>
          </c:tx>
          <c:spPr>
            <a:solidFill>
              <a:srgbClr val="334155"/>
            </a:solidFill>
            <a:effectLst/>
          </c:spPr>
          <c:invertIfNegative val="0"/>
          <c:dLbls>
            <c:numFmt formatCode="₱#,##0,,&quot;M&quot;"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dPt>
            <c:idx val="0"/>
            <c:invertIfNegative val="0"/>
            <c:bubble3D val="0"/>
            <c:spPr>
              <a:solidFill>
                <a:srgbClr val="334155"/>
              </a:solidFill>
              <a:effectLst/>
            </c:spPr>
          </c:dPt>
          <c:dPt>
            <c:idx val="1"/>
            <c:invertIfNegative val="0"/>
            <c:bubble3D val="0"/>
            <c:spPr>
              <a:solidFill>
                <a:srgbClr val="64748B"/>
              </a:solidFill>
              <a:effectLst/>
            </c:spPr>
          </c:dPt>
          <c:dPt>
            <c:idx val="2"/>
            <c:invertIfNegative val="0"/>
            <c:bubble3D val="0"/>
            <c:spPr>
              <a:solidFill>
                <a:srgbClr val="C00000"/>
              </a:solidFill>
              <a:effectLst/>
            </c:spPr>
          </c:dPt>
          <c:cat>
            <c:multiLvlStrRef>
              <c:f>Sheet1!$A$2:$A$4</c:f>
              <c:multiLvlStrCache>
                <c:ptCount val="3"/>
                <c:lvl>
                  <c:pt idx="0">
                    <c:v>External platform — high band</c:v>
                  </c:pt>
                  <c:pt idx="1">
                    <c:v>External platform — low band</c:v>
                  </c:pt>
                  <c:pt idx="2">
                    <c:v>v2-lean</c:v>
                  </c:pt>
                </c:lvl>
              </c:multiLvlStrCache>
            </c:multiLvlStrRef>
          </c:cat>
          <c:val>
            <c:numRef>
              <c:f>Sheet1!$B$2:$B$4</c:f>
              <c:numCache>
                <c:formatCode>General</c:formatCode>
                <c:ptCount val="3"/>
                <c:pt idx="0">
                  <c:v>27840000</c:v>
                </c:pt>
                <c:pt idx="1">
                  <c:v>10150000</c:v>
                </c:pt>
                <c:pt idx="2">
                  <c:v>1050375</c:v>
                </c:pt>
              </c:numCache>
            </c:numRef>
          </c:val>
        </c:ser>
        <c:dLbls>
          <c:numFmt formatCode="₱#,##0,,&quot;M&quot;"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gapWidth val="58"/>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EF2F6"/>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Calibri"/>
              </a:defRPr>
            </a:pPr>
            <a:endParaRPr lang="en-US"/>
          </a:p>
        </c:txPr>
        <c:crossAx val="2094734554"/>
        <c:crosses val="autoZero"/>
        <c:crossBetween val="between"/>
      </c:valAx>
      <c:spPr>
        <a:solidFill>
          <a:srgbClr val="F8FAFC"/>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to build v2-lean: 766,125 pesos in year one, 1.05M over three years. Base-case benefit-cost ratio 6.8, payback nine months. It is cheaper than v1 and 10 to 27 times cheaper than buying 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is real and it is not a limitation of the marketplace. Recruitment already has a system of record. Duplicating it would be worse than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of evidence, never conflated. Clicks are exact and ours. Self-reports are free but biased upward. Only the HC Connect-confirmed number goes in a board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It is counterintuitive and it is not a mistake. But the next slide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plumbing or sequencing. None changes what an employee sees or how well the marketplace surfaces a role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"can we cut more". We cut plumbing, not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one is 766,125. After that it is 61,125 a year to run, plus 162,000 once in year two for the referral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resolves the awkward finding. v2-lean does more than v1 and costs 6 percent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these are planning bands, not quotes. The break-even framing is what makes the point without over-claiming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retention assumption before anyone else does. The v1 dashboard shows a 13-point gap; that is almost certainly selection bias, so we discounted it to 3 points, and the next slide runs the case without it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slide. Lead with base case 6.8 and nine months, then immediately show the two stress rows so nobody has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field is the one to press on. It is free to them and the whole attributed half of the case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item two. The source field is free, it is the highest-leverage thing in the programme, and it should be agreed before a single peso is spent on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66928" y="1481328"/>
            <a:ext cx="11055096" cy="274320"/>
          </a:xfrm>
          <a:prstGeom prst="rect">
            <a:avLst/>
          </a:prstGeom>
          <a:noFill/>
          <a:ln/>
        </p:spPr>
        <p:txBody>
          <a:bodyPr wrap="square" lIns="0" tIns="0" rIns="0" bIns="0" rtlCol="0" anchor="ctr"/>
          <a:lstStyle/>
          <a:p>
            <a:pPr indent="0" marL="0">
              <a:buNone/>
            </a:pPr>
            <a:r>
              <a:rPr lang="en-US" sz="1200" b="1" spc="240" kern="0" dirty="0">
                <a:solidFill>
                  <a:srgbClr val="94A3B8"/>
                </a:solidFill>
                <a:latin typeface="Calibri" pitchFamily="34" charset="0"/>
                <a:ea typeface="Calibri" pitchFamily="34" charset="-122"/>
                <a:cs typeface="Calibri" pitchFamily="34" charset="-120"/>
              </a:rPr>
              <a:t>GROWTH · HC TALENT MARKETPLACE</a:t>
            </a:r>
            <a:endParaRPr lang="en-US" sz="1200" dirty="0"/>
          </a:p>
        </p:txBody>
      </p:sp>
      <p:sp>
        <p:nvSpPr>
          <p:cNvPr id="3" name="Text 1"/>
          <p:cNvSpPr/>
          <p:nvPr/>
        </p:nvSpPr>
        <p:spPr>
          <a:xfrm>
            <a:off x="566928" y="1874520"/>
            <a:ext cx="7863840" cy="1737360"/>
          </a:xfrm>
          <a:prstGeom prst="rect">
            <a:avLst/>
          </a:prstGeom>
          <a:noFill/>
          <a:ln/>
        </p:spPr>
        <p:txBody>
          <a:bodyPr wrap="square" lIns="0" tIns="0" rIns="0" bIns="0" rtlCol="0" anchor="ctr"/>
          <a:lstStyle/>
          <a:p>
            <a:pPr indent="0" marL="0">
              <a:lnSpc>
                <a:spcPts val="5000"/>
              </a:lnSpc>
              <a:buNone/>
            </a:pPr>
            <a:r>
              <a:rPr lang="en-US" sz="4700" b="1" dirty="0">
                <a:solidFill>
                  <a:srgbClr val="FFFFFF"/>
                </a:solidFill>
                <a:latin typeface="Cambria" pitchFamily="34" charset="0"/>
                <a:ea typeface="Cambria" pitchFamily="34" charset="-122"/>
                <a:cs typeface="Cambria" pitchFamily="34" charset="-120"/>
              </a:rPr>
              <a:t>Version 2:</a:t>
            </a:r>
            <a:endParaRPr lang="en-US" sz="4700" dirty="0"/>
          </a:p>
          <a:p>
            <a:pPr indent="0" marL="0">
              <a:lnSpc>
                <a:spcPts val="5000"/>
              </a:lnSpc>
              <a:buNone/>
            </a:pPr>
            <a:r>
              <a:rPr lang="en-US" sz="4700" b="1" dirty="0">
                <a:solidFill>
                  <a:srgbClr val="FFFFFF"/>
                </a:solidFill>
                <a:latin typeface="Cambria" pitchFamily="34" charset="0"/>
                <a:ea typeface="Cambria" pitchFamily="34" charset="-122"/>
                <a:cs typeface="Cambria" pitchFamily="34" charset="-120"/>
              </a:rPr>
              <a:t>build recommendation</a:t>
            </a:r>
            <a:endParaRPr lang="en-US" sz="4700" dirty="0"/>
          </a:p>
        </p:txBody>
      </p:sp>
      <p:sp>
        <p:nvSpPr>
          <p:cNvPr id="4" name="Text 2"/>
          <p:cNvSpPr/>
          <p:nvPr/>
        </p:nvSpPr>
        <p:spPr>
          <a:xfrm>
            <a:off x="566928" y="3703320"/>
            <a:ext cx="786384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Promoting internal vacancies we no longer run — and proving it worked.</a:t>
            </a:r>
            <a:endParaRPr lang="en-US" sz="1600" dirty="0"/>
          </a:p>
        </p:txBody>
      </p:sp>
      <p:sp>
        <p:nvSpPr>
          <p:cNvPr id="5" name="Text 3"/>
          <p:cNvSpPr/>
          <p:nvPr/>
        </p:nvSpPr>
        <p:spPr>
          <a:xfrm>
            <a:off x="566928" y="4443984"/>
            <a:ext cx="3246120" cy="566928"/>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₱1,050,375</a:t>
            </a:r>
            <a:endParaRPr lang="en-US" sz="2900" dirty="0"/>
          </a:p>
        </p:txBody>
      </p:sp>
      <p:sp>
        <p:nvSpPr>
          <p:cNvPr id="6" name="Text 4"/>
          <p:cNvSpPr/>
          <p:nvPr/>
        </p:nvSpPr>
        <p:spPr>
          <a:xfrm>
            <a:off x="566928" y="4992624"/>
            <a:ext cx="324612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3-year total cost</a:t>
            </a:r>
            <a:endParaRPr lang="en-US" sz="1150" dirty="0"/>
          </a:p>
        </p:txBody>
      </p:sp>
      <p:sp>
        <p:nvSpPr>
          <p:cNvPr id="7" name="Text 5"/>
          <p:cNvSpPr/>
          <p:nvPr/>
        </p:nvSpPr>
        <p:spPr>
          <a:xfrm>
            <a:off x="4197096" y="4443984"/>
            <a:ext cx="2286000" cy="566928"/>
          </a:xfrm>
          <a:prstGeom prst="rect">
            <a:avLst/>
          </a:prstGeom>
          <a:noFill/>
          <a:ln/>
        </p:spPr>
        <p:txBody>
          <a:bodyPr wrap="square" lIns="0" tIns="0" rIns="0" bIns="0" rtlCol="0" anchor="ctr"/>
          <a:lstStyle/>
          <a:p>
            <a:pPr indent="0" marL="0">
              <a:buNone/>
            </a:pPr>
            <a:r>
              <a:rPr lang="en-US" sz="2900" b="1" dirty="0">
                <a:solidFill>
                  <a:srgbClr val="16A34A"/>
                </a:solidFill>
                <a:latin typeface="Cambria" pitchFamily="34" charset="0"/>
                <a:ea typeface="Cambria" pitchFamily="34" charset="-122"/>
                <a:cs typeface="Cambria" pitchFamily="34" charset="-120"/>
              </a:rPr>
              <a:t>6.8</a:t>
            </a:r>
            <a:endParaRPr lang="en-US" sz="2900" dirty="0"/>
          </a:p>
        </p:txBody>
      </p:sp>
      <p:sp>
        <p:nvSpPr>
          <p:cNvPr id="8" name="Text 6"/>
          <p:cNvSpPr/>
          <p:nvPr/>
        </p:nvSpPr>
        <p:spPr>
          <a:xfrm>
            <a:off x="4197096" y="4992624"/>
            <a:ext cx="228600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Benefit-cost ratio</a:t>
            </a:r>
            <a:endParaRPr lang="en-US" sz="1150" dirty="0"/>
          </a:p>
        </p:txBody>
      </p:sp>
      <p:sp>
        <p:nvSpPr>
          <p:cNvPr id="9" name="Text 7"/>
          <p:cNvSpPr/>
          <p:nvPr/>
        </p:nvSpPr>
        <p:spPr>
          <a:xfrm>
            <a:off x="6867144" y="4443984"/>
            <a:ext cx="2286000" cy="566928"/>
          </a:xfrm>
          <a:prstGeom prst="rect">
            <a:avLst/>
          </a:prstGeom>
          <a:noFill/>
          <a:ln/>
        </p:spPr>
        <p:txBody>
          <a:bodyPr wrap="square" lIns="0" tIns="0" rIns="0" bIns="0" rtlCol="0" anchor="ctr"/>
          <a:lstStyle/>
          <a:p>
            <a:pPr indent="0" marL="0">
              <a:buNone/>
            </a:pPr>
            <a:r>
              <a:rPr lang="en-US" sz="2900" b="1" dirty="0">
                <a:solidFill>
                  <a:srgbClr val="16A34A"/>
                </a:solidFill>
                <a:latin typeface="Cambria" pitchFamily="34" charset="0"/>
                <a:ea typeface="Cambria" pitchFamily="34" charset="-122"/>
                <a:cs typeface="Cambria" pitchFamily="34" charset="-120"/>
              </a:rPr>
              <a:t>9 mo</a:t>
            </a:r>
            <a:endParaRPr lang="en-US" sz="2900" dirty="0"/>
          </a:p>
        </p:txBody>
      </p:sp>
      <p:sp>
        <p:nvSpPr>
          <p:cNvPr id="10" name="Text 8"/>
          <p:cNvSpPr/>
          <p:nvPr/>
        </p:nvSpPr>
        <p:spPr>
          <a:xfrm>
            <a:off x="6867144" y="4992624"/>
            <a:ext cx="228600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Payback</a:t>
            </a:r>
            <a:endParaRPr lang="en-US" sz="1150" dirty="0"/>
          </a:p>
        </p:txBody>
      </p:sp>
      <p:sp>
        <p:nvSpPr>
          <p:cNvPr id="11" name="Text 9"/>
          <p:cNvSpPr/>
          <p:nvPr/>
        </p:nvSpPr>
        <p:spPr>
          <a:xfrm>
            <a:off x="566928" y="6053328"/>
            <a:ext cx="11055096"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People &amp; Culture Department  ·  637 employees  ·  18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HC Connect already runs internal vacancies</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HC Connect Internal Job Posting — “HC Connect” here. v2 keeps only the half it cannot do.</a:t>
            </a:r>
            <a:endParaRPr lang="en-US" sz="1350" dirty="0"/>
          </a:p>
        </p:txBody>
      </p:sp>
      <p:sp>
        <p:nvSpPr>
          <p:cNvPr id="4" name="Shape 2"/>
          <p:cNvSpPr/>
          <p:nvPr/>
        </p:nvSpPr>
        <p:spPr>
          <a:xfrm>
            <a:off x="566928" y="1627632"/>
            <a:ext cx="5381244" cy="3346704"/>
          </a:xfrm>
          <a:prstGeom prst="roundRect">
            <a:avLst>
              <a:gd name="adj" fmla="val 24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Shape 3"/>
          <p:cNvSpPr/>
          <p:nvPr/>
        </p:nvSpPr>
        <p:spPr>
          <a:xfrm>
            <a:off x="877824" y="1883664"/>
            <a:ext cx="1956816" cy="224028"/>
          </a:xfrm>
          <a:prstGeom prst="roundRect">
            <a:avLst>
              <a:gd name="adj" fmla="val 48980"/>
            </a:avLst>
          </a:prstGeom>
          <a:solidFill>
            <a:srgbClr val="E2E8F0"/>
          </a:solidFill>
          <a:ln w="12700">
            <a:solidFill>
              <a:srgbClr val="E2E8F0"/>
            </a:solidFill>
            <a:prstDash val="solid"/>
          </a:ln>
        </p:spPr>
      </p:sp>
      <p:sp>
        <p:nvSpPr>
          <p:cNvPr id="6" name="Text 4"/>
          <p:cNvSpPr/>
          <p:nvPr/>
        </p:nvSpPr>
        <p:spPr>
          <a:xfrm>
            <a:off x="877824" y="1883664"/>
            <a:ext cx="1956816" cy="224028"/>
          </a:xfrm>
          <a:prstGeom prst="rect">
            <a:avLst/>
          </a:prstGeom>
          <a:noFill/>
          <a:ln/>
        </p:spPr>
        <p:txBody>
          <a:bodyPr wrap="square" lIns="0" tIns="0" rIns="0" bIns="0" rtlCol="0" anchor="ctr"/>
          <a:lstStyle/>
          <a:p>
            <a:pPr algn="ctr" indent="0" marL="0">
              <a:buNone/>
            </a:pPr>
            <a:r>
              <a:rPr lang="en-US" sz="900" b="1" spc="80" kern="0" dirty="0">
                <a:solidFill>
                  <a:srgbClr val="94A3B8"/>
                </a:solidFill>
                <a:latin typeface="Calibri" pitchFamily="34" charset="0"/>
                <a:ea typeface="Calibri" pitchFamily="34" charset="-122"/>
                <a:cs typeface="Calibri" pitchFamily="34" charset="-120"/>
              </a:rPr>
              <a:t>SYSTEM OF RECORD</a:t>
            </a:r>
            <a:endParaRPr lang="en-US" sz="900" dirty="0"/>
          </a:p>
        </p:txBody>
      </p:sp>
      <p:sp>
        <p:nvSpPr>
          <p:cNvPr id="7" name="Text 5"/>
          <p:cNvSpPr/>
          <p:nvPr/>
        </p:nvSpPr>
        <p:spPr>
          <a:xfrm>
            <a:off x="877824" y="2231136"/>
            <a:ext cx="4759452" cy="384048"/>
          </a:xfrm>
          <a:prstGeom prst="rect">
            <a:avLst/>
          </a:prstGeom>
          <a:noFill/>
          <a:ln/>
        </p:spPr>
        <p:txBody>
          <a:bodyPr wrap="square" lIns="0" tIns="0" rIns="0" bIns="0" rtlCol="0" anchor="ctr"/>
          <a:lstStyle/>
          <a:p>
            <a:pPr indent="0" marL="0">
              <a:buNone/>
            </a:pPr>
            <a:r>
              <a:rPr lang="en-US" sz="2200" b="1" dirty="0">
                <a:solidFill>
                  <a:srgbClr val="0F172A"/>
                </a:solidFill>
                <a:latin typeface="Cambria" pitchFamily="34" charset="0"/>
                <a:ea typeface="Cambria" pitchFamily="34" charset="-122"/>
                <a:cs typeface="Cambria" pitchFamily="34" charset="-120"/>
              </a:rPr>
              <a:t>HC Connect owns</a:t>
            </a:r>
            <a:endParaRPr lang="en-US" sz="2200" dirty="0"/>
          </a:p>
        </p:txBody>
      </p:sp>
      <p:sp>
        <p:nvSpPr>
          <p:cNvPr id="8" name="Shape 6"/>
          <p:cNvSpPr/>
          <p:nvPr/>
        </p:nvSpPr>
        <p:spPr>
          <a:xfrm>
            <a:off x="896112" y="2798064"/>
            <a:ext cx="100584" cy="100584"/>
          </a:xfrm>
          <a:prstGeom prst="ellipse">
            <a:avLst/>
          </a:prstGeom>
          <a:solidFill>
            <a:srgbClr val="94A3B8"/>
          </a:solidFill>
          <a:ln w="12700">
            <a:solidFill>
              <a:srgbClr val="94A3B8"/>
            </a:solidFill>
            <a:prstDash val="solid"/>
          </a:ln>
        </p:spPr>
      </p:sp>
      <p:sp>
        <p:nvSpPr>
          <p:cNvPr id="9" name="Text 7"/>
          <p:cNvSpPr/>
          <p:nvPr/>
        </p:nvSpPr>
        <p:spPr>
          <a:xfrm>
            <a:off x="1115568" y="2688336"/>
            <a:ext cx="4485132" cy="384048"/>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requisition</a:t>
            </a:r>
            <a:endParaRPr lang="en-US" sz="1350" dirty="0"/>
          </a:p>
        </p:txBody>
      </p:sp>
      <p:sp>
        <p:nvSpPr>
          <p:cNvPr id="10" name="Shape 8"/>
          <p:cNvSpPr/>
          <p:nvPr/>
        </p:nvSpPr>
        <p:spPr>
          <a:xfrm>
            <a:off x="896112" y="3310128"/>
            <a:ext cx="100584" cy="100584"/>
          </a:xfrm>
          <a:prstGeom prst="ellipse">
            <a:avLst/>
          </a:prstGeom>
          <a:solidFill>
            <a:srgbClr val="94A3B8"/>
          </a:solidFill>
          <a:ln w="12700">
            <a:solidFill>
              <a:srgbClr val="94A3B8"/>
            </a:solidFill>
            <a:prstDash val="solid"/>
          </a:ln>
        </p:spPr>
      </p:sp>
      <p:sp>
        <p:nvSpPr>
          <p:cNvPr id="11" name="Text 9"/>
          <p:cNvSpPr/>
          <p:nvPr/>
        </p:nvSpPr>
        <p:spPr>
          <a:xfrm>
            <a:off x="1115568" y="3200400"/>
            <a:ext cx="4485132" cy="384048"/>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application and CV</a:t>
            </a:r>
            <a:endParaRPr lang="en-US" sz="1350" dirty="0"/>
          </a:p>
        </p:txBody>
      </p:sp>
      <p:sp>
        <p:nvSpPr>
          <p:cNvPr id="12" name="Shape 10"/>
          <p:cNvSpPr/>
          <p:nvPr/>
        </p:nvSpPr>
        <p:spPr>
          <a:xfrm>
            <a:off x="896112" y="3822192"/>
            <a:ext cx="100584" cy="100584"/>
          </a:xfrm>
          <a:prstGeom prst="ellipse">
            <a:avLst/>
          </a:prstGeom>
          <a:solidFill>
            <a:srgbClr val="94A3B8"/>
          </a:solidFill>
          <a:ln w="12700">
            <a:solidFill>
              <a:srgbClr val="94A3B8"/>
            </a:solidFill>
            <a:prstDash val="solid"/>
          </a:ln>
        </p:spPr>
      </p:sp>
      <p:sp>
        <p:nvSpPr>
          <p:cNvPr id="13" name="Text 11"/>
          <p:cNvSpPr/>
          <p:nvPr/>
        </p:nvSpPr>
        <p:spPr>
          <a:xfrm>
            <a:off x="1115568" y="3712464"/>
            <a:ext cx="4485132" cy="384048"/>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Screening and interviews</a:t>
            </a:r>
            <a:endParaRPr lang="en-US" sz="1350" dirty="0"/>
          </a:p>
        </p:txBody>
      </p:sp>
      <p:sp>
        <p:nvSpPr>
          <p:cNvPr id="14" name="Shape 12"/>
          <p:cNvSpPr/>
          <p:nvPr/>
        </p:nvSpPr>
        <p:spPr>
          <a:xfrm>
            <a:off x="896112" y="4334256"/>
            <a:ext cx="100584" cy="100584"/>
          </a:xfrm>
          <a:prstGeom prst="ellipse">
            <a:avLst/>
          </a:prstGeom>
          <a:solidFill>
            <a:srgbClr val="94A3B8"/>
          </a:solidFill>
          <a:ln w="12700">
            <a:solidFill>
              <a:srgbClr val="94A3B8"/>
            </a:solidFill>
            <a:prstDash val="solid"/>
          </a:ln>
        </p:spPr>
      </p:sp>
      <p:sp>
        <p:nvSpPr>
          <p:cNvPr id="15" name="Text 13"/>
          <p:cNvSpPr/>
          <p:nvPr/>
        </p:nvSpPr>
        <p:spPr>
          <a:xfrm>
            <a:off x="1115568" y="4224528"/>
            <a:ext cx="4485132" cy="384048"/>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offer</a:t>
            </a:r>
            <a:endParaRPr lang="en-US" sz="1350" dirty="0"/>
          </a:p>
        </p:txBody>
      </p:sp>
      <p:sp>
        <p:nvSpPr>
          <p:cNvPr id="16" name="Shape 14"/>
          <p:cNvSpPr/>
          <p:nvPr/>
        </p:nvSpPr>
        <p:spPr>
          <a:xfrm>
            <a:off x="6240780" y="1627632"/>
            <a:ext cx="5381244" cy="3346704"/>
          </a:xfrm>
          <a:prstGeom prst="roundRect">
            <a:avLst>
              <a:gd name="adj" fmla="val 24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7" name="Shape 15"/>
          <p:cNvSpPr/>
          <p:nvPr/>
        </p:nvSpPr>
        <p:spPr>
          <a:xfrm>
            <a:off x="6551676" y="1883664"/>
            <a:ext cx="2167128" cy="224028"/>
          </a:xfrm>
          <a:prstGeom prst="roundRect">
            <a:avLst>
              <a:gd name="adj" fmla="val 48980"/>
            </a:avLst>
          </a:prstGeom>
          <a:solidFill>
            <a:srgbClr val="C00000"/>
          </a:solidFill>
          <a:ln w="12700">
            <a:solidFill>
              <a:srgbClr val="C00000"/>
            </a:solidFill>
            <a:prstDash val="solid"/>
          </a:ln>
        </p:spPr>
      </p:sp>
      <p:sp>
        <p:nvSpPr>
          <p:cNvPr id="18" name="Text 16"/>
          <p:cNvSpPr/>
          <p:nvPr/>
        </p:nvSpPr>
        <p:spPr>
          <a:xfrm>
            <a:off x="6551676" y="1883664"/>
            <a:ext cx="2167128" cy="224028"/>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WHERE WE ADD VALUE</a:t>
            </a:r>
            <a:endParaRPr lang="en-US" sz="900" dirty="0"/>
          </a:p>
        </p:txBody>
      </p:sp>
      <p:sp>
        <p:nvSpPr>
          <p:cNvPr id="19" name="Text 17"/>
          <p:cNvSpPr/>
          <p:nvPr/>
        </p:nvSpPr>
        <p:spPr>
          <a:xfrm>
            <a:off x="6551676" y="2231136"/>
            <a:ext cx="4759452" cy="384048"/>
          </a:xfrm>
          <a:prstGeom prst="rect">
            <a:avLst/>
          </a:prstGeom>
          <a:noFill/>
          <a:ln/>
        </p:spPr>
        <p:txBody>
          <a:bodyPr wrap="square" lIns="0" tIns="0" rIns="0" bIns="0" rtlCol="0" anchor="ctr"/>
          <a:lstStyle/>
          <a:p>
            <a:pPr indent="0" marL="0">
              <a:buNone/>
            </a:pPr>
            <a:r>
              <a:rPr lang="en-US" sz="2200" b="1" dirty="0">
                <a:solidFill>
                  <a:srgbClr val="C00000"/>
                </a:solidFill>
                <a:latin typeface="Cambria" pitchFamily="34" charset="0"/>
                <a:ea typeface="Cambria" pitchFamily="34" charset="-122"/>
                <a:cs typeface="Cambria" pitchFamily="34" charset="-120"/>
              </a:rPr>
              <a:t>Growth owns</a:t>
            </a:r>
            <a:endParaRPr lang="en-US" sz="2200" dirty="0"/>
          </a:p>
        </p:txBody>
      </p:sp>
      <p:sp>
        <p:nvSpPr>
          <p:cNvPr id="20" name="Shape 18"/>
          <p:cNvSpPr/>
          <p:nvPr/>
        </p:nvSpPr>
        <p:spPr>
          <a:xfrm>
            <a:off x="6569964" y="2798064"/>
            <a:ext cx="100584" cy="100584"/>
          </a:xfrm>
          <a:prstGeom prst="ellipse">
            <a:avLst/>
          </a:prstGeom>
          <a:solidFill>
            <a:srgbClr val="C00000"/>
          </a:solidFill>
          <a:ln w="12700">
            <a:solidFill>
              <a:srgbClr val="C00000"/>
            </a:solidFill>
            <a:prstDash val="solid"/>
          </a:ln>
        </p:spPr>
      </p:sp>
      <p:sp>
        <p:nvSpPr>
          <p:cNvPr id="21" name="Text 19"/>
          <p:cNvSpPr/>
          <p:nvPr/>
        </p:nvSpPr>
        <p:spPr>
          <a:xfrm>
            <a:off x="6789420" y="2688336"/>
            <a:ext cx="4485132" cy="38404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Knowing what someone can already do</a:t>
            </a:r>
            <a:endParaRPr lang="en-US" sz="1350" dirty="0"/>
          </a:p>
        </p:txBody>
      </p:sp>
      <p:sp>
        <p:nvSpPr>
          <p:cNvPr id="22" name="Shape 20"/>
          <p:cNvSpPr/>
          <p:nvPr/>
        </p:nvSpPr>
        <p:spPr>
          <a:xfrm>
            <a:off x="6569964" y="3310128"/>
            <a:ext cx="100584" cy="100584"/>
          </a:xfrm>
          <a:prstGeom prst="ellipse">
            <a:avLst/>
          </a:prstGeom>
          <a:solidFill>
            <a:srgbClr val="C00000"/>
          </a:solidFill>
          <a:ln w="12700">
            <a:solidFill>
              <a:srgbClr val="C00000"/>
            </a:solidFill>
            <a:prstDash val="solid"/>
          </a:ln>
        </p:spPr>
      </p:sp>
      <p:sp>
        <p:nvSpPr>
          <p:cNvPr id="23" name="Text 21"/>
          <p:cNvSpPr/>
          <p:nvPr/>
        </p:nvSpPr>
        <p:spPr>
          <a:xfrm>
            <a:off x="6789420" y="3200400"/>
            <a:ext cx="4485132" cy="38404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Scoring fit against every open role</a:t>
            </a:r>
            <a:endParaRPr lang="en-US" sz="1350" dirty="0"/>
          </a:p>
        </p:txBody>
      </p:sp>
      <p:sp>
        <p:nvSpPr>
          <p:cNvPr id="24" name="Shape 22"/>
          <p:cNvSpPr/>
          <p:nvPr/>
        </p:nvSpPr>
        <p:spPr>
          <a:xfrm>
            <a:off x="6569964" y="3822192"/>
            <a:ext cx="100584" cy="100584"/>
          </a:xfrm>
          <a:prstGeom prst="ellipse">
            <a:avLst/>
          </a:prstGeom>
          <a:solidFill>
            <a:srgbClr val="C00000"/>
          </a:solidFill>
          <a:ln w="12700">
            <a:solidFill>
              <a:srgbClr val="C00000"/>
            </a:solidFill>
            <a:prstDash val="solid"/>
          </a:ln>
        </p:spPr>
      </p:sp>
      <p:sp>
        <p:nvSpPr>
          <p:cNvPr id="25" name="Text 23"/>
          <p:cNvSpPr/>
          <p:nvPr/>
        </p:nvSpPr>
        <p:spPr>
          <a:xfrm>
            <a:off x="6789420" y="3712464"/>
            <a:ext cx="4485132" cy="38404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Surfacing a role they were never going to search for</a:t>
            </a:r>
            <a:endParaRPr lang="en-US" sz="1350" dirty="0"/>
          </a:p>
        </p:txBody>
      </p:sp>
      <p:sp>
        <p:nvSpPr>
          <p:cNvPr id="26" name="Shape 24"/>
          <p:cNvSpPr/>
          <p:nvPr/>
        </p:nvSpPr>
        <p:spPr>
          <a:xfrm>
            <a:off x="6569964" y="4334256"/>
            <a:ext cx="100584" cy="100584"/>
          </a:xfrm>
          <a:prstGeom prst="ellipse">
            <a:avLst/>
          </a:prstGeom>
          <a:solidFill>
            <a:srgbClr val="C00000"/>
          </a:solidFill>
          <a:ln w="12700">
            <a:solidFill>
              <a:srgbClr val="C00000"/>
            </a:solidFill>
            <a:prstDash val="solid"/>
          </a:ln>
        </p:spPr>
      </p:sp>
      <p:sp>
        <p:nvSpPr>
          <p:cNvPr id="27" name="Text 25"/>
          <p:cNvSpPr/>
          <p:nvPr/>
        </p:nvSpPr>
        <p:spPr>
          <a:xfrm>
            <a:off x="6789420" y="4224528"/>
            <a:ext cx="4485132" cy="384048"/>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Gigs, DJIs and service offers, end to end</a:t>
            </a:r>
            <a:endParaRPr lang="en-US" sz="1350" dirty="0"/>
          </a:p>
        </p:txBody>
      </p:sp>
      <p:sp>
        <p:nvSpPr>
          <p:cNvPr id="28" name="Shape 26"/>
          <p:cNvSpPr/>
          <p:nvPr/>
        </p:nvSpPr>
        <p:spPr>
          <a:xfrm>
            <a:off x="566928" y="5175504"/>
            <a:ext cx="11055096" cy="932688"/>
          </a:xfrm>
          <a:prstGeom prst="roundRect">
            <a:avLst>
              <a:gd name="adj" fmla="val 8824"/>
            </a:avLst>
          </a:prstGeom>
          <a:solidFill>
            <a:srgbClr val="0F172A"/>
          </a:solidFill>
          <a:ln w="12700">
            <a:solidFill>
              <a:srgbClr val="0F172A"/>
            </a:solidFill>
            <a:prstDash val="solid"/>
          </a:ln>
          <a:effectLst>
            <a:outerShdw sx="100000" sy="100000" kx="0" ky="0" algn="bl" rotWithShape="0" blurRad="114300" dist="17780" dir="5400000">
              <a:srgbClr val="0F172A">
                <a:alpha val="7000"/>
              </a:srgbClr>
            </a:outerShdw>
          </a:effectLst>
        </p:spPr>
      </p:sp>
      <p:sp>
        <p:nvSpPr>
          <p:cNvPr id="29" name="Text 27"/>
          <p:cNvSpPr/>
          <p:nvPr/>
        </p:nvSpPr>
        <p:spPr>
          <a:xfrm>
            <a:off x="877824" y="5175504"/>
            <a:ext cx="10433304" cy="932688"/>
          </a:xfrm>
          <a:prstGeom prst="rect">
            <a:avLst/>
          </a:prstGeom>
          <a:noFill/>
          <a:ln/>
        </p:spPr>
        <p:txBody>
          <a:bodyPr wrap="square" lIns="0" tIns="0" rIns="0" bIns="0" rtlCol="0" anchor="ctr"/>
          <a:lstStyle/>
          <a:p>
            <a:pPr indent="0" marL="0">
              <a:buNone/>
            </a:pPr>
            <a:r>
              <a:rPr lang="en-US" sz="1450" dirty="0">
                <a:solidFill>
                  <a:srgbClr val="CBD5E1"/>
                </a:solidFill>
                <a:latin typeface="Calibri" pitchFamily="34" charset="0"/>
                <a:ea typeface="Calibri" pitchFamily="34" charset="-122"/>
                <a:cs typeface="Calibri" pitchFamily="34" charset="-120"/>
              </a:rPr>
              <a:t>Running a second application queue would not add a channel. </a:t>
            </a:r>
            <a:pPr indent="0" marL="0">
              <a:buNone/>
            </a:pPr>
            <a:r>
              <a:rPr lang="en-US" sz="1450" b="1" dirty="0">
                <a:solidFill>
                  <a:srgbClr val="FFFFFF"/>
                </a:solidFill>
                <a:latin typeface="Calibri" pitchFamily="34" charset="0"/>
                <a:ea typeface="Calibri" pitchFamily="34" charset="-122"/>
                <a:cs typeface="Calibri" pitchFamily="34" charset="-120"/>
              </a:rPr>
              <a:t>It would split one process across two systems and lose people in the seam.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Promote here. Apply there. Count the handoff.</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Four steps. Each one produces a different grade of evidence, and we label every number with which.</a:t>
            </a:r>
            <a:endParaRPr lang="en-US" sz="1350" dirty="0"/>
          </a:p>
        </p:txBody>
      </p:sp>
      <p:sp>
        <p:nvSpPr>
          <p:cNvPr id="4" name="Shape 2"/>
          <p:cNvSpPr/>
          <p:nvPr/>
        </p:nvSpPr>
        <p:spPr>
          <a:xfrm>
            <a:off x="566928" y="1645920"/>
            <a:ext cx="2516886" cy="3127248"/>
          </a:xfrm>
          <a:prstGeom prst="roundRect">
            <a:avLst>
              <a:gd name="adj" fmla="val 3270"/>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Text 3"/>
          <p:cNvSpPr/>
          <p:nvPr/>
        </p:nvSpPr>
        <p:spPr>
          <a:xfrm>
            <a:off x="822960" y="1847088"/>
            <a:ext cx="1097280" cy="457200"/>
          </a:xfrm>
          <a:prstGeom prst="rect">
            <a:avLst/>
          </a:prstGeom>
          <a:noFill/>
          <a:ln/>
        </p:spPr>
        <p:txBody>
          <a:bodyPr wrap="square" lIns="0" tIns="0" rIns="0" bIns="0" rtlCol="0" anchor="ctr"/>
          <a:lstStyle/>
          <a:p>
            <a:pPr indent="0" marL="0">
              <a:buNone/>
            </a:pPr>
            <a:r>
              <a:rPr lang="en-US" sz="2500" b="1" dirty="0">
                <a:solidFill>
                  <a:srgbClr val="E2E8F0"/>
                </a:solidFill>
                <a:latin typeface="Cambria" pitchFamily="34" charset="0"/>
                <a:ea typeface="Cambria" pitchFamily="34" charset="-122"/>
                <a:cs typeface="Cambria" pitchFamily="34" charset="-120"/>
              </a:rPr>
              <a:t>01</a:t>
            </a:r>
            <a:endParaRPr lang="en-US" sz="2500" dirty="0"/>
          </a:p>
        </p:txBody>
      </p:sp>
      <p:sp>
        <p:nvSpPr>
          <p:cNvPr id="6" name="Text 4"/>
          <p:cNvSpPr/>
          <p:nvPr/>
        </p:nvSpPr>
        <p:spPr>
          <a:xfrm>
            <a:off x="822960" y="2340864"/>
            <a:ext cx="2004822" cy="347472"/>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Promote</a:t>
            </a:r>
            <a:endParaRPr lang="en-US" sz="1900" dirty="0"/>
          </a:p>
        </p:txBody>
      </p:sp>
      <p:sp>
        <p:nvSpPr>
          <p:cNvPr id="7" name="Text 5"/>
          <p:cNvSpPr/>
          <p:nvPr/>
        </p:nvSpPr>
        <p:spPr>
          <a:xfrm>
            <a:off x="822960" y="2743200"/>
            <a:ext cx="2004822" cy="1298448"/>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The vacancy appears on our board with a match score and its job description — the part HC Connect cannot do.</a:t>
            </a:r>
            <a:endParaRPr lang="en-US" sz="1250" dirty="0"/>
          </a:p>
        </p:txBody>
      </p:sp>
      <p:sp>
        <p:nvSpPr>
          <p:cNvPr id="8" name="Shape 6"/>
          <p:cNvSpPr/>
          <p:nvPr/>
        </p:nvSpPr>
        <p:spPr>
          <a:xfrm>
            <a:off x="822960" y="4224528"/>
            <a:ext cx="1641348" cy="224028"/>
          </a:xfrm>
          <a:prstGeom prst="roundRect">
            <a:avLst>
              <a:gd name="adj" fmla="val 48980"/>
            </a:avLst>
          </a:prstGeom>
          <a:solidFill>
            <a:srgbClr val="DCFCE7"/>
          </a:solidFill>
          <a:ln w="12700">
            <a:solidFill>
              <a:srgbClr val="DCFCE7"/>
            </a:solidFill>
            <a:prstDash val="solid"/>
          </a:ln>
        </p:spPr>
      </p:sp>
      <p:sp>
        <p:nvSpPr>
          <p:cNvPr id="9" name="Text 7"/>
          <p:cNvSpPr/>
          <p:nvPr/>
        </p:nvSpPr>
        <p:spPr>
          <a:xfrm>
            <a:off x="822960" y="4224528"/>
            <a:ext cx="1641348" cy="224028"/>
          </a:xfrm>
          <a:prstGeom prst="rect">
            <a:avLst/>
          </a:prstGeom>
          <a:noFill/>
          <a:ln/>
        </p:spPr>
        <p:txBody>
          <a:bodyPr wrap="square" lIns="0" tIns="0" rIns="0" bIns="0" rtlCol="0" anchor="ctr"/>
          <a:lstStyle/>
          <a:p>
            <a:pPr algn="ctr" indent="0" marL="0">
              <a:buNone/>
            </a:pPr>
            <a:r>
              <a:rPr lang="en-US" sz="900" b="1" spc="80" kern="0" dirty="0">
                <a:solidFill>
                  <a:srgbClr val="166534"/>
                </a:solidFill>
                <a:latin typeface="Calibri" pitchFamily="34" charset="0"/>
                <a:ea typeface="Calibri" pitchFamily="34" charset="-122"/>
                <a:cs typeface="Calibri" pitchFamily="34" charset="-120"/>
              </a:rPr>
              <a:t>MEASURED HERE</a:t>
            </a:r>
            <a:endParaRPr lang="en-US" sz="900" dirty="0"/>
          </a:p>
        </p:txBody>
      </p:sp>
      <p:sp>
        <p:nvSpPr>
          <p:cNvPr id="10" name="Text 8"/>
          <p:cNvSpPr/>
          <p:nvPr/>
        </p:nvSpPr>
        <p:spPr>
          <a:xfrm>
            <a:off x="3102102" y="2962656"/>
            <a:ext cx="292608" cy="365760"/>
          </a:xfrm>
          <a:prstGeom prst="rect">
            <a:avLst/>
          </a:prstGeom>
          <a:noFill/>
          <a:ln/>
        </p:spPr>
        <p:txBody>
          <a:bodyPr wrap="square" lIns="0" tIns="0" rIns="0" bIns="0" rtlCol="0" anchor="ctr"/>
          <a:lstStyle/>
          <a:p>
            <a:pPr algn="ctr" indent="0" marL="0">
              <a:buNone/>
            </a:pPr>
            <a:r>
              <a:rPr lang="en-US" sz="1900" dirty="0">
                <a:solidFill>
                  <a:srgbClr val="94A3B8"/>
                </a:solidFill>
                <a:latin typeface="Calibri" pitchFamily="34" charset="0"/>
                <a:ea typeface="Calibri" pitchFamily="34" charset="-122"/>
                <a:cs typeface="Calibri" pitchFamily="34" charset="-120"/>
              </a:rPr>
              <a:t>→</a:t>
            </a:r>
            <a:endParaRPr lang="en-US" sz="1900" dirty="0"/>
          </a:p>
        </p:txBody>
      </p:sp>
      <p:sp>
        <p:nvSpPr>
          <p:cNvPr id="11" name="Shape 9"/>
          <p:cNvSpPr/>
          <p:nvPr/>
        </p:nvSpPr>
        <p:spPr>
          <a:xfrm>
            <a:off x="3412998" y="1645920"/>
            <a:ext cx="2516886" cy="3127248"/>
          </a:xfrm>
          <a:prstGeom prst="roundRect">
            <a:avLst>
              <a:gd name="adj" fmla="val 3270"/>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2" name="Text 10"/>
          <p:cNvSpPr/>
          <p:nvPr/>
        </p:nvSpPr>
        <p:spPr>
          <a:xfrm>
            <a:off x="3669030" y="1847088"/>
            <a:ext cx="1097280" cy="457200"/>
          </a:xfrm>
          <a:prstGeom prst="rect">
            <a:avLst/>
          </a:prstGeom>
          <a:noFill/>
          <a:ln/>
        </p:spPr>
        <p:txBody>
          <a:bodyPr wrap="square" lIns="0" tIns="0" rIns="0" bIns="0" rtlCol="0" anchor="ctr"/>
          <a:lstStyle/>
          <a:p>
            <a:pPr indent="0" marL="0">
              <a:buNone/>
            </a:pPr>
            <a:r>
              <a:rPr lang="en-US" sz="2500" b="1" dirty="0">
                <a:solidFill>
                  <a:srgbClr val="E2E8F0"/>
                </a:solidFill>
                <a:latin typeface="Cambria" pitchFamily="34" charset="0"/>
                <a:ea typeface="Cambria" pitchFamily="34" charset="-122"/>
                <a:cs typeface="Cambria" pitchFamily="34" charset="-120"/>
              </a:rPr>
              <a:t>02</a:t>
            </a:r>
            <a:endParaRPr lang="en-US" sz="2500" dirty="0"/>
          </a:p>
        </p:txBody>
      </p:sp>
      <p:sp>
        <p:nvSpPr>
          <p:cNvPr id="13" name="Text 11"/>
          <p:cNvSpPr/>
          <p:nvPr/>
        </p:nvSpPr>
        <p:spPr>
          <a:xfrm>
            <a:off x="3669030" y="2340864"/>
            <a:ext cx="2004822" cy="347472"/>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Hand off</a:t>
            </a:r>
            <a:endParaRPr lang="en-US" sz="1900" dirty="0"/>
          </a:p>
        </p:txBody>
      </p:sp>
      <p:sp>
        <p:nvSpPr>
          <p:cNvPr id="14" name="Text 12"/>
          <p:cNvSpPr/>
          <p:nvPr/>
        </p:nvSpPr>
        <p:spPr>
          <a:xfrm>
            <a:off x="3669030" y="2743200"/>
            <a:ext cx="2004822" cy="1298448"/>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Opening it mints a referral code and carries it to HC Connect on the link. The click is ours, exactly.</a:t>
            </a:r>
            <a:endParaRPr lang="en-US" sz="1250" dirty="0"/>
          </a:p>
        </p:txBody>
      </p:sp>
      <p:sp>
        <p:nvSpPr>
          <p:cNvPr id="15" name="Shape 13"/>
          <p:cNvSpPr/>
          <p:nvPr/>
        </p:nvSpPr>
        <p:spPr>
          <a:xfrm>
            <a:off x="3669030" y="4224528"/>
            <a:ext cx="1641348" cy="224028"/>
          </a:xfrm>
          <a:prstGeom prst="roundRect">
            <a:avLst>
              <a:gd name="adj" fmla="val 48980"/>
            </a:avLst>
          </a:prstGeom>
          <a:solidFill>
            <a:srgbClr val="DCFCE7"/>
          </a:solidFill>
          <a:ln w="12700">
            <a:solidFill>
              <a:srgbClr val="DCFCE7"/>
            </a:solidFill>
            <a:prstDash val="solid"/>
          </a:ln>
        </p:spPr>
      </p:sp>
      <p:sp>
        <p:nvSpPr>
          <p:cNvPr id="16" name="Text 14"/>
          <p:cNvSpPr/>
          <p:nvPr/>
        </p:nvSpPr>
        <p:spPr>
          <a:xfrm>
            <a:off x="3669030" y="4224528"/>
            <a:ext cx="1641348" cy="224028"/>
          </a:xfrm>
          <a:prstGeom prst="rect">
            <a:avLst/>
          </a:prstGeom>
          <a:noFill/>
          <a:ln/>
        </p:spPr>
        <p:txBody>
          <a:bodyPr wrap="square" lIns="0" tIns="0" rIns="0" bIns="0" rtlCol="0" anchor="ctr"/>
          <a:lstStyle/>
          <a:p>
            <a:pPr algn="ctr" indent="0" marL="0">
              <a:buNone/>
            </a:pPr>
            <a:r>
              <a:rPr lang="en-US" sz="900" b="1" spc="80" kern="0" dirty="0">
                <a:solidFill>
                  <a:srgbClr val="166534"/>
                </a:solidFill>
                <a:latin typeface="Calibri" pitchFamily="34" charset="0"/>
                <a:ea typeface="Calibri" pitchFamily="34" charset="-122"/>
                <a:cs typeface="Calibri" pitchFamily="34" charset="-120"/>
              </a:rPr>
              <a:t>MEASURED HERE</a:t>
            </a:r>
            <a:endParaRPr lang="en-US" sz="900" dirty="0"/>
          </a:p>
        </p:txBody>
      </p:sp>
      <p:sp>
        <p:nvSpPr>
          <p:cNvPr id="17" name="Text 15"/>
          <p:cNvSpPr/>
          <p:nvPr/>
        </p:nvSpPr>
        <p:spPr>
          <a:xfrm>
            <a:off x="5948172" y="2962656"/>
            <a:ext cx="292608" cy="365760"/>
          </a:xfrm>
          <a:prstGeom prst="rect">
            <a:avLst/>
          </a:prstGeom>
          <a:noFill/>
          <a:ln/>
        </p:spPr>
        <p:txBody>
          <a:bodyPr wrap="square" lIns="0" tIns="0" rIns="0" bIns="0" rtlCol="0" anchor="ctr"/>
          <a:lstStyle/>
          <a:p>
            <a:pPr algn="ctr" indent="0" marL="0">
              <a:buNone/>
            </a:pPr>
            <a:r>
              <a:rPr lang="en-US" sz="1900" dirty="0">
                <a:solidFill>
                  <a:srgbClr val="94A3B8"/>
                </a:solidFill>
                <a:latin typeface="Calibri" pitchFamily="34" charset="0"/>
                <a:ea typeface="Calibri" pitchFamily="34" charset="-122"/>
                <a:cs typeface="Calibri" pitchFamily="34" charset="-120"/>
              </a:rPr>
              <a:t>→</a:t>
            </a:r>
            <a:endParaRPr lang="en-US" sz="1900" dirty="0"/>
          </a:p>
        </p:txBody>
      </p:sp>
      <p:sp>
        <p:nvSpPr>
          <p:cNvPr id="18" name="Shape 16"/>
          <p:cNvSpPr/>
          <p:nvPr/>
        </p:nvSpPr>
        <p:spPr>
          <a:xfrm>
            <a:off x="6259068" y="1645920"/>
            <a:ext cx="2516886" cy="3127248"/>
          </a:xfrm>
          <a:prstGeom prst="roundRect">
            <a:avLst>
              <a:gd name="adj" fmla="val 3270"/>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9" name="Text 17"/>
          <p:cNvSpPr/>
          <p:nvPr/>
        </p:nvSpPr>
        <p:spPr>
          <a:xfrm>
            <a:off x="6515100" y="1847088"/>
            <a:ext cx="1097280" cy="457200"/>
          </a:xfrm>
          <a:prstGeom prst="rect">
            <a:avLst/>
          </a:prstGeom>
          <a:noFill/>
          <a:ln/>
        </p:spPr>
        <p:txBody>
          <a:bodyPr wrap="square" lIns="0" tIns="0" rIns="0" bIns="0" rtlCol="0" anchor="ctr"/>
          <a:lstStyle/>
          <a:p>
            <a:pPr indent="0" marL="0">
              <a:buNone/>
            </a:pPr>
            <a:r>
              <a:rPr lang="en-US" sz="2500" b="1" dirty="0">
                <a:solidFill>
                  <a:srgbClr val="E2E8F0"/>
                </a:solidFill>
                <a:latin typeface="Cambria" pitchFamily="34" charset="0"/>
                <a:ea typeface="Cambria" pitchFamily="34" charset="-122"/>
                <a:cs typeface="Cambria" pitchFamily="34" charset="-120"/>
              </a:rPr>
              <a:t>03</a:t>
            </a:r>
            <a:endParaRPr lang="en-US" sz="2500" dirty="0"/>
          </a:p>
        </p:txBody>
      </p:sp>
      <p:sp>
        <p:nvSpPr>
          <p:cNvPr id="20" name="Text 18"/>
          <p:cNvSpPr/>
          <p:nvPr/>
        </p:nvSpPr>
        <p:spPr>
          <a:xfrm>
            <a:off x="6515100" y="2340864"/>
            <a:ext cx="2004822" cy="347472"/>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Confirm</a:t>
            </a:r>
            <a:endParaRPr lang="en-US" sz="1900" dirty="0"/>
          </a:p>
        </p:txBody>
      </p:sp>
      <p:sp>
        <p:nvSpPr>
          <p:cNvPr id="21" name="Text 19"/>
          <p:cNvSpPr/>
          <p:nvPr/>
        </p:nvSpPr>
        <p:spPr>
          <a:xfrm>
            <a:off x="6515100" y="2743200"/>
            <a:ext cx="2004822" cy="1298448"/>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We ask the employee afterwards whether they applied. One tap, and the board asks unprompted.</a:t>
            </a:r>
            <a:endParaRPr lang="en-US" sz="1250" dirty="0"/>
          </a:p>
        </p:txBody>
      </p:sp>
      <p:sp>
        <p:nvSpPr>
          <p:cNvPr id="22" name="Shape 20"/>
          <p:cNvSpPr/>
          <p:nvPr/>
        </p:nvSpPr>
        <p:spPr>
          <a:xfrm>
            <a:off x="6515100" y="4224528"/>
            <a:ext cx="1641348" cy="224028"/>
          </a:xfrm>
          <a:prstGeom prst="roundRect">
            <a:avLst>
              <a:gd name="adj" fmla="val 48980"/>
            </a:avLst>
          </a:prstGeom>
          <a:solidFill>
            <a:srgbClr val="FEF3C7"/>
          </a:solidFill>
          <a:ln w="12700">
            <a:solidFill>
              <a:srgbClr val="FEF3C7"/>
            </a:solidFill>
            <a:prstDash val="solid"/>
          </a:ln>
        </p:spPr>
      </p:sp>
      <p:sp>
        <p:nvSpPr>
          <p:cNvPr id="23" name="Text 21"/>
          <p:cNvSpPr/>
          <p:nvPr/>
        </p:nvSpPr>
        <p:spPr>
          <a:xfrm>
            <a:off x="6515100" y="4224528"/>
            <a:ext cx="1641348" cy="224028"/>
          </a:xfrm>
          <a:prstGeom prst="rect">
            <a:avLst/>
          </a:prstGeom>
          <a:noFill/>
          <a:ln/>
        </p:spPr>
        <p:txBody>
          <a:bodyPr wrap="square" lIns="0" tIns="0" rIns="0" bIns="0" rtlCol="0" anchor="ctr"/>
          <a:lstStyle/>
          <a:p>
            <a:pPr algn="ctr" indent="0" marL="0">
              <a:buNone/>
            </a:pPr>
            <a:r>
              <a:rPr lang="en-US" sz="900" b="1" spc="80" kern="0" dirty="0">
                <a:solidFill>
                  <a:srgbClr val="92400E"/>
                </a:solidFill>
                <a:latin typeface="Calibri" pitchFamily="34" charset="0"/>
                <a:ea typeface="Calibri" pitchFamily="34" charset="-122"/>
                <a:cs typeface="Calibri" pitchFamily="34" charset="-120"/>
              </a:rPr>
              <a:t>SELF-REPORTED</a:t>
            </a:r>
            <a:endParaRPr lang="en-US" sz="900" dirty="0"/>
          </a:p>
        </p:txBody>
      </p:sp>
      <p:sp>
        <p:nvSpPr>
          <p:cNvPr id="24" name="Text 22"/>
          <p:cNvSpPr/>
          <p:nvPr/>
        </p:nvSpPr>
        <p:spPr>
          <a:xfrm>
            <a:off x="8794242" y="2962656"/>
            <a:ext cx="292608" cy="365760"/>
          </a:xfrm>
          <a:prstGeom prst="rect">
            <a:avLst/>
          </a:prstGeom>
          <a:noFill/>
          <a:ln/>
        </p:spPr>
        <p:txBody>
          <a:bodyPr wrap="square" lIns="0" tIns="0" rIns="0" bIns="0" rtlCol="0" anchor="ctr"/>
          <a:lstStyle/>
          <a:p>
            <a:pPr algn="ctr" indent="0" marL="0">
              <a:buNone/>
            </a:pPr>
            <a:r>
              <a:rPr lang="en-US" sz="1900" dirty="0">
                <a:solidFill>
                  <a:srgbClr val="94A3B8"/>
                </a:solidFill>
                <a:latin typeface="Calibri" pitchFamily="34" charset="0"/>
                <a:ea typeface="Calibri" pitchFamily="34" charset="-122"/>
                <a:cs typeface="Calibri" pitchFamily="34" charset="-120"/>
              </a:rPr>
              <a:t>→</a:t>
            </a:r>
            <a:endParaRPr lang="en-US" sz="1900" dirty="0"/>
          </a:p>
        </p:txBody>
      </p:sp>
      <p:sp>
        <p:nvSpPr>
          <p:cNvPr id="25" name="Shape 23"/>
          <p:cNvSpPr/>
          <p:nvPr/>
        </p:nvSpPr>
        <p:spPr>
          <a:xfrm>
            <a:off x="9105138" y="1645920"/>
            <a:ext cx="2516886" cy="3127248"/>
          </a:xfrm>
          <a:prstGeom prst="roundRect">
            <a:avLst>
              <a:gd name="adj" fmla="val 3270"/>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26" name="Text 24"/>
          <p:cNvSpPr/>
          <p:nvPr/>
        </p:nvSpPr>
        <p:spPr>
          <a:xfrm>
            <a:off x="9361170" y="1847088"/>
            <a:ext cx="1097280" cy="457200"/>
          </a:xfrm>
          <a:prstGeom prst="rect">
            <a:avLst/>
          </a:prstGeom>
          <a:noFill/>
          <a:ln/>
        </p:spPr>
        <p:txBody>
          <a:bodyPr wrap="square" lIns="0" tIns="0" rIns="0" bIns="0" rtlCol="0" anchor="ctr"/>
          <a:lstStyle/>
          <a:p>
            <a:pPr indent="0" marL="0">
              <a:buNone/>
            </a:pPr>
            <a:r>
              <a:rPr lang="en-US" sz="2500" b="1" dirty="0">
                <a:solidFill>
                  <a:srgbClr val="E2E8F0"/>
                </a:solidFill>
                <a:latin typeface="Cambria" pitchFamily="34" charset="0"/>
                <a:ea typeface="Cambria" pitchFamily="34" charset="-122"/>
                <a:cs typeface="Cambria" pitchFamily="34" charset="-120"/>
              </a:rPr>
              <a:t>04</a:t>
            </a:r>
            <a:endParaRPr lang="en-US" sz="2500" dirty="0"/>
          </a:p>
        </p:txBody>
      </p:sp>
      <p:sp>
        <p:nvSpPr>
          <p:cNvPr id="27" name="Text 25"/>
          <p:cNvSpPr/>
          <p:nvPr/>
        </p:nvSpPr>
        <p:spPr>
          <a:xfrm>
            <a:off x="9361170" y="2340864"/>
            <a:ext cx="2004822" cy="347472"/>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Reconcile</a:t>
            </a:r>
            <a:endParaRPr lang="en-US" sz="1900" dirty="0"/>
          </a:p>
        </p:txBody>
      </p:sp>
      <p:sp>
        <p:nvSpPr>
          <p:cNvPr id="28" name="Text 26"/>
          <p:cNvSpPr/>
          <p:nvPr/>
        </p:nvSpPr>
        <p:spPr>
          <a:xfrm>
            <a:off x="9361170" y="2743200"/>
            <a:ext cx="2004822" cy="1298448"/>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Quarterly, join our referral export against the HC Connect export on the referral code.</a:t>
            </a:r>
            <a:endParaRPr lang="en-US" sz="1250" dirty="0"/>
          </a:p>
        </p:txBody>
      </p:sp>
      <p:sp>
        <p:nvSpPr>
          <p:cNvPr id="29" name="Shape 27"/>
          <p:cNvSpPr/>
          <p:nvPr/>
        </p:nvSpPr>
        <p:spPr>
          <a:xfrm>
            <a:off x="9361170" y="4224528"/>
            <a:ext cx="1851660" cy="224028"/>
          </a:xfrm>
          <a:prstGeom prst="roundRect">
            <a:avLst>
              <a:gd name="adj" fmla="val 48980"/>
            </a:avLst>
          </a:prstGeom>
          <a:solidFill>
            <a:srgbClr val="E0E7FF"/>
          </a:solidFill>
          <a:ln w="12700">
            <a:solidFill>
              <a:srgbClr val="E0E7FF"/>
            </a:solidFill>
            <a:prstDash val="solid"/>
          </a:ln>
        </p:spPr>
      </p:sp>
      <p:sp>
        <p:nvSpPr>
          <p:cNvPr id="30" name="Text 28"/>
          <p:cNvSpPr/>
          <p:nvPr/>
        </p:nvSpPr>
        <p:spPr>
          <a:xfrm>
            <a:off x="9361170" y="4224528"/>
            <a:ext cx="1851660" cy="224028"/>
          </a:xfrm>
          <a:prstGeom prst="rect">
            <a:avLst/>
          </a:prstGeom>
          <a:noFill/>
          <a:ln/>
        </p:spPr>
        <p:txBody>
          <a:bodyPr wrap="square" lIns="0" tIns="0" rIns="0" bIns="0" rtlCol="0" anchor="ctr"/>
          <a:lstStyle/>
          <a:p>
            <a:pPr algn="ctr" indent="0" marL="0">
              <a:buNone/>
            </a:pPr>
            <a:r>
              <a:rPr lang="en-US" sz="900" b="1" spc="80" kern="0" dirty="0">
                <a:solidFill>
                  <a:srgbClr val="3730A3"/>
                </a:solidFill>
                <a:latin typeface="Calibri" pitchFamily="34" charset="0"/>
                <a:ea typeface="Calibri" pitchFamily="34" charset="-122"/>
                <a:cs typeface="Calibri" pitchFamily="34" charset="-120"/>
              </a:rPr>
              <a:t>FROM HC CONNECT</a:t>
            </a:r>
            <a:endParaRPr lang="en-US" sz="900" dirty="0"/>
          </a:p>
        </p:txBody>
      </p:sp>
      <p:sp>
        <p:nvSpPr>
          <p:cNvPr id="31" name="Shape 29"/>
          <p:cNvSpPr/>
          <p:nvPr/>
        </p:nvSpPr>
        <p:spPr>
          <a:xfrm>
            <a:off x="566928" y="5047488"/>
            <a:ext cx="11055096" cy="1060704"/>
          </a:xfrm>
          <a:prstGeom prst="roundRect">
            <a:avLst>
              <a:gd name="adj" fmla="val 77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32" name="Text 30"/>
          <p:cNvSpPr/>
          <p:nvPr/>
        </p:nvSpPr>
        <p:spPr>
          <a:xfrm>
            <a:off x="877824" y="5047488"/>
            <a:ext cx="10433304" cy="1060704"/>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The attribution rule, agreed before the first number is reported:  </a:t>
            </a:r>
            <a:pPr indent="0" marL="0">
              <a:buNone/>
            </a:pPr>
            <a:r>
              <a:rPr lang="en-US" sz="1400" b="1" dirty="0">
                <a:solidFill>
                  <a:srgbClr val="0F172A"/>
                </a:solidFill>
                <a:latin typeface="Calibri" pitchFamily="34" charset="0"/>
                <a:ea typeface="Calibri" pitchFamily="34" charset="-122"/>
                <a:cs typeface="Calibri" pitchFamily="34" charset="-120"/>
              </a:rPr>
              <a:t>a vacancy application counts as ours when a referral click precedes it by no more than 30 days, last touch.</a:t>
            </a:r>
            <a:pPr indent="0" marL="0">
              <a:buNone/>
            </a:pPr>
            <a:r>
              <a:rPr lang="en-US" sz="1400" dirty="0">
                <a:solidFill>
                  <a:srgbClr val="64748B"/>
                </a:solidFill>
                <a:latin typeface="Calibri" pitchFamily="34" charset="0"/>
                <a:ea typeface="Calibri" pitchFamily="34" charset="-122"/>
                <a:cs typeface="Calibri" pitchFamily="34" charset="-120"/>
              </a:rPr>
              <a:t>  Undercounting is the intended failure mode.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66928" y="475488"/>
            <a:ext cx="3218688" cy="224028"/>
          </a:xfrm>
          <a:prstGeom prst="roundRect">
            <a:avLst>
              <a:gd name="adj" fmla="val 48980"/>
            </a:avLst>
          </a:prstGeom>
          <a:solidFill>
            <a:srgbClr val="C00000"/>
          </a:solidFill>
          <a:ln w="12700">
            <a:solidFill>
              <a:srgbClr val="C00000"/>
            </a:solidFill>
            <a:prstDash val="solid"/>
          </a:ln>
        </p:spPr>
      </p:sp>
      <p:sp>
        <p:nvSpPr>
          <p:cNvPr id="3" name="Text 1"/>
          <p:cNvSpPr/>
          <p:nvPr/>
        </p:nvSpPr>
        <p:spPr>
          <a:xfrm>
            <a:off x="566928" y="475488"/>
            <a:ext cx="3218688" cy="224028"/>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THE COUNTERINTUITIVE FINDING</a:t>
            </a:r>
            <a:endParaRPr lang="en-US" sz="900" dirty="0"/>
          </a:p>
        </p:txBody>
      </p:sp>
      <p:sp>
        <p:nvSpPr>
          <p:cNvPr id="4" name="Text 2"/>
          <p:cNvSpPr/>
          <p:nvPr/>
        </p:nvSpPr>
        <p:spPr>
          <a:xfrm>
            <a:off x="566928" y="896112"/>
            <a:ext cx="6858000" cy="137160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Removing a service made</a:t>
            </a:r>
            <a:endParaRPr lang="en-US" sz="3400" dirty="0"/>
          </a:p>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the system more expensive.</a:t>
            </a:r>
            <a:endParaRPr lang="en-US" sz="3400" dirty="0"/>
          </a:p>
        </p:txBody>
      </p:sp>
      <p:sp>
        <p:nvSpPr>
          <p:cNvPr id="5" name="Text 3"/>
          <p:cNvSpPr/>
          <p:nvPr/>
        </p:nvSpPr>
        <p:spPr>
          <a:xfrm>
            <a:off x="566928" y="2395728"/>
            <a:ext cx="6675120" cy="1371600"/>
          </a:xfrm>
          <a:prstGeom prst="rect">
            <a:avLst/>
          </a:prstGeom>
          <a:noFill/>
          <a:ln/>
        </p:spPr>
        <p:txBody>
          <a:bodyPr wrap="square" lIns="0" tIns="0" rIns="0" bIns="0" rtlCol="0" anchor="ctr"/>
          <a:lstStyle/>
          <a:p>
            <a:pPr indent="0" marL="0">
              <a:lnSpc>
                <a:spcPts val="2300"/>
              </a:lnSpc>
              <a:buNone/>
            </a:pPr>
            <a:r>
              <a:rPr lang="en-US" sz="1450" dirty="0">
                <a:solidFill>
                  <a:srgbClr val="CBD5E1"/>
                </a:solidFill>
                <a:latin typeface="Calibri" pitchFamily="34" charset="0"/>
                <a:ea typeface="Calibri" pitchFamily="34" charset="-122"/>
                <a:cs typeface="Calibri" pitchFamily="34" charset="-120"/>
              </a:rPr>
              <a:t>v1 owned the whole vacancy funnel, so measuring it was free — the data was already in our database. v2 hands that funnel to HC Connect and keeps only the top of it. The outcome now sits in someone else’s system, and has to be tracked, handed off, self-reported and reconciled to be claimable at all.</a:t>
            </a:r>
            <a:endParaRPr lang="en-US" sz="1450" dirty="0"/>
          </a:p>
        </p:txBody>
      </p:sp>
      <p:sp>
        <p:nvSpPr>
          <p:cNvPr id="6" name="Shape 4"/>
          <p:cNvSpPr/>
          <p:nvPr/>
        </p:nvSpPr>
        <p:spPr>
          <a:xfrm>
            <a:off x="7571232" y="969264"/>
            <a:ext cx="4023360" cy="2286000"/>
          </a:xfrm>
          <a:prstGeom prst="roundRect">
            <a:avLst>
              <a:gd name="adj" fmla="val 3600"/>
            </a:avLst>
          </a:prstGeom>
          <a:solidFill>
            <a:srgbClr val="1E293B"/>
          </a:solidFill>
          <a:ln w="12700">
            <a:solidFill>
              <a:srgbClr val="1E293B"/>
            </a:solidFill>
            <a:prstDash val="solid"/>
          </a:ln>
          <a:effectLst>
            <a:outerShdw sx="100000" sy="100000" kx="0" ky="0" algn="bl" rotWithShape="0" blurRad="114300" dist="17780" dir="5400000">
              <a:srgbClr val="0F172A">
                <a:alpha val="7000"/>
              </a:srgbClr>
            </a:outerShdw>
          </a:effectLst>
        </p:spPr>
      </p:sp>
      <p:sp>
        <p:nvSpPr>
          <p:cNvPr id="7" name="Text 5"/>
          <p:cNvSpPr/>
          <p:nvPr/>
        </p:nvSpPr>
        <p:spPr>
          <a:xfrm>
            <a:off x="7882128" y="1170432"/>
            <a:ext cx="3474720" cy="274320"/>
          </a:xfrm>
          <a:prstGeom prst="rect">
            <a:avLst/>
          </a:prstGeom>
          <a:noFill/>
          <a:ln/>
        </p:spPr>
        <p:txBody>
          <a:bodyPr wrap="square" lIns="0" tIns="0" rIns="0" bIns="0" rtlCol="0" anchor="ctr"/>
          <a:lstStyle/>
          <a:p>
            <a:pPr indent="0" marL="0">
              <a:buNone/>
            </a:pPr>
            <a:r>
              <a:rPr lang="en-US" sz="1150" b="1" spc="80" kern="0" dirty="0">
                <a:solidFill>
                  <a:srgbClr val="94A3B8"/>
                </a:solidFill>
                <a:latin typeface="Calibri" pitchFamily="34" charset="0"/>
                <a:ea typeface="Calibri" pitchFamily="34" charset="-122"/>
                <a:cs typeface="Calibri" pitchFamily="34" charset="-120"/>
              </a:rPr>
              <a:t>Developer effort</a:t>
            </a:r>
            <a:endParaRPr lang="en-US" sz="1150" dirty="0"/>
          </a:p>
        </p:txBody>
      </p:sp>
      <p:sp>
        <p:nvSpPr>
          <p:cNvPr id="8" name="Text 6"/>
          <p:cNvSpPr/>
          <p:nvPr/>
        </p:nvSpPr>
        <p:spPr>
          <a:xfrm>
            <a:off x="7882128" y="1591056"/>
            <a:ext cx="34747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Deleting the vacancy flow saves</a:t>
            </a:r>
            <a:endParaRPr lang="en-US" sz="1200" dirty="0"/>
          </a:p>
        </p:txBody>
      </p:sp>
      <p:sp>
        <p:nvSpPr>
          <p:cNvPr id="9" name="Text 7"/>
          <p:cNvSpPr/>
          <p:nvPr/>
        </p:nvSpPr>
        <p:spPr>
          <a:xfrm>
            <a:off x="7882128" y="1847088"/>
            <a:ext cx="3474720" cy="365760"/>
          </a:xfrm>
          <a:prstGeom prst="rect">
            <a:avLst/>
          </a:prstGeom>
          <a:noFill/>
          <a:ln/>
        </p:spPr>
        <p:txBody>
          <a:bodyPr wrap="square" lIns="0" tIns="0" rIns="0" bIns="0" rtlCol="0" anchor="ctr"/>
          <a:lstStyle/>
          <a:p>
            <a:pPr indent="0" marL="0">
              <a:buNone/>
            </a:pPr>
            <a:r>
              <a:rPr lang="en-US" sz="2000" b="1" dirty="0">
                <a:solidFill>
                  <a:srgbClr val="16A34A"/>
                </a:solidFill>
                <a:latin typeface="Cambria" pitchFamily="34" charset="0"/>
                <a:ea typeface="Cambria" pitchFamily="34" charset="-122"/>
                <a:cs typeface="Cambria" pitchFamily="34" charset="-120"/>
              </a:rPr>
              <a:t>0.4 months</a:t>
            </a:r>
            <a:endParaRPr lang="en-US" sz="2000" dirty="0"/>
          </a:p>
        </p:txBody>
      </p:sp>
      <p:sp>
        <p:nvSpPr>
          <p:cNvPr id="10" name="Text 8"/>
          <p:cNvSpPr/>
          <p:nvPr/>
        </p:nvSpPr>
        <p:spPr>
          <a:xfrm>
            <a:off x="7882128" y="2340864"/>
            <a:ext cx="34747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Building the machinery to count it costs</a:t>
            </a:r>
            <a:endParaRPr lang="en-US" sz="1200" dirty="0"/>
          </a:p>
        </p:txBody>
      </p:sp>
      <p:sp>
        <p:nvSpPr>
          <p:cNvPr id="11" name="Text 9"/>
          <p:cNvSpPr/>
          <p:nvPr/>
        </p:nvSpPr>
        <p:spPr>
          <a:xfrm>
            <a:off x="7882128" y="2596896"/>
            <a:ext cx="3474720" cy="365760"/>
          </a:xfrm>
          <a:prstGeom prst="rect">
            <a:avLst/>
          </a:prstGeom>
          <a:noFill/>
          <a:ln/>
        </p:spPr>
        <p:txBody>
          <a:bodyPr wrap="square" lIns="0" tIns="0" rIns="0" bIns="0" rtlCol="0" anchor="ctr"/>
          <a:lstStyle/>
          <a:p>
            <a:pPr indent="0" marL="0">
              <a:buNone/>
            </a:pPr>
            <a:r>
              <a:rPr lang="en-US" sz="2000" b="1" dirty="0">
                <a:solidFill>
                  <a:srgbClr val="C00000"/>
                </a:solidFill>
                <a:latin typeface="Cambria" pitchFamily="34" charset="0"/>
                <a:ea typeface="Cambria" pitchFamily="34" charset="-122"/>
                <a:cs typeface="Cambria" pitchFamily="34" charset="-120"/>
              </a:rPr>
              <a:t>1.2 months</a:t>
            </a:r>
            <a:endParaRPr lang="en-US" sz="2000" dirty="0"/>
          </a:p>
        </p:txBody>
      </p:sp>
      <p:sp>
        <p:nvSpPr>
          <p:cNvPr id="12" name="Text 10"/>
          <p:cNvSpPr/>
          <p:nvPr/>
        </p:nvSpPr>
        <p:spPr>
          <a:xfrm>
            <a:off x="7571232" y="3547872"/>
            <a:ext cx="210312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v1</a:t>
            </a:r>
            <a:endParaRPr lang="en-US" sz="1300" dirty="0"/>
          </a:p>
        </p:txBody>
      </p:sp>
      <p:sp>
        <p:nvSpPr>
          <p:cNvPr id="13" name="Text 11"/>
          <p:cNvSpPr/>
          <p:nvPr/>
        </p:nvSpPr>
        <p:spPr>
          <a:xfrm>
            <a:off x="9601200" y="3547872"/>
            <a:ext cx="1993392" cy="329184"/>
          </a:xfrm>
          <a:prstGeom prst="rect">
            <a:avLst/>
          </a:prstGeom>
          <a:noFill/>
          <a:ln/>
        </p:spPr>
        <p:txBody>
          <a:bodyPr wrap="square" lIns="0" tIns="0" rIns="0" bIns="0" rtlCol="0" anchor="ctr"/>
          <a:lstStyle/>
          <a:p>
            <a:pPr algn="r" indent="0" marL="0">
              <a:buNone/>
            </a:pPr>
            <a:r>
              <a:rPr lang="en-US" sz="1600" b="1" dirty="0">
                <a:solidFill>
                  <a:srgbClr val="94A3B8"/>
                </a:solidFill>
                <a:latin typeface="Cambria" pitchFamily="34" charset="0"/>
                <a:ea typeface="Cambria" pitchFamily="34" charset="-122"/>
                <a:cs typeface="Cambria" pitchFamily="34" charset="-120"/>
              </a:rPr>
              <a:t>₱1,112,420</a:t>
            </a:r>
            <a:endParaRPr lang="en-US" sz="1600" dirty="0"/>
          </a:p>
        </p:txBody>
      </p:sp>
      <p:sp>
        <p:nvSpPr>
          <p:cNvPr id="14" name="Text 12"/>
          <p:cNvSpPr/>
          <p:nvPr/>
        </p:nvSpPr>
        <p:spPr>
          <a:xfrm>
            <a:off x="7571232" y="4151376"/>
            <a:ext cx="210312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v2 as first scoped</a:t>
            </a:r>
            <a:endParaRPr lang="en-US" sz="1300" dirty="0"/>
          </a:p>
        </p:txBody>
      </p:sp>
      <p:sp>
        <p:nvSpPr>
          <p:cNvPr id="15" name="Text 13"/>
          <p:cNvSpPr/>
          <p:nvPr/>
        </p:nvSpPr>
        <p:spPr>
          <a:xfrm>
            <a:off x="9601200" y="4151376"/>
            <a:ext cx="1993392" cy="329184"/>
          </a:xfrm>
          <a:prstGeom prst="rect">
            <a:avLst/>
          </a:prstGeom>
          <a:noFill/>
          <a:ln/>
        </p:spPr>
        <p:txBody>
          <a:bodyPr wrap="square" lIns="0" tIns="0" rIns="0" bIns="0" rtlCol="0" anchor="ctr"/>
          <a:lstStyle/>
          <a:p>
            <a:pPr algn="r" indent="0" marL="0">
              <a:buNone/>
            </a:pPr>
            <a:r>
              <a:rPr lang="en-US" sz="1600" b="1" dirty="0">
                <a:solidFill>
                  <a:srgbClr val="C00000"/>
                </a:solidFill>
                <a:latin typeface="Cambria" pitchFamily="34" charset="0"/>
                <a:ea typeface="Cambria" pitchFamily="34" charset="-122"/>
                <a:cs typeface="Cambria" pitchFamily="34" charset="-120"/>
              </a:rPr>
              <a:t>₱1,542,136</a:t>
            </a:r>
            <a:endParaRPr lang="en-US" sz="1600" dirty="0"/>
          </a:p>
        </p:txBody>
      </p:sp>
      <p:sp>
        <p:nvSpPr>
          <p:cNvPr id="16" name="Text 14"/>
          <p:cNvSpPr/>
          <p:nvPr/>
        </p:nvSpPr>
        <p:spPr>
          <a:xfrm>
            <a:off x="7571232" y="4791456"/>
            <a:ext cx="4023360" cy="310896"/>
          </a:xfrm>
          <a:prstGeom prst="rect">
            <a:avLst/>
          </a:prstGeom>
          <a:noFill/>
          <a:ln/>
        </p:spPr>
        <p:txBody>
          <a:bodyPr wrap="square" lIns="0" tIns="0" rIns="0" bIns="0" rtlCol="0" anchor="ctr"/>
          <a:lstStyle/>
          <a:p>
            <a:pPr algn="r" indent="0" marL="0">
              <a:buNone/>
            </a:pPr>
            <a:r>
              <a:rPr lang="en-US" sz="1250" b="1" dirty="0">
                <a:solidFill>
                  <a:srgbClr val="C00000"/>
                </a:solidFill>
                <a:latin typeface="Calibri" pitchFamily="34" charset="0"/>
                <a:ea typeface="Calibri" pitchFamily="34" charset="-122"/>
                <a:cs typeface="Calibri" pitchFamily="34" charset="-120"/>
              </a:rPr>
              <a:t>+39% over three years</a:t>
            </a:r>
            <a:endParaRPr lang="en-US" sz="1250" dirty="0"/>
          </a:p>
        </p:txBody>
      </p:sp>
      <p:sp>
        <p:nvSpPr>
          <p:cNvPr id="17" name="Text 15"/>
          <p:cNvSpPr/>
          <p:nvPr/>
        </p:nvSpPr>
        <p:spPr>
          <a:xfrm>
            <a:off x="566928" y="4078224"/>
            <a:ext cx="6675120" cy="73152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That is the honest trade — and it is fixable without touching what drives internal growth.</a:t>
            </a:r>
            <a:endParaRPr lang="en-US" sz="1500" dirty="0"/>
          </a:p>
        </p:txBody>
      </p:sp>
      <p:sp>
        <p:nvSpPr>
          <p:cNvPr id="18" name="Text 16"/>
          <p:cNvSpPr/>
          <p:nvPr/>
        </p:nvSpPr>
        <p:spPr>
          <a:xfrm>
            <a:off x="566928" y="4956048"/>
            <a:ext cx="6675120" cy="365760"/>
          </a:xfrm>
          <a:prstGeom prst="rect">
            <a:avLst/>
          </a:prstGeom>
          <a:noFill/>
          <a:ln/>
        </p:spPr>
        <p:txBody>
          <a:bodyPr wrap="square" lIns="0" tIns="0" rIns="0" bIns="0" rtlCol="0" anchor="ctr"/>
          <a:lstStyle/>
          <a:p>
            <a:pPr indent="0" marL="0">
              <a:buNone/>
            </a:pPr>
            <a:r>
              <a:rPr lang="en-US" sz="1900" b="1" dirty="0">
                <a:solidFill>
                  <a:srgbClr val="16A34A"/>
                </a:solidFill>
                <a:latin typeface="Cambria" pitchFamily="34" charset="0"/>
                <a:ea typeface="Cambria" pitchFamily="34" charset="-122"/>
                <a:cs typeface="Cambria" pitchFamily="34" charset="-120"/>
              </a:rPr>
              <a:t>The next slide takes ₱491,761 back out.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Five changes remove ₱491,761</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None of them touches the board, the match scores or the job descriptions.</a:t>
            </a:r>
            <a:endParaRPr lang="en-US" sz="1350" dirty="0"/>
          </a:p>
        </p:txBody>
      </p:sp>
      <p:sp>
        <p:nvSpPr>
          <p:cNvPr id="4" name="Shape 2"/>
          <p:cNvSpPr/>
          <p:nvPr/>
        </p:nvSpPr>
        <p:spPr>
          <a:xfrm>
            <a:off x="566928" y="1609344"/>
            <a:ext cx="11055096" cy="3712464"/>
          </a:xfrm>
          <a:prstGeom prst="roundRect">
            <a:avLst>
              <a:gd name="adj" fmla="val 2217"/>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Shape 3"/>
          <p:cNvSpPr/>
          <p:nvPr/>
        </p:nvSpPr>
        <p:spPr>
          <a:xfrm>
            <a:off x="841248" y="1892808"/>
            <a:ext cx="384048" cy="384048"/>
          </a:xfrm>
          <a:prstGeom prst="ellipse">
            <a:avLst/>
          </a:prstGeom>
          <a:solidFill>
            <a:srgbClr val="0F172A"/>
          </a:solidFill>
          <a:ln w="12700">
            <a:solidFill>
              <a:srgbClr val="0F172A"/>
            </a:solidFill>
            <a:prstDash val="solid"/>
          </a:ln>
        </p:spPr>
      </p:sp>
      <p:sp>
        <p:nvSpPr>
          <p:cNvPr id="6" name="Text 4"/>
          <p:cNvSpPr/>
          <p:nvPr/>
        </p:nvSpPr>
        <p:spPr>
          <a:xfrm>
            <a:off x="841248"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p:nvPr/>
        </p:nvSpPr>
        <p:spPr>
          <a:xfrm>
            <a:off x="1408176" y="1828800"/>
            <a:ext cx="41148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Supabase-native</a:t>
            </a:r>
            <a:endParaRPr lang="en-US" sz="1400" dirty="0"/>
          </a:p>
        </p:txBody>
      </p:sp>
      <p:sp>
        <p:nvSpPr>
          <p:cNvPr id="8" name="Text 6"/>
          <p:cNvSpPr/>
          <p:nvPr/>
        </p:nvSpPr>
        <p:spPr>
          <a:xfrm>
            <a:off x="1408176" y="2121408"/>
            <a:ext cx="67665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Auth, RLS and Edge Functions replace the separate API service.</a:t>
            </a:r>
            <a:endParaRPr lang="en-US" sz="1150" dirty="0"/>
          </a:p>
        </p:txBody>
      </p:sp>
      <p:sp>
        <p:nvSpPr>
          <p:cNvPr id="9" name="Text 7"/>
          <p:cNvSpPr/>
          <p:nvPr/>
        </p:nvSpPr>
        <p:spPr>
          <a:xfrm>
            <a:off x="8604504" y="1892808"/>
            <a:ext cx="2743200" cy="384048"/>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₱270,000 + ₱13,920/yr</a:t>
            </a:r>
            <a:endParaRPr lang="en-US" sz="1500" dirty="0"/>
          </a:p>
        </p:txBody>
      </p:sp>
      <p:sp>
        <p:nvSpPr>
          <p:cNvPr id="10" name="Shape 8"/>
          <p:cNvSpPr/>
          <p:nvPr/>
        </p:nvSpPr>
        <p:spPr>
          <a:xfrm>
            <a:off x="841248" y="2450592"/>
            <a:ext cx="10506456" cy="0"/>
          </a:xfrm>
          <a:prstGeom prst="line">
            <a:avLst/>
          </a:prstGeom>
          <a:noFill/>
          <a:ln w="12700">
            <a:solidFill>
              <a:srgbClr val="F1F5F9"/>
            </a:solidFill>
            <a:prstDash val="solid"/>
          </a:ln>
        </p:spPr>
      </p:sp>
      <p:sp>
        <p:nvSpPr>
          <p:cNvPr id="11" name="Shape 9"/>
          <p:cNvSpPr/>
          <p:nvPr/>
        </p:nvSpPr>
        <p:spPr>
          <a:xfrm>
            <a:off x="841248" y="2601468"/>
            <a:ext cx="384048" cy="384048"/>
          </a:xfrm>
          <a:prstGeom prst="ellipse">
            <a:avLst/>
          </a:prstGeom>
          <a:solidFill>
            <a:srgbClr val="0F172A"/>
          </a:solidFill>
          <a:ln w="12700">
            <a:solidFill>
              <a:srgbClr val="0F172A"/>
            </a:solidFill>
            <a:prstDash val="solid"/>
          </a:ln>
        </p:spPr>
      </p:sp>
      <p:sp>
        <p:nvSpPr>
          <p:cNvPr id="12" name="Text 10"/>
          <p:cNvSpPr/>
          <p:nvPr/>
        </p:nvSpPr>
        <p:spPr>
          <a:xfrm>
            <a:off x="841248" y="26014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3" name="Text 11"/>
          <p:cNvSpPr/>
          <p:nvPr/>
        </p:nvSpPr>
        <p:spPr>
          <a:xfrm>
            <a:off x="1408176" y="2537460"/>
            <a:ext cx="41148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Reuse the v1 design system</a:t>
            </a:r>
            <a:endParaRPr lang="en-US" sz="1400" dirty="0"/>
          </a:p>
        </p:txBody>
      </p:sp>
      <p:sp>
        <p:nvSpPr>
          <p:cNvPr id="14" name="Text 12"/>
          <p:cNvSpPr/>
          <p:nvPr/>
        </p:nvSpPr>
        <p:spPr>
          <a:xfrm>
            <a:off x="1408176" y="2830068"/>
            <a:ext cx="67665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All three new surfaces are already designed in the working prototype.</a:t>
            </a:r>
            <a:endParaRPr lang="en-US" sz="1150" dirty="0"/>
          </a:p>
        </p:txBody>
      </p:sp>
      <p:sp>
        <p:nvSpPr>
          <p:cNvPr id="15" name="Text 13"/>
          <p:cNvSpPr/>
          <p:nvPr/>
        </p:nvSpPr>
        <p:spPr>
          <a:xfrm>
            <a:off x="8604504" y="2601468"/>
            <a:ext cx="2743200" cy="384048"/>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₱66,000</a:t>
            </a:r>
            <a:endParaRPr lang="en-US" sz="1500" dirty="0"/>
          </a:p>
        </p:txBody>
      </p:sp>
      <p:sp>
        <p:nvSpPr>
          <p:cNvPr id="16" name="Shape 14"/>
          <p:cNvSpPr/>
          <p:nvPr/>
        </p:nvSpPr>
        <p:spPr>
          <a:xfrm>
            <a:off x="841248" y="3159252"/>
            <a:ext cx="10506456" cy="0"/>
          </a:xfrm>
          <a:prstGeom prst="line">
            <a:avLst/>
          </a:prstGeom>
          <a:noFill/>
          <a:ln w="12700">
            <a:solidFill>
              <a:srgbClr val="F1F5F9"/>
            </a:solidFill>
            <a:prstDash val="solid"/>
          </a:ln>
        </p:spPr>
      </p:sp>
      <p:sp>
        <p:nvSpPr>
          <p:cNvPr id="17" name="Shape 15"/>
          <p:cNvSpPr/>
          <p:nvPr/>
        </p:nvSpPr>
        <p:spPr>
          <a:xfrm>
            <a:off x="841248" y="3310128"/>
            <a:ext cx="384048" cy="384048"/>
          </a:xfrm>
          <a:prstGeom prst="ellipse">
            <a:avLst/>
          </a:prstGeom>
          <a:solidFill>
            <a:srgbClr val="0F172A"/>
          </a:solidFill>
          <a:ln w="12700">
            <a:solidFill>
              <a:srgbClr val="0F172A"/>
            </a:solidFill>
            <a:prstDash val="solid"/>
          </a:ln>
        </p:spPr>
      </p:sp>
      <p:sp>
        <p:nvSpPr>
          <p:cNvPr id="18" name="Text 16"/>
          <p:cNvSpPr/>
          <p:nvPr/>
        </p:nvSpPr>
        <p:spPr>
          <a:xfrm>
            <a:off x="841248" y="3310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19" name="Text 17"/>
          <p:cNvSpPr/>
          <p:nvPr/>
        </p:nvSpPr>
        <p:spPr>
          <a:xfrm>
            <a:off x="1408176" y="3246120"/>
            <a:ext cx="41148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Ship promotion Q1, tracking Q2</a:t>
            </a:r>
            <a:endParaRPr lang="en-US" sz="1400" dirty="0"/>
          </a:p>
        </p:txBody>
      </p:sp>
      <p:sp>
        <p:nvSpPr>
          <p:cNvPr id="20" name="Text 18"/>
          <p:cNvSpPr/>
          <p:nvPr/>
        </p:nvSpPr>
        <p:spPr>
          <a:xfrm>
            <a:off x="1408176" y="3538728"/>
            <a:ext cx="67665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Launch the board first; measure Q1 from the HC Connect source field alone.</a:t>
            </a:r>
            <a:endParaRPr lang="en-US" sz="1150" dirty="0"/>
          </a:p>
        </p:txBody>
      </p:sp>
      <p:sp>
        <p:nvSpPr>
          <p:cNvPr id="21" name="Text 19"/>
          <p:cNvSpPr/>
          <p:nvPr/>
        </p:nvSpPr>
        <p:spPr>
          <a:xfrm>
            <a:off x="8604504" y="3310128"/>
            <a:ext cx="2743200" cy="384048"/>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₱162,000 out of Y1</a:t>
            </a:r>
            <a:endParaRPr lang="en-US" sz="1500" dirty="0"/>
          </a:p>
        </p:txBody>
      </p:sp>
      <p:sp>
        <p:nvSpPr>
          <p:cNvPr id="22" name="Shape 20"/>
          <p:cNvSpPr/>
          <p:nvPr/>
        </p:nvSpPr>
        <p:spPr>
          <a:xfrm>
            <a:off x="841248" y="3867912"/>
            <a:ext cx="10506456" cy="0"/>
          </a:xfrm>
          <a:prstGeom prst="line">
            <a:avLst/>
          </a:prstGeom>
          <a:noFill/>
          <a:ln w="12700">
            <a:solidFill>
              <a:srgbClr val="F1F5F9"/>
            </a:solidFill>
            <a:prstDash val="solid"/>
          </a:ln>
        </p:spPr>
      </p:sp>
      <p:sp>
        <p:nvSpPr>
          <p:cNvPr id="23" name="Shape 21"/>
          <p:cNvSpPr/>
          <p:nvPr/>
        </p:nvSpPr>
        <p:spPr>
          <a:xfrm>
            <a:off x="841248" y="4018788"/>
            <a:ext cx="384048" cy="384048"/>
          </a:xfrm>
          <a:prstGeom prst="ellipse">
            <a:avLst/>
          </a:prstGeom>
          <a:solidFill>
            <a:srgbClr val="0F172A"/>
          </a:solidFill>
          <a:ln w="12700">
            <a:solidFill>
              <a:srgbClr val="0F172A"/>
            </a:solidFill>
            <a:prstDash val="solid"/>
          </a:ln>
        </p:spPr>
      </p:sp>
      <p:sp>
        <p:nvSpPr>
          <p:cNvPr id="24" name="Text 22"/>
          <p:cNvSpPr/>
          <p:nvPr/>
        </p:nvSpPr>
        <p:spPr>
          <a:xfrm>
            <a:off x="841248" y="40187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25" name="Text 23"/>
          <p:cNvSpPr/>
          <p:nvPr/>
        </p:nvSpPr>
        <p:spPr>
          <a:xfrm>
            <a:off x="1408176" y="3954780"/>
            <a:ext cx="41148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 phase 2</a:t>
            </a:r>
            <a:endParaRPr lang="en-US" sz="1400" dirty="0"/>
          </a:p>
        </p:txBody>
      </p:sp>
      <p:sp>
        <p:nvSpPr>
          <p:cNvPr id="26" name="Text 24"/>
          <p:cNvSpPr/>
          <p:nvPr/>
        </p:nvSpPr>
        <p:spPr>
          <a:xfrm>
            <a:off x="1408176" y="4247388"/>
            <a:ext cx="67665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Do not automate the ATS join unless referral volume justifies it.</a:t>
            </a:r>
            <a:endParaRPr lang="en-US" sz="1150" dirty="0"/>
          </a:p>
        </p:txBody>
      </p:sp>
      <p:sp>
        <p:nvSpPr>
          <p:cNvPr id="27" name="Text 25"/>
          <p:cNvSpPr/>
          <p:nvPr/>
        </p:nvSpPr>
        <p:spPr>
          <a:xfrm>
            <a:off x="8604504" y="4018788"/>
            <a:ext cx="2743200" cy="384048"/>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₱108,000</a:t>
            </a:r>
            <a:endParaRPr lang="en-US" sz="1500" dirty="0"/>
          </a:p>
        </p:txBody>
      </p:sp>
      <p:sp>
        <p:nvSpPr>
          <p:cNvPr id="28" name="Shape 26"/>
          <p:cNvSpPr/>
          <p:nvPr/>
        </p:nvSpPr>
        <p:spPr>
          <a:xfrm>
            <a:off x="841248" y="4576572"/>
            <a:ext cx="10506456" cy="0"/>
          </a:xfrm>
          <a:prstGeom prst="line">
            <a:avLst/>
          </a:prstGeom>
          <a:noFill/>
          <a:ln w="12700">
            <a:solidFill>
              <a:srgbClr val="F1F5F9"/>
            </a:solidFill>
            <a:prstDash val="solid"/>
          </a:ln>
        </p:spPr>
      </p:sp>
      <p:sp>
        <p:nvSpPr>
          <p:cNvPr id="29" name="Shape 27"/>
          <p:cNvSpPr/>
          <p:nvPr/>
        </p:nvSpPr>
        <p:spPr>
          <a:xfrm>
            <a:off x="841248" y="4727448"/>
            <a:ext cx="384048" cy="384048"/>
          </a:xfrm>
          <a:prstGeom prst="ellipse">
            <a:avLst/>
          </a:prstGeom>
          <a:solidFill>
            <a:srgbClr val="0F172A"/>
          </a:solidFill>
          <a:ln w="12700">
            <a:solidFill>
              <a:srgbClr val="0F172A"/>
            </a:solidFill>
            <a:prstDash val="solid"/>
          </a:ln>
        </p:spPr>
      </p:sp>
      <p:sp>
        <p:nvSpPr>
          <p:cNvPr id="30" name="Text 28"/>
          <p:cNvSpPr/>
          <p:nvPr/>
        </p:nvSpPr>
        <p:spPr>
          <a:xfrm>
            <a:off x="841248" y="4727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a:t>
            </a:r>
            <a:endParaRPr lang="en-US" sz="1400" dirty="0"/>
          </a:p>
        </p:txBody>
      </p:sp>
      <p:sp>
        <p:nvSpPr>
          <p:cNvPr id="31" name="Text 29"/>
          <p:cNvSpPr/>
          <p:nvPr/>
        </p:nvSpPr>
        <p:spPr>
          <a:xfrm>
            <a:off x="1408176" y="4663440"/>
            <a:ext cx="41148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Reconcile quarterly</a:t>
            </a:r>
            <a:endParaRPr lang="en-US" sz="1400" dirty="0"/>
          </a:p>
        </p:txBody>
      </p:sp>
      <p:sp>
        <p:nvSpPr>
          <p:cNvPr id="32" name="Text 30"/>
          <p:cNvSpPr/>
          <p:nvPr/>
        </p:nvSpPr>
        <p:spPr>
          <a:xfrm>
            <a:off x="1408176" y="4956048"/>
            <a:ext cx="67665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Not monthly.</a:t>
            </a:r>
            <a:endParaRPr lang="en-US" sz="1150" dirty="0"/>
          </a:p>
        </p:txBody>
      </p:sp>
      <p:sp>
        <p:nvSpPr>
          <p:cNvPr id="33" name="Text 31"/>
          <p:cNvSpPr/>
          <p:nvPr/>
        </p:nvSpPr>
        <p:spPr>
          <a:xfrm>
            <a:off x="8604504" y="4727448"/>
            <a:ext cx="2743200" cy="384048"/>
          </a:xfrm>
          <a:prstGeom prst="rect">
            <a:avLst/>
          </a:prstGeom>
          <a:noFill/>
          <a:ln/>
        </p:spPr>
        <p:txBody>
          <a:bodyPr wrap="square" lIns="0" tIns="0" rIns="0" bIns="0" rtlCol="0" anchor="ctr"/>
          <a:lstStyle/>
          <a:p>
            <a:pPr algn="r" indent="0" marL="0">
              <a:buNone/>
            </a:pPr>
            <a:r>
              <a:rPr lang="en-US" sz="1500" b="1" dirty="0">
                <a:solidFill>
                  <a:srgbClr val="16A34A"/>
                </a:solidFill>
                <a:latin typeface="Cambria" pitchFamily="34" charset="0"/>
                <a:ea typeface="Cambria" pitchFamily="34" charset="-122"/>
                <a:cs typeface="Cambria" pitchFamily="34" charset="-120"/>
              </a:rPr>
              <a:t>₱7,500/yr</a:t>
            </a:r>
            <a:endParaRPr lang="en-US" sz="1500" dirty="0"/>
          </a:p>
        </p:txBody>
      </p:sp>
      <p:sp>
        <p:nvSpPr>
          <p:cNvPr id="34" name="Shape 32"/>
          <p:cNvSpPr/>
          <p:nvPr/>
        </p:nvSpPr>
        <p:spPr>
          <a:xfrm>
            <a:off x="566928" y="5486400"/>
            <a:ext cx="11055096" cy="786384"/>
          </a:xfrm>
          <a:prstGeom prst="roundRect">
            <a:avLst>
              <a:gd name="adj" fmla="val 10465"/>
            </a:avLst>
          </a:prstGeom>
          <a:solidFill>
            <a:srgbClr val="FFFBEB"/>
          </a:solidFill>
          <a:ln w="12700">
            <a:solidFill>
              <a:srgbClr val="FFFBEB"/>
            </a:solidFill>
            <a:prstDash val="solid"/>
          </a:ln>
          <a:effectLst>
            <a:outerShdw sx="100000" sy="100000" kx="0" ky="0" algn="bl" rotWithShape="0" blurRad="114300" dist="17780" dir="5400000">
              <a:srgbClr val="0F172A">
                <a:alpha val="7000"/>
              </a:srgbClr>
            </a:outerShdw>
          </a:effectLst>
        </p:spPr>
      </p:sp>
      <p:sp>
        <p:nvSpPr>
          <p:cNvPr id="35" name="Text 33"/>
          <p:cNvSpPr/>
          <p:nvPr/>
        </p:nvSpPr>
        <p:spPr>
          <a:xfrm>
            <a:off x="877824" y="5486400"/>
            <a:ext cx="10433304" cy="786384"/>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Held back:  </a:t>
            </a:r>
            <a:pPr indent="0" marL="0">
              <a:buNone/>
            </a:pPr>
            <a:r>
              <a:rPr lang="en-US" sz="1300" dirty="0">
                <a:solidFill>
                  <a:srgbClr val="92400E"/>
                </a:solidFill>
                <a:latin typeface="Calibri" pitchFamily="34" charset="0"/>
                <a:ea typeface="Calibri" pitchFamily="34" charset="-122"/>
                <a:cs typeface="Calibri" pitchFamily="34" charset="-120"/>
              </a:rPr>
              <a:t>Claude Haiku instead of Sonnet would save ₱14,674/yr — but match quality </a:t>
            </a:r>
            <a:pPr indent="0" marL="0">
              <a:buNone/>
            </a:pPr>
            <a:r>
              <a:rPr lang="en-US" sz="1300" b="1" i="1" dirty="0">
                <a:solidFill>
                  <a:srgbClr val="92400E"/>
                </a:solidFill>
                <a:latin typeface="Calibri" pitchFamily="34" charset="0"/>
                <a:ea typeface="Calibri" pitchFamily="34" charset="-122"/>
                <a:cs typeface="Calibri" pitchFamily="34" charset="-120"/>
              </a:rPr>
              <a:t>is</a:t>
            </a:r>
            <a:pPr indent="0" marL="0">
              <a:buNone/>
            </a:pPr>
            <a:r>
              <a:rPr lang="en-US" sz="1300" dirty="0">
                <a:solidFill>
                  <a:srgbClr val="92400E"/>
                </a:solidFill>
                <a:latin typeface="Calibri" pitchFamily="34" charset="0"/>
                <a:ea typeface="Calibri" pitchFamily="34" charset="-122"/>
                <a:cs typeface="Calibri" pitchFamily="34" charset="-120"/>
              </a:rPr>
              <a:t> promotion efficiency. Benchmark on 50 real pairs first.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What we deliberately did not cut</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Promotion efficiency lives in five cheap things. Cutting any of them saves little and costs the case.</a:t>
            </a:r>
            <a:endParaRPr lang="en-US" sz="1350" dirty="0"/>
          </a:p>
        </p:txBody>
      </p:sp>
      <p:sp>
        <p:nvSpPr>
          <p:cNvPr id="4" name="Shape 2"/>
          <p:cNvSpPr/>
          <p:nvPr/>
        </p:nvSpPr>
        <p:spPr>
          <a:xfrm>
            <a:off x="566928" y="1627632"/>
            <a:ext cx="3489960" cy="2121408"/>
          </a:xfrm>
          <a:prstGeom prst="roundRect">
            <a:avLst>
              <a:gd name="adj" fmla="val 387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Shape 3"/>
          <p:cNvSpPr/>
          <p:nvPr/>
        </p:nvSpPr>
        <p:spPr>
          <a:xfrm>
            <a:off x="841248" y="1883664"/>
            <a:ext cx="402336" cy="402336"/>
          </a:xfrm>
          <a:prstGeom prst="ellipse">
            <a:avLst/>
          </a:prstGeom>
          <a:solidFill>
            <a:srgbClr val="FEE2E2"/>
          </a:solidFill>
          <a:ln w="12700">
            <a:solidFill>
              <a:srgbClr val="FEE2E2"/>
            </a:solidFill>
            <a:prstDash val="solid"/>
          </a:ln>
        </p:spPr>
      </p:sp>
      <p:sp>
        <p:nvSpPr>
          <p:cNvPr id="6" name="Text 4"/>
          <p:cNvSpPr/>
          <p:nvPr/>
        </p:nvSpPr>
        <p:spPr>
          <a:xfrm>
            <a:off x="841248" y="1883664"/>
            <a:ext cx="402336" cy="402336"/>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841248" y="2377440"/>
            <a:ext cx="2941320" cy="512064"/>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Match scores on promoted roles</a:t>
            </a:r>
            <a:endParaRPr lang="en-US" sz="1450" dirty="0"/>
          </a:p>
        </p:txBody>
      </p:sp>
      <p:sp>
        <p:nvSpPr>
          <p:cNvPr id="8" name="Text 6"/>
          <p:cNvSpPr/>
          <p:nvPr/>
        </p:nvSpPr>
        <p:spPr>
          <a:xfrm>
            <a:off x="841248" y="2926080"/>
            <a:ext cx="2941320" cy="694944"/>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The entire reason our board beats a plain HC Connect listing. Without it we have built a duplicate job board.</a:t>
            </a:r>
            <a:endParaRPr lang="en-US" sz="1150" dirty="0"/>
          </a:p>
        </p:txBody>
      </p:sp>
      <p:sp>
        <p:nvSpPr>
          <p:cNvPr id="9" name="Shape 7"/>
          <p:cNvSpPr/>
          <p:nvPr/>
        </p:nvSpPr>
        <p:spPr>
          <a:xfrm>
            <a:off x="4349496" y="1627632"/>
            <a:ext cx="3489960" cy="2121408"/>
          </a:xfrm>
          <a:prstGeom prst="roundRect">
            <a:avLst>
              <a:gd name="adj" fmla="val 387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0" name="Shape 8"/>
          <p:cNvSpPr/>
          <p:nvPr/>
        </p:nvSpPr>
        <p:spPr>
          <a:xfrm>
            <a:off x="4623816" y="1883664"/>
            <a:ext cx="402336" cy="402336"/>
          </a:xfrm>
          <a:prstGeom prst="ellipse">
            <a:avLst/>
          </a:prstGeom>
          <a:solidFill>
            <a:srgbClr val="FEE2E2"/>
          </a:solidFill>
          <a:ln w="12700">
            <a:solidFill>
              <a:srgbClr val="FEE2E2"/>
            </a:solidFill>
            <a:prstDash val="solid"/>
          </a:ln>
        </p:spPr>
      </p:sp>
      <p:sp>
        <p:nvSpPr>
          <p:cNvPr id="11" name="Text 9"/>
          <p:cNvSpPr/>
          <p:nvPr/>
        </p:nvSpPr>
        <p:spPr>
          <a:xfrm>
            <a:off x="4623816" y="1883664"/>
            <a:ext cx="402336" cy="402336"/>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4623816" y="2377440"/>
            <a:ext cx="2941320" cy="512064"/>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The job description on the card</a:t>
            </a:r>
            <a:endParaRPr lang="en-US" sz="1450" dirty="0"/>
          </a:p>
        </p:txBody>
      </p:sp>
      <p:sp>
        <p:nvSpPr>
          <p:cNvPr id="13" name="Text 11"/>
          <p:cNvSpPr/>
          <p:nvPr/>
        </p:nvSpPr>
        <p:spPr>
          <a:xfrm>
            <a:off x="4623816" y="2926080"/>
            <a:ext cx="2941320" cy="694944"/>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What people actually decide on before clicking through.</a:t>
            </a:r>
            <a:endParaRPr lang="en-US" sz="1150" dirty="0"/>
          </a:p>
        </p:txBody>
      </p:sp>
      <p:sp>
        <p:nvSpPr>
          <p:cNvPr id="14" name="Shape 12"/>
          <p:cNvSpPr/>
          <p:nvPr/>
        </p:nvSpPr>
        <p:spPr>
          <a:xfrm>
            <a:off x="8132064" y="1627632"/>
            <a:ext cx="3489960" cy="2121408"/>
          </a:xfrm>
          <a:prstGeom prst="roundRect">
            <a:avLst>
              <a:gd name="adj" fmla="val 387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5" name="Shape 13"/>
          <p:cNvSpPr/>
          <p:nvPr/>
        </p:nvSpPr>
        <p:spPr>
          <a:xfrm>
            <a:off x="8406384" y="1883664"/>
            <a:ext cx="402336" cy="402336"/>
          </a:xfrm>
          <a:prstGeom prst="ellipse">
            <a:avLst/>
          </a:prstGeom>
          <a:solidFill>
            <a:srgbClr val="FEE2E2"/>
          </a:solidFill>
          <a:ln w="12700">
            <a:solidFill>
              <a:srgbClr val="FEE2E2"/>
            </a:solidFill>
            <a:prstDash val="solid"/>
          </a:ln>
        </p:spPr>
      </p:sp>
      <p:sp>
        <p:nvSpPr>
          <p:cNvPr id="16" name="Text 14"/>
          <p:cNvSpPr/>
          <p:nvPr/>
        </p:nvSpPr>
        <p:spPr>
          <a:xfrm>
            <a:off x="8406384" y="1883664"/>
            <a:ext cx="402336" cy="402336"/>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406384" y="2377440"/>
            <a:ext cx="2941320" cy="512064"/>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The “did you apply?” nudge</a:t>
            </a:r>
            <a:endParaRPr lang="en-US" sz="1450" dirty="0"/>
          </a:p>
        </p:txBody>
      </p:sp>
      <p:sp>
        <p:nvSpPr>
          <p:cNvPr id="18" name="Text 16"/>
          <p:cNvSpPr/>
          <p:nvPr/>
        </p:nvSpPr>
        <p:spPr>
          <a:xfrm>
            <a:off x="8406384" y="2926080"/>
            <a:ext cx="2941320" cy="694944"/>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₱1,740/yr — the cheapest line in the model, and what turns a click into a countable application.</a:t>
            </a:r>
            <a:endParaRPr lang="en-US" sz="1150" dirty="0"/>
          </a:p>
        </p:txBody>
      </p:sp>
      <p:sp>
        <p:nvSpPr>
          <p:cNvPr id="19" name="Shape 17"/>
          <p:cNvSpPr/>
          <p:nvPr/>
        </p:nvSpPr>
        <p:spPr>
          <a:xfrm>
            <a:off x="566928" y="3931920"/>
            <a:ext cx="3489960" cy="2121408"/>
          </a:xfrm>
          <a:prstGeom prst="roundRect">
            <a:avLst>
              <a:gd name="adj" fmla="val 387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20" name="Shape 18"/>
          <p:cNvSpPr/>
          <p:nvPr/>
        </p:nvSpPr>
        <p:spPr>
          <a:xfrm>
            <a:off x="841248" y="4187952"/>
            <a:ext cx="402336" cy="402336"/>
          </a:xfrm>
          <a:prstGeom prst="ellipse">
            <a:avLst/>
          </a:prstGeom>
          <a:solidFill>
            <a:srgbClr val="FEE2E2"/>
          </a:solidFill>
          <a:ln w="12700">
            <a:solidFill>
              <a:srgbClr val="FEE2E2"/>
            </a:solidFill>
            <a:prstDash val="solid"/>
          </a:ln>
        </p:spPr>
      </p:sp>
      <p:sp>
        <p:nvSpPr>
          <p:cNvPr id="21" name="Text 19"/>
          <p:cNvSpPr/>
          <p:nvPr/>
        </p:nvSpPr>
        <p:spPr>
          <a:xfrm>
            <a:off x="841248" y="4187952"/>
            <a:ext cx="402336" cy="402336"/>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841248" y="4681728"/>
            <a:ext cx="2941320" cy="512064"/>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The referral-log DPIA</a:t>
            </a:r>
            <a:endParaRPr lang="en-US" sz="1450" dirty="0"/>
          </a:p>
        </p:txBody>
      </p:sp>
      <p:sp>
        <p:nvSpPr>
          <p:cNvPr id="23" name="Text 21"/>
          <p:cNvSpPr/>
          <p:nvPr/>
        </p:nvSpPr>
        <p:spPr>
          <a:xfrm>
            <a:off x="841248" y="5230368"/>
            <a:ext cx="2941320" cy="694944"/>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 legal gate, not a documentation task. The log records who looked at which internal role.</a:t>
            </a:r>
            <a:endParaRPr lang="en-US" sz="1150" dirty="0"/>
          </a:p>
        </p:txBody>
      </p:sp>
      <p:sp>
        <p:nvSpPr>
          <p:cNvPr id="24" name="Shape 22"/>
          <p:cNvSpPr/>
          <p:nvPr/>
        </p:nvSpPr>
        <p:spPr>
          <a:xfrm>
            <a:off x="4349496" y="3931920"/>
            <a:ext cx="3489960" cy="2121408"/>
          </a:xfrm>
          <a:prstGeom prst="roundRect">
            <a:avLst>
              <a:gd name="adj" fmla="val 387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25" name="Shape 23"/>
          <p:cNvSpPr/>
          <p:nvPr/>
        </p:nvSpPr>
        <p:spPr>
          <a:xfrm>
            <a:off x="4623816" y="4187952"/>
            <a:ext cx="402336" cy="402336"/>
          </a:xfrm>
          <a:prstGeom prst="ellipse">
            <a:avLst/>
          </a:prstGeom>
          <a:solidFill>
            <a:srgbClr val="FEE2E2"/>
          </a:solidFill>
          <a:ln w="12700">
            <a:solidFill>
              <a:srgbClr val="FEE2E2"/>
            </a:solidFill>
            <a:prstDash val="solid"/>
          </a:ln>
        </p:spPr>
      </p:sp>
      <p:sp>
        <p:nvSpPr>
          <p:cNvPr id="26" name="Text 24"/>
          <p:cNvSpPr/>
          <p:nvPr/>
        </p:nvSpPr>
        <p:spPr>
          <a:xfrm>
            <a:off x="4623816" y="4187952"/>
            <a:ext cx="402336" cy="402336"/>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4623816" y="4681728"/>
            <a:ext cx="2941320" cy="512064"/>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Recruitment’s source field</a:t>
            </a:r>
            <a:endParaRPr lang="en-US" sz="1450" dirty="0"/>
          </a:p>
        </p:txBody>
      </p:sp>
      <p:sp>
        <p:nvSpPr>
          <p:cNvPr id="28" name="Text 26"/>
          <p:cNvSpPr/>
          <p:nvPr/>
        </p:nvSpPr>
        <p:spPr>
          <a:xfrm>
            <a:off x="4623816" y="5230368"/>
            <a:ext cx="2941320" cy="694944"/>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Free to them. It carries Q1 attribution on its own, which is what makes deferring the engine safe.</a:t>
            </a:r>
            <a:endParaRPr lang="en-US" sz="1150" dirty="0"/>
          </a:p>
        </p:txBody>
      </p:sp>
      <p:sp>
        <p:nvSpPr>
          <p:cNvPr id="29" name="Shape 27"/>
          <p:cNvSpPr/>
          <p:nvPr/>
        </p:nvSpPr>
        <p:spPr>
          <a:xfrm>
            <a:off x="8132064" y="3931920"/>
            <a:ext cx="3489960" cy="2121408"/>
          </a:xfrm>
          <a:prstGeom prst="roundRect">
            <a:avLst>
              <a:gd name="adj" fmla="val 3879"/>
            </a:avLst>
          </a:prstGeom>
          <a:solidFill>
            <a:srgbClr val="0F172A"/>
          </a:solidFill>
          <a:ln w="12700">
            <a:solidFill>
              <a:srgbClr val="0F172A"/>
            </a:solidFill>
            <a:prstDash val="solid"/>
          </a:ln>
          <a:effectLst>
            <a:outerShdw sx="100000" sy="100000" kx="0" ky="0" algn="bl" rotWithShape="0" blurRad="114300" dist="17780" dir="5400000">
              <a:srgbClr val="0F172A">
                <a:alpha val="7000"/>
              </a:srgbClr>
            </a:outerShdw>
          </a:effectLst>
        </p:spPr>
      </p:sp>
      <p:sp>
        <p:nvSpPr>
          <p:cNvPr id="30" name="Text 28"/>
          <p:cNvSpPr/>
          <p:nvPr/>
        </p:nvSpPr>
        <p:spPr>
          <a:xfrm>
            <a:off x="8406384" y="4261104"/>
            <a:ext cx="2941320" cy="1463040"/>
          </a:xfrm>
          <a:prstGeom prst="rect">
            <a:avLst/>
          </a:prstGeom>
          <a:noFill/>
          <a:ln/>
        </p:spPr>
        <p:txBody>
          <a:bodyPr wrap="square" lIns="0" tIns="0" rIns="0" bIns="0" rtlCol="0" anchor="ctr"/>
          <a:lstStyle/>
          <a:p>
            <a:pPr indent="0" marL="0">
              <a:lnSpc>
                <a:spcPts val="2400"/>
              </a:lnSpc>
              <a:buNone/>
            </a:pPr>
            <a:r>
              <a:rPr lang="en-US" sz="1700" b="1" dirty="0">
                <a:solidFill>
                  <a:srgbClr val="FFFFFF"/>
                </a:solidFill>
                <a:latin typeface="Cambria" pitchFamily="34" charset="0"/>
                <a:ea typeface="Cambria" pitchFamily="34" charset="-122"/>
                <a:cs typeface="Cambria" pitchFamily="34" charset="-120"/>
              </a:rPr>
              <a:t>78% of v2’s cost is the build —</a:t>
            </a:r>
            <a:endParaRPr lang="en-US" sz="1700" dirty="0"/>
          </a:p>
          <a:p>
            <a:pPr indent="0" marL="0">
              <a:lnSpc>
                <a:spcPts val="2400"/>
              </a:lnSpc>
              <a:buNone/>
            </a:pPr>
            <a:r>
              <a:rPr lang="en-US" sz="1700" b="1" dirty="0">
                <a:solidFill>
                  <a:srgbClr val="FFFFFF"/>
                </a:solidFill>
                <a:latin typeface="Cambria" pitchFamily="34" charset="0"/>
                <a:ea typeface="Cambria" pitchFamily="34" charset="-122"/>
                <a:cs typeface="Cambria" pitchFamily="34" charset="-120"/>
              </a:rPr>
              <a:t>and none of the build</a:t>
            </a:r>
            <a:endParaRPr lang="en-US" sz="1700" dirty="0"/>
          </a:p>
          <a:p>
            <a:pPr indent="0" marL="0">
              <a:lnSpc>
                <a:spcPts val="2400"/>
              </a:lnSpc>
              <a:buNone/>
            </a:pPr>
            <a:r>
              <a:rPr lang="en-US" sz="1700" b="1" dirty="0">
                <a:solidFill>
                  <a:srgbClr val="FFFFFF"/>
                </a:solidFill>
                <a:latin typeface="Cambria" pitchFamily="34" charset="0"/>
                <a:ea typeface="Cambria" pitchFamily="34" charset="-122"/>
                <a:cs typeface="Cambria" pitchFamily="34" charset="-120"/>
              </a:rPr>
              <a:t>is the promotion.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v2-lean — where the money goes</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Build front-loaded, run flat. All figures in pesos, ₱58 = US$1.</a:t>
            </a:r>
            <a:endParaRPr lang="en-US" sz="1350" dirty="0"/>
          </a:p>
        </p:txBody>
      </p:sp>
      <p:sp>
        <p:nvSpPr>
          <p:cNvPr id="4" name="Shape 2"/>
          <p:cNvSpPr/>
          <p:nvPr/>
        </p:nvSpPr>
        <p:spPr>
          <a:xfrm>
            <a:off x="566928" y="1572768"/>
            <a:ext cx="6903720" cy="4572000"/>
          </a:xfrm>
          <a:prstGeom prst="roundRect">
            <a:avLst>
              <a:gd name="adj" fmla="val 1800"/>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Shape 3"/>
          <p:cNvSpPr/>
          <p:nvPr/>
        </p:nvSpPr>
        <p:spPr>
          <a:xfrm>
            <a:off x="841248" y="1810512"/>
            <a:ext cx="1536192" cy="224028"/>
          </a:xfrm>
          <a:prstGeom prst="roundRect">
            <a:avLst>
              <a:gd name="adj" fmla="val 48980"/>
            </a:avLst>
          </a:prstGeom>
          <a:solidFill>
            <a:srgbClr val="F1F5F9"/>
          </a:solidFill>
          <a:ln w="12700">
            <a:solidFill>
              <a:srgbClr val="F1F5F9"/>
            </a:solidFill>
            <a:prstDash val="solid"/>
          </a:ln>
        </p:spPr>
      </p:sp>
      <p:sp>
        <p:nvSpPr>
          <p:cNvPr id="6" name="Text 4"/>
          <p:cNvSpPr/>
          <p:nvPr/>
        </p:nvSpPr>
        <p:spPr>
          <a:xfrm>
            <a:off x="841248" y="1810512"/>
            <a:ext cx="1536192" cy="224028"/>
          </a:xfrm>
          <a:prstGeom prst="rect">
            <a:avLst/>
          </a:prstGeom>
          <a:noFill/>
          <a:ln/>
        </p:spPr>
        <p:txBody>
          <a:bodyPr wrap="square" lIns="0" tIns="0" rIns="0" bIns="0" rtlCol="0" anchor="ctr"/>
          <a:lstStyle/>
          <a:p>
            <a:pPr algn="ctr" indent="0" marL="0">
              <a:buNone/>
            </a:pPr>
            <a:r>
              <a:rPr lang="en-US" sz="900" b="1" spc="80" kern="0" dirty="0">
                <a:solidFill>
                  <a:srgbClr val="64748B"/>
                </a:solidFill>
                <a:latin typeface="Calibri" pitchFamily="34" charset="0"/>
                <a:ea typeface="Calibri" pitchFamily="34" charset="-122"/>
                <a:cs typeface="Calibri" pitchFamily="34" charset="-120"/>
              </a:rPr>
              <a:t>YEAR 1 BUILD</a:t>
            </a:r>
            <a:endParaRPr lang="en-US" sz="900" dirty="0"/>
          </a:p>
        </p:txBody>
      </p:sp>
      <p:sp>
        <p:nvSpPr>
          <p:cNvPr id="7" name="Text 5"/>
          <p:cNvSpPr/>
          <p:nvPr/>
        </p:nvSpPr>
        <p:spPr>
          <a:xfrm>
            <a:off x="841248" y="2157984"/>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Developer, 1.4 months — board, matching, JD reader, handoff</a:t>
            </a:r>
            <a:endParaRPr lang="en-US" sz="1150" dirty="0"/>
          </a:p>
        </p:txBody>
      </p:sp>
      <p:sp>
        <p:nvSpPr>
          <p:cNvPr id="8" name="Text 6"/>
          <p:cNvSpPr/>
          <p:nvPr/>
        </p:nvSpPr>
        <p:spPr>
          <a:xfrm>
            <a:off x="5916168" y="2157984"/>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₱210,000</a:t>
            </a:r>
            <a:endParaRPr lang="en-US" sz="1200" dirty="0"/>
          </a:p>
        </p:txBody>
      </p:sp>
      <p:sp>
        <p:nvSpPr>
          <p:cNvPr id="9" name="Text 7"/>
          <p:cNvSpPr/>
          <p:nvPr/>
        </p:nvSpPr>
        <p:spPr>
          <a:xfrm>
            <a:off x="841248" y="2482596"/>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Designer, 1.5 months at 50% — reuses the v1 design system</a:t>
            </a:r>
            <a:endParaRPr lang="en-US" sz="1150" dirty="0"/>
          </a:p>
        </p:txBody>
      </p:sp>
      <p:sp>
        <p:nvSpPr>
          <p:cNvPr id="10" name="Text 8"/>
          <p:cNvSpPr/>
          <p:nvPr/>
        </p:nvSpPr>
        <p:spPr>
          <a:xfrm>
            <a:off x="5916168" y="2482596"/>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₱82,500</a:t>
            </a:r>
            <a:endParaRPr lang="en-US" sz="1200" dirty="0"/>
          </a:p>
        </p:txBody>
      </p:sp>
      <p:sp>
        <p:nvSpPr>
          <p:cNvPr id="11" name="Text 9"/>
          <p:cNvSpPr/>
          <p:nvPr/>
        </p:nvSpPr>
        <p:spPr>
          <a:xfrm>
            <a:off x="841248" y="2807208"/>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PM/BA, 4 months at 30% — incl. recruitment coordination</a:t>
            </a:r>
            <a:endParaRPr lang="en-US" sz="1150" dirty="0"/>
          </a:p>
        </p:txBody>
      </p:sp>
      <p:sp>
        <p:nvSpPr>
          <p:cNvPr id="12" name="Text 10"/>
          <p:cNvSpPr/>
          <p:nvPr/>
        </p:nvSpPr>
        <p:spPr>
          <a:xfrm>
            <a:off x="5916168" y="2807208"/>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₱180,000</a:t>
            </a:r>
            <a:endParaRPr lang="en-US" sz="1200" dirty="0"/>
          </a:p>
        </p:txBody>
      </p:sp>
      <p:sp>
        <p:nvSpPr>
          <p:cNvPr id="13" name="Text 11"/>
          <p:cNvSpPr/>
          <p:nvPr/>
        </p:nvSpPr>
        <p:spPr>
          <a:xfrm>
            <a:off x="841248" y="3131820"/>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Security review + DPA assessment + referral-log DPIA</a:t>
            </a:r>
            <a:endParaRPr lang="en-US" sz="1150" dirty="0"/>
          </a:p>
        </p:txBody>
      </p:sp>
      <p:sp>
        <p:nvSpPr>
          <p:cNvPr id="14" name="Text 12"/>
          <p:cNvSpPr/>
          <p:nvPr/>
        </p:nvSpPr>
        <p:spPr>
          <a:xfrm>
            <a:off x="5916168" y="3131820"/>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₱120,000</a:t>
            </a:r>
            <a:endParaRPr lang="en-US" sz="1200" dirty="0"/>
          </a:p>
        </p:txBody>
      </p:sp>
      <p:sp>
        <p:nvSpPr>
          <p:cNvPr id="15" name="Text 13"/>
          <p:cNvSpPr/>
          <p:nvPr/>
        </p:nvSpPr>
        <p:spPr>
          <a:xfrm>
            <a:off x="841248" y="3456432"/>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Contingency (20%)</a:t>
            </a:r>
            <a:endParaRPr lang="en-US" sz="1150" dirty="0"/>
          </a:p>
        </p:txBody>
      </p:sp>
      <p:sp>
        <p:nvSpPr>
          <p:cNvPr id="16" name="Text 14"/>
          <p:cNvSpPr/>
          <p:nvPr/>
        </p:nvSpPr>
        <p:spPr>
          <a:xfrm>
            <a:off x="5916168" y="3456432"/>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₱118,500</a:t>
            </a:r>
            <a:endParaRPr lang="en-US" sz="1200" dirty="0"/>
          </a:p>
        </p:txBody>
      </p:sp>
      <p:sp>
        <p:nvSpPr>
          <p:cNvPr id="17" name="Text 15"/>
          <p:cNvSpPr/>
          <p:nvPr/>
        </p:nvSpPr>
        <p:spPr>
          <a:xfrm>
            <a:off x="841248" y="3781044"/>
            <a:ext cx="502920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Build, year 1</a:t>
            </a:r>
            <a:endParaRPr lang="en-US" sz="1150" dirty="0"/>
          </a:p>
        </p:txBody>
      </p:sp>
      <p:sp>
        <p:nvSpPr>
          <p:cNvPr id="18" name="Text 16"/>
          <p:cNvSpPr/>
          <p:nvPr/>
        </p:nvSpPr>
        <p:spPr>
          <a:xfrm>
            <a:off x="5916168" y="3781044"/>
            <a:ext cx="1280160" cy="292608"/>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₱711,000</a:t>
            </a:r>
            <a:endParaRPr lang="en-US" sz="1300" dirty="0"/>
          </a:p>
        </p:txBody>
      </p:sp>
      <p:sp>
        <p:nvSpPr>
          <p:cNvPr id="19" name="Shape 17"/>
          <p:cNvSpPr/>
          <p:nvPr/>
        </p:nvSpPr>
        <p:spPr>
          <a:xfrm>
            <a:off x="841248" y="4142232"/>
            <a:ext cx="1536192" cy="224028"/>
          </a:xfrm>
          <a:prstGeom prst="roundRect">
            <a:avLst>
              <a:gd name="adj" fmla="val 48980"/>
            </a:avLst>
          </a:prstGeom>
          <a:solidFill>
            <a:srgbClr val="F1F5F9"/>
          </a:solidFill>
          <a:ln w="12700">
            <a:solidFill>
              <a:srgbClr val="F1F5F9"/>
            </a:solidFill>
            <a:prstDash val="solid"/>
          </a:ln>
        </p:spPr>
      </p:sp>
      <p:sp>
        <p:nvSpPr>
          <p:cNvPr id="20" name="Text 18"/>
          <p:cNvSpPr/>
          <p:nvPr/>
        </p:nvSpPr>
        <p:spPr>
          <a:xfrm>
            <a:off x="841248" y="4142232"/>
            <a:ext cx="1536192" cy="224028"/>
          </a:xfrm>
          <a:prstGeom prst="rect">
            <a:avLst/>
          </a:prstGeom>
          <a:noFill/>
          <a:ln/>
        </p:spPr>
        <p:txBody>
          <a:bodyPr wrap="square" lIns="0" tIns="0" rIns="0" bIns="0" rtlCol="0" anchor="ctr"/>
          <a:lstStyle/>
          <a:p>
            <a:pPr algn="ctr" indent="0" marL="0">
              <a:buNone/>
            </a:pPr>
            <a:r>
              <a:rPr lang="en-US" sz="900" b="1" spc="80" kern="0" dirty="0">
                <a:solidFill>
                  <a:srgbClr val="64748B"/>
                </a:solidFill>
                <a:latin typeface="Calibri" pitchFamily="34" charset="0"/>
                <a:ea typeface="Calibri" pitchFamily="34" charset="-122"/>
                <a:cs typeface="Calibri" pitchFamily="34" charset="-120"/>
              </a:rPr>
              <a:t>YEAR 2 BUILD</a:t>
            </a:r>
            <a:endParaRPr lang="en-US" sz="900" dirty="0"/>
          </a:p>
        </p:txBody>
      </p:sp>
      <p:sp>
        <p:nvSpPr>
          <p:cNvPr id="21" name="Text 19"/>
          <p:cNvSpPr/>
          <p:nvPr/>
        </p:nvSpPr>
        <p:spPr>
          <a:xfrm>
            <a:off x="841248" y="4489704"/>
            <a:ext cx="502920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Developer, 0.9 months — referral engine + reporting, +20%</a:t>
            </a:r>
            <a:endParaRPr lang="en-US" sz="1150" dirty="0"/>
          </a:p>
        </p:txBody>
      </p:sp>
      <p:sp>
        <p:nvSpPr>
          <p:cNvPr id="22" name="Text 20"/>
          <p:cNvSpPr/>
          <p:nvPr/>
        </p:nvSpPr>
        <p:spPr>
          <a:xfrm>
            <a:off x="5916168" y="4489704"/>
            <a:ext cx="1280160" cy="292608"/>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₱162,000</a:t>
            </a:r>
            <a:endParaRPr lang="en-US" sz="1300" dirty="0"/>
          </a:p>
        </p:txBody>
      </p:sp>
      <p:sp>
        <p:nvSpPr>
          <p:cNvPr id="23" name="Shape 21"/>
          <p:cNvSpPr/>
          <p:nvPr/>
        </p:nvSpPr>
        <p:spPr>
          <a:xfrm>
            <a:off x="841248" y="4850892"/>
            <a:ext cx="1325880" cy="224028"/>
          </a:xfrm>
          <a:prstGeom prst="roundRect">
            <a:avLst>
              <a:gd name="adj" fmla="val 48980"/>
            </a:avLst>
          </a:prstGeom>
          <a:solidFill>
            <a:srgbClr val="F1F5F9"/>
          </a:solidFill>
          <a:ln w="12700">
            <a:solidFill>
              <a:srgbClr val="F1F5F9"/>
            </a:solidFill>
            <a:prstDash val="solid"/>
          </a:ln>
        </p:spPr>
      </p:sp>
      <p:sp>
        <p:nvSpPr>
          <p:cNvPr id="24" name="Text 22"/>
          <p:cNvSpPr/>
          <p:nvPr/>
        </p:nvSpPr>
        <p:spPr>
          <a:xfrm>
            <a:off x="841248" y="4850892"/>
            <a:ext cx="1325880" cy="224028"/>
          </a:xfrm>
          <a:prstGeom prst="rect">
            <a:avLst/>
          </a:prstGeom>
          <a:noFill/>
          <a:ln/>
        </p:spPr>
        <p:txBody>
          <a:bodyPr wrap="square" lIns="0" tIns="0" rIns="0" bIns="0" rtlCol="0" anchor="ctr"/>
          <a:lstStyle/>
          <a:p>
            <a:pPr algn="ctr" indent="0" marL="0">
              <a:buNone/>
            </a:pPr>
            <a:r>
              <a:rPr lang="en-US" sz="900" b="1" spc="80" kern="0" dirty="0">
                <a:solidFill>
                  <a:srgbClr val="64748B"/>
                </a:solidFill>
                <a:latin typeface="Calibri" pitchFamily="34" charset="0"/>
                <a:ea typeface="Calibri" pitchFamily="34" charset="-122"/>
                <a:cs typeface="Calibri" pitchFamily="34" charset="-120"/>
              </a:rPr>
              <a:t>ANNUAL RUN</a:t>
            </a:r>
            <a:endParaRPr lang="en-US" sz="900" dirty="0"/>
          </a:p>
        </p:txBody>
      </p:sp>
      <p:sp>
        <p:nvSpPr>
          <p:cNvPr id="25" name="Text 23"/>
          <p:cNvSpPr/>
          <p:nvPr/>
        </p:nvSpPr>
        <p:spPr>
          <a:xfrm>
            <a:off x="841248" y="5198364"/>
            <a:ext cx="502920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Run, year 1 — Supabase Pro + Auth, Claude API, email, monitoring</a:t>
            </a:r>
            <a:endParaRPr lang="en-US" sz="1150" dirty="0"/>
          </a:p>
        </p:txBody>
      </p:sp>
      <p:sp>
        <p:nvSpPr>
          <p:cNvPr id="26" name="Text 24"/>
          <p:cNvSpPr/>
          <p:nvPr/>
        </p:nvSpPr>
        <p:spPr>
          <a:xfrm>
            <a:off x="5916168" y="5198364"/>
            <a:ext cx="1280160" cy="292608"/>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₱55,125</a:t>
            </a:r>
            <a:endParaRPr lang="en-US" sz="1200" dirty="0"/>
          </a:p>
        </p:txBody>
      </p:sp>
      <p:sp>
        <p:nvSpPr>
          <p:cNvPr id="27" name="Text 25"/>
          <p:cNvSpPr/>
          <p:nvPr/>
        </p:nvSpPr>
        <p:spPr>
          <a:xfrm>
            <a:off x="841248" y="5522976"/>
            <a:ext cx="5029200" cy="29260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Run, year 2 onward — adds quarterly reconciliation</a:t>
            </a:r>
            <a:endParaRPr lang="en-US" sz="1150" dirty="0"/>
          </a:p>
        </p:txBody>
      </p:sp>
      <p:sp>
        <p:nvSpPr>
          <p:cNvPr id="28" name="Text 26"/>
          <p:cNvSpPr/>
          <p:nvPr/>
        </p:nvSpPr>
        <p:spPr>
          <a:xfrm>
            <a:off x="5916168" y="5522976"/>
            <a:ext cx="1280160" cy="292608"/>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₱61,125</a:t>
            </a:r>
            <a:endParaRPr lang="en-US" sz="1300" dirty="0"/>
          </a:p>
        </p:txBody>
      </p:sp>
      <p:sp>
        <p:nvSpPr>
          <p:cNvPr id="29" name="Shape 27"/>
          <p:cNvSpPr/>
          <p:nvPr/>
        </p:nvSpPr>
        <p:spPr>
          <a:xfrm>
            <a:off x="7726680" y="1572768"/>
            <a:ext cx="3895344"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30" name="Text 28"/>
          <p:cNvSpPr/>
          <p:nvPr/>
        </p:nvSpPr>
        <p:spPr>
          <a:xfrm>
            <a:off x="7964424" y="1572768"/>
            <a:ext cx="1463040" cy="566928"/>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Year 1</a:t>
            </a:r>
            <a:endParaRPr lang="en-US" sz="1300" dirty="0"/>
          </a:p>
        </p:txBody>
      </p:sp>
      <p:sp>
        <p:nvSpPr>
          <p:cNvPr id="31" name="Text 29"/>
          <p:cNvSpPr/>
          <p:nvPr/>
        </p:nvSpPr>
        <p:spPr>
          <a:xfrm>
            <a:off x="9464040" y="1572768"/>
            <a:ext cx="1920240" cy="566928"/>
          </a:xfrm>
          <a:prstGeom prst="rect">
            <a:avLst/>
          </a:prstGeom>
          <a:noFill/>
          <a:ln/>
        </p:spPr>
        <p:txBody>
          <a:bodyPr wrap="square" lIns="0" tIns="0" rIns="0" bIns="0" rtlCol="0" anchor="ctr"/>
          <a:lstStyle/>
          <a:p>
            <a:pPr algn="r" indent="0" marL="0">
              <a:buNone/>
            </a:pPr>
            <a:r>
              <a:rPr lang="en-US" sz="1600" b="1" dirty="0">
                <a:solidFill>
                  <a:srgbClr val="0F172A"/>
                </a:solidFill>
                <a:latin typeface="Cambria" pitchFamily="34" charset="0"/>
                <a:ea typeface="Cambria" pitchFamily="34" charset="-122"/>
                <a:cs typeface="Cambria" pitchFamily="34" charset="-120"/>
              </a:rPr>
              <a:t>₱766,125</a:t>
            </a:r>
            <a:endParaRPr lang="en-US" sz="1600" dirty="0"/>
          </a:p>
        </p:txBody>
      </p:sp>
      <p:sp>
        <p:nvSpPr>
          <p:cNvPr id="32" name="Shape 30"/>
          <p:cNvSpPr/>
          <p:nvPr/>
        </p:nvSpPr>
        <p:spPr>
          <a:xfrm>
            <a:off x="7726680" y="2249424"/>
            <a:ext cx="3895344"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33" name="Text 31"/>
          <p:cNvSpPr/>
          <p:nvPr/>
        </p:nvSpPr>
        <p:spPr>
          <a:xfrm>
            <a:off x="7964424" y="2249424"/>
            <a:ext cx="1463040" cy="566928"/>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Year 2</a:t>
            </a:r>
            <a:endParaRPr lang="en-US" sz="1300" dirty="0"/>
          </a:p>
        </p:txBody>
      </p:sp>
      <p:sp>
        <p:nvSpPr>
          <p:cNvPr id="34" name="Text 32"/>
          <p:cNvSpPr/>
          <p:nvPr/>
        </p:nvSpPr>
        <p:spPr>
          <a:xfrm>
            <a:off x="9464040" y="2249424"/>
            <a:ext cx="1920240" cy="566928"/>
          </a:xfrm>
          <a:prstGeom prst="rect">
            <a:avLst/>
          </a:prstGeom>
          <a:noFill/>
          <a:ln/>
        </p:spPr>
        <p:txBody>
          <a:bodyPr wrap="square" lIns="0" tIns="0" rIns="0" bIns="0" rtlCol="0" anchor="ctr"/>
          <a:lstStyle/>
          <a:p>
            <a:pPr algn="r" indent="0" marL="0">
              <a:buNone/>
            </a:pPr>
            <a:r>
              <a:rPr lang="en-US" sz="1600" b="1" dirty="0">
                <a:solidFill>
                  <a:srgbClr val="0F172A"/>
                </a:solidFill>
                <a:latin typeface="Cambria" pitchFamily="34" charset="0"/>
                <a:ea typeface="Cambria" pitchFamily="34" charset="-122"/>
                <a:cs typeface="Cambria" pitchFamily="34" charset="-120"/>
              </a:rPr>
              <a:t>₱223,125</a:t>
            </a:r>
            <a:endParaRPr lang="en-US" sz="1600" dirty="0"/>
          </a:p>
        </p:txBody>
      </p:sp>
      <p:sp>
        <p:nvSpPr>
          <p:cNvPr id="35" name="Shape 33"/>
          <p:cNvSpPr/>
          <p:nvPr/>
        </p:nvSpPr>
        <p:spPr>
          <a:xfrm>
            <a:off x="7726680" y="2926080"/>
            <a:ext cx="3895344"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36" name="Text 34"/>
          <p:cNvSpPr/>
          <p:nvPr/>
        </p:nvSpPr>
        <p:spPr>
          <a:xfrm>
            <a:off x="7964424" y="2926080"/>
            <a:ext cx="1463040" cy="566928"/>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Year 3</a:t>
            </a:r>
            <a:endParaRPr lang="en-US" sz="1300" dirty="0"/>
          </a:p>
        </p:txBody>
      </p:sp>
      <p:sp>
        <p:nvSpPr>
          <p:cNvPr id="37" name="Text 35"/>
          <p:cNvSpPr/>
          <p:nvPr/>
        </p:nvSpPr>
        <p:spPr>
          <a:xfrm>
            <a:off x="9464040" y="2926080"/>
            <a:ext cx="1920240" cy="566928"/>
          </a:xfrm>
          <a:prstGeom prst="rect">
            <a:avLst/>
          </a:prstGeom>
          <a:noFill/>
          <a:ln/>
        </p:spPr>
        <p:txBody>
          <a:bodyPr wrap="square" lIns="0" tIns="0" rIns="0" bIns="0" rtlCol="0" anchor="ctr"/>
          <a:lstStyle/>
          <a:p>
            <a:pPr algn="r" indent="0" marL="0">
              <a:buNone/>
            </a:pPr>
            <a:r>
              <a:rPr lang="en-US" sz="1600" b="1" dirty="0">
                <a:solidFill>
                  <a:srgbClr val="0F172A"/>
                </a:solidFill>
                <a:latin typeface="Cambria" pitchFamily="34" charset="0"/>
                <a:ea typeface="Cambria" pitchFamily="34" charset="-122"/>
                <a:cs typeface="Cambria" pitchFamily="34" charset="-120"/>
              </a:rPr>
              <a:t>₱61,125</a:t>
            </a:r>
            <a:endParaRPr lang="en-US" sz="1600" dirty="0"/>
          </a:p>
        </p:txBody>
      </p:sp>
      <p:sp>
        <p:nvSpPr>
          <p:cNvPr id="38" name="Shape 36"/>
          <p:cNvSpPr/>
          <p:nvPr/>
        </p:nvSpPr>
        <p:spPr>
          <a:xfrm>
            <a:off x="7726680" y="3675888"/>
            <a:ext cx="3895344" cy="2468880"/>
          </a:xfrm>
          <a:prstGeom prst="roundRect">
            <a:avLst>
              <a:gd name="adj" fmla="val 3333"/>
            </a:avLst>
          </a:prstGeom>
          <a:solidFill>
            <a:srgbClr val="0F172A"/>
          </a:solidFill>
          <a:ln w="12700">
            <a:solidFill>
              <a:srgbClr val="0F172A"/>
            </a:solidFill>
            <a:prstDash val="solid"/>
          </a:ln>
          <a:effectLst>
            <a:outerShdw sx="100000" sy="100000" kx="0" ky="0" algn="bl" rotWithShape="0" blurRad="114300" dist="17780" dir="5400000">
              <a:srgbClr val="0F172A">
                <a:alpha val="7000"/>
              </a:srgbClr>
            </a:outerShdw>
          </a:effectLst>
        </p:spPr>
      </p:sp>
      <p:sp>
        <p:nvSpPr>
          <p:cNvPr id="39" name="Text 37"/>
          <p:cNvSpPr/>
          <p:nvPr/>
        </p:nvSpPr>
        <p:spPr>
          <a:xfrm>
            <a:off x="7964424" y="3913632"/>
            <a:ext cx="3419856" cy="256032"/>
          </a:xfrm>
          <a:prstGeom prst="rect">
            <a:avLst/>
          </a:prstGeom>
          <a:noFill/>
          <a:ln/>
        </p:spPr>
        <p:txBody>
          <a:bodyPr wrap="square" lIns="0" tIns="0" rIns="0" bIns="0" rtlCol="0" anchor="ctr"/>
          <a:lstStyle/>
          <a:p>
            <a:pPr indent="0" marL="0">
              <a:buNone/>
            </a:pPr>
            <a:r>
              <a:rPr lang="en-US" sz="1100" b="1" spc="160" kern="0" dirty="0">
                <a:solidFill>
                  <a:srgbClr val="94A3B8"/>
                </a:solidFill>
                <a:latin typeface="Calibri" pitchFamily="34" charset="0"/>
                <a:ea typeface="Calibri" pitchFamily="34" charset="-122"/>
                <a:cs typeface="Calibri" pitchFamily="34" charset="-120"/>
              </a:rPr>
              <a:t>3-YEAR TOTAL</a:t>
            </a:r>
            <a:endParaRPr lang="en-US" sz="1100" dirty="0"/>
          </a:p>
        </p:txBody>
      </p:sp>
      <p:sp>
        <p:nvSpPr>
          <p:cNvPr id="40" name="Text 38"/>
          <p:cNvSpPr/>
          <p:nvPr/>
        </p:nvSpPr>
        <p:spPr>
          <a:xfrm>
            <a:off x="7964424" y="4187952"/>
            <a:ext cx="3419856"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₱1,050,375</a:t>
            </a:r>
            <a:endParaRPr lang="en-US" sz="3400" dirty="0"/>
          </a:p>
        </p:txBody>
      </p:sp>
      <p:sp>
        <p:nvSpPr>
          <p:cNvPr id="41" name="Text 39"/>
          <p:cNvSpPr/>
          <p:nvPr/>
        </p:nvSpPr>
        <p:spPr>
          <a:xfrm>
            <a:off x="7964424" y="4846320"/>
            <a:ext cx="3419856"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US$18,110</a:t>
            </a:r>
            <a:endParaRPr lang="en-US" sz="1300" dirty="0"/>
          </a:p>
        </p:txBody>
      </p:sp>
      <p:sp>
        <p:nvSpPr>
          <p:cNvPr id="42" name="Text 40"/>
          <p:cNvSpPr/>
          <p:nvPr/>
        </p:nvSpPr>
        <p:spPr>
          <a:xfrm>
            <a:off x="7964424" y="5248656"/>
            <a:ext cx="1097280" cy="310896"/>
          </a:xfrm>
          <a:prstGeom prst="rect">
            <a:avLst/>
          </a:prstGeom>
          <a:noFill/>
          <a:ln/>
        </p:spPr>
        <p:txBody>
          <a:bodyPr wrap="square" lIns="0" tIns="0" rIns="0" bIns="0" rtlCol="0" anchor="ctr"/>
          <a:lstStyle/>
          <a:p>
            <a:pPr indent="0" marL="0">
              <a:buNone/>
            </a:pPr>
            <a:r>
              <a:rPr lang="en-US" sz="1500" b="1" dirty="0">
                <a:solidFill>
                  <a:srgbClr val="16A34A"/>
                </a:solidFill>
                <a:latin typeface="Cambria" pitchFamily="34" charset="0"/>
                <a:ea typeface="Cambria" pitchFamily="34" charset="-122"/>
                <a:cs typeface="Cambria" pitchFamily="34" charset="-120"/>
              </a:rPr>
              <a:t>₱1,649</a:t>
            </a:r>
            <a:endParaRPr lang="en-US" sz="1500" dirty="0"/>
          </a:p>
        </p:txBody>
      </p:sp>
      <p:sp>
        <p:nvSpPr>
          <p:cNvPr id="43" name="Text 41"/>
          <p:cNvSpPr/>
          <p:nvPr/>
        </p:nvSpPr>
        <p:spPr>
          <a:xfrm>
            <a:off x="9098280" y="5248656"/>
            <a:ext cx="2286000" cy="31089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per employee, 3 years</a:t>
            </a:r>
            <a:endParaRPr lang="en-US" sz="1100" dirty="0"/>
          </a:p>
        </p:txBody>
      </p:sp>
      <p:sp>
        <p:nvSpPr>
          <p:cNvPr id="44" name="Text 42"/>
          <p:cNvSpPr/>
          <p:nvPr/>
        </p:nvSpPr>
        <p:spPr>
          <a:xfrm>
            <a:off x="7964424" y="5650992"/>
            <a:ext cx="1097280" cy="310896"/>
          </a:xfrm>
          <a:prstGeom prst="rect">
            <a:avLst/>
          </a:prstGeom>
          <a:noFill/>
          <a:ln/>
        </p:spPr>
        <p:txBody>
          <a:bodyPr wrap="square" lIns="0" tIns="0" rIns="0" bIns="0" rtlCol="0" anchor="ctr"/>
          <a:lstStyle/>
          <a:p>
            <a:pPr indent="0" marL="0">
              <a:buNone/>
            </a:pPr>
            <a:r>
              <a:rPr lang="en-US" sz="1500" b="1" dirty="0">
                <a:solidFill>
                  <a:srgbClr val="16A34A"/>
                </a:solidFill>
                <a:latin typeface="Cambria" pitchFamily="34" charset="0"/>
                <a:ea typeface="Cambria" pitchFamily="34" charset="-122"/>
                <a:cs typeface="Cambria" pitchFamily="34" charset="-120"/>
              </a:rPr>
              <a:t>₱550</a:t>
            </a:r>
            <a:endParaRPr lang="en-US" sz="1500" dirty="0"/>
          </a:p>
        </p:txBody>
      </p:sp>
      <p:sp>
        <p:nvSpPr>
          <p:cNvPr id="45" name="Text 43"/>
          <p:cNvSpPr/>
          <p:nvPr/>
        </p:nvSpPr>
        <p:spPr>
          <a:xfrm>
            <a:off x="9098280" y="5650992"/>
            <a:ext cx="2286000" cy="310896"/>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per employee, per year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Cheaper than v1, despite doing more</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Three-year total cost of ownership, 637 employees.</a:t>
            </a:r>
            <a:endParaRPr lang="en-US" sz="1350" dirty="0"/>
          </a:p>
        </p:txBody>
      </p:sp>
      <p:graphicFrame>
        <p:nvGraphicFramePr>
          <p:cNvPr id="4" name="Chart 0" descr=""/>
          <p:cNvGraphicFramePr/>
          <p:nvPr/>
        </p:nvGraphicFramePr>
        <p:xfrm>
          <a:off x="566928" y="1627632"/>
          <a:ext cx="731520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700784"/>
            <a:ext cx="3483864" cy="1060704"/>
          </a:xfrm>
          <a:prstGeom prst="roundRect">
            <a:avLst>
              <a:gd name="adj" fmla="val 77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6" name="Text 3"/>
          <p:cNvSpPr/>
          <p:nvPr/>
        </p:nvSpPr>
        <p:spPr>
          <a:xfrm>
            <a:off x="8394192" y="1828800"/>
            <a:ext cx="3017520" cy="457200"/>
          </a:xfrm>
          <a:prstGeom prst="rect">
            <a:avLst/>
          </a:prstGeom>
          <a:noFill/>
          <a:ln/>
        </p:spPr>
        <p:txBody>
          <a:bodyPr wrap="square" lIns="0" tIns="0" rIns="0" bIns="0" rtlCol="0" anchor="ctr"/>
          <a:lstStyle/>
          <a:p>
            <a:pPr indent="0" marL="0">
              <a:buNone/>
            </a:pPr>
            <a:r>
              <a:rPr lang="en-US" sz="2400" b="1" dirty="0">
                <a:solidFill>
                  <a:srgbClr val="C00000"/>
                </a:solidFill>
                <a:latin typeface="Cambria" pitchFamily="34" charset="0"/>
                <a:ea typeface="Cambria" pitchFamily="34" charset="-122"/>
                <a:cs typeface="Cambria" pitchFamily="34" charset="-120"/>
              </a:rPr>
              <a:t>−32%</a:t>
            </a:r>
            <a:endParaRPr lang="en-US" sz="2400" dirty="0"/>
          </a:p>
        </p:txBody>
      </p:sp>
      <p:sp>
        <p:nvSpPr>
          <p:cNvPr id="7" name="Text 4"/>
          <p:cNvSpPr/>
          <p:nvPr/>
        </p:nvSpPr>
        <p:spPr>
          <a:xfrm>
            <a:off x="8394192" y="2304288"/>
            <a:ext cx="3017520" cy="29260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against v2 as first scoped</a:t>
            </a:r>
            <a:endParaRPr lang="en-US" sz="1200" dirty="0"/>
          </a:p>
        </p:txBody>
      </p:sp>
      <p:sp>
        <p:nvSpPr>
          <p:cNvPr id="8" name="Shape 5"/>
          <p:cNvSpPr/>
          <p:nvPr/>
        </p:nvSpPr>
        <p:spPr>
          <a:xfrm>
            <a:off x="8138160" y="2944368"/>
            <a:ext cx="3483864" cy="1060704"/>
          </a:xfrm>
          <a:prstGeom prst="roundRect">
            <a:avLst>
              <a:gd name="adj" fmla="val 77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9" name="Text 6"/>
          <p:cNvSpPr/>
          <p:nvPr/>
        </p:nvSpPr>
        <p:spPr>
          <a:xfrm>
            <a:off x="8394192" y="3072384"/>
            <a:ext cx="3017520" cy="457200"/>
          </a:xfrm>
          <a:prstGeom prst="rect">
            <a:avLst/>
          </a:prstGeom>
          <a:noFill/>
          <a:ln/>
        </p:spPr>
        <p:txBody>
          <a:bodyPr wrap="square" lIns="0" tIns="0" rIns="0" bIns="0" rtlCol="0" anchor="ctr"/>
          <a:lstStyle/>
          <a:p>
            <a:pPr indent="0" marL="0">
              <a:buNone/>
            </a:pPr>
            <a:r>
              <a:rPr lang="en-US" sz="2400" b="1" dirty="0">
                <a:solidFill>
                  <a:srgbClr val="16A34A"/>
                </a:solidFill>
                <a:latin typeface="Cambria" pitchFamily="34" charset="0"/>
                <a:ea typeface="Cambria" pitchFamily="34" charset="-122"/>
                <a:cs typeface="Cambria" pitchFamily="34" charset="-120"/>
              </a:rPr>
              <a:t>−6%</a:t>
            </a:r>
            <a:endParaRPr lang="en-US" sz="2400" dirty="0"/>
          </a:p>
        </p:txBody>
      </p:sp>
      <p:sp>
        <p:nvSpPr>
          <p:cNvPr id="10" name="Text 7"/>
          <p:cNvSpPr/>
          <p:nvPr/>
        </p:nvSpPr>
        <p:spPr>
          <a:xfrm>
            <a:off x="8394192" y="3547872"/>
            <a:ext cx="3017520" cy="29260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against v1</a:t>
            </a:r>
            <a:endParaRPr lang="en-US" sz="1200" dirty="0"/>
          </a:p>
        </p:txBody>
      </p:sp>
      <p:sp>
        <p:nvSpPr>
          <p:cNvPr id="11" name="Shape 8"/>
          <p:cNvSpPr/>
          <p:nvPr/>
        </p:nvSpPr>
        <p:spPr>
          <a:xfrm>
            <a:off x="8138160" y="4187952"/>
            <a:ext cx="3483864" cy="1060704"/>
          </a:xfrm>
          <a:prstGeom prst="roundRect">
            <a:avLst>
              <a:gd name="adj" fmla="val 7759"/>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2" name="Text 9"/>
          <p:cNvSpPr/>
          <p:nvPr/>
        </p:nvSpPr>
        <p:spPr>
          <a:xfrm>
            <a:off x="8394192" y="4315968"/>
            <a:ext cx="3017520" cy="45720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₱550</a:t>
            </a:r>
            <a:endParaRPr lang="en-US" sz="2400" dirty="0"/>
          </a:p>
        </p:txBody>
      </p:sp>
      <p:sp>
        <p:nvSpPr>
          <p:cNvPr id="13" name="Text 10"/>
          <p:cNvSpPr/>
          <p:nvPr/>
        </p:nvSpPr>
        <p:spPr>
          <a:xfrm>
            <a:off x="8394192" y="4791456"/>
            <a:ext cx="3017520" cy="29260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per employee per year</a:t>
            </a:r>
            <a:endParaRPr lang="en-US" sz="1200" dirty="0"/>
          </a:p>
        </p:txBody>
      </p:sp>
      <p:sp>
        <p:nvSpPr>
          <p:cNvPr id="14" name="Text 11"/>
          <p:cNvSpPr/>
          <p:nvPr/>
        </p:nvSpPr>
        <p:spPr>
          <a:xfrm>
            <a:off x="8138160" y="5468112"/>
            <a:ext cx="3483864" cy="54864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The lean build lands under the version that still ran vacancies in-house.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Against buying a platform: 10× – 27× cheaper</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Gloat, Fuel50, Eightfold and Workday do not publish per-seat pricing. Bands are RFP planning estimates, not quotes.</a:t>
            </a:r>
            <a:endParaRPr lang="en-US" sz="1350" dirty="0"/>
          </a:p>
        </p:txBody>
      </p:sp>
      <p:graphicFrame>
        <p:nvGraphicFramePr>
          <p:cNvPr id="4" name="Chart 0" descr=""/>
          <p:cNvGraphicFramePr/>
          <p:nvPr/>
        </p:nvGraphicFramePr>
        <p:xfrm>
          <a:off x="566928" y="1700784"/>
          <a:ext cx="704088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00784"/>
            <a:ext cx="3758184" cy="3017520"/>
          </a:xfrm>
          <a:prstGeom prst="roundRect">
            <a:avLst>
              <a:gd name="adj" fmla="val 2727"/>
            </a:avLst>
          </a:prstGeom>
          <a:solidFill>
            <a:srgbClr val="0F172A"/>
          </a:solidFill>
          <a:ln w="12700">
            <a:solidFill>
              <a:srgbClr val="0F172A"/>
            </a:solidFill>
            <a:prstDash val="solid"/>
          </a:ln>
          <a:effectLst>
            <a:outerShdw sx="100000" sy="100000" kx="0" ky="0" algn="bl" rotWithShape="0" blurRad="114300" dist="17780" dir="5400000">
              <a:srgbClr val="0F172A">
                <a:alpha val="7000"/>
              </a:srgbClr>
            </a:outerShdw>
          </a:effectLst>
        </p:spPr>
      </p:sp>
      <p:sp>
        <p:nvSpPr>
          <p:cNvPr id="6" name="Text 3"/>
          <p:cNvSpPr/>
          <p:nvPr/>
        </p:nvSpPr>
        <p:spPr>
          <a:xfrm>
            <a:off x="8138160" y="1920240"/>
            <a:ext cx="3200400" cy="274320"/>
          </a:xfrm>
          <a:prstGeom prst="rect">
            <a:avLst/>
          </a:prstGeom>
          <a:noFill/>
          <a:ln/>
        </p:spPr>
        <p:txBody>
          <a:bodyPr wrap="square" lIns="0" tIns="0" rIns="0" bIns="0" rtlCol="0" anchor="ctr"/>
          <a:lstStyle/>
          <a:p>
            <a:pPr indent="0" marL="0">
              <a:buNone/>
            </a:pPr>
            <a:r>
              <a:rPr lang="en-US" sz="1150" b="1" spc="100" kern="0" dirty="0">
                <a:solidFill>
                  <a:srgbClr val="94A3B8"/>
                </a:solidFill>
                <a:latin typeface="Calibri" pitchFamily="34" charset="0"/>
                <a:ea typeface="Calibri" pitchFamily="34" charset="-122"/>
                <a:cs typeface="Calibri" pitchFamily="34" charset="-120"/>
              </a:rPr>
              <a:t>The number that lands</a:t>
            </a:r>
            <a:endParaRPr lang="en-US" sz="1150" dirty="0"/>
          </a:p>
        </p:txBody>
      </p:sp>
      <p:sp>
        <p:nvSpPr>
          <p:cNvPr id="7" name="Text 4"/>
          <p:cNvSpPr/>
          <p:nvPr/>
        </p:nvSpPr>
        <p:spPr>
          <a:xfrm>
            <a:off x="8138160" y="2249424"/>
            <a:ext cx="3200400" cy="786384"/>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29</a:t>
            </a:r>
            <a:endParaRPr lang="en-US" sz="5200" dirty="0"/>
          </a:p>
        </p:txBody>
      </p:sp>
      <p:sp>
        <p:nvSpPr>
          <p:cNvPr id="8" name="Text 5"/>
          <p:cNvSpPr/>
          <p:nvPr/>
        </p:nvSpPr>
        <p:spPr>
          <a:xfrm>
            <a:off x="8138160" y="3072384"/>
            <a:ext cx="3200400" cy="786384"/>
          </a:xfrm>
          <a:prstGeom prst="rect">
            <a:avLst/>
          </a:prstGeom>
          <a:noFill/>
          <a:ln/>
        </p:spPr>
        <p:txBody>
          <a:bodyPr wrap="square" lIns="0" tIns="0" rIns="0" bIns="0" rtlCol="0" anchor="ctr"/>
          <a:lstStyle/>
          <a:p>
            <a:pPr indent="0" marL="0">
              <a:buNone/>
            </a:pPr>
            <a:r>
              <a:rPr lang="en-US" sz="1250" dirty="0">
                <a:solidFill>
                  <a:srgbClr val="CBD5E1"/>
                </a:solidFill>
                <a:latin typeface="Calibri" pitchFamily="34" charset="0"/>
                <a:ea typeface="Calibri" pitchFamily="34" charset="-122"/>
                <a:cs typeface="Calibri" pitchFamily="34" charset="-120"/>
              </a:rPr>
              <a:t>attributed internal hires a vendor at the low band needs over three years, just to cover its own licence.</a:t>
            </a:r>
            <a:endParaRPr lang="en-US" sz="1250" dirty="0"/>
          </a:p>
        </p:txBody>
      </p:sp>
      <p:sp>
        <p:nvSpPr>
          <p:cNvPr id="9" name="Shape 6"/>
          <p:cNvSpPr/>
          <p:nvPr/>
        </p:nvSpPr>
        <p:spPr>
          <a:xfrm>
            <a:off x="8138160" y="3968496"/>
            <a:ext cx="3200400" cy="0"/>
          </a:xfrm>
          <a:prstGeom prst="line">
            <a:avLst/>
          </a:prstGeom>
          <a:noFill/>
          <a:ln w="12700">
            <a:solidFill>
              <a:srgbClr val="334155"/>
            </a:solidFill>
            <a:prstDash val="solid"/>
          </a:ln>
        </p:spPr>
      </p:sp>
      <p:sp>
        <p:nvSpPr>
          <p:cNvPr id="10" name="Text 7"/>
          <p:cNvSpPr/>
          <p:nvPr/>
        </p:nvSpPr>
        <p:spPr>
          <a:xfrm>
            <a:off x="8138160" y="4078224"/>
            <a:ext cx="320040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v2-lean needs </a:t>
            </a:r>
            <a:pPr indent="0" marL="0">
              <a:buNone/>
            </a:pPr>
            <a:r>
              <a:rPr lang="en-US" sz="1600" b="1" dirty="0">
                <a:solidFill>
                  <a:srgbClr val="16A34A"/>
                </a:solidFill>
                <a:latin typeface="Calibri" pitchFamily="34" charset="0"/>
                <a:ea typeface="Calibri" pitchFamily="34" charset="-122"/>
                <a:cs typeface="Calibri" pitchFamily="34" charset="-120"/>
              </a:rPr>
              <a:t>3.</a:t>
            </a:r>
            <a:endParaRPr lang="en-US" sz="1600" dirty="0"/>
          </a:p>
        </p:txBody>
      </p:sp>
      <p:sp>
        <p:nvSpPr>
          <p:cNvPr id="11" name="Shape 8"/>
          <p:cNvSpPr/>
          <p:nvPr/>
        </p:nvSpPr>
        <p:spPr>
          <a:xfrm>
            <a:off x="566928" y="4956048"/>
            <a:ext cx="11055096" cy="1152144"/>
          </a:xfrm>
          <a:prstGeom prst="roundRect">
            <a:avLst>
              <a:gd name="adj" fmla="val 7143"/>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2" name="Text 9"/>
          <p:cNvSpPr/>
          <p:nvPr/>
        </p:nvSpPr>
        <p:spPr>
          <a:xfrm>
            <a:off x="877824" y="4956048"/>
            <a:ext cx="10433304" cy="1152144"/>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Before deciding:  </a:t>
            </a:r>
            <a:pPr indent="0" marL="0">
              <a:buNone/>
            </a:pPr>
            <a:r>
              <a:rPr lang="en-US" sz="1300" dirty="0">
                <a:solidFill>
                  <a:srgbClr val="64748B"/>
                </a:solidFill>
                <a:latin typeface="Calibri" pitchFamily="34" charset="0"/>
                <a:ea typeface="Calibri" pitchFamily="34" charset="-122"/>
                <a:cs typeface="Calibri" pitchFamily="34" charset="-120"/>
              </a:rPr>
              <a:t>issue an RFP with the 637 seat count stated up front and ask specifically for minimum contract value. At this size the binding constraint is the vendor’s floor, not the per-seat rate — a US$20/employee headline would imply US$12,740, well below what any of them will contract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Two benefit streams — unequally defensible</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Base case: 4 attributed hires a year, 120 gig/DJI/service-offer participants.</a:t>
            </a:r>
            <a:endParaRPr lang="en-US" sz="1350" dirty="0"/>
          </a:p>
        </p:txBody>
      </p:sp>
      <p:sp>
        <p:nvSpPr>
          <p:cNvPr id="4" name="Shape 2"/>
          <p:cNvSpPr/>
          <p:nvPr/>
        </p:nvSpPr>
        <p:spPr>
          <a:xfrm>
            <a:off x="566928" y="1609344"/>
            <a:ext cx="5381244" cy="4480560"/>
          </a:xfrm>
          <a:prstGeom prst="roundRect">
            <a:avLst>
              <a:gd name="adj" fmla="val 1837"/>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Shape 3"/>
          <p:cNvSpPr/>
          <p:nvPr/>
        </p:nvSpPr>
        <p:spPr>
          <a:xfrm>
            <a:off x="877824" y="1865376"/>
            <a:ext cx="1325880" cy="224028"/>
          </a:xfrm>
          <a:prstGeom prst="roundRect">
            <a:avLst>
              <a:gd name="adj" fmla="val 48980"/>
            </a:avLst>
          </a:prstGeom>
          <a:solidFill>
            <a:srgbClr val="E0E7FF"/>
          </a:solidFill>
          <a:ln w="12700">
            <a:solidFill>
              <a:srgbClr val="E0E7FF"/>
            </a:solidFill>
            <a:prstDash val="solid"/>
          </a:ln>
        </p:spPr>
      </p:sp>
      <p:sp>
        <p:nvSpPr>
          <p:cNvPr id="6" name="Text 4"/>
          <p:cNvSpPr/>
          <p:nvPr/>
        </p:nvSpPr>
        <p:spPr>
          <a:xfrm>
            <a:off x="877824" y="1865376"/>
            <a:ext cx="1325880" cy="224028"/>
          </a:xfrm>
          <a:prstGeom prst="rect">
            <a:avLst/>
          </a:prstGeom>
          <a:noFill/>
          <a:ln/>
        </p:spPr>
        <p:txBody>
          <a:bodyPr wrap="square" lIns="0" tIns="0" rIns="0" bIns="0" rtlCol="0" anchor="ctr"/>
          <a:lstStyle/>
          <a:p>
            <a:pPr algn="ctr" indent="0" marL="0">
              <a:buNone/>
            </a:pPr>
            <a:r>
              <a:rPr lang="en-US" sz="900" b="1" spc="80" kern="0" dirty="0">
                <a:solidFill>
                  <a:srgbClr val="3730A3"/>
                </a:solidFill>
                <a:latin typeface="Calibri" pitchFamily="34" charset="0"/>
                <a:ea typeface="Calibri" pitchFamily="34" charset="-122"/>
                <a:cs typeface="Calibri" pitchFamily="34" charset="-120"/>
              </a:rPr>
              <a:t>ATTRIBUTED</a:t>
            </a:r>
            <a:endParaRPr lang="en-US" sz="900" dirty="0"/>
          </a:p>
        </p:txBody>
      </p:sp>
      <p:sp>
        <p:nvSpPr>
          <p:cNvPr id="7" name="Text 5"/>
          <p:cNvSpPr/>
          <p:nvPr/>
        </p:nvSpPr>
        <p:spPr>
          <a:xfrm>
            <a:off x="877824" y="2212848"/>
            <a:ext cx="4759452" cy="36576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Permanent-role outcomes</a:t>
            </a:r>
            <a:endParaRPr lang="en-US" sz="2000" dirty="0"/>
          </a:p>
        </p:txBody>
      </p:sp>
      <p:sp>
        <p:nvSpPr>
          <p:cNvPr id="8" name="Text 6"/>
          <p:cNvSpPr/>
          <p:nvPr/>
        </p:nvSpPr>
        <p:spPr>
          <a:xfrm>
            <a:off x="877824" y="2615184"/>
            <a:ext cx="4759452" cy="603504"/>
          </a:xfrm>
          <a:prstGeom prst="rect">
            <a:avLst/>
          </a:prstGeom>
          <a:noFill/>
          <a:ln/>
        </p:spPr>
        <p:txBody>
          <a:bodyPr wrap="square" lIns="0" tIns="0" rIns="0" bIns="0" rtlCol="0" anchor="ctr"/>
          <a:lstStyle/>
          <a:p>
            <a:pPr indent="0" marL="0">
              <a:buNone/>
            </a:pPr>
            <a:r>
              <a:rPr lang="en-US" sz="3300" b="1" dirty="0">
                <a:solidFill>
                  <a:srgbClr val="1E40AF"/>
                </a:solidFill>
                <a:latin typeface="Cambria" pitchFamily="34" charset="0"/>
                <a:ea typeface="Cambria" pitchFamily="34" charset="-122"/>
                <a:cs typeface="Cambria" pitchFamily="34" charset="-120"/>
              </a:rPr>
              <a:t>₱1,673,231</a:t>
            </a:r>
            <a:endParaRPr lang="en-US" sz="3300" dirty="0"/>
          </a:p>
        </p:txBody>
      </p:sp>
      <p:sp>
        <p:nvSpPr>
          <p:cNvPr id="9" name="Text 7"/>
          <p:cNvSpPr/>
          <p:nvPr/>
        </p:nvSpPr>
        <p:spPr>
          <a:xfrm>
            <a:off x="877824" y="3200400"/>
            <a:ext cx="4759452" cy="256032"/>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per year</a:t>
            </a:r>
            <a:endParaRPr lang="en-US" sz="1150" dirty="0"/>
          </a:p>
        </p:txBody>
      </p:sp>
      <p:sp>
        <p:nvSpPr>
          <p:cNvPr id="10" name="Text 8"/>
          <p:cNvSpPr/>
          <p:nvPr/>
        </p:nvSpPr>
        <p:spPr>
          <a:xfrm>
            <a:off x="877824" y="3602736"/>
            <a:ext cx="3278124"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Avoided agency fees — 4 × ₱350,000</a:t>
            </a:r>
            <a:endParaRPr lang="en-US" sz="1200" dirty="0"/>
          </a:p>
        </p:txBody>
      </p:sp>
      <p:sp>
        <p:nvSpPr>
          <p:cNvPr id="11" name="Text 9"/>
          <p:cNvSpPr/>
          <p:nvPr/>
        </p:nvSpPr>
        <p:spPr>
          <a:xfrm>
            <a:off x="4174236" y="3602736"/>
            <a:ext cx="1463040" cy="329184"/>
          </a:xfrm>
          <a:prstGeom prst="rect">
            <a:avLst/>
          </a:prstGeom>
          <a:noFill/>
          <a:ln/>
        </p:spPr>
        <p:txBody>
          <a:bodyPr wrap="square" lIns="0" tIns="0" rIns="0" bIns="0" rtlCol="0" anchor="ctr"/>
          <a:lstStyle/>
          <a:p>
            <a:pPr algn="r" indent="0" marL="0">
              <a:buNone/>
            </a:pPr>
            <a:r>
              <a:rPr lang="en-US" sz="1250" b="1" dirty="0">
                <a:solidFill>
                  <a:srgbClr val="0F172A"/>
                </a:solidFill>
                <a:latin typeface="Cambria" pitchFamily="34" charset="0"/>
                <a:ea typeface="Cambria" pitchFamily="34" charset="-122"/>
                <a:cs typeface="Cambria" pitchFamily="34" charset="-120"/>
              </a:rPr>
              <a:t>₱1,400,000</a:t>
            </a:r>
            <a:endParaRPr lang="en-US" sz="1250" dirty="0"/>
          </a:p>
        </p:txBody>
      </p:sp>
      <p:sp>
        <p:nvSpPr>
          <p:cNvPr id="12" name="Text 10"/>
          <p:cNvSpPr/>
          <p:nvPr/>
        </p:nvSpPr>
        <p:spPr>
          <a:xfrm>
            <a:off x="877824" y="4005072"/>
            <a:ext cx="3278124"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37 vacancy days saved per fill</a:t>
            </a:r>
            <a:endParaRPr lang="en-US" sz="1200" dirty="0"/>
          </a:p>
        </p:txBody>
      </p:sp>
      <p:sp>
        <p:nvSpPr>
          <p:cNvPr id="13" name="Text 11"/>
          <p:cNvSpPr/>
          <p:nvPr/>
        </p:nvSpPr>
        <p:spPr>
          <a:xfrm>
            <a:off x="4174236" y="4005072"/>
            <a:ext cx="1463040" cy="329184"/>
          </a:xfrm>
          <a:prstGeom prst="rect">
            <a:avLst/>
          </a:prstGeom>
          <a:noFill/>
          <a:ln/>
        </p:spPr>
        <p:txBody>
          <a:bodyPr wrap="square" lIns="0" tIns="0" rIns="0" bIns="0" rtlCol="0" anchor="ctr"/>
          <a:lstStyle/>
          <a:p>
            <a:pPr algn="r" indent="0" marL="0">
              <a:buNone/>
            </a:pPr>
            <a:r>
              <a:rPr lang="en-US" sz="1250" b="1" dirty="0">
                <a:solidFill>
                  <a:srgbClr val="0F172A"/>
                </a:solidFill>
                <a:latin typeface="Cambria" pitchFamily="34" charset="0"/>
                <a:ea typeface="Cambria" pitchFamily="34" charset="-122"/>
                <a:cs typeface="Cambria" pitchFamily="34" charset="-120"/>
              </a:rPr>
              <a:t>₱273,231</a:t>
            </a:r>
            <a:endParaRPr lang="en-US" sz="1250" dirty="0"/>
          </a:p>
        </p:txBody>
      </p:sp>
      <p:sp>
        <p:nvSpPr>
          <p:cNvPr id="14" name="Shape 12"/>
          <p:cNvSpPr/>
          <p:nvPr/>
        </p:nvSpPr>
        <p:spPr>
          <a:xfrm>
            <a:off x="877824" y="4517136"/>
            <a:ext cx="4759452" cy="0"/>
          </a:xfrm>
          <a:prstGeom prst="line">
            <a:avLst/>
          </a:prstGeom>
          <a:noFill/>
          <a:ln w="12700">
            <a:solidFill>
              <a:srgbClr val="F1F5F9"/>
            </a:solidFill>
            <a:prstDash val="solid"/>
          </a:ln>
        </p:spPr>
      </p:sp>
      <p:sp>
        <p:nvSpPr>
          <p:cNvPr id="15" name="Text 13"/>
          <p:cNvSpPr/>
          <p:nvPr/>
        </p:nvSpPr>
        <p:spPr>
          <a:xfrm>
            <a:off x="877824" y="4626864"/>
            <a:ext cx="4759452" cy="1280160"/>
          </a:xfrm>
          <a:prstGeom prst="rect">
            <a:avLst/>
          </a:prstGeom>
          <a:noFill/>
          <a:ln/>
        </p:spPr>
        <p:txBody>
          <a:bodyPr wrap="square" lIns="0" tIns="0" rIns="0" bIns="0" rtlCol="0" anchor="ctr"/>
          <a:lstStyle/>
          <a:p>
            <a:pPr indent="0" marL="0">
              <a:lnSpc>
                <a:spcPts val="1700"/>
              </a:lnSpc>
              <a:buNone/>
            </a:pPr>
            <a:r>
              <a:rPr lang="en-US" sz="1150" dirty="0">
                <a:solidFill>
                  <a:srgbClr val="64748B"/>
                </a:solidFill>
                <a:latin typeface="Calibri" pitchFamily="34" charset="0"/>
                <a:ea typeface="Calibri" pitchFamily="34" charset="-122"/>
                <a:cs typeface="Calibri" pitchFamily="34" charset="-120"/>
              </a:rPr>
              <a:t>Exists only because of the tracking spend. Without a confirmed referral the hire is invisible in our data and belongs, as far as anyone can tell, to HC Connect.</a:t>
            </a:r>
            <a:endParaRPr lang="en-US" sz="1150" dirty="0"/>
          </a:p>
        </p:txBody>
      </p:sp>
      <p:sp>
        <p:nvSpPr>
          <p:cNvPr id="16" name="Shape 14"/>
          <p:cNvSpPr/>
          <p:nvPr/>
        </p:nvSpPr>
        <p:spPr>
          <a:xfrm>
            <a:off x="6240780" y="1609344"/>
            <a:ext cx="5381244" cy="4480560"/>
          </a:xfrm>
          <a:prstGeom prst="roundRect">
            <a:avLst>
              <a:gd name="adj" fmla="val 1837"/>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7" name="Shape 15"/>
          <p:cNvSpPr/>
          <p:nvPr/>
        </p:nvSpPr>
        <p:spPr>
          <a:xfrm>
            <a:off x="6551676" y="1865376"/>
            <a:ext cx="800100" cy="224028"/>
          </a:xfrm>
          <a:prstGeom prst="roundRect">
            <a:avLst>
              <a:gd name="adj" fmla="val 48980"/>
            </a:avLst>
          </a:prstGeom>
          <a:solidFill>
            <a:srgbClr val="DCFCE7"/>
          </a:solidFill>
          <a:ln w="12700">
            <a:solidFill>
              <a:srgbClr val="DCFCE7"/>
            </a:solidFill>
            <a:prstDash val="solid"/>
          </a:ln>
        </p:spPr>
      </p:sp>
      <p:sp>
        <p:nvSpPr>
          <p:cNvPr id="18" name="Text 16"/>
          <p:cNvSpPr/>
          <p:nvPr/>
        </p:nvSpPr>
        <p:spPr>
          <a:xfrm>
            <a:off x="6551676" y="1865376"/>
            <a:ext cx="800100" cy="224028"/>
          </a:xfrm>
          <a:prstGeom prst="rect">
            <a:avLst/>
          </a:prstGeom>
          <a:noFill/>
          <a:ln/>
        </p:spPr>
        <p:txBody>
          <a:bodyPr wrap="square" lIns="0" tIns="0" rIns="0" bIns="0" rtlCol="0" anchor="ctr"/>
          <a:lstStyle/>
          <a:p>
            <a:pPr algn="ctr" indent="0" marL="0">
              <a:buNone/>
            </a:pPr>
            <a:r>
              <a:rPr lang="en-US" sz="900" b="1" spc="80" kern="0" dirty="0">
                <a:solidFill>
                  <a:srgbClr val="166534"/>
                </a:solidFill>
                <a:latin typeface="Calibri" pitchFamily="34" charset="0"/>
                <a:ea typeface="Calibri" pitchFamily="34" charset="-122"/>
                <a:cs typeface="Calibri" pitchFamily="34" charset="-120"/>
              </a:rPr>
              <a:t>OWNED</a:t>
            </a:r>
            <a:endParaRPr lang="en-US" sz="900" dirty="0"/>
          </a:p>
        </p:txBody>
      </p:sp>
      <p:sp>
        <p:nvSpPr>
          <p:cNvPr id="19" name="Text 17"/>
          <p:cNvSpPr/>
          <p:nvPr/>
        </p:nvSpPr>
        <p:spPr>
          <a:xfrm>
            <a:off x="6551676" y="2212848"/>
            <a:ext cx="4759452" cy="36576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Retention on participants</a:t>
            </a:r>
            <a:endParaRPr lang="en-US" sz="2000" dirty="0"/>
          </a:p>
        </p:txBody>
      </p:sp>
      <p:sp>
        <p:nvSpPr>
          <p:cNvPr id="20" name="Text 18"/>
          <p:cNvSpPr/>
          <p:nvPr/>
        </p:nvSpPr>
        <p:spPr>
          <a:xfrm>
            <a:off x="6551676" y="2615184"/>
            <a:ext cx="4759452" cy="603504"/>
          </a:xfrm>
          <a:prstGeom prst="rect">
            <a:avLst/>
          </a:prstGeom>
          <a:noFill/>
          <a:ln/>
        </p:spPr>
        <p:txBody>
          <a:bodyPr wrap="square" lIns="0" tIns="0" rIns="0" bIns="0" rtlCol="0" anchor="ctr"/>
          <a:lstStyle/>
          <a:p>
            <a:pPr indent="0" marL="0">
              <a:buNone/>
            </a:pPr>
            <a:r>
              <a:rPr lang="en-US" sz="3300" b="1" dirty="0">
                <a:solidFill>
                  <a:srgbClr val="16A34A"/>
                </a:solidFill>
                <a:latin typeface="Cambria" pitchFamily="34" charset="0"/>
                <a:ea typeface="Cambria" pitchFamily="34" charset="-122"/>
                <a:cs typeface="Cambria" pitchFamily="34" charset="-120"/>
              </a:rPr>
              <a:t>₱1,296,000</a:t>
            </a:r>
            <a:endParaRPr lang="en-US" sz="3300" dirty="0"/>
          </a:p>
        </p:txBody>
      </p:sp>
      <p:sp>
        <p:nvSpPr>
          <p:cNvPr id="21" name="Text 19"/>
          <p:cNvSpPr/>
          <p:nvPr/>
        </p:nvSpPr>
        <p:spPr>
          <a:xfrm>
            <a:off x="6551676" y="3200400"/>
            <a:ext cx="4759452" cy="256032"/>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per year</a:t>
            </a:r>
            <a:endParaRPr lang="en-US" sz="1150" dirty="0"/>
          </a:p>
        </p:txBody>
      </p:sp>
      <p:sp>
        <p:nvSpPr>
          <p:cNvPr id="22" name="Text 20"/>
          <p:cNvSpPr/>
          <p:nvPr/>
        </p:nvSpPr>
        <p:spPr>
          <a:xfrm>
            <a:off x="6551676" y="3602736"/>
            <a:ext cx="3278124"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120 participants × 3pt retention lift</a:t>
            </a:r>
            <a:endParaRPr lang="en-US" sz="1200" dirty="0"/>
          </a:p>
        </p:txBody>
      </p:sp>
      <p:sp>
        <p:nvSpPr>
          <p:cNvPr id="23" name="Text 21"/>
          <p:cNvSpPr/>
          <p:nvPr/>
        </p:nvSpPr>
        <p:spPr>
          <a:xfrm>
            <a:off x="6551676" y="4005072"/>
            <a:ext cx="3278124"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 ₱360,000 replacement cost each</a:t>
            </a:r>
            <a:endParaRPr lang="en-US" sz="1200" dirty="0"/>
          </a:p>
        </p:txBody>
      </p:sp>
      <p:sp>
        <p:nvSpPr>
          <p:cNvPr id="24" name="Text 22"/>
          <p:cNvSpPr/>
          <p:nvPr/>
        </p:nvSpPr>
        <p:spPr>
          <a:xfrm>
            <a:off x="9848088" y="4005072"/>
            <a:ext cx="1463040" cy="329184"/>
          </a:xfrm>
          <a:prstGeom prst="rect">
            <a:avLst/>
          </a:prstGeom>
          <a:noFill/>
          <a:ln/>
        </p:spPr>
        <p:txBody>
          <a:bodyPr wrap="square" lIns="0" tIns="0" rIns="0" bIns="0" rtlCol="0" anchor="ctr"/>
          <a:lstStyle/>
          <a:p>
            <a:pPr algn="r" indent="0" marL="0">
              <a:buNone/>
            </a:pPr>
            <a:r>
              <a:rPr lang="en-US" sz="1250" b="1" dirty="0">
                <a:solidFill>
                  <a:srgbClr val="0F172A"/>
                </a:solidFill>
                <a:latin typeface="Cambria" pitchFamily="34" charset="0"/>
                <a:ea typeface="Cambria" pitchFamily="34" charset="-122"/>
                <a:cs typeface="Cambria" pitchFamily="34" charset="-120"/>
              </a:rPr>
              <a:t>₱1,296,000</a:t>
            </a:r>
            <a:endParaRPr lang="en-US" sz="1250" dirty="0"/>
          </a:p>
        </p:txBody>
      </p:sp>
      <p:sp>
        <p:nvSpPr>
          <p:cNvPr id="25" name="Shape 23"/>
          <p:cNvSpPr/>
          <p:nvPr/>
        </p:nvSpPr>
        <p:spPr>
          <a:xfrm>
            <a:off x="6551676" y="4517136"/>
            <a:ext cx="4759452" cy="0"/>
          </a:xfrm>
          <a:prstGeom prst="line">
            <a:avLst/>
          </a:prstGeom>
          <a:noFill/>
          <a:ln w="12700">
            <a:solidFill>
              <a:srgbClr val="F1F5F9"/>
            </a:solidFill>
            <a:prstDash val="solid"/>
          </a:ln>
        </p:spPr>
      </p:sp>
      <p:sp>
        <p:nvSpPr>
          <p:cNvPr id="26" name="Text 24"/>
          <p:cNvSpPr/>
          <p:nvPr/>
        </p:nvSpPr>
        <p:spPr>
          <a:xfrm>
            <a:off x="6551676" y="4626864"/>
            <a:ext cx="4759452" cy="1280160"/>
          </a:xfrm>
          <a:prstGeom prst="rect">
            <a:avLst/>
          </a:prstGeom>
          <a:noFill/>
          <a:ln/>
        </p:spPr>
        <p:txBody>
          <a:bodyPr wrap="square" lIns="0" tIns="0" rIns="0" bIns="0" rtlCol="0" anchor="ctr"/>
          <a:lstStyle/>
          <a:p>
            <a:pPr indent="0" marL="0">
              <a:lnSpc>
                <a:spcPts val="1700"/>
              </a:lnSpc>
              <a:buNone/>
            </a:pPr>
            <a:r>
              <a:rPr lang="en-US" sz="1150" dirty="0">
                <a:solidFill>
                  <a:srgbClr val="64748B"/>
                </a:solidFill>
                <a:latin typeface="Calibri" pitchFamily="34" charset="0"/>
                <a:ea typeface="Calibri" pitchFamily="34" charset="-122"/>
                <a:cs typeface="Calibri" pitchFamily="34" charset="-120"/>
              </a:rPr>
              <a:t>Needs no attribution — gigs, DJIs and service offers run end to end here. But the 3-point lift is a discounted judgement, not a measurement. See the stress test.</a:t>
            </a:r>
            <a:endParaRPr lang="en-US" sz="1150" dirty="0"/>
          </a:p>
        </p:txBody>
      </p:sp>
      <p:sp>
        <p:nvSpPr>
          <p:cNvPr id="27" name="Text 25"/>
          <p:cNvSpPr/>
          <p:nvPr/>
        </p:nvSpPr>
        <p:spPr>
          <a:xfrm>
            <a:off x="566928" y="6236208"/>
            <a:ext cx="11055096"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Excluded on purpose: the value of gig output itself, skills built, and cross-functional network effects. All real, none reliably measurable, none needed to make the case.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Cost-benefit analysis</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Three years, 10% discount rate. Year-1 benefit ramped to 40% for build and adoption.</a:t>
            </a:r>
            <a:endParaRPr lang="en-US" sz="1350" dirty="0"/>
          </a:p>
        </p:txBody>
      </p:sp>
      <p:sp>
        <p:nvSpPr>
          <p:cNvPr id="4" name="Shape 2"/>
          <p:cNvSpPr/>
          <p:nvPr/>
        </p:nvSpPr>
        <p:spPr>
          <a:xfrm>
            <a:off x="566928" y="1591056"/>
            <a:ext cx="11055096" cy="3310128"/>
          </a:xfrm>
          <a:prstGeom prst="roundRect">
            <a:avLst>
              <a:gd name="adj" fmla="val 248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5" name="Text 3"/>
          <p:cNvSpPr/>
          <p:nvPr/>
        </p:nvSpPr>
        <p:spPr>
          <a:xfrm>
            <a:off x="822960" y="1755648"/>
            <a:ext cx="3291840" cy="310896"/>
          </a:xfrm>
          <a:prstGeom prst="rect">
            <a:avLst/>
          </a:prstGeom>
          <a:noFill/>
          <a:ln/>
        </p:spPr>
        <p:txBody>
          <a:bodyPr wrap="square" lIns="0" tIns="0" rIns="0" bIns="0" rtlCol="0" anchor="ctr"/>
          <a:lstStyle/>
          <a:p>
            <a:pPr algn="l" indent="0" marL="0">
              <a:buNone/>
            </a:pPr>
            <a:r>
              <a:rPr lang="en-US" sz="1050" b="1" spc="60" kern="0" dirty="0">
                <a:solidFill>
                  <a:srgbClr val="94A3B8"/>
                </a:solidFill>
                <a:latin typeface="Calibri" pitchFamily="34" charset="0"/>
                <a:ea typeface="Calibri" pitchFamily="34" charset="-122"/>
                <a:cs typeface="Calibri" pitchFamily="34" charset="-120"/>
              </a:rPr>
              <a:t>Scenario</a:t>
            </a:r>
            <a:endParaRPr lang="en-US" sz="1050" dirty="0"/>
          </a:p>
        </p:txBody>
      </p:sp>
      <p:sp>
        <p:nvSpPr>
          <p:cNvPr id="6" name="Text 4"/>
          <p:cNvSpPr/>
          <p:nvPr/>
        </p:nvSpPr>
        <p:spPr>
          <a:xfrm>
            <a:off x="3657600" y="1755648"/>
            <a:ext cx="1417320"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3-yr benefit</a:t>
            </a:r>
            <a:endParaRPr lang="en-US" sz="1050" dirty="0"/>
          </a:p>
        </p:txBody>
      </p:sp>
      <p:sp>
        <p:nvSpPr>
          <p:cNvPr id="7" name="Text 5"/>
          <p:cNvSpPr/>
          <p:nvPr/>
        </p:nvSpPr>
        <p:spPr>
          <a:xfrm>
            <a:off x="5166360" y="1755648"/>
            <a:ext cx="1280160"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3-yr cost</a:t>
            </a:r>
            <a:endParaRPr lang="en-US" sz="1050" dirty="0"/>
          </a:p>
        </p:txBody>
      </p:sp>
      <p:sp>
        <p:nvSpPr>
          <p:cNvPr id="8" name="Text 6"/>
          <p:cNvSpPr/>
          <p:nvPr/>
        </p:nvSpPr>
        <p:spPr>
          <a:xfrm>
            <a:off x="6537960" y="1755648"/>
            <a:ext cx="1554480"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Net</a:t>
            </a:r>
            <a:endParaRPr lang="en-US" sz="1050" dirty="0"/>
          </a:p>
        </p:txBody>
      </p:sp>
      <p:sp>
        <p:nvSpPr>
          <p:cNvPr id="9" name="Text 7"/>
          <p:cNvSpPr/>
          <p:nvPr/>
        </p:nvSpPr>
        <p:spPr>
          <a:xfrm>
            <a:off x="8183880" y="1755648"/>
            <a:ext cx="603504"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BCR</a:t>
            </a:r>
            <a:endParaRPr lang="en-US" sz="1050" dirty="0"/>
          </a:p>
        </p:txBody>
      </p:sp>
      <p:sp>
        <p:nvSpPr>
          <p:cNvPr id="10" name="Text 8"/>
          <p:cNvSpPr/>
          <p:nvPr/>
        </p:nvSpPr>
        <p:spPr>
          <a:xfrm>
            <a:off x="8869680" y="1755648"/>
            <a:ext cx="1700784"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NPV @10%</a:t>
            </a:r>
            <a:endParaRPr lang="en-US" sz="1050" dirty="0"/>
          </a:p>
        </p:txBody>
      </p:sp>
      <p:sp>
        <p:nvSpPr>
          <p:cNvPr id="11" name="Text 9"/>
          <p:cNvSpPr/>
          <p:nvPr/>
        </p:nvSpPr>
        <p:spPr>
          <a:xfrm>
            <a:off x="10652760" y="1755648"/>
            <a:ext cx="713232" cy="310896"/>
          </a:xfrm>
          <a:prstGeom prst="rect">
            <a:avLst/>
          </a:prstGeom>
          <a:noFill/>
          <a:ln/>
        </p:spPr>
        <p:txBody>
          <a:bodyPr wrap="square" lIns="0" tIns="0" rIns="0" bIns="0" rtlCol="0" anchor="ctr"/>
          <a:lstStyle/>
          <a:p>
            <a:pPr algn="r" indent="0" marL="0">
              <a:buNone/>
            </a:pPr>
            <a:r>
              <a:rPr lang="en-US" sz="1050" b="1" spc="60" kern="0" dirty="0">
                <a:solidFill>
                  <a:srgbClr val="94A3B8"/>
                </a:solidFill>
                <a:latin typeface="Calibri" pitchFamily="34" charset="0"/>
                <a:ea typeface="Calibri" pitchFamily="34" charset="-122"/>
                <a:cs typeface="Calibri" pitchFamily="34" charset="-120"/>
              </a:rPr>
              <a:t>Payback</a:t>
            </a:r>
            <a:endParaRPr lang="en-US" sz="1050" dirty="0"/>
          </a:p>
        </p:txBody>
      </p:sp>
      <p:sp>
        <p:nvSpPr>
          <p:cNvPr id="12" name="Shape 10"/>
          <p:cNvSpPr/>
          <p:nvPr/>
        </p:nvSpPr>
        <p:spPr>
          <a:xfrm>
            <a:off x="822960" y="2139696"/>
            <a:ext cx="10543032" cy="0"/>
          </a:xfrm>
          <a:prstGeom prst="line">
            <a:avLst/>
          </a:prstGeom>
          <a:noFill/>
          <a:ln w="12700">
            <a:solidFill>
              <a:srgbClr val="E2E8F0"/>
            </a:solidFill>
            <a:prstDash val="solid"/>
          </a:ln>
        </p:spPr>
      </p:sp>
      <p:sp>
        <p:nvSpPr>
          <p:cNvPr id="13" name="Text 11"/>
          <p:cNvSpPr/>
          <p:nvPr/>
        </p:nvSpPr>
        <p:spPr>
          <a:xfrm>
            <a:off x="822960" y="2231136"/>
            <a:ext cx="3291840" cy="402336"/>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Conservative — 2 hires/yr</a:t>
            </a:r>
            <a:endParaRPr lang="en-US" sz="1200" dirty="0"/>
          </a:p>
        </p:txBody>
      </p:sp>
      <p:sp>
        <p:nvSpPr>
          <p:cNvPr id="14" name="Text 12"/>
          <p:cNvSpPr/>
          <p:nvPr/>
        </p:nvSpPr>
        <p:spPr>
          <a:xfrm>
            <a:off x="3657600" y="2231136"/>
            <a:ext cx="141732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₱5,118,277</a:t>
            </a:r>
            <a:endParaRPr lang="en-US" sz="1200" dirty="0"/>
          </a:p>
        </p:txBody>
      </p:sp>
      <p:sp>
        <p:nvSpPr>
          <p:cNvPr id="15" name="Text 13"/>
          <p:cNvSpPr/>
          <p:nvPr/>
        </p:nvSpPr>
        <p:spPr>
          <a:xfrm>
            <a:off x="5166360" y="2231136"/>
            <a:ext cx="128016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₱1,050,375</a:t>
            </a:r>
            <a:endParaRPr lang="en-US" sz="1200" dirty="0"/>
          </a:p>
        </p:txBody>
      </p:sp>
      <p:sp>
        <p:nvSpPr>
          <p:cNvPr id="16" name="Text 14"/>
          <p:cNvSpPr/>
          <p:nvPr/>
        </p:nvSpPr>
        <p:spPr>
          <a:xfrm>
            <a:off x="6537960" y="2231136"/>
            <a:ext cx="155448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₱4,067,902</a:t>
            </a:r>
            <a:endParaRPr lang="en-US" sz="1200" dirty="0"/>
          </a:p>
        </p:txBody>
      </p:sp>
      <p:sp>
        <p:nvSpPr>
          <p:cNvPr id="17" name="Text 15"/>
          <p:cNvSpPr/>
          <p:nvPr/>
        </p:nvSpPr>
        <p:spPr>
          <a:xfrm>
            <a:off x="8183880" y="2231136"/>
            <a:ext cx="603504" cy="402336"/>
          </a:xfrm>
          <a:prstGeom prst="rect">
            <a:avLst/>
          </a:prstGeom>
          <a:noFill/>
          <a:ln/>
        </p:spPr>
        <p:txBody>
          <a:bodyPr wrap="square" lIns="0" tIns="0" rIns="0" bIns="0" rtlCol="0" anchor="ctr"/>
          <a:lstStyle/>
          <a:p>
            <a:pPr algn="r" indent="0" marL="0">
              <a:buNone/>
            </a:pPr>
            <a:r>
              <a:rPr lang="en-US" sz="1200" b="1" dirty="0">
                <a:solidFill>
                  <a:srgbClr val="0F172A"/>
                </a:solidFill>
                <a:latin typeface="Cambria" pitchFamily="34" charset="0"/>
                <a:ea typeface="Cambria" pitchFamily="34" charset="-122"/>
                <a:cs typeface="Cambria" pitchFamily="34" charset="-120"/>
              </a:rPr>
              <a:t>4.9</a:t>
            </a:r>
            <a:endParaRPr lang="en-US" sz="1200" dirty="0"/>
          </a:p>
        </p:txBody>
      </p:sp>
      <p:sp>
        <p:nvSpPr>
          <p:cNvPr id="18" name="Text 16"/>
          <p:cNvSpPr/>
          <p:nvPr/>
        </p:nvSpPr>
        <p:spPr>
          <a:xfrm>
            <a:off x="8869680" y="2231136"/>
            <a:ext cx="1700784"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₱3,213,452</a:t>
            </a:r>
            <a:endParaRPr lang="en-US" sz="1200" dirty="0"/>
          </a:p>
        </p:txBody>
      </p:sp>
      <p:sp>
        <p:nvSpPr>
          <p:cNvPr id="19" name="Text 17"/>
          <p:cNvSpPr/>
          <p:nvPr/>
        </p:nvSpPr>
        <p:spPr>
          <a:xfrm>
            <a:off x="10652760" y="2231136"/>
            <a:ext cx="713232"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12 mo</a:t>
            </a:r>
            <a:endParaRPr lang="en-US" sz="1200" dirty="0"/>
          </a:p>
        </p:txBody>
      </p:sp>
      <p:sp>
        <p:nvSpPr>
          <p:cNvPr id="20" name="Shape 18"/>
          <p:cNvSpPr/>
          <p:nvPr/>
        </p:nvSpPr>
        <p:spPr>
          <a:xfrm>
            <a:off x="694944" y="2715768"/>
            <a:ext cx="10799064" cy="457200"/>
          </a:xfrm>
          <a:prstGeom prst="roundRect">
            <a:avLst>
              <a:gd name="adj" fmla="val 12000"/>
            </a:avLst>
          </a:prstGeom>
          <a:solidFill>
            <a:srgbClr val="FEF2F2"/>
          </a:solidFill>
          <a:ln w="12700">
            <a:solidFill>
              <a:srgbClr val="FEF2F2"/>
            </a:solidFill>
            <a:prstDash val="solid"/>
          </a:ln>
        </p:spPr>
      </p:sp>
      <p:sp>
        <p:nvSpPr>
          <p:cNvPr id="21" name="Text 19"/>
          <p:cNvSpPr/>
          <p:nvPr/>
        </p:nvSpPr>
        <p:spPr>
          <a:xfrm>
            <a:off x="822960" y="2743200"/>
            <a:ext cx="3291840" cy="402336"/>
          </a:xfrm>
          <a:prstGeom prst="rect">
            <a:avLst/>
          </a:prstGeom>
          <a:noFill/>
          <a:ln/>
        </p:spPr>
        <p:txBody>
          <a:bodyPr wrap="square" lIns="0" tIns="0" rIns="0" bIns="0" rtlCol="0" anchor="ctr"/>
          <a:lstStyle/>
          <a:p>
            <a:pPr algn="l" indent="0" marL="0">
              <a:buNone/>
            </a:pPr>
            <a:r>
              <a:rPr lang="en-US" sz="1300" b="1" dirty="0">
                <a:solidFill>
                  <a:srgbClr val="0F172A"/>
                </a:solidFill>
                <a:latin typeface="Calibri" pitchFamily="34" charset="0"/>
                <a:ea typeface="Calibri" pitchFamily="34" charset="-122"/>
                <a:cs typeface="Calibri" pitchFamily="34" charset="-120"/>
              </a:rPr>
              <a:t>Base — 4 hires/yr</a:t>
            </a:r>
            <a:endParaRPr lang="en-US" sz="1300" dirty="0"/>
          </a:p>
        </p:txBody>
      </p:sp>
      <p:sp>
        <p:nvSpPr>
          <p:cNvPr id="22" name="Text 20"/>
          <p:cNvSpPr/>
          <p:nvPr/>
        </p:nvSpPr>
        <p:spPr>
          <a:xfrm>
            <a:off x="3657600" y="2743200"/>
            <a:ext cx="1417320" cy="402336"/>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₱7,126,154</a:t>
            </a:r>
            <a:endParaRPr lang="en-US" sz="1300" dirty="0"/>
          </a:p>
        </p:txBody>
      </p:sp>
      <p:sp>
        <p:nvSpPr>
          <p:cNvPr id="23" name="Text 21"/>
          <p:cNvSpPr/>
          <p:nvPr/>
        </p:nvSpPr>
        <p:spPr>
          <a:xfrm>
            <a:off x="5166360" y="2743200"/>
            <a:ext cx="1280160" cy="402336"/>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₱1,050,375</a:t>
            </a:r>
            <a:endParaRPr lang="en-US" sz="1300" dirty="0"/>
          </a:p>
        </p:txBody>
      </p:sp>
      <p:sp>
        <p:nvSpPr>
          <p:cNvPr id="24" name="Text 22"/>
          <p:cNvSpPr/>
          <p:nvPr/>
        </p:nvSpPr>
        <p:spPr>
          <a:xfrm>
            <a:off x="6537960" y="2743200"/>
            <a:ext cx="1554480" cy="402336"/>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₱6,075,779</a:t>
            </a:r>
            <a:endParaRPr lang="en-US" sz="1300" dirty="0"/>
          </a:p>
        </p:txBody>
      </p:sp>
      <p:sp>
        <p:nvSpPr>
          <p:cNvPr id="25" name="Text 23"/>
          <p:cNvSpPr/>
          <p:nvPr/>
        </p:nvSpPr>
        <p:spPr>
          <a:xfrm>
            <a:off x="8183880" y="2743200"/>
            <a:ext cx="603504" cy="402336"/>
          </a:xfrm>
          <a:prstGeom prst="rect">
            <a:avLst/>
          </a:prstGeom>
          <a:noFill/>
          <a:ln/>
        </p:spPr>
        <p:txBody>
          <a:bodyPr wrap="square" lIns="0" tIns="0" rIns="0" bIns="0" rtlCol="0" anchor="ctr"/>
          <a:lstStyle/>
          <a:p>
            <a:pPr algn="r" indent="0" marL="0">
              <a:buNone/>
            </a:pPr>
            <a:r>
              <a:rPr lang="en-US" sz="1300" b="1" dirty="0">
                <a:solidFill>
                  <a:srgbClr val="C00000"/>
                </a:solidFill>
                <a:latin typeface="Cambria" pitchFamily="34" charset="0"/>
                <a:ea typeface="Cambria" pitchFamily="34" charset="-122"/>
                <a:cs typeface="Cambria" pitchFamily="34" charset="-120"/>
              </a:rPr>
              <a:t>6.8</a:t>
            </a:r>
            <a:endParaRPr lang="en-US" sz="1300" dirty="0"/>
          </a:p>
        </p:txBody>
      </p:sp>
      <p:sp>
        <p:nvSpPr>
          <p:cNvPr id="26" name="Text 24"/>
          <p:cNvSpPr/>
          <p:nvPr/>
        </p:nvSpPr>
        <p:spPr>
          <a:xfrm>
            <a:off x="8869680" y="2743200"/>
            <a:ext cx="1700784" cy="402336"/>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₱4,837,655</a:t>
            </a:r>
            <a:endParaRPr lang="en-US" sz="1300" dirty="0"/>
          </a:p>
        </p:txBody>
      </p:sp>
      <p:sp>
        <p:nvSpPr>
          <p:cNvPr id="27" name="Text 25"/>
          <p:cNvSpPr/>
          <p:nvPr/>
        </p:nvSpPr>
        <p:spPr>
          <a:xfrm>
            <a:off x="10652760" y="2743200"/>
            <a:ext cx="713232" cy="402336"/>
          </a:xfrm>
          <a:prstGeom prst="rect">
            <a:avLst/>
          </a:prstGeom>
          <a:noFill/>
          <a:ln/>
        </p:spPr>
        <p:txBody>
          <a:bodyPr wrap="square" lIns="0" tIns="0" rIns="0" bIns="0" rtlCol="0" anchor="ctr"/>
          <a:lstStyle/>
          <a:p>
            <a:pPr algn="r" indent="0" marL="0">
              <a:buNone/>
            </a:pPr>
            <a:r>
              <a:rPr lang="en-US" sz="1300" b="1" dirty="0">
                <a:solidFill>
                  <a:srgbClr val="0F172A"/>
                </a:solidFill>
                <a:latin typeface="Cambria" pitchFamily="34" charset="0"/>
                <a:ea typeface="Cambria" pitchFamily="34" charset="-122"/>
                <a:cs typeface="Cambria" pitchFamily="34" charset="-120"/>
              </a:rPr>
              <a:t>9 mo</a:t>
            </a:r>
            <a:endParaRPr lang="en-US" sz="1300" dirty="0"/>
          </a:p>
        </p:txBody>
      </p:sp>
      <p:sp>
        <p:nvSpPr>
          <p:cNvPr id="28" name="Text 26"/>
          <p:cNvSpPr/>
          <p:nvPr/>
        </p:nvSpPr>
        <p:spPr>
          <a:xfrm>
            <a:off x="822960" y="3255264"/>
            <a:ext cx="3291840" cy="402336"/>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Optimistic — 7 hires/yr</a:t>
            </a:r>
            <a:endParaRPr lang="en-US" sz="1200" dirty="0"/>
          </a:p>
        </p:txBody>
      </p:sp>
      <p:sp>
        <p:nvSpPr>
          <p:cNvPr id="29" name="Text 27"/>
          <p:cNvSpPr/>
          <p:nvPr/>
        </p:nvSpPr>
        <p:spPr>
          <a:xfrm>
            <a:off x="3657600" y="3255264"/>
            <a:ext cx="141732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₱10,137,969</a:t>
            </a:r>
            <a:endParaRPr lang="en-US" sz="1200" dirty="0"/>
          </a:p>
        </p:txBody>
      </p:sp>
      <p:sp>
        <p:nvSpPr>
          <p:cNvPr id="30" name="Text 28"/>
          <p:cNvSpPr/>
          <p:nvPr/>
        </p:nvSpPr>
        <p:spPr>
          <a:xfrm>
            <a:off x="5166360" y="3255264"/>
            <a:ext cx="128016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₱1,050,375</a:t>
            </a:r>
            <a:endParaRPr lang="en-US" sz="1200" dirty="0"/>
          </a:p>
        </p:txBody>
      </p:sp>
      <p:sp>
        <p:nvSpPr>
          <p:cNvPr id="31" name="Text 29"/>
          <p:cNvSpPr/>
          <p:nvPr/>
        </p:nvSpPr>
        <p:spPr>
          <a:xfrm>
            <a:off x="6537960" y="3255264"/>
            <a:ext cx="155448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₱9,087,594</a:t>
            </a:r>
            <a:endParaRPr lang="en-US" sz="1200" dirty="0"/>
          </a:p>
        </p:txBody>
      </p:sp>
      <p:sp>
        <p:nvSpPr>
          <p:cNvPr id="32" name="Text 30"/>
          <p:cNvSpPr/>
          <p:nvPr/>
        </p:nvSpPr>
        <p:spPr>
          <a:xfrm>
            <a:off x="8183880" y="3255264"/>
            <a:ext cx="603504" cy="402336"/>
          </a:xfrm>
          <a:prstGeom prst="rect">
            <a:avLst/>
          </a:prstGeom>
          <a:noFill/>
          <a:ln/>
        </p:spPr>
        <p:txBody>
          <a:bodyPr wrap="square" lIns="0" tIns="0" rIns="0" bIns="0" rtlCol="0" anchor="ctr"/>
          <a:lstStyle/>
          <a:p>
            <a:pPr algn="r" indent="0" marL="0">
              <a:buNone/>
            </a:pPr>
            <a:r>
              <a:rPr lang="en-US" sz="1200" b="1" dirty="0">
                <a:solidFill>
                  <a:srgbClr val="0F172A"/>
                </a:solidFill>
                <a:latin typeface="Cambria" pitchFamily="34" charset="0"/>
                <a:ea typeface="Cambria" pitchFamily="34" charset="-122"/>
                <a:cs typeface="Cambria" pitchFamily="34" charset="-120"/>
              </a:rPr>
              <a:t>9.7</a:t>
            </a:r>
            <a:endParaRPr lang="en-US" sz="1200" dirty="0"/>
          </a:p>
        </p:txBody>
      </p:sp>
      <p:sp>
        <p:nvSpPr>
          <p:cNvPr id="33" name="Text 31"/>
          <p:cNvSpPr/>
          <p:nvPr/>
        </p:nvSpPr>
        <p:spPr>
          <a:xfrm>
            <a:off x="8869680" y="3255264"/>
            <a:ext cx="1700784"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₱7,273,959</a:t>
            </a:r>
            <a:endParaRPr lang="en-US" sz="1200" dirty="0"/>
          </a:p>
        </p:txBody>
      </p:sp>
      <p:sp>
        <p:nvSpPr>
          <p:cNvPr id="34" name="Text 32"/>
          <p:cNvSpPr/>
          <p:nvPr/>
        </p:nvSpPr>
        <p:spPr>
          <a:xfrm>
            <a:off x="10652760" y="3255264"/>
            <a:ext cx="713232"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7 mo</a:t>
            </a:r>
            <a:endParaRPr lang="en-US" sz="1200" dirty="0"/>
          </a:p>
        </p:txBody>
      </p:sp>
      <p:sp>
        <p:nvSpPr>
          <p:cNvPr id="35" name="Shape 33"/>
          <p:cNvSpPr/>
          <p:nvPr/>
        </p:nvSpPr>
        <p:spPr>
          <a:xfrm>
            <a:off x="822960" y="3730752"/>
            <a:ext cx="10543032" cy="0"/>
          </a:xfrm>
          <a:prstGeom prst="line">
            <a:avLst/>
          </a:prstGeom>
          <a:noFill/>
          <a:ln w="12700">
            <a:solidFill>
              <a:srgbClr val="E2E8F0"/>
            </a:solidFill>
            <a:prstDash val="solid"/>
          </a:ln>
        </p:spPr>
      </p:sp>
      <p:sp>
        <p:nvSpPr>
          <p:cNvPr id="36" name="Text 34"/>
          <p:cNvSpPr/>
          <p:nvPr/>
        </p:nvSpPr>
        <p:spPr>
          <a:xfrm>
            <a:off x="822960" y="3767328"/>
            <a:ext cx="3291840" cy="402336"/>
          </a:xfrm>
          <a:prstGeom prst="rect">
            <a:avLst/>
          </a:prstGeom>
          <a:noFill/>
          <a:ln/>
        </p:spPr>
        <p:txBody>
          <a:bodyPr wrap="square" lIns="0" tIns="0" rIns="0" bIns="0" rtlCol="0" anchor="ctr"/>
          <a:lstStyle/>
          <a:p>
            <a:pPr algn="l" indent="0" marL="0">
              <a:buNone/>
            </a:pPr>
            <a:r>
              <a:rPr lang="en-US" sz="1200" i="1" dirty="0">
                <a:solidFill>
                  <a:srgbClr val="64748B"/>
                </a:solidFill>
                <a:latin typeface="Calibri" pitchFamily="34" charset="0"/>
                <a:ea typeface="Calibri" pitchFamily="34" charset="-122"/>
                <a:cs typeface="Calibri" pitchFamily="34" charset="-120"/>
              </a:rPr>
              <a:t>Retention excluded entirely</a:t>
            </a:r>
            <a:endParaRPr lang="en-US" sz="1200" dirty="0"/>
          </a:p>
        </p:txBody>
      </p:sp>
      <p:sp>
        <p:nvSpPr>
          <p:cNvPr id="37" name="Text 35"/>
          <p:cNvSpPr/>
          <p:nvPr/>
        </p:nvSpPr>
        <p:spPr>
          <a:xfrm>
            <a:off x="3657600" y="3767328"/>
            <a:ext cx="141732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₱4,015,754</a:t>
            </a:r>
            <a:endParaRPr lang="en-US" sz="1200" dirty="0"/>
          </a:p>
        </p:txBody>
      </p:sp>
      <p:sp>
        <p:nvSpPr>
          <p:cNvPr id="38" name="Text 36"/>
          <p:cNvSpPr/>
          <p:nvPr/>
        </p:nvSpPr>
        <p:spPr>
          <a:xfrm>
            <a:off x="5166360" y="3767328"/>
            <a:ext cx="128016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₱1,050,375</a:t>
            </a:r>
            <a:endParaRPr lang="en-US" sz="1200" dirty="0"/>
          </a:p>
        </p:txBody>
      </p:sp>
      <p:sp>
        <p:nvSpPr>
          <p:cNvPr id="39" name="Text 37"/>
          <p:cNvSpPr/>
          <p:nvPr/>
        </p:nvSpPr>
        <p:spPr>
          <a:xfrm>
            <a:off x="6537960" y="3767328"/>
            <a:ext cx="155448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₱2,965,379</a:t>
            </a:r>
            <a:endParaRPr lang="en-US" sz="1200" dirty="0"/>
          </a:p>
        </p:txBody>
      </p:sp>
      <p:sp>
        <p:nvSpPr>
          <p:cNvPr id="40" name="Text 38"/>
          <p:cNvSpPr/>
          <p:nvPr/>
        </p:nvSpPr>
        <p:spPr>
          <a:xfrm>
            <a:off x="8183880" y="3767328"/>
            <a:ext cx="603504" cy="402336"/>
          </a:xfrm>
          <a:prstGeom prst="rect">
            <a:avLst/>
          </a:prstGeom>
          <a:noFill/>
          <a:ln/>
        </p:spPr>
        <p:txBody>
          <a:bodyPr wrap="square" lIns="0" tIns="0" rIns="0" bIns="0" rtlCol="0" anchor="ctr"/>
          <a:lstStyle/>
          <a:p>
            <a:pPr algn="r" indent="0" marL="0">
              <a:buNone/>
            </a:pPr>
            <a:r>
              <a:rPr lang="en-US" sz="1200" b="1" dirty="0">
                <a:solidFill>
                  <a:srgbClr val="64748B"/>
                </a:solidFill>
                <a:latin typeface="Cambria" pitchFamily="34" charset="0"/>
                <a:ea typeface="Cambria" pitchFamily="34" charset="-122"/>
                <a:cs typeface="Cambria" pitchFamily="34" charset="-120"/>
              </a:rPr>
              <a:t>3.8</a:t>
            </a:r>
            <a:endParaRPr lang="en-US" sz="1200" dirty="0"/>
          </a:p>
        </p:txBody>
      </p:sp>
      <p:sp>
        <p:nvSpPr>
          <p:cNvPr id="41" name="Text 39"/>
          <p:cNvSpPr/>
          <p:nvPr/>
        </p:nvSpPr>
        <p:spPr>
          <a:xfrm>
            <a:off x="8869680" y="3767328"/>
            <a:ext cx="1700784"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₱2,321,604</a:t>
            </a:r>
            <a:endParaRPr lang="en-US" sz="1200" dirty="0"/>
          </a:p>
        </p:txBody>
      </p:sp>
      <p:sp>
        <p:nvSpPr>
          <p:cNvPr id="42" name="Text 40"/>
          <p:cNvSpPr/>
          <p:nvPr/>
        </p:nvSpPr>
        <p:spPr>
          <a:xfrm>
            <a:off x="10652760" y="3767328"/>
            <a:ext cx="713232"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14 mo</a:t>
            </a:r>
            <a:endParaRPr lang="en-US" sz="1200" dirty="0"/>
          </a:p>
        </p:txBody>
      </p:sp>
      <p:sp>
        <p:nvSpPr>
          <p:cNvPr id="43" name="Text 41"/>
          <p:cNvSpPr/>
          <p:nvPr/>
        </p:nvSpPr>
        <p:spPr>
          <a:xfrm>
            <a:off x="822960" y="4279392"/>
            <a:ext cx="3291840" cy="402336"/>
          </a:xfrm>
          <a:prstGeom prst="rect">
            <a:avLst/>
          </a:prstGeom>
          <a:noFill/>
          <a:ln/>
        </p:spPr>
        <p:txBody>
          <a:bodyPr wrap="square" lIns="0" tIns="0" rIns="0" bIns="0" rtlCol="0" anchor="ctr"/>
          <a:lstStyle/>
          <a:p>
            <a:pPr algn="l" indent="0" marL="0">
              <a:buNone/>
            </a:pPr>
            <a:r>
              <a:rPr lang="en-US" sz="1200" i="1" dirty="0">
                <a:solidFill>
                  <a:srgbClr val="64748B"/>
                </a:solidFill>
                <a:latin typeface="Calibri" pitchFamily="34" charset="0"/>
                <a:ea typeface="Calibri" pitchFamily="34" charset="-122"/>
                <a:cs typeface="Calibri" pitchFamily="34" charset="-120"/>
              </a:rPr>
              <a:t>Retention only, zero hires</a:t>
            </a:r>
            <a:endParaRPr lang="en-US" sz="1200" dirty="0"/>
          </a:p>
        </p:txBody>
      </p:sp>
      <p:sp>
        <p:nvSpPr>
          <p:cNvPr id="44" name="Text 42"/>
          <p:cNvSpPr/>
          <p:nvPr/>
        </p:nvSpPr>
        <p:spPr>
          <a:xfrm>
            <a:off x="3657600" y="4279392"/>
            <a:ext cx="141732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₱3,110,400</a:t>
            </a:r>
            <a:endParaRPr lang="en-US" sz="1200" dirty="0"/>
          </a:p>
        </p:txBody>
      </p:sp>
      <p:sp>
        <p:nvSpPr>
          <p:cNvPr id="45" name="Text 43"/>
          <p:cNvSpPr/>
          <p:nvPr/>
        </p:nvSpPr>
        <p:spPr>
          <a:xfrm>
            <a:off x="5166360" y="4279392"/>
            <a:ext cx="128016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₱1,050,375</a:t>
            </a:r>
            <a:endParaRPr lang="en-US" sz="1200" dirty="0"/>
          </a:p>
        </p:txBody>
      </p:sp>
      <p:sp>
        <p:nvSpPr>
          <p:cNvPr id="46" name="Text 44"/>
          <p:cNvSpPr/>
          <p:nvPr/>
        </p:nvSpPr>
        <p:spPr>
          <a:xfrm>
            <a:off x="6537960" y="4279392"/>
            <a:ext cx="1554480"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₱2,060,025</a:t>
            </a:r>
            <a:endParaRPr lang="en-US" sz="1200" dirty="0"/>
          </a:p>
        </p:txBody>
      </p:sp>
      <p:sp>
        <p:nvSpPr>
          <p:cNvPr id="47" name="Text 45"/>
          <p:cNvSpPr/>
          <p:nvPr/>
        </p:nvSpPr>
        <p:spPr>
          <a:xfrm>
            <a:off x="8183880" y="4279392"/>
            <a:ext cx="603504" cy="402336"/>
          </a:xfrm>
          <a:prstGeom prst="rect">
            <a:avLst/>
          </a:prstGeom>
          <a:noFill/>
          <a:ln/>
        </p:spPr>
        <p:txBody>
          <a:bodyPr wrap="square" lIns="0" tIns="0" rIns="0" bIns="0" rtlCol="0" anchor="ctr"/>
          <a:lstStyle/>
          <a:p>
            <a:pPr algn="r" indent="0" marL="0">
              <a:buNone/>
            </a:pPr>
            <a:r>
              <a:rPr lang="en-US" sz="1200" b="1" dirty="0">
                <a:solidFill>
                  <a:srgbClr val="64748B"/>
                </a:solidFill>
                <a:latin typeface="Cambria" pitchFamily="34" charset="0"/>
                <a:ea typeface="Cambria" pitchFamily="34" charset="-122"/>
                <a:cs typeface="Cambria" pitchFamily="34" charset="-120"/>
              </a:rPr>
              <a:t>3.0</a:t>
            </a:r>
            <a:endParaRPr lang="en-US" sz="1200" dirty="0"/>
          </a:p>
        </p:txBody>
      </p:sp>
      <p:sp>
        <p:nvSpPr>
          <p:cNvPr id="48" name="Text 46"/>
          <p:cNvSpPr/>
          <p:nvPr/>
        </p:nvSpPr>
        <p:spPr>
          <a:xfrm>
            <a:off x="8869680" y="4279392"/>
            <a:ext cx="1700784"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₱1,589,249</a:t>
            </a:r>
            <a:endParaRPr lang="en-US" sz="1200" dirty="0"/>
          </a:p>
        </p:txBody>
      </p:sp>
      <p:sp>
        <p:nvSpPr>
          <p:cNvPr id="49" name="Text 47"/>
          <p:cNvSpPr/>
          <p:nvPr/>
        </p:nvSpPr>
        <p:spPr>
          <a:xfrm>
            <a:off x="10652760" y="4279392"/>
            <a:ext cx="713232" cy="402336"/>
          </a:xfrm>
          <a:prstGeom prst="rect">
            <a:avLst/>
          </a:prstGeom>
          <a:noFill/>
          <a:ln/>
        </p:spPr>
        <p:txBody>
          <a:bodyPr wrap="square" lIns="0" tIns="0" rIns="0" bIns="0" rtlCol="0" anchor="ctr"/>
          <a:lstStyle/>
          <a:p>
            <a:pPr algn="r" indent="0" marL="0">
              <a:buNone/>
            </a:pPr>
            <a:r>
              <a:rPr lang="en-US" sz="1200" dirty="0">
                <a:solidFill>
                  <a:srgbClr val="64748B"/>
                </a:solidFill>
                <a:latin typeface="Cambria" pitchFamily="34" charset="0"/>
                <a:ea typeface="Cambria" pitchFamily="34" charset="-122"/>
                <a:cs typeface="Cambria" pitchFamily="34" charset="-120"/>
              </a:rPr>
              <a:t>16 mo</a:t>
            </a:r>
            <a:endParaRPr lang="en-US" sz="1200" dirty="0"/>
          </a:p>
        </p:txBody>
      </p:sp>
      <p:sp>
        <p:nvSpPr>
          <p:cNvPr id="50" name="Shape 48"/>
          <p:cNvSpPr/>
          <p:nvPr/>
        </p:nvSpPr>
        <p:spPr>
          <a:xfrm>
            <a:off x="566928" y="5084064"/>
            <a:ext cx="11055096" cy="1170432"/>
          </a:xfrm>
          <a:prstGeom prst="roundRect">
            <a:avLst>
              <a:gd name="adj" fmla="val 7031"/>
            </a:avLst>
          </a:prstGeom>
          <a:solidFill>
            <a:srgbClr val="0F172A"/>
          </a:solidFill>
          <a:ln w="12700">
            <a:solidFill>
              <a:srgbClr val="0F172A"/>
            </a:solidFill>
            <a:prstDash val="solid"/>
          </a:ln>
          <a:effectLst>
            <a:outerShdw sx="100000" sy="100000" kx="0" ky="0" algn="bl" rotWithShape="0" blurRad="114300" dist="17780" dir="5400000">
              <a:srgbClr val="0F172A">
                <a:alpha val="7000"/>
              </a:srgbClr>
            </a:outerShdw>
          </a:effectLst>
        </p:spPr>
      </p:sp>
      <p:sp>
        <p:nvSpPr>
          <p:cNvPr id="51" name="Text 49"/>
          <p:cNvSpPr/>
          <p:nvPr/>
        </p:nvSpPr>
        <p:spPr>
          <a:xfrm>
            <a:off x="877824" y="5084064"/>
            <a:ext cx="10433304" cy="1170432"/>
          </a:xfrm>
          <a:prstGeom prst="rect">
            <a:avLst/>
          </a:prstGeom>
          <a:noFill/>
          <a:ln/>
        </p:spPr>
        <p:txBody>
          <a:bodyPr wrap="square" lIns="0" tIns="0" rIns="0" bIns="0" rtlCol="0" anchor="ctr"/>
          <a:lstStyle/>
          <a:p>
            <a:pPr indent="0" marL="0">
              <a:lnSpc>
                <a:spcPts val="1900"/>
              </a:lnSpc>
              <a:buNone/>
            </a:pPr>
            <a:r>
              <a:rPr lang="en-US" sz="1300" b="1" dirty="0">
                <a:solidFill>
                  <a:srgbClr val="FFFFFF"/>
                </a:solidFill>
                <a:latin typeface="Calibri" pitchFamily="34" charset="0"/>
                <a:ea typeface="Calibri" pitchFamily="34" charset="-122"/>
                <a:cs typeface="Calibri" pitchFamily="34" charset="-120"/>
              </a:rPr>
              <a:t>The case survives the removal of either stream.  </a:t>
            </a:r>
            <a:pPr indent="0" marL="0">
              <a:lnSpc>
                <a:spcPts val="1900"/>
              </a:lnSpc>
              <a:buNone/>
            </a:pPr>
            <a:r>
              <a:rPr lang="en-US" sz="1300" dirty="0">
                <a:solidFill>
                  <a:srgbClr val="CBD5E1"/>
                </a:solidFill>
                <a:latin typeface="Calibri" pitchFamily="34" charset="0"/>
                <a:ea typeface="Calibri" pitchFamily="34" charset="-122"/>
                <a:cs typeface="Calibri" pitchFamily="34" charset="-120"/>
              </a:rPr>
              <a:t>Strip retention out — the softest input — and it is still 3.8. Strip out every vacancy hire instead and retention alone repays the three-year cost in 0.8 years. Both halves would have to be wrong at once.  </a:t>
            </a:r>
            <a:pPr indent="0" marL="0">
              <a:lnSpc>
                <a:spcPts val="1900"/>
              </a:lnSpc>
              <a:buNone/>
            </a:pPr>
            <a:r>
              <a:rPr lang="en-US" sz="1300" b="1" dirty="0">
                <a:solidFill>
                  <a:srgbClr val="16A34A"/>
                </a:solidFill>
                <a:latin typeface="Calibri" pitchFamily="34" charset="0"/>
                <a:ea typeface="Calibri" pitchFamily="34" charset="-122"/>
                <a:cs typeface="Calibri" pitchFamily="34" charset="-120"/>
              </a:rPr>
              <a:t>Break-even is 1.0 attributed hires a year — one internal fill out of roughly 60 requisitions.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402336"/>
            <a:ext cx="11055096" cy="56692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What would break the case</a:t>
            </a:r>
            <a:endParaRPr lang="en-US" sz="3300" dirty="0"/>
          </a:p>
        </p:txBody>
      </p:sp>
      <p:sp>
        <p:nvSpPr>
          <p:cNvPr id="3" name="Text 1"/>
          <p:cNvSpPr/>
          <p:nvPr/>
        </p:nvSpPr>
        <p:spPr>
          <a:xfrm>
            <a:off x="566928" y="1005840"/>
            <a:ext cx="11055096"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One of these is a gating item. The rest are survivable and already modelled.</a:t>
            </a:r>
            <a:endParaRPr lang="en-US" sz="1350" dirty="0"/>
          </a:p>
        </p:txBody>
      </p:sp>
      <p:sp>
        <p:nvSpPr>
          <p:cNvPr id="4" name="Shape 2"/>
          <p:cNvSpPr/>
          <p:nvPr/>
        </p:nvSpPr>
        <p:spPr>
          <a:xfrm>
            <a:off x="566928" y="1609344"/>
            <a:ext cx="5390388" cy="1481328"/>
          </a:xfrm>
          <a:prstGeom prst="roundRect">
            <a:avLst>
              <a:gd name="adj" fmla="val 5556"/>
            </a:avLst>
          </a:prstGeom>
          <a:solidFill>
            <a:srgbClr val="FEF2F2"/>
          </a:solidFill>
          <a:ln w="12700">
            <a:solidFill>
              <a:srgbClr val="FEF2F2"/>
            </a:solidFill>
            <a:prstDash val="solid"/>
          </a:ln>
          <a:effectLst>
            <a:outerShdw sx="100000" sy="100000" kx="0" ky="0" algn="bl" rotWithShape="0" blurRad="114300" dist="17780" dir="5400000">
              <a:srgbClr val="0F172A">
                <a:alpha val="7000"/>
              </a:srgbClr>
            </a:outerShdw>
          </a:effectLst>
        </p:spPr>
      </p:sp>
      <p:sp>
        <p:nvSpPr>
          <p:cNvPr id="5" name="Text 3"/>
          <p:cNvSpPr/>
          <p:nvPr/>
        </p:nvSpPr>
        <p:spPr>
          <a:xfrm>
            <a:off x="822960" y="1755648"/>
            <a:ext cx="4878324" cy="292608"/>
          </a:xfrm>
          <a:prstGeom prst="rect">
            <a:avLst/>
          </a:prstGeom>
          <a:noFill/>
          <a:ln/>
        </p:spPr>
        <p:txBody>
          <a:bodyPr wrap="square" lIns="0" tIns="0" rIns="0" bIns="0" rtlCol="0" anchor="ctr"/>
          <a:lstStyle/>
          <a:p>
            <a:pPr indent="0" marL="0">
              <a:buNone/>
            </a:pPr>
            <a:r>
              <a:rPr lang="en-US" sz="1450" b="1" dirty="0">
                <a:solidFill>
                  <a:srgbClr val="C00000"/>
                </a:solidFill>
                <a:latin typeface="Cambria" pitchFamily="34" charset="0"/>
                <a:ea typeface="Cambria" pitchFamily="34" charset="-122"/>
                <a:cs typeface="Cambria" pitchFamily="34" charset="-120"/>
              </a:rPr>
              <a:t>Recruitment declines the source field</a:t>
            </a:r>
            <a:endParaRPr lang="en-US" sz="1450" dirty="0"/>
          </a:p>
        </p:txBody>
      </p:sp>
      <p:sp>
        <p:nvSpPr>
          <p:cNvPr id="6" name="Text 4"/>
          <p:cNvSpPr/>
          <p:nvPr/>
        </p:nvSpPr>
        <p:spPr>
          <a:xfrm>
            <a:off x="822960" y="2103120"/>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Every attributed peso becomes unprovable and Q1 measurement disappears. BCR falls to 3.0.</a:t>
            </a:r>
            <a:endParaRPr lang="en-US" sz="1150" dirty="0"/>
          </a:p>
        </p:txBody>
      </p:sp>
      <p:sp>
        <p:nvSpPr>
          <p:cNvPr id="7" name="Text 5"/>
          <p:cNvSpPr/>
          <p:nvPr/>
        </p:nvSpPr>
        <p:spPr>
          <a:xfrm>
            <a:off x="822960" y="2578608"/>
            <a:ext cx="4878324" cy="402336"/>
          </a:xfrm>
          <a:prstGeom prst="rect">
            <a:avLst/>
          </a:prstGeom>
          <a:noFill/>
          <a:ln/>
        </p:spPr>
        <p:txBody>
          <a:bodyPr wrap="square" lIns="0" tIns="0" rIns="0" bIns="0" rtlCol="0" anchor="ctr"/>
          <a:lstStyle/>
          <a:p>
            <a:pPr indent="0" marL="0">
              <a:buNone/>
            </a:pPr>
            <a:r>
              <a:rPr lang="en-US" sz="1150" b="1" dirty="0">
                <a:solidFill>
                  <a:srgbClr val="C00000"/>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Secure it before committing to the build. It is a form configuration change, not an integration.</a:t>
            </a:r>
            <a:endParaRPr lang="en-US" sz="1150" dirty="0"/>
          </a:p>
        </p:txBody>
      </p:sp>
      <p:sp>
        <p:nvSpPr>
          <p:cNvPr id="8" name="Shape 6"/>
          <p:cNvSpPr/>
          <p:nvPr/>
        </p:nvSpPr>
        <p:spPr>
          <a:xfrm>
            <a:off x="6231636" y="1609344"/>
            <a:ext cx="5390388" cy="1481328"/>
          </a:xfrm>
          <a:prstGeom prst="roundRect">
            <a:avLst>
              <a:gd name="adj" fmla="val 5556"/>
            </a:avLst>
          </a:prstGeom>
          <a:solidFill>
            <a:srgbClr val="FEF2F2"/>
          </a:solidFill>
          <a:ln w="12700">
            <a:solidFill>
              <a:srgbClr val="FEF2F2"/>
            </a:solidFill>
            <a:prstDash val="solid"/>
          </a:ln>
          <a:effectLst>
            <a:outerShdw sx="100000" sy="100000" kx="0" ky="0" algn="bl" rotWithShape="0" blurRad="114300" dist="17780" dir="5400000">
              <a:srgbClr val="0F172A">
                <a:alpha val="7000"/>
              </a:srgbClr>
            </a:outerShdw>
          </a:effectLst>
        </p:spPr>
      </p:sp>
      <p:sp>
        <p:nvSpPr>
          <p:cNvPr id="9" name="Text 7"/>
          <p:cNvSpPr/>
          <p:nvPr/>
        </p:nvSpPr>
        <p:spPr>
          <a:xfrm>
            <a:off x="6487668" y="1755648"/>
            <a:ext cx="4878324" cy="292608"/>
          </a:xfrm>
          <a:prstGeom prst="rect">
            <a:avLst/>
          </a:prstGeom>
          <a:noFill/>
          <a:ln/>
        </p:spPr>
        <p:txBody>
          <a:bodyPr wrap="square" lIns="0" tIns="0" rIns="0" bIns="0" rtlCol="0" anchor="ctr"/>
          <a:lstStyle/>
          <a:p>
            <a:pPr indent="0" marL="0">
              <a:buNone/>
            </a:pPr>
            <a:r>
              <a:rPr lang="en-US" sz="1450" b="1" dirty="0">
                <a:solidFill>
                  <a:srgbClr val="C00000"/>
                </a:solidFill>
                <a:latin typeface="Cambria" pitchFamily="34" charset="0"/>
                <a:ea typeface="Cambria" pitchFamily="34" charset="-122"/>
                <a:cs typeface="Cambria" pitchFamily="34" charset="-120"/>
              </a:rPr>
              <a:t>DPO blocks the referral log</a:t>
            </a:r>
            <a:endParaRPr lang="en-US" sz="1450" dirty="0"/>
          </a:p>
        </p:txBody>
      </p:sp>
      <p:sp>
        <p:nvSpPr>
          <p:cNvPr id="10" name="Text 8"/>
          <p:cNvSpPr/>
          <p:nvPr/>
        </p:nvSpPr>
        <p:spPr>
          <a:xfrm>
            <a:off x="6487668" y="2103120"/>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The whole attribution tier is unavailable. Retention benefits unaffected.</a:t>
            </a:r>
            <a:endParaRPr lang="en-US" sz="1150" dirty="0"/>
          </a:p>
        </p:txBody>
      </p:sp>
      <p:sp>
        <p:nvSpPr>
          <p:cNvPr id="11" name="Text 9"/>
          <p:cNvSpPr/>
          <p:nvPr/>
        </p:nvSpPr>
        <p:spPr>
          <a:xfrm>
            <a:off x="6487668" y="2578608"/>
            <a:ext cx="4878324" cy="402336"/>
          </a:xfrm>
          <a:prstGeom prst="rect">
            <a:avLst/>
          </a:prstGeom>
          <a:noFill/>
          <a:ln/>
        </p:spPr>
        <p:txBody>
          <a:bodyPr wrap="square" lIns="0" tIns="0" rIns="0" bIns="0" rtlCol="0" anchor="ctr"/>
          <a:lstStyle/>
          <a:p>
            <a:pPr indent="0" marL="0">
              <a:buNone/>
            </a:pPr>
            <a:r>
              <a:rPr lang="en-US" sz="1150" b="1" dirty="0">
                <a:solidFill>
                  <a:srgbClr val="C00000"/>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Get the position before build, not after. Gating item.</a:t>
            </a:r>
            <a:endParaRPr lang="en-US" sz="1150" dirty="0"/>
          </a:p>
        </p:txBody>
      </p:sp>
      <p:sp>
        <p:nvSpPr>
          <p:cNvPr id="12" name="Shape 10"/>
          <p:cNvSpPr/>
          <p:nvPr/>
        </p:nvSpPr>
        <p:spPr>
          <a:xfrm>
            <a:off x="566928" y="3236976"/>
            <a:ext cx="5390388"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3" name="Text 11"/>
          <p:cNvSpPr/>
          <p:nvPr/>
        </p:nvSpPr>
        <p:spPr>
          <a:xfrm>
            <a:off x="822960" y="3383280"/>
            <a:ext cx="4878324" cy="292608"/>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Retention lift is actually zero</a:t>
            </a:r>
            <a:endParaRPr lang="en-US" sz="1450" dirty="0"/>
          </a:p>
        </p:txBody>
      </p:sp>
      <p:sp>
        <p:nvSpPr>
          <p:cNvPr id="14" name="Text 12"/>
          <p:cNvSpPr/>
          <p:nvPr/>
        </p:nvSpPr>
        <p:spPr>
          <a:xfrm>
            <a:off x="822960" y="3730752"/>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Benefits fall to the attributed rows. Still BCR 3.8.</a:t>
            </a:r>
            <a:endParaRPr lang="en-US" sz="1150" dirty="0"/>
          </a:p>
        </p:txBody>
      </p:sp>
      <p:sp>
        <p:nvSpPr>
          <p:cNvPr id="15" name="Text 13"/>
          <p:cNvSpPr/>
          <p:nvPr/>
        </p:nvSpPr>
        <p:spPr>
          <a:xfrm>
            <a:off x="822960" y="4206240"/>
            <a:ext cx="4878324" cy="402336"/>
          </a:xfrm>
          <a:prstGeom prst="rect">
            <a:avLst/>
          </a:prstGeom>
          <a:noFill/>
          <a:ln/>
        </p:spPr>
        <p:txBody>
          <a:bodyPr wrap="square" lIns="0" tIns="0" rIns="0" bIns="0"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Already modelled. Run the promoted-vs-not holdout to measure it properly.</a:t>
            </a:r>
            <a:endParaRPr lang="en-US" sz="1150" dirty="0"/>
          </a:p>
        </p:txBody>
      </p:sp>
      <p:sp>
        <p:nvSpPr>
          <p:cNvPr id="16" name="Shape 14"/>
          <p:cNvSpPr/>
          <p:nvPr/>
        </p:nvSpPr>
        <p:spPr>
          <a:xfrm>
            <a:off x="6231636" y="3236976"/>
            <a:ext cx="5390388"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17" name="Text 15"/>
          <p:cNvSpPr/>
          <p:nvPr/>
        </p:nvSpPr>
        <p:spPr>
          <a:xfrm>
            <a:off x="6487668" y="3383280"/>
            <a:ext cx="4878324" cy="292608"/>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Adoption below 120 participants/yr</a:t>
            </a:r>
            <a:endParaRPr lang="en-US" sz="1450" dirty="0"/>
          </a:p>
        </p:txBody>
      </p:sp>
      <p:sp>
        <p:nvSpPr>
          <p:cNvPr id="18" name="Text 16"/>
          <p:cNvSpPr/>
          <p:nvPr/>
        </p:nvSpPr>
        <p:spPr>
          <a:xfrm>
            <a:off x="6487668" y="3730752"/>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Retention benefit scales linearly — 60 participants halves it.</a:t>
            </a:r>
            <a:endParaRPr lang="en-US" sz="1150" dirty="0"/>
          </a:p>
        </p:txBody>
      </p:sp>
      <p:sp>
        <p:nvSpPr>
          <p:cNvPr id="19" name="Text 17"/>
          <p:cNvSpPr/>
          <p:nvPr/>
        </p:nvSpPr>
        <p:spPr>
          <a:xfrm>
            <a:off x="6487668" y="4206240"/>
            <a:ext cx="4878324" cy="402336"/>
          </a:xfrm>
          <a:prstGeom prst="rect">
            <a:avLst/>
          </a:prstGeom>
          <a:noFill/>
          <a:ln/>
        </p:spPr>
        <p:txBody>
          <a:bodyPr wrap="square" lIns="0" tIns="0" rIns="0" bIns="0"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Case still clears at roughly BCR 5 in the base scenario.</a:t>
            </a:r>
            <a:endParaRPr lang="en-US" sz="1150" dirty="0"/>
          </a:p>
        </p:txBody>
      </p:sp>
      <p:sp>
        <p:nvSpPr>
          <p:cNvPr id="20" name="Shape 18"/>
          <p:cNvSpPr/>
          <p:nvPr/>
        </p:nvSpPr>
        <p:spPr>
          <a:xfrm>
            <a:off x="566928" y="4864608"/>
            <a:ext cx="5390388"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21" name="Text 19"/>
          <p:cNvSpPr/>
          <p:nvPr/>
        </p:nvSpPr>
        <p:spPr>
          <a:xfrm>
            <a:off x="822960" y="5010912"/>
            <a:ext cx="4878324" cy="292608"/>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Build effort doubles</a:t>
            </a:r>
            <a:endParaRPr lang="en-US" sz="1450" dirty="0"/>
          </a:p>
        </p:txBody>
      </p:sp>
      <p:sp>
        <p:nvSpPr>
          <p:cNvPr id="22" name="Text 20"/>
          <p:cNvSpPr/>
          <p:nvPr/>
        </p:nvSpPr>
        <p:spPr>
          <a:xfrm>
            <a:off x="822960" y="5358384"/>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3-year cost ≈ ₱1.76M, base BCR falls to 4.0.</a:t>
            </a:r>
            <a:endParaRPr lang="en-US" sz="1150" dirty="0"/>
          </a:p>
        </p:txBody>
      </p:sp>
      <p:sp>
        <p:nvSpPr>
          <p:cNvPr id="23" name="Text 21"/>
          <p:cNvSpPr/>
          <p:nvPr/>
        </p:nvSpPr>
        <p:spPr>
          <a:xfrm>
            <a:off x="822960" y="5833872"/>
            <a:ext cx="4878324" cy="402336"/>
          </a:xfrm>
          <a:prstGeom prst="rect">
            <a:avLst/>
          </a:prstGeom>
          <a:noFill/>
          <a:ln/>
        </p:spPr>
        <p:txBody>
          <a:bodyPr wrap="square" lIns="0" tIns="0" rIns="0" bIns="0"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Still 6×–16× under the vendor bands.</a:t>
            </a:r>
            <a:endParaRPr lang="en-US" sz="1150" dirty="0"/>
          </a:p>
        </p:txBody>
      </p:sp>
      <p:sp>
        <p:nvSpPr>
          <p:cNvPr id="24" name="Shape 22"/>
          <p:cNvSpPr/>
          <p:nvPr/>
        </p:nvSpPr>
        <p:spPr>
          <a:xfrm>
            <a:off x="6231636" y="4864608"/>
            <a:ext cx="5390388"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17780" dir="5400000">
              <a:srgbClr val="0F172A">
                <a:alpha val="7000"/>
              </a:srgbClr>
            </a:outerShdw>
          </a:effectLst>
        </p:spPr>
      </p:sp>
      <p:sp>
        <p:nvSpPr>
          <p:cNvPr id="25" name="Text 23"/>
          <p:cNvSpPr/>
          <p:nvPr/>
        </p:nvSpPr>
        <p:spPr>
          <a:xfrm>
            <a:off x="6487668" y="5010912"/>
            <a:ext cx="4878324" cy="292608"/>
          </a:xfrm>
          <a:prstGeom prst="rect">
            <a:avLst/>
          </a:prstGeom>
          <a:noFill/>
          <a:ln/>
        </p:spPr>
        <p:txBody>
          <a:bodyPr wrap="square" lIns="0" tIns="0" rIns="0" bIns="0" rtlCol="0" anchor="ctr"/>
          <a:lstStyle/>
          <a:p>
            <a:pPr indent="0" marL="0">
              <a:buNone/>
            </a:pPr>
            <a:r>
              <a:rPr lang="en-US" sz="1450" b="1" dirty="0">
                <a:solidFill>
                  <a:srgbClr val="0F172A"/>
                </a:solidFill>
                <a:latin typeface="Cambria" pitchFamily="34" charset="0"/>
                <a:ea typeface="Cambria" pitchFamily="34" charset="-122"/>
                <a:cs typeface="Cambria" pitchFamily="34" charset="-120"/>
              </a:rPr>
              <a:t>0.25 FTE ownership from year 2</a:t>
            </a:r>
            <a:endParaRPr lang="en-US" sz="1450" dirty="0"/>
          </a:p>
        </p:txBody>
      </p:sp>
      <p:sp>
        <p:nvSpPr>
          <p:cNvPr id="26" name="Text 24"/>
          <p:cNvSpPr/>
          <p:nvPr/>
        </p:nvSpPr>
        <p:spPr>
          <a:xfrm>
            <a:off x="6487668" y="5358384"/>
            <a:ext cx="4878324" cy="38404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+₱450,000 over three years. Base BCR 6.8 → 3.1.</a:t>
            </a:r>
            <a:endParaRPr lang="en-US" sz="1150" dirty="0"/>
          </a:p>
        </p:txBody>
      </p:sp>
      <p:sp>
        <p:nvSpPr>
          <p:cNvPr id="27" name="Text 25"/>
          <p:cNvSpPr/>
          <p:nvPr/>
        </p:nvSpPr>
        <p:spPr>
          <a:xfrm>
            <a:off x="6487668" y="5833872"/>
            <a:ext cx="4878324" cy="402336"/>
          </a:xfrm>
          <a:prstGeom prst="rect">
            <a:avLst/>
          </a:prstGeom>
          <a:noFill/>
          <a:ln/>
        </p:spPr>
        <p:txBody>
          <a:bodyPr wrap="square" lIns="0" tIns="0" rIns="0" bIns="0"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 </a:t>
            </a:r>
            <a:pPr indent="0" marL="0">
              <a:buNone/>
            </a:pPr>
            <a:r>
              <a:rPr lang="en-US" sz="1150" dirty="0">
                <a:solidFill>
                  <a:srgbClr val="0F172A"/>
                </a:solidFill>
                <a:latin typeface="Calibri" pitchFamily="34" charset="0"/>
                <a:ea typeface="Calibri" pitchFamily="34" charset="-122"/>
                <a:cs typeface="Calibri" pitchFamily="34" charset="-120"/>
              </a:rPr>
              <a:t>Include it in the paper — the most under-estimated line in any build-vs-buy.</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66928" y="512064"/>
            <a:ext cx="1010412" cy="224028"/>
          </a:xfrm>
          <a:prstGeom prst="roundRect">
            <a:avLst>
              <a:gd name="adj" fmla="val 48980"/>
            </a:avLst>
          </a:prstGeom>
          <a:solidFill>
            <a:srgbClr val="C00000"/>
          </a:solidFill>
          <a:ln w="12700">
            <a:solidFill>
              <a:srgbClr val="C00000"/>
            </a:solidFill>
            <a:prstDash val="solid"/>
          </a:ln>
        </p:spPr>
      </p:sp>
      <p:sp>
        <p:nvSpPr>
          <p:cNvPr id="3" name="Text 1"/>
          <p:cNvSpPr/>
          <p:nvPr/>
        </p:nvSpPr>
        <p:spPr>
          <a:xfrm>
            <a:off x="566928" y="512064"/>
            <a:ext cx="1010412" cy="224028"/>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4" name="Text 2"/>
          <p:cNvSpPr/>
          <p:nvPr/>
        </p:nvSpPr>
        <p:spPr>
          <a:xfrm>
            <a:off x="566928" y="914400"/>
            <a:ext cx="11055096"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Recommendation</a:t>
            </a:r>
            <a:endParaRPr lang="en-US" sz="3600" dirty="0"/>
          </a:p>
        </p:txBody>
      </p:sp>
      <p:sp>
        <p:nvSpPr>
          <p:cNvPr id="5" name="Shape 3"/>
          <p:cNvSpPr/>
          <p:nvPr/>
        </p:nvSpPr>
        <p:spPr>
          <a:xfrm>
            <a:off x="566928" y="1828800"/>
            <a:ext cx="420624" cy="420624"/>
          </a:xfrm>
          <a:prstGeom prst="ellipse">
            <a:avLst/>
          </a:prstGeom>
          <a:solidFill>
            <a:srgbClr val="C00000"/>
          </a:solidFill>
          <a:ln w="12700">
            <a:solidFill>
              <a:srgbClr val="C00000"/>
            </a:solidFill>
            <a:prstDash val="solid"/>
          </a:ln>
        </p:spPr>
      </p:sp>
      <p:sp>
        <p:nvSpPr>
          <p:cNvPr id="6" name="Text 4"/>
          <p:cNvSpPr/>
          <p:nvPr/>
        </p:nvSpPr>
        <p:spPr>
          <a:xfrm>
            <a:off x="566928"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188720" y="1773936"/>
            <a:ext cx="36576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Build v2-lean</a:t>
            </a:r>
            <a:endParaRPr lang="en-US" sz="1600" dirty="0"/>
          </a:p>
        </p:txBody>
      </p:sp>
      <p:sp>
        <p:nvSpPr>
          <p:cNvPr id="8" name="Text 6"/>
          <p:cNvSpPr/>
          <p:nvPr/>
        </p:nvSpPr>
        <p:spPr>
          <a:xfrm>
            <a:off x="4956048" y="1755648"/>
            <a:ext cx="7040880" cy="603504"/>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₱766,125 in year one, ₱1,050,375 over three. Base-case BCR 6.8, payback nine months — and cheaper than v1 despite doing more.</a:t>
            </a:r>
            <a:endParaRPr lang="en-US" sz="1250" dirty="0"/>
          </a:p>
        </p:txBody>
      </p:sp>
      <p:sp>
        <p:nvSpPr>
          <p:cNvPr id="9" name="Shape 7"/>
          <p:cNvSpPr/>
          <p:nvPr/>
        </p:nvSpPr>
        <p:spPr>
          <a:xfrm>
            <a:off x="566928" y="2688336"/>
            <a:ext cx="420624" cy="420624"/>
          </a:xfrm>
          <a:prstGeom prst="ellipse">
            <a:avLst/>
          </a:prstGeom>
          <a:solidFill>
            <a:srgbClr val="C00000"/>
          </a:solidFill>
          <a:ln w="12700">
            <a:solidFill>
              <a:srgbClr val="C00000"/>
            </a:solidFill>
            <a:prstDash val="solid"/>
          </a:ln>
        </p:spPr>
      </p:sp>
      <p:sp>
        <p:nvSpPr>
          <p:cNvPr id="10" name="Text 8"/>
          <p:cNvSpPr/>
          <p:nvPr/>
        </p:nvSpPr>
        <p:spPr>
          <a:xfrm>
            <a:off x="566928" y="2688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188720" y="2633472"/>
            <a:ext cx="36576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Get the source field committed first</a:t>
            </a:r>
            <a:endParaRPr lang="en-US" sz="1600" dirty="0"/>
          </a:p>
        </p:txBody>
      </p:sp>
      <p:sp>
        <p:nvSpPr>
          <p:cNvPr id="12" name="Text 10"/>
          <p:cNvSpPr/>
          <p:nvPr/>
        </p:nvSpPr>
        <p:spPr>
          <a:xfrm>
            <a:off x="4956048" y="2615184"/>
            <a:ext cx="7040880" cy="603504"/>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Free, carries Q1 attribution on its own, and without it the attributed half of the case evaporates. Do not start the build until recruitment has agreed.</a:t>
            </a:r>
            <a:endParaRPr lang="en-US" sz="1250" dirty="0"/>
          </a:p>
        </p:txBody>
      </p:sp>
      <p:sp>
        <p:nvSpPr>
          <p:cNvPr id="13" name="Shape 11"/>
          <p:cNvSpPr/>
          <p:nvPr/>
        </p:nvSpPr>
        <p:spPr>
          <a:xfrm>
            <a:off x="566928" y="3547872"/>
            <a:ext cx="420624" cy="420624"/>
          </a:xfrm>
          <a:prstGeom prst="ellipse">
            <a:avLst/>
          </a:prstGeom>
          <a:solidFill>
            <a:srgbClr val="C00000"/>
          </a:solidFill>
          <a:ln w="12700">
            <a:solidFill>
              <a:srgbClr val="C00000"/>
            </a:solidFill>
            <a:prstDash val="solid"/>
          </a:ln>
        </p:spPr>
      </p:sp>
      <p:sp>
        <p:nvSpPr>
          <p:cNvPr id="14" name="Text 12"/>
          <p:cNvSpPr/>
          <p:nvPr/>
        </p:nvSpPr>
        <p:spPr>
          <a:xfrm>
            <a:off x="566928" y="3547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188720" y="3493008"/>
            <a:ext cx="36576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Ship promotion Q1, tracking Q2</a:t>
            </a:r>
            <a:endParaRPr lang="en-US" sz="1600" dirty="0"/>
          </a:p>
        </p:txBody>
      </p:sp>
      <p:sp>
        <p:nvSpPr>
          <p:cNvPr id="16" name="Text 14"/>
          <p:cNvSpPr/>
          <p:nvPr/>
        </p:nvSpPr>
        <p:spPr>
          <a:xfrm>
            <a:off x="4956048" y="3474720"/>
            <a:ext cx="7040880" cy="603504"/>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Unless a budget review falls inside Q1 — then build the engine up front. ₱162,000 is cheap next to arriving with nothing to show.</a:t>
            </a:r>
            <a:endParaRPr lang="en-US" sz="1250" dirty="0"/>
          </a:p>
        </p:txBody>
      </p:sp>
      <p:sp>
        <p:nvSpPr>
          <p:cNvPr id="17" name="Shape 15"/>
          <p:cNvSpPr/>
          <p:nvPr/>
        </p:nvSpPr>
        <p:spPr>
          <a:xfrm>
            <a:off x="566928" y="4407408"/>
            <a:ext cx="420624" cy="420624"/>
          </a:xfrm>
          <a:prstGeom prst="ellipse">
            <a:avLst/>
          </a:prstGeom>
          <a:solidFill>
            <a:srgbClr val="C00000"/>
          </a:solidFill>
          <a:ln w="12700">
            <a:solidFill>
              <a:srgbClr val="C00000"/>
            </a:solidFill>
            <a:prstDash val="solid"/>
          </a:ln>
        </p:spPr>
      </p:sp>
      <p:sp>
        <p:nvSpPr>
          <p:cNvPr id="18" name="Text 16"/>
          <p:cNvSpPr/>
          <p:nvPr/>
        </p:nvSpPr>
        <p:spPr>
          <a:xfrm>
            <a:off x="566928" y="4407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1188720" y="4352544"/>
            <a:ext cx="36576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Decide phase 2 on year-one data</a:t>
            </a:r>
            <a:endParaRPr lang="en-US" sz="1600" dirty="0"/>
          </a:p>
        </p:txBody>
      </p:sp>
      <p:sp>
        <p:nvSpPr>
          <p:cNvPr id="20" name="Text 18"/>
          <p:cNvSpPr/>
          <p:nvPr/>
        </p:nvSpPr>
        <p:spPr>
          <a:xfrm>
            <a:off x="4956048" y="4334256"/>
            <a:ext cx="7040880" cy="603504"/>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Automate the ATS join only if referral volume justifies ₱108,000. Assume it does not until it does.</a:t>
            </a:r>
            <a:endParaRPr lang="en-US" sz="1250" dirty="0"/>
          </a:p>
        </p:txBody>
      </p:sp>
      <p:sp>
        <p:nvSpPr>
          <p:cNvPr id="21" name="Shape 19"/>
          <p:cNvSpPr/>
          <p:nvPr/>
        </p:nvSpPr>
        <p:spPr>
          <a:xfrm>
            <a:off x="566928" y="5266944"/>
            <a:ext cx="420624" cy="420624"/>
          </a:xfrm>
          <a:prstGeom prst="ellipse">
            <a:avLst/>
          </a:prstGeom>
          <a:solidFill>
            <a:srgbClr val="C00000"/>
          </a:solidFill>
          <a:ln w="12700">
            <a:solidFill>
              <a:srgbClr val="C00000"/>
            </a:solidFill>
            <a:prstDash val="solid"/>
          </a:ln>
        </p:spPr>
      </p:sp>
      <p:sp>
        <p:nvSpPr>
          <p:cNvPr id="22" name="Text 20"/>
          <p:cNvSpPr/>
          <p:nvPr/>
        </p:nvSpPr>
        <p:spPr>
          <a:xfrm>
            <a:off x="566928" y="52669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3" name="Text 21"/>
          <p:cNvSpPr/>
          <p:nvPr/>
        </p:nvSpPr>
        <p:spPr>
          <a:xfrm>
            <a:off x="1188720" y="5212080"/>
            <a:ext cx="36576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Re-run the benefit side once real data exists</a:t>
            </a:r>
            <a:endParaRPr lang="en-US" sz="1600" dirty="0"/>
          </a:p>
        </p:txBody>
      </p:sp>
      <p:sp>
        <p:nvSpPr>
          <p:cNvPr id="24" name="Text 22"/>
          <p:cNvSpPr/>
          <p:nvPr/>
        </p:nvSpPr>
        <p:spPr>
          <a:xfrm>
            <a:off x="4956048" y="5193792"/>
            <a:ext cx="7040880" cy="603504"/>
          </a:xfrm>
          <a:prstGeom prst="rect">
            <a:avLst/>
          </a:prstGeom>
          <a:noFill/>
          <a:ln/>
        </p:spPr>
        <p:txBody>
          <a:bodyPr wrap="square" lIns="0" tIns="0" rIns="0" bIns="0" rtlCol="0" anchor="ctr"/>
          <a:lstStyle/>
          <a:p>
            <a:pPr indent="0" marL="0">
              <a:lnSpc>
                <a:spcPts val="1700"/>
              </a:lnSpc>
              <a:buNone/>
            </a:pPr>
            <a:r>
              <a:rPr lang="en-US" sz="1250" dirty="0">
                <a:solidFill>
                  <a:srgbClr val="CBD5E1"/>
                </a:solidFill>
                <a:latin typeface="Calibri" pitchFamily="34" charset="0"/>
                <a:ea typeface="Calibri" pitchFamily="34" charset="-122"/>
                <a:cs typeface="Calibri" pitchFamily="34" charset="-120"/>
              </a:rPr>
              <a:t>Every benefit figure here is a planning assumption. The pilot replaces them within two quarters; the holdout replaces the causal claim within three.</a:t>
            </a:r>
            <a:endParaRPr lang="en-US" sz="1250" dirty="0"/>
          </a:p>
        </p:txBody>
      </p:sp>
      <p:sp>
        <p:nvSpPr>
          <p:cNvPr id="25" name="Text 23"/>
          <p:cNvSpPr/>
          <p:nvPr/>
        </p:nvSpPr>
        <p:spPr>
          <a:xfrm>
            <a:off x="566928" y="6236208"/>
            <a:ext cx="11055096"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Full analysis: docs/V2_CBA.md  ·  cost model: docs/v2-cba-model.py  ·  working prototype on branch claude/talent-marketplace-v2-explore-kps8k8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 Marketplace v2 — Build Recommendation</dc:title>
  <dc:subject>PptxGenJS Presentation</dc:subject>
  <dc:creator>People &amp; Culture Department</dc:creator>
  <cp:lastModifiedBy>People &amp; Culture Department</cp:lastModifiedBy>
  <cp:revision>1</cp:revision>
  <dcterms:created xsi:type="dcterms:W3CDTF">2026-08-19T08:49:11Z</dcterms:created>
  <dcterms:modified xsi:type="dcterms:W3CDTF">2026-08-19T08:49:11Z</dcterms:modified>
</cp:coreProperties>
</file>