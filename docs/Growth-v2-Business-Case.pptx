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3-year TCO</c:v>
                </c:pt>
              </c:strCache>
            </c:strRef>
          </c:tx>
          <c:spPr>
            <a:solidFill>
              <a:srgbClr val="94A3B8"/>
            </a:solidFill>
            <a:effectLst/>
          </c:spPr>
          <c:invertIfNegative val="0"/>
          <c:dLbls>
            <c:numFmt formatCode="₱#,##0" sourceLinked="0"/>
            <c:txPr>
              <a:bodyPr/>
              <a:lstStyle/>
              <a:p>
                <a:pPr>
                  <a:defRPr b="0" i="0" strike="noStrike" sz="1200" u="none">
                    <a:solidFill>
                      <a:srgbClr val="0F172A"/>
                    </a:solidFill>
                    <a:latin typeface="Calibri"/>
                  </a:defRPr>
                </a:pPr>
              </a:p>
            </c:txPr>
            <c:showLegendKey val="0"/>
            <c:showVal val="1"/>
            <c:showCatName val="0"/>
            <c:showSerName val="0"/>
            <c:showPercent val="0"/>
            <c:showBubbleSize val="0"/>
            <c:showLeaderLines val="0"/>
          </c:dLbls>
          <c:dPt>
            <c:idx val="0"/>
            <c:invertIfNegative val="0"/>
            <c:bubble3D val="0"/>
            <c:spPr>
              <a:solidFill>
                <a:srgbClr val="94A3B8"/>
              </a:solidFill>
              <a:effectLst/>
            </c:spPr>
          </c:dPt>
          <c:dPt>
            <c:idx val="1"/>
            <c:invertIfNegative val="0"/>
            <c:bubble3D val="0"/>
            <c:spPr>
              <a:solidFill>
                <a:srgbClr val="94A3B8"/>
              </a:solidFill>
              <a:effectLst/>
            </c:spPr>
          </c:dPt>
          <c:dPt>
            <c:idx val="2"/>
            <c:invertIfNegative val="0"/>
            <c:bubble3D val="0"/>
            <c:spPr>
              <a:solidFill>
                <a:srgbClr val="C00000"/>
              </a:solidFill>
              <a:effectLst/>
            </c:spPr>
          </c:dPt>
          <c:cat>
            <c:multiLvlStrRef>
              <c:f>Sheet1!$A$2:$A$4</c:f>
              <c:multiLvlStrCache>
                <c:ptCount val="3"/>
                <c:lvl>
                  <c:pt idx="0">
                    <c:v>v2 as first scoped</c:v>
                  </c:pt>
                  <c:pt idx="1">
                    <c:v>v1 — vacancies in-house</c:v>
                  </c:pt>
                  <c:pt idx="2">
                    <c:v>v2-lean — recommended</c:v>
                  </c:pt>
                </c:lvl>
              </c:multiLvlStrCache>
            </c:multiLvlStrRef>
          </c:cat>
          <c:val>
            <c:numRef>
              <c:f>Sheet1!$B$2:$B$4</c:f>
              <c:numCache>
                <c:formatCode>General</c:formatCode>
                <c:ptCount val="3"/>
                <c:pt idx="0">
                  <c:v>1542136</c:v>
                </c:pt>
                <c:pt idx="1">
                  <c:v>1112420</c:v>
                </c:pt>
                <c:pt idx="2">
                  <c:v>1050375</c:v>
                </c:pt>
              </c:numCache>
            </c:numRef>
          </c:val>
        </c:ser>
        <c:dLbls>
          <c:numFmt formatCode="₱#,##0" sourceLinked="0"/>
          <c:txPr>
            <a:bodyPr/>
            <a:lstStyle/>
            <a:p>
              <a:pPr>
                <a:defRPr b="0" i="0" strike="noStrike" sz="1200" u="none">
                  <a:solidFill>
                    <a:srgbClr val="0F172A"/>
                  </a:solidFill>
                  <a:latin typeface="Calibri"/>
                </a:defRPr>
              </a:pPr>
            </a:p>
          </c:txPr>
          <c:showLegendKey val="0"/>
          <c:showVal val="1"/>
          <c:showCatName val="0"/>
          <c:showSerName val="0"/>
          <c:showPercent val="0"/>
          <c:showBubbleSize val="0"/>
          <c:showLeaderLines val="0"/>
        </c:dLbls>
        <c:gapWidth val="58"/>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F172A"/>
                </a:solidFill>
                <a:latin typeface="Calibri"/>
              </a:defRPr>
            </a:pPr>
            <a:endParaRPr lang="en-US"/>
          </a:p>
        </c:txPr>
        <c:crossAx val="2094734552"/>
        <c:crosses val="autoZero"/>
        <c:auto val="1"/>
        <c:lblAlgn val="ctr"/>
        <c:noMultiLvlLbl val="1"/>
      </c:catAx>
      <c:valAx>
        <c:axId val="2094734552"/>
        <c:scaling>
          <c:orientation val="minMax"/>
          <c:max val="1800000"/>
        </c:scaling>
        <c:delete val="0"/>
        <c:axPos val="b"/>
        <c:majorGridlines>
          <c:spPr>
            <a:ln w="12700" cap="flat">
              <a:solidFill>
                <a:srgbClr val="EEF2F6"/>
              </a:solidFill>
              <a:prstDash val="solid"/>
              <a:round/>
            </a:ln>
          </c:spPr>
        </c:majorGridlines>
        <c:numFmt formatCode="₱#,##0,,&quot;M&quot;" sourceLinked="0"/>
        <c:majorTickMark val="out"/>
        <c:minorTickMark val="none"/>
        <c:tickLblPos val="low"/>
        <c:spPr>
          <a:ln w="12700" cap="flat">
            <a:solidFill>
              <a:srgbClr val="888888"/>
            </a:solidFill>
            <a:prstDash val="solid"/>
            <a:round/>
          </a:ln>
        </c:spPr>
        <c:txPr>
          <a:bodyPr/>
          <a:lstStyle/>
          <a:p>
            <a:pPr>
              <a:defRPr sz="1000" b="0" i="0" u="none" strike="noStrike">
                <a:solidFill>
                  <a:srgbClr val="94A3B8"/>
                </a:solidFill>
                <a:latin typeface="Calibri"/>
              </a:defRPr>
            </a:pPr>
            <a:endParaRPr lang="en-US"/>
          </a:p>
        </c:txPr>
        <c:crossAx val="2094734554"/>
        <c:crosses val="autoZero"/>
        <c:crossBetween val="between"/>
      </c:valAx>
      <c:spPr>
        <a:solidFill>
          <a:srgbClr val="F8FAFC"/>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3-year cost</c:v>
                </c:pt>
              </c:strCache>
            </c:strRef>
          </c:tx>
          <c:spPr>
            <a:solidFill>
              <a:srgbClr val="334155"/>
            </a:solidFill>
            <a:effectLst/>
          </c:spPr>
          <c:invertIfNegative val="0"/>
          <c:dLbls>
            <c:numFmt formatCode="₱#,##0,,&quot;M&quot;" sourceLinked="0"/>
            <c:txPr>
              <a:bodyPr/>
              <a:lstStyle/>
              <a:p>
                <a:pPr>
                  <a:defRPr b="0" i="0" strike="noStrike" sz="1200" u="none">
                    <a:solidFill>
                      <a:srgbClr val="0F172A"/>
                    </a:solidFill>
                    <a:latin typeface="Calibri"/>
                  </a:defRPr>
                </a:pPr>
              </a:p>
            </c:txPr>
            <c:showLegendKey val="0"/>
            <c:showVal val="1"/>
            <c:showCatName val="0"/>
            <c:showSerName val="0"/>
            <c:showPercent val="0"/>
            <c:showBubbleSize val="0"/>
            <c:showLeaderLines val="0"/>
          </c:dLbls>
          <c:dPt>
            <c:idx val="0"/>
            <c:invertIfNegative val="0"/>
            <c:bubble3D val="0"/>
            <c:spPr>
              <a:solidFill>
                <a:srgbClr val="334155"/>
              </a:solidFill>
              <a:effectLst/>
            </c:spPr>
          </c:dPt>
          <c:dPt>
            <c:idx val="1"/>
            <c:invertIfNegative val="0"/>
            <c:bubble3D val="0"/>
            <c:spPr>
              <a:solidFill>
                <a:srgbClr val="64748B"/>
              </a:solidFill>
              <a:effectLst/>
            </c:spPr>
          </c:dPt>
          <c:dPt>
            <c:idx val="2"/>
            <c:invertIfNegative val="0"/>
            <c:bubble3D val="0"/>
            <c:spPr>
              <a:solidFill>
                <a:srgbClr val="C00000"/>
              </a:solidFill>
              <a:effectLst/>
            </c:spPr>
          </c:dPt>
          <c:cat>
            <c:multiLvlStrRef>
              <c:f>Sheet1!$A$2:$A$4</c:f>
              <c:multiLvlStrCache>
                <c:ptCount val="3"/>
                <c:lvl>
                  <c:pt idx="0">
                    <c:v>External platform — high band</c:v>
                  </c:pt>
                  <c:pt idx="1">
                    <c:v>External platform — low band</c:v>
                  </c:pt>
                  <c:pt idx="2">
                    <c:v>v2-lean</c:v>
                  </c:pt>
                </c:lvl>
              </c:multiLvlStrCache>
            </c:multiLvlStrRef>
          </c:cat>
          <c:val>
            <c:numRef>
              <c:f>Sheet1!$B$2:$B$4</c:f>
              <c:numCache>
                <c:formatCode>General</c:formatCode>
                <c:ptCount val="3"/>
                <c:pt idx="0">
                  <c:v>27840000</c:v>
                </c:pt>
                <c:pt idx="1">
                  <c:v>10150000</c:v>
                </c:pt>
                <c:pt idx="2">
                  <c:v>1050375</c:v>
                </c:pt>
              </c:numCache>
            </c:numRef>
          </c:val>
        </c:ser>
        <c:dLbls>
          <c:numFmt formatCode="₱#,##0,,&quot;M&quot;" sourceLinked="0"/>
          <c:txPr>
            <a:bodyPr/>
            <a:lstStyle/>
            <a:p>
              <a:pPr>
                <a:defRPr b="0" i="0" strike="noStrike" sz="1200" u="none">
                  <a:solidFill>
                    <a:srgbClr val="0F172A"/>
                  </a:solidFill>
                  <a:latin typeface="Calibri"/>
                </a:defRPr>
              </a:pPr>
            </a:p>
          </c:txPr>
          <c:showLegendKey val="0"/>
          <c:showVal val="1"/>
          <c:showCatName val="0"/>
          <c:showSerName val="0"/>
          <c:showPercent val="0"/>
          <c:showBubbleSize val="0"/>
          <c:showLeaderLines val="0"/>
        </c:dLbls>
        <c:gapWidth val="58"/>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F172A"/>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12700" cap="flat">
              <a:solidFill>
                <a:srgbClr val="EEF2F6"/>
              </a:solidFill>
              <a:prstDash val="solid"/>
              <a:round/>
            </a:ln>
          </c:spPr>
        </c:majorGridlines>
        <c:numFmt formatCode="₱#,##0,,&quot;M&quot;" sourceLinked="0"/>
        <c:majorTickMark val="out"/>
        <c:minorTickMark val="none"/>
        <c:tickLblPos val="low"/>
        <c:spPr>
          <a:ln w="12700" cap="flat">
            <a:solidFill>
              <a:srgbClr val="888888"/>
            </a:solidFill>
            <a:prstDash val="solid"/>
            <a:round/>
          </a:ln>
        </c:spPr>
        <c:txPr>
          <a:bodyPr/>
          <a:lstStyle/>
          <a:p>
            <a:pPr>
              <a:defRPr sz="1000" b="0" i="0" u="none" strike="noStrike">
                <a:solidFill>
                  <a:srgbClr val="94A3B8"/>
                </a:solidFill>
                <a:latin typeface="Calibri"/>
              </a:defRPr>
            </a:pPr>
            <a:endParaRPr lang="en-US"/>
          </a:p>
        </c:txPr>
        <c:crossAx val="2094734554"/>
        <c:crosses val="autoZero"/>
        <c:crossBetween val="between"/>
      </c:valAx>
      <c:spPr>
        <a:solidFill>
          <a:srgbClr val="F8FAFC"/>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asking to build v2-lean: 766,125 pesos in year one, 1.05M over three years. Base-case benefit-cost ratio 6.8, payback nine months. It is cheaper than v1 and 10 to 27 times cheaper than buying a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constraint is real and it is not a limitation of the marketplace. Recruitment already has a system of record. Duplicating it would be worse than useless.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tiers of evidence, never conflated. Clicks are exact and ours. Self-reports are free but biased upward. Only the Careers-confirmed number goes in a board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plainly. It is counterintuitive and it is not a mistake. But the next slide fixes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one of these is plumbing or sequencing. None changes what an employee sees or how well the marketplace surfaces a role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"can we cut more". We cut plumbing, not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one is 766,125. After that it is 61,125 a year to run, plus 162,000 once in year two for the referral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resolves the awkward finding. v2-lean does more than v1 and costs 6 percent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that these are planning bands, not quotes. The break-even framing is what makes the point without over-claiming precision.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 the retention assumption before anyone else does. The v1 dashboard shows a 13-point gap; that is almost certainly selection bias, so we discounted it to 3 points, and the next slide runs the case without it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money slide. Lead with base case 6.8 and nine months, then immediately show the two stress rows so nobody has to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 field is the one to press on. It is free to them and the whole attributed half of the case depends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item two. The source field is free, it is the highest-leverage thing in the programme, and it should be agreed before a single peso is spent on the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66928" y="1481328"/>
            <a:ext cx="11055096" cy="274320"/>
          </a:xfrm>
          <a:prstGeom prst="rect">
            <a:avLst/>
          </a:prstGeom>
          <a:noFill/>
          <a:ln/>
        </p:spPr>
        <p:txBody>
          <a:bodyPr wrap="square" lIns="0" tIns="0" rIns="0" bIns="0" rtlCol="0" anchor="ctr"/>
          <a:lstStyle/>
          <a:p>
            <a:pPr indent="0" marL="0">
              <a:buNone/>
            </a:pPr>
            <a:r>
              <a:rPr lang="en-US" sz="1200" b="1" spc="240" kern="0" dirty="0">
                <a:solidFill>
                  <a:srgbClr val="94A3B8"/>
                </a:solidFill>
                <a:latin typeface="Calibri" pitchFamily="34" charset="0"/>
                <a:ea typeface="Calibri" pitchFamily="34" charset="-122"/>
                <a:cs typeface="Calibri" pitchFamily="34" charset="-120"/>
              </a:rPr>
              <a:t>GROWTH · HC TALENT MARKETPLACE</a:t>
            </a:r>
            <a:endParaRPr lang="en-US" sz="1200" dirty="0"/>
          </a:p>
        </p:txBody>
      </p:sp>
      <p:sp>
        <p:nvSpPr>
          <p:cNvPr id="3" name="Text 1"/>
          <p:cNvSpPr/>
          <p:nvPr/>
        </p:nvSpPr>
        <p:spPr>
          <a:xfrm>
            <a:off x="566928" y="1874520"/>
            <a:ext cx="7863840" cy="1737360"/>
          </a:xfrm>
          <a:prstGeom prst="rect">
            <a:avLst/>
          </a:prstGeom>
          <a:noFill/>
          <a:ln/>
        </p:spPr>
        <p:txBody>
          <a:bodyPr wrap="square" lIns="0" tIns="0" rIns="0" bIns="0" rtlCol="0" anchor="ctr"/>
          <a:lstStyle/>
          <a:p>
            <a:pPr indent="0" marL="0">
              <a:lnSpc>
                <a:spcPts val="5000"/>
              </a:lnSpc>
              <a:buNone/>
            </a:pPr>
            <a:r>
              <a:rPr lang="en-US" sz="4700" b="1" dirty="0">
                <a:solidFill>
                  <a:srgbClr val="FFFFFF"/>
                </a:solidFill>
                <a:latin typeface="Cambria" pitchFamily="34" charset="0"/>
                <a:ea typeface="Cambria" pitchFamily="34" charset="-122"/>
                <a:cs typeface="Cambria" pitchFamily="34" charset="-120"/>
              </a:rPr>
              <a:t>Version 2:</a:t>
            </a:r>
            <a:endParaRPr lang="en-US" sz="4700" dirty="0"/>
          </a:p>
          <a:p>
            <a:pPr indent="0" marL="0">
              <a:lnSpc>
                <a:spcPts val="5000"/>
              </a:lnSpc>
              <a:buNone/>
            </a:pPr>
            <a:r>
              <a:rPr lang="en-US" sz="4700" b="1" dirty="0">
                <a:solidFill>
                  <a:srgbClr val="FFFFFF"/>
                </a:solidFill>
                <a:latin typeface="Cambria" pitchFamily="34" charset="0"/>
                <a:ea typeface="Cambria" pitchFamily="34" charset="-122"/>
                <a:cs typeface="Cambria" pitchFamily="34" charset="-120"/>
              </a:rPr>
              <a:t>build recommendation</a:t>
            </a:r>
            <a:endParaRPr lang="en-US" sz="4700" dirty="0"/>
          </a:p>
        </p:txBody>
      </p:sp>
      <p:sp>
        <p:nvSpPr>
          <p:cNvPr id="4" name="Text 2"/>
          <p:cNvSpPr/>
          <p:nvPr/>
        </p:nvSpPr>
        <p:spPr>
          <a:xfrm>
            <a:off x="566928" y="3703320"/>
            <a:ext cx="7863840" cy="365760"/>
          </a:xfrm>
          <a:prstGeom prst="rect">
            <a:avLst/>
          </a:prstGeom>
          <a:noFill/>
          <a:ln/>
        </p:spPr>
        <p:txBody>
          <a:bodyPr wrap="square" lIns="0" tIns="0" rIns="0" bIns="0" rtlCol="0" anchor="ctr"/>
          <a:lstStyle/>
          <a:p>
            <a:pPr indent="0" marL="0">
              <a:buNone/>
            </a:pPr>
            <a:r>
              <a:rPr lang="en-US" sz="1600" dirty="0">
                <a:solidFill>
                  <a:srgbClr val="CBD5E1"/>
                </a:solidFill>
                <a:latin typeface="Calibri" pitchFamily="34" charset="0"/>
                <a:ea typeface="Calibri" pitchFamily="34" charset="-122"/>
                <a:cs typeface="Calibri" pitchFamily="34" charset="-120"/>
              </a:rPr>
              <a:t>Promoting internal vacancies we no longer run — and proving it worked.</a:t>
            </a:r>
            <a:endParaRPr lang="en-US" sz="1600" dirty="0"/>
          </a:p>
        </p:txBody>
      </p:sp>
      <p:sp>
        <p:nvSpPr>
          <p:cNvPr id="5" name="Text 3"/>
          <p:cNvSpPr/>
          <p:nvPr/>
        </p:nvSpPr>
        <p:spPr>
          <a:xfrm>
            <a:off x="566928" y="4443984"/>
            <a:ext cx="3246120" cy="566928"/>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₱1,050,375</a:t>
            </a:r>
            <a:endParaRPr lang="en-US" sz="2900" dirty="0"/>
          </a:p>
        </p:txBody>
      </p:sp>
      <p:sp>
        <p:nvSpPr>
          <p:cNvPr id="6" name="Text 4"/>
          <p:cNvSpPr/>
          <p:nvPr/>
        </p:nvSpPr>
        <p:spPr>
          <a:xfrm>
            <a:off x="566928" y="4992624"/>
            <a:ext cx="3246120" cy="274320"/>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3-year total cost</a:t>
            </a:r>
            <a:endParaRPr lang="en-US" sz="1150" dirty="0"/>
          </a:p>
        </p:txBody>
      </p:sp>
      <p:sp>
        <p:nvSpPr>
          <p:cNvPr id="7" name="Text 5"/>
          <p:cNvSpPr/>
          <p:nvPr/>
        </p:nvSpPr>
        <p:spPr>
          <a:xfrm>
            <a:off x="4197096" y="4443984"/>
            <a:ext cx="2286000" cy="566928"/>
          </a:xfrm>
          <a:prstGeom prst="rect">
            <a:avLst/>
          </a:prstGeom>
          <a:noFill/>
          <a:ln/>
        </p:spPr>
        <p:txBody>
          <a:bodyPr wrap="square" lIns="0" tIns="0" rIns="0" bIns="0" rtlCol="0" anchor="ctr"/>
          <a:lstStyle/>
          <a:p>
            <a:pPr indent="0" marL="0">
              <a:buNone/>
            </a:pPr>
            <a:r>
              <a:rPr lang="en-US" sz="2900" b="1" dirty="0">
                <a:solidFill>
                  <a:srgbClr val="16A34A"/>
                </a:solidFill>
                <a:latin typeface="Cambria" pitchFamily="34" charset="0"/>
                <a:ea typeface="Cambria" pitchFamily="34" charset="-122"/>
                <a:cs typeface="Cambria" pitchFamily="34" charset="-120"/>
              </a:rPr>
              <a:t>6.8</a:t>
            </a:r>
            <a:endParaRPr lang="en-US" sz="2900" dirty="0"/>
          </a:p>
        </p:txBody>
      </p:sp>
      <p:sp>
        <p:nvSpPr>
          <p:cNvPr id="8" name="Text 6"/>
          <p:cNvSpPr/>
          <p:nvPr/>
        </p:nvSpPr>
        <p:spPr>
          <a:xfrm>
            <a:off x="4197096" y="4992624"/>
            <a:ext cx="2286000" cy="274320"/>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Benefit-cost ratio</a:t>
            </a:r>
            <a:endParaRPr lang="en-US" sz="1150" dirty="0"/>
          </a:p>
        </p:txBody>
      </p:sp>
      <p:sp>
        <p:nvSpPr>
          <p:cNvPr id="9" name="Text 7"/>
          <p:cNvSpPr/>
          <p:nvPr/>
        </p:nvSpPr>
        <p:spPr>
          <a:xfrm>
            <a:off x="6867144" y="4443984"/>
            <a:ext cx="2286000" cy="566928"/>
          </a:xfrm>
          <a:prstGeom prst="rect">
            <a:avLst/>
          </a:prstGeom>
          <a:noFill/>
          <a:ln/>
        </p:spPr>
        <p:txBody>
          <a:bodyPr wrap="square" lIns="0" tIns="0" rIns="0" bIns="0" rtlCol="0" anchor="ctr"/>
          <a:lstStyle/>
          <a:p>
            <a:pPr indent="0" marL="0">
              <a:buNone/>
            </a:pPr>
            <a:r>
              <a:rPr lang="en-US" sz="2900" b="1" dirty="0">
                <a:solidFill>
                  <a:srgbClr val="16A34A"/>
                </a:solidFill>
                <a:latin typeface="Cambria" pitchFamily="34" charset="0"/>
                <a:ea typeface="Cambria" pitchFamily="34" charset="-122"/>
                <a:cs typeface="Cambria" pitchFamily="34" charset="-120"/>
              </a:rPr>
              <a:t>9 mo</a:t>
            </a:r>
            <a:endParaRPr lang="en-US" sz="2900" dirty="0"/>
          </a:p>
        </p:txBody>
      </p:sp>
      <p:sp>
        <p:nvSpPr>
          <p:cNvPr id="10" name="Text 8"/>
          <p:cNvSpPr/>
          <p:nvPr/>
        </p:nvSpPr>
        <p:spPr>
          <a:xfrm>
            <a:off x="6867144" y="4992624"/>
            <a:ext cx="2286000" cy="274320"/>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Payback</a:t>
            </a:r>
            <a:endParaRPr lang="en-US" sz="1150" dirty="0"/>
          </a:p>
        </p:txBody>
      </p:sp>
      <p:sp>
        <p:nvSpPr>
          <p:cNvPr id="11" name="Text 9"/>
          <p:cNvSpPr/>
          <p:nvPr/>
        </p:nvSpPr>
        <p:spPr>
          <a:xfrm>
            <a:off x="566928" y="6053328"/>
            <a:ext cx="11055096" cy="27432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People &amp; Culture Department  ·  637 employees  ·  18 August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66928" y="402336"/>
            <a:ext cx="11055096" cy="566928"/>
          </a:xfrm>
          <a:prstGeom prst="rect">
            <a:avLst/>
          </a:prstGeom>
          <a:noFill/>
          <a:ln/>
        </p:spPr>
        <p:txBody>
          <a:bodyPr wrap="square" lIns="0" tIns="0" rIns="0" bIns="0" rtlCol="0" anchor="ctr"/>
          <a:lstStyle/>
          <a:p>
            <a:pPr indent="0" marL="0">
              <a:buNone/>
            </a:pPr>
            <a:r>
              <a:rPr lang="en-US" sz="3300" b="1" dirty="0">
                <a:solidFill>
                  <a:srgbClr val="0F172A"/>
                </a:solidFill>
                <a:latin typeface="Cambria" pitchFamily="34" charset="0"/>
                <a:ea typeface="Cambria" pitchFamily="34" charset="-122"/>
                <a:cs typeface="Cambria" pitchFamily="34" charset="-120"/>
              </a:rPr>
              <a:t>Careers already runs internal vacancies</a:t>
            </a:r>
            <a:endParaRPr lang="en-US" sz="3300" dirty="0"/>
          </a:p>
        </p:txBody>
      </p:sp>
      <p:sp>
        <p:nvSpPr>
          <p:cNvPr id="3" name="Text 1"/>
          <p:cNvSpPr/>
          <p:nvPr/>
        </p:nvSpPr>
        <p:spPr>
          <a:xfrm>
            <a:off x="566928" y="1005840"/>
            <a:ext cx="11055096" cy="310896"/>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So v2 gives up the half it was never going to win, and keeps the half Careers cannot do.</a:t>
            </a:r>
            <a:endParaRPr lang="en-US" sz="1350" dirty="0"/>
          </a:p>
        </p:txBody>
      </p:sp>
      <p:sp>
        <p:nvSpPr>
          <p:cNvPr id="4" name="Shape 2"/>
          <p:cNvSpPr/>
          <p:nvPr/>
        </p:nvSpPr>
        <p:spPr>
          <a:xfrm>
            <a:off x="566928" y="1627632"/>
            <a:ext cx="5381244" cy="3346704"/>
          </a:xfrm>
          <a:prstGeom prst="roundRect">
            <a:avLst>
              <a:gd name="adj" fmla="val 2459"/>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5" name="Shape 3"/>
          <p:cNvSpPr/>
          <p:nvPr/>
        </p:nvSpPr>
        <p:spPr>
          <a:xfrm>
            <a:off x="877824" y="1883664"/>
            <a:ext cx="1956816" cy="224028"/>
          </a:xfrm>
          <a:prstGeom prst="roundRect">
            <a:avLst>
              <a:gd name="adj" fmla="val 48980"/>
            </a:avLst>
          </a:prstGeom>
          <a:solidFill>
            <a:srgbClr val="E2E8F0"/>
          </a:solidFill>
          <a:ln w="12700">
            <a:solidFill>
              <a:srgbClr val="E2E8F0"/>
            </a:solidFill>
            <a:prstDash val="solid"/>
          </a:ln>
        </p:spPr>
      </p:sp>
      <p:sp>
        <p:nvSpPr>
          <p:cNvPr id="6" name="Text 4"/>
          <p:cNvSpPr/>
          <p:nvPr/>
        </p:nvSpPr>
        <p:spPr>
          <a:xfrm>
            <a:off x="877824" y="1883664"/>
            <a:ext cx="1956816" cy="224028"/>
          </a:xfrm>
          <a:prstGeom prst="rect">
            <a:avLst/>
          </a:prstGeom>
          <a:noFill/>
          <a:ln/>
        </p:spPr>
        <p:txBody>
          <a:bodyPr wrap="square" lIns="0" tIns="0" rIns="0" bIns="0" rtlCol="0" anchor="ctr"/>
          <a:lstStyle/>
          <a:p>
            <a:pPr algn="ctr" indent="0" marL="0">
              <a:buNone/>
            </a:pPr>
            <a:r>
              <a:rPr lang="en-US" sz="900" b="1" spc="80" kern="0" dirty="0">
                <a:solidFill>
                  <a:srgbClr val="94A3B8"/>
                </a:solidFill>
                <a:latin typeface="Calibri" pitchFamily="34" charset="0"/>
                <a:ea typeface="Calibri" pitchFamily="34" charset="-122"/>
                <a:cs typeface="Calibri" pitchFamily="34" charset="-120"/>
              </a:rPr>
              <a:t>SYSTEM OF RECORD</a:t>
            </a:r>
            <a:endParaRPr lang="en-US" sz="900" dirty="0"/>
          </a:p>
        </p:txBody>
      </p:sp>
      <p:sp>
        <p:nvSpPr>
          <p:cNvPr id="7" name="Text 5"/>
          <p:cNvSpPr/>
          <p:nvPr/>
        </p:nvSpPr>
        <p:spPr>
          <a:xfrm>
            <a:off x="877824" y="2231136"/>
            <a:ext cx="4759452" cy="384048"/>
          </a:xfrm>
          <a:prstGeom prst="rect">
            <a:avLst/>
          </a:prstGeom>
          <a:noFill/>
          <a:ln/>
        </p:spPr>
        <p:txBody>
          <a:bodyPr wrap="square" lIns="0" tIns="0" rIns="0" bIns="0" rtlCol="0" anchor="ctr"/>
          <a:lstStyle/>
          <a:p>
            <a:pPr indent="0" marL="0">
              <a:buNone/>
            </a:pPr>
            <a:r>
              <a:rPr lang="en-US" sz="2200" b="1" dirty="0">
                <a:solidFill>
                  <a:srgbClr val="0F172A"/>
                </a:solidFill>
                <a:latin typeface="Cambria" pitchFamily="34" charset="0"/>
                <a:ea typeface="Cambria" pitchFamily="34" charset="-122"/>
                <a:cs typeface="Cambria" pitchFamily="34" charset="-120"/>
              </a:rPr>
              <a:t>Careers owns</a:t>
            </a:r>
            <a:endParaRPr lang="en-US" sz="2200" dirty="0"/>
          </a:p>
        </p:txBody>
      </p:sp>
      <p:sp>
        <p:nvSpPr>
          <p:cNvPr id="8" name="Shape 6"/>
          <p:cNvSpPr/>
          <p:nvPr/>
        </p:nvSpPr>
        <p:spPr>
          <a:xfrm>
            <a:off x="896112" y="2798064"/>
            <a:ext cx="100584" cy="100584"/>
          </a:xfrm>
          <a:prstGeom prst="ellipse">
            <a:avLst/>
          </a:prstGeom>
          <a:solidFill>
            <a:srgbClr val="94A3B8"/>
          </a:solidFill>
          <a:ln w="12700">
            <a:solidFill>
              <a:srgbClr val="94A3B8"/>
            </a:solidFill>
            <a:prstDash val="solid"/>
          </a:ln>
        </p:spPr>
      </p:sp>
      <p:sp>
        <p:nvSpPr>
          <p:cNvPr id="9" name="Text 7"/>
          <p:cNvSpPr/>
          <p:nvPr/>
        </p:nvSpPr>
        <p:spPr>
          <a:xfrm>
            <a:off x="1115568" y="2688336"/>
            <a:ext cx="4485132" cy="384048"/>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The requisition</a:t>
            </a:r>
            <a:endParaRPr lang="en-US" sz="1350" dirty="0"/>
          </a:p>
        </p:txBody>
      </p:sp>
      <p:sp>
        <p:nvSpPr>
          <p:cNvPr id="10" name="Shape 8"/>
          <p:cNvSpPr/>
          <p:nvPr/>
        </p:nvSpPr>
        <p:spPr>
          <a:xfrm>
            <a:off x="896112" y="3310128"/>
            <a:ext cx="100584" cy="100584"/>
          </a:xfrm>
          <a:prstGeom prst="ellipse">
            <a:avLst/>
          </a:prstGeom>
          <a:solidFill>
            <a:srgbClr val="94A3B8"/>
          </a:solidFill>
          <a:ln w="12700">
            <a:solidFill>
              <a:srgbClr val="94A3B8"/>
            </a:solidFill>
            <a:prstDash val="solid"/>
          </a:ln>
        </p:spPr>
      </p:sp>
      <p:sp>
        <p:nvSpPr>
          <p:cNvPr id="11" name="Text 9"/>
          <p:cNvSpPr/>
          <p:nvPr/>
        </p:nvSpPr>
        <p:spPr>
          <a:xfrm>
            <a:off x="1115568" y="3200400"/>
            <a:ext cx="4485132" cy="384048"/>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The application and CV</a:t>
            </a:r>
            <a:endParaRPr lang="en-US" sz="1350" dirty="0"/>
          </a:p>
        </p:txBody>
      </p:sp>
      <p:sp>
        <p:nvSpPr>
          <p:cNvPr id="12" name="Shape 10"/>
          <p:cNvSpPr/>
          <p:nvPr/>
        </p:nvSpPr>
        <p:spPr>
          <a:xfrm>
            <a:off x="896112" y="3822192"/>
            <a:ext cx="100584" cy="100584"/>
          </a:xfrm>
          <a:prstGeom prst="ellipse">
            <a:avLst/>
          </a:prstGeom>
          <a:solidFill>
            <a:srgbClr val="94A3B8"/>
          </a:solidFill>
          <a:ln w="12700">
            <a:solidFill>
              <a:srgbClr val="94A3B8"/>
            </a:solidFill>
            <a:prstDash val="solid"/>
          </a:ln>
        </p:spPr>
      </p:sp>
      <p:sp>
        <p:nvSpPr>
          <p:cNvPr id="13" name="Text 11"/>
          <p:cNvSpPr/>
          <p:nvPr/>
        </p:nvSpPr>
        <p:spPr>
          <a:xfrm>
            <a:off x="1115568" y="3712464"/>
            <a:ext cx="4485132" cy="384048"/>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Screening and interviews</a:t>
            </a:r>
            <a:endParaRPr lang="en-US" sz="1350" dirty="0"/>
          </a:p>
        </p:txBody>
      </p:sp>
      <p:sp>
        <p:nvSpPr>
          <p:cNvPr id="14" name="Shape 12"/>
          <p:cNvSpPr/>
          <p:nvPr/>
        </p:nvSpPr>
        <p:spPr>
          <a:xfrm>
            <a:off x="896112" y="4334256"/>
            <a:ext cx="100584" cy="100584"/>
          </a:xfrm>
          <a:prstGeom prst="ellipse">
            <a:avLst/>
          </a:prstGeom>
          <a:solidFill>
            <a:srgbClr val="94A3B8"/>
          </a:solidFill>
          <a:ln w="12700">
            <a:solidFill>
              <a:srgbClr val="94A3B8"/>
            </a:solidFill>
            <a:prstDash val="solid"/>
          </a:ln>
        </p:spPr>
      </p:sp>
      <p:sp>
        <p:nvSpPr>
          <p:cNvPr id="15" name="Text 13"/>
          <p:cNvSpPr/>
          <p:nvPr/>
        </p:nvSpPr>
        <p:spPr>
          <a:xfrm>
            <a:off x="1115568" y="4224528"/>
            <a:ext cx="4485132" cy="384048"/>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The offer</a:t>
            </a:r>
            <a:endParaRPr lang="en-US" sz="1350" dirty="0"/>
          </a:p>
        </p:txBody>
      </p:sp>
      <p:sp>
        <p:nvSpPr>
          <p:cNvPr id="16" name="Shape 14"/>
          <p:cNvSpPr/>
          <p:nvPr/>
        </p:nvSpPr>
        <p:spPr>
          <a:xfrm>
            <a:off x="6240780" y="1627632"/>
            <a:ext cx="5381244" cy="3346704"/>
          </a:xfrm>
          <a:prstGeom prst="roundRect">
            <a:avLst>
              <a:gd name="adj" fmla="val 2459"/>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17" name="Shape 15"/>
          <p:cNvSpPr/>
          <p:nvPr/>
        </p:nvSpPr>
        <p:spPr>
          <a:xfrm>
            <a:off x="6551676" y="1883664"/>
            <a:ext cx="2167128" cy="224028"/>
          </a:xfrm>
          <a:prstGeom prst="roundRect">
            <a:avLst>
              <a:gd name="adj" fmla="val 48980"/>
            </a:avLst>
          </a:prstGeom>
          <a:solidFill>
            <a:srgbClr val="C00000"/>
          </a:solidFill>
          <a:ln w="12700">
            <a:solidFill>
              <a:srgbClr val="C00000"/>
            </a:solidFill>
            <a:prstDash val="solid"/>
          </a:ln>
        </p:spPr>
      </p:sp>
      <p:sp>
        <p:nvSpPr>
          <p:cNvPr id="18" name="Text 16"/>
          <p:cNvSpPr/>
          <p:nvPr/>
        </p:nvSpPr>
        <p:spPr>
          <a:xfrm>
            <a:off x="6551676" y="1883664"/>
            <a:ext cx="2167128" cy="224028"/>
          </a:xfrm>
          <a:prstGeom prst="rect">
            <a:avLst/>
          </a:prstGeom>
          <a:noFill/>
          <a:ln/>
        </p:spPr>
        <p:txBody>
          <a:bodyPr wrap="square" lIns="0" tIns="0" rIns="0" bIns="0" rtlCol="0" anchor="ctr"/>
          <a:lstStyle/>
          <a:p>
            <a:pPr algn="ctr" indent="0" marL="0">
              <a:buNone/>
            </a:pPr>
            <a:r>
              <a:rPr lang="en-US" sz="900" b="1" spc="80" kern="0" dirty="0">
                <a:solidFill>
                  <a:srgbClr val="FFFFFF"/>
                </a:solidFill>
                <a:latin typeface="Calibri" pitchFamily="34" charset="0"/>
                <a:ea typeface="Calibri" pitchFamily="34" charset="-122"/>
                <a:cs typeface="Calibri" pitchFamily="34" charset="-120"/>
              </a:rPr>
              <a:t>WHERE WE ADD VALUE</a:t>
            </a:r>
            <a:endParaRPr lang="en-US" sz="900" dirty="0"/>
          </a:p>
        </p:txBody>
      </p:sp>
      <p:sp>
        <p:nvSpPr>
          <p:cNvPr id="19" name="Text 17"/>
          <p:cNvSpPr/>
          <p:nvPr/>
        </p:nvSpPr>
        <p:spPr>
          <a:xfrm>
            <a:off x="6551676" y="2231136"/>
            <a:ext cx="4759452" cy="384048"/>
          </a:xfrm>
          <a:prstGeom prst="rect">
            <a:avLst/>
          </a:prstGeom>
          <a:noFill/>
          <a:ln/>
        </p:spPr>
        <p:txBody>
          <a:bodyPr wrap="square" lIns="0" tIns="0" rIns="0" bIns="0" rtlCol="0" anchor="ctr"/>
          <a:lstStyle/>
          <a:p>
            <a:pPr indent="0" marL="0">
              <a:buNone/>
            </a:pPr>
            <a:r>
              <a:rPr lang="en-US" sz="2200" b="1" dirty="0">
                <a:solidFill>
                  <a:srgbClr val="C00000"/>
                </a:solidFill>
                <a:latin typeface="Cambria" pitchFamily="34" charset="0"/>
                <a:ea typeface="Cambria" pitchFamily="34" charset="-122"/>
                <a:cs typeface="Cambria" pitchFamily="34" charset="-120"/>
              </a:rPr>
              <a:t>Growth owns</a:t>
            </a:r>
            <a:endParaRPr lang="en-US" sz="2200" dirty="0"/>
          </a:p>
        </p:txBody>
      </p:sp>
      <p:sp>
        <p:nvSpPr>
          <p:cNvPr id="20" name="Shape 18"/>
          <p:cNvSpPr/>
          <p:nvPr/>
        </p:nvSpPr>
        <p:spPr>
          <a:xfrm>
            <a:off x="6569964" y="2798064"/>
            <a:ext cx="100584" cy="100584"/>
          </a:xfrm>
          <a:prstGeom prst="ellipse">
            <a:avLst/>
          </a:prstGeom>
          <a:solidFill>
            <a:srgbClr val="C00000"/>
          </a:solidFill>
          <a:ln w="12700">
            <a:solidFill>
              <a:srgbClr val="C00000"/>
            </a:solidFill>
            <a:prstDash val="solid"/>
          </a:ln>
        </p:spPr>
      </p:sp>
      <p:sp>
        <p:nvSpPr>
          <p:cNvPr id="21" name="Text 19"/>
          <p:cNvSpPr/>
          <p:nvPr/>
        </p:nvSpPr>
        <p:spPr>
          <a:xfrm>
            <a:off x="6789420" y="2688336"/>
            <a:ext cx="4485132" cy="384048"/>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Knowing what someone can already do</a:t>
            </a:r>
            <a:endParaRPr lang="en-US" sz="1350" dirty="0"/>
          </a:p>
        </p:txBody>
      </p:sp>
      <p:sp>
        <p:nvSpPr>
          <p:cNvPr id="22" name="Shape 20"/>
          <p:cNvSpPr/>
          <p:nvPr/>
        </p:nvSpPr>
        <p:spPr>
          <a:xfrm>
            <a:off x="6569964" y="3310128"/>
            <a:ext cx="100584" cy="100584"/>
          </a:xfrm>
          <a:prstGeom prst="ellipse">
            <a:avLst/>
          </a:prstGeom>
          <a:solidFill>
            <a:srgbClr val="C00000"/>
          </a:solidFill>
          <a:ln w="12700">
            <a:solidFill>
              <a:srgbClr val="C00000"/>
            </a:solidFill>
            <a:prstDash val="solid"/>
          </a:ln>
        </p:spPr>
      </p:sp>
      <p:sp>
        <p:nvSpPr>
          <p:cNvPr id="23" name="Text 21"/>
          <p:cNvSpPr/>
          <p:nvPr/>
        </p:nvSpPr>
        <p:spPr>
          <a:xfrm>
            <a:off x="6789420" y="3200400"/>
            <a:ext cx="4485132" cy="384048"/>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Scoring fit against every open role</a:t>
            </a:r>
            <a:endParaRPr lang="en-US" sz="1350" dirty="0"/>
          </a:p>
        </p:txBody>
      </p:sp>
      <p:sp>
        <p:nvSpPr>
          <p:cNvPr id="24" name="Shape 22"/>
          <p:cNvSpPr/>
          <p:nvPr/>
        </p:nvSpPr>
        <p:spPr>
          <a:xfrm>
            <a:off x="6569964" y="3822192"/>
            <a:ext cx="100584" cy="100584"/>
          </a:xfrm>
          <a:prstGeom prst="ellipse">
            <a:avLst/>
          </a:prstGeom>
          <a:solidFill>
            <a:srgbClr val="C00000"/>
          </a:solidFill>
          <a:ln w="12700">
            <a:solidFill>
              <a:srgbClr val="C00000"/>
            </a:solidFill>
            <a:prstDash val="solid"/>
          </a:ln>
        </p:spPr>
      </p:sp>
      <p:sp>
        <p:nvSpPr>
          <p:cNvPr id="25" name="Text 23"/>
          <p:cNvSpPr/>
          <p:nvPr/>
        </p:nvSpPr>
        <p:spPr>
          <a:xfrm>
            <a:off x="6789420" y="3712464"/>
            <a:ext cx="4485132" cy="384048"/>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Surfacing a role they were never going to search for</a:t>
            </a:r>
            <a:endParaRPr lang="en-US" sz="1350" dirty="0"/>
          </a:p>
        </p:txBody>
      </p:sp>
      <p:sp>
        <p:nvSpPr>
          <p:cNvPr id="26" name="Shape 24"/>
          <p:cNvSpPr/>
          <p:nvPr/>
        </p:nvSpPr>
        <p:spPr>
          <a:xfrm>
            <a:off x="6569964" y="4334256"/>
            <a:ext cx="100584" cy="100584"/>
          </a:xfrm>
          <a:prstGeom prst="ellipse">
            <a:avLst/>
          </a:prstGeom>
          <a:solidFill>
            <a:srgbClr val="C00000"/>
          </a:solidFill>
          <a:ln w="12700">
            <a:solidFill>
              <a:srgbClr val="C00000"/>
            </a:solidFill>
            <a:prstDash val="solid"/>
          </a:ln>
        </p:spPr>
      </p:sp>
      <p:sp>
        <p:nvSpPr>
          <p:cNvPr id="27" name="Text 25"/>
          <p:cNvSpPr/>
          <p:nvPr/>
        </p:nvSpPr>
        <p:spPr>
          <a:xfrm>
            <a:off x="6789420" y="4224528"/>
            <a:ext cx="4485132" cy="384048"/>
          </a:xfrm>
          <a:prstGeom prst="rect">
            <a:avLst/>
          </a:prstGeom>
          <a:noFill/>
          <a:ln/>
        </p:spPr>
        <p:txBody>
          <a:bodyPr wrap="square" lIns="0" tIns="0" rIns="0" bIns="0" rtlCol="0" anchor="ctr"/>
          <a:lstStyle/>
          <a:p>
            <a:pPr indent="0" marL="0">
              <a:buNone/>
            </a:pPr>
            <a:r>
              <a:rPr lang="en-US" sz="1350" dirty="0">
                <a:solidFill>
                  <a:srgbClr val="0F172A"/>
                </a:solidFill>
                <a:latin typeface="Calibri" pitchFamily="34" charset="0"/>
                <a:ea typeface="Calibri" pitchFamily="34" charset="-122"/>
                <a:cs typeface="Calibri" pitchFamily="34" charset="-120"/>
              </a:rPr>
              <a:t>Gigs, DJIs and service offers, end to end</a:t>
            </a:r>
            <a:endParaRPr lang="en-US" sz="1350" dirty="0"/>
          </a:p>
        </p:txBody>
      </p:sp>
      <p:sp>
        <p:nvSpPr>
          <p:cNvPr id="28" name="Shape 26"/>
          <p:cNvSpPr/>
          <p:nvPr/>
        </p:nvSpPr>
        <p:spPr>
          <a:xfrm>
            <a:off x="566928" y="5175504"/>
            <a:ext cx="11055096" cy="932688"/>
          </a:xfrm>
          <a:prstGeom prst="roundRect">
            <a:avLst>
              <a:gd name="adj" fmla="val 8824"/>
            </a:avLst>
          </a:prstGeom>
          <a:solidFill>
            <a:srgbClr val="0F172A"/>
          </a:solidFill>
          <a:ln w="12700">
            <a:solidFill>
              <a:srgbClr val="0F172A"/>
            </a:solidFill>
            <a:prstDash val="solid"/>
          </a:ln>
          <a:effectLst>
            <a:outerShdw sx="100000" sy="100000" kx="0" ky="0" algn="bl" rotWithShape="0" blurRad="114300" dist="17780" dir="5400000">
              <a:srgbClr val="0F172A">
                <a:alpha val="7000"/>
              </a:srgbClr>
            </a:outerShdw>
          </a:effectLst>
        </p:spPr>
      </p:sp>
      <p:sp>
        <p:nvSpPr>
          <p:cNvPr id="29" name="Text 27"/>
          <p:cNvSpPr/>
          <p:nvPr/>
        </p:nvSpPr>
        <p:spPr>
          <a:xfrm>
            <a:off x="877824" y="5175504"/>
            <a:ext cx="10433304" cy="932688"/>
          </a:xfrm>
          <a:prstGeom prst="rect">
            <a:avLst/>
          </a:prstGeom>
          <a:noFill/>
          <a:ln/>
        </p:spPr>
        <p:txBody>
          <a:bodyPr wrap="square" lIns="0" tIns="0" rIns="0" bIns="0" rtlCol="0" anchor="ctr"/>
          <a:lstStyle/>
          <a:p>
            <a:pPr indent="0" marL="0">
              <a:buNone/>
            </a:pPr>
            <a:r>
              <a:rPr lang="en-US" sz="1450" dirty="0">
                <a:solidFill>
                  <a:srgbClr val="CBD5E1"/>
                </a:solidFill>
                <a:latin typeface="Calibri" pitchFamily="34" charset="0"/>
                <a:ea typeface="Calibri" pitchFamily="34" charset="-122"/>
                <a:cs typeface="Calibri" pitchFamily="34" charset="-120"/>
              </a:rPr>
              <a:t>Running a second application queue would not add a channel. </a:t>
            </a:r>
            <a:pPr indent="0" marL="0">
              <a:buNone/>
            </a:pPr>
            <a:r>
              <a:rPr lang="en-US" sz="1450" b="1" dirty="0">
                <a:solidFill>
                  <a:srgbClr val="FFFFFF"/>
                </a:solidFill>
                <a:latin typeface="Calibri" pitchFamily="34" charset="0"/>
                <a:ea typeface="Calibri" pitchFamily="34" charset="-122"/>
                <a:cs typeface="Calibri" pitchFamily="34" charset="-120"/>
              </a:rPr>
              <a:t>It would split one process across two systems and lose people in the seam.</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66928" y="402336"/>
            <a:ext cx="11055096" cy="566928"/>
          </a:xfrm>
          <a:prstGeom prst="rect">
            <a:avLst/>
          </a:prstGeom>
          <a:noFill/>
          <a:ln/>
        </p:spPr>
        <p:txBody>
          <a:bodyPr wrap="square" lIns="0" tIns="0" rIns="0" bIns="0" rtlCol="0" anchor="ctr"/>
          <a:lstStyle/>
          <a:p>
            <a:pPr indent="0" marL="0">
              <a:buNone/>
            </a:pPr>
            <a:r>
              <a:rPr lang="en-US" sz="3300" b="1" dirty="0">
                <a:solidFill>
                  <a:srgbClr val="0F172A"/>
                </a:solidFill>
                <a:latin typeface="Cambria" pitchFamily="34" charset="0"/>
                <a:ea typeface="Cambria" pitchFamily="34" charset="-122"/>
                <a:cs typeface="Cambria" pitchFamily="34" charset="-120"/>
              </a:rPr>
              <a:t>Promote here. Apply there. Count the handoff.</a:t>
            </a:r>
            <a:endParaRPr lang="en-US" sz="3300" dirty="0"/>
          </a:p>
        </p:txBody>
      </p:sp>
      <p:sp>
        <p:nvSpPr>
          <p:cNvPr id="3" name="Text 1"/>
          <p:cNvSpPr/>
          <p:nvPr/>
        </p:nvSpPr>
        <p:spPr>
          <a:xfrm>
            <a:off x="566928" y="1005840"/>
            <a:ext cx="11055096" cy="310896"/>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Four steps. Each one produces a different grade of evidence, and we label every number with which.</a:t>
            </a:r>
            <a:endParaRPr lang="en-US" sz="1350" dirty="0"/>
          </a:p>
        </p:txBody>
      </p:sp>
      <p:sp>
        <p:nvSpPr>
          <p:cNvPr id="4" name="Shape 2"/>
          <p:cNvSpPr/>
          <p:nvPr/>
        </p:nvSpPr>
        <p:spPr>
          <a:xfrm>
            <a:off x="566928" y="1645920"/>
            <a:ext cx="2516886" cy="3127248"/>
          </a:xfrm>
          <a:prstGeom prst="roundRect">
            <a:avLst>
              <a:gd name="adj" fmla="val 3270"/>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5" name="Text 3"/>
          <p:cNvSpPr/>
          <p:nvPr/>
        </p:nvSpPr>
        <p:spPr>
          <a:xfrm>
            <a:off x="822960" y="1847088"/>
            <a:ext cx="1097280" cy="457200"/>
          </a:xfrm>
          <a:prstGeom prst="rect">
            <a:avLst/>
          </a:prstGeom>
          <a:noFill/>
          <a:ln/>
        </p:spPr>
        <p:txBody>
          <a:bodyPr wrap="square" lIns="0" tIns="0" rIns="0" bIns="0" rtlCol="0" anchor="ctr"/>
          <a:lstStyle/>
          <a:p>
            <a:pPr indent="0" marL="0">
              <a:buNone/>
            </a:pPr>
            <a:r>
              <a:rPr lang="en-US" sz="2500" b="1" dirty="0">
                <a:solidFill>
                  <a:srgbClr val="E2E8F0"/>
                </a:solidFill>
                <a:latin typeface="Cambria" pitchFamily="34" charset="0"/>
                <a:ea typeface="Cambria" pitchFamily="34" charset="-122"/>
                <a:cs typeface="Cambria" pitchFamily="34" charset="-120"/>
              </a:rPr>
              <a:t>01</a:t>
            </a:r>
            <a:endParaRPr lang="en-US" sz="2500" dirty="0"/>
          </a:p>
        </p:txBody>
      </p:sp>
      <p:sp>
        <p:nvSpPr>
          <p:cNvPr id="6" name="Text 4"/>
          <p:cNvSpPr/>
          <p:nvPr/>
        </p:nvSpPr>
        <p:spPr>
          <a:xfrm>
            <a:off x="822960" y="2340864"/>
            <a:ext cx="2004822" cy="347472"/>
          </a:xfrm>
          <a:prstGeom prst="rect">
            <a:avLst/>
          </a:prstGeom>
          <a:noFill/>
          <a:ln/>
        </p:spPr>
        <p:txBody>
          <a:bodyPr wrap="square" lIns="0" tIns="0" rIns="0" bIns="0" rtlCol="0" anchor="ctr"/>
          <a:lstStyle/>
          <a:p>
            <a:pPr indent="0" marL="0">
              <a:buNone/>
            </a:pPr>
            <a:r>
              <a:rPr lang="en-US" sz="1900" b="1" dirty="0">
                <a:solidFill>
                  <a:srgbClr val="0F172A"/>
                </a:solidFill>
                <a:latin typeface="Cambria" pitchFamily="34" charset="0"/>
                <a:ea typeface="Cambria" pitchFamily="34" charset="-122"/>
                <a:cs typeface="Cambria" pitchFamily="34" charset="-120"/>
              </a:rPr>
              <a:t>Promote</a:t>
            </a:r>
            <a:endParaRPr lang="en-US" sz="1900" dirty="0"/>
          </a:p>
        </p:txBody>
      </p:sp>
      <p:sp>
        <p:nvSpPr>
          <p:cNvPr id="7" name="Text 5"/>
          <p:cNvSpPr/>
          <p:nvPr/>
        </p:nvSpPr>
        <p:spPr>
          <a:xfrm>
            <a:off x="822960" y="2743200"/>
            <a:ext cx="2004822" cy="1298448"/>
          </a:xfrm>
          <a:prstGeom prst="rect">
            <a:avLst/>
          </a:prstGeom>
          <a:noFill/>
          <a:ln/>
        </p:spPr>
        <p:txBody>
          <a:bodyPr wrap="square" lIns="0" tIns="0" rIns="0" bIns="0" rtlCol="0" anchor="ctr"/>
          <a:lstStyle/>
          <a:p>
            <a:pPr indent="0" marL="0">
              <a:buNone/>
            </a:pPr>
            <a:r>
              <a:rPr lang="en-US" sz="1250" dirty="0">
                <a:solidFill>
                  <a:srgbClr val="64748B"/>
                </a:solidFill>
                <a:latin typeface="Calibri" pitchFamily="34" charset="0"/>
                <a:ea typeface="Calibri" pitchFamily="34" charset="-122"/>
                <a:cs typeface="Calibri" pitchFamily="34" charset="-120"/>
              </a:rPr>
              <a:t>The vacancy appears on our board with a match score and its job description — the part Careers cannot do.</a:t>
            </a:r>
            <a:endParaRPr lang="en-US" sz="1250" dirty="0"/>
          </a:p>
        </p:txBody>
      </p:sp>
      <p:sp>
        <p:nvSpPr>
          <p:cNvPr id="8" name="Shape 6"/>
          <p:cNvSpPr/>
          <p:nvPr/>
        </p:nvSpPr>
        <p:spPr>
          <a:xfrm>
            <a:off x="822960" y="4224528"/>
            <a:ext cx="1641348" cy="224028"/>
          </a:xfrm>
          <a:prstGeom prst="roundRect">
            <a:avLst>
              <a:gd name="adj" fmla="val 48980"/>
            </a:avLst>
          </a:prstGeom>
          <a:solidFill>
            <a:srgbClr val="DCFCE7"/>
          </a:solidFill>
          <a:ln w="12700">
            <a:solidFill>
              <a:srgbClr val="DCFCE7"/>
            </a:solidFill>
            <a:prstDash val="solid"/>
          </a:ln>
        </p:spPr>
      </p:sp>
      <p:sp>
        <p:nvSpPr>
          <p:cNvPr id="9" name="Text 7"/>
          <p:cNvSpPr/>
          <p:nvPr/>
        </p:nvSpPr>
        <p:spPr>
          <a:xfrm>
            <a:off x="822960" y="4224528"/>
            <a:ext cx="1641348" cy="224028"/>
          </a:xfrm>
          <a:prstGeom prst="rect">
            <a:avLst/>
          </a:prstGeom>
          <a:noFill/>
          <a:ln/>
        </p:spPr>
        <p:txBody>
          <a:bodyPr wrap="square" lIns="0" tIns="0" rIns="0" bIns="0" rtlCol="0" anchor="ctr"/>
          <a:lstStyle/>
          <a:p>
            <a:pPr algn="ctr" indent="0" marL="0">
              <a:buNone/>
            </a:pPr>
            <a:r>
              <a:rPr lang="en-US" sz="900" b="1" spc="80" kern="0" dirty="0">
                <a:solidFill>
                  <a:srgbClr val="166534"/>
                </a:solidFill>
                <a:latin typeface="Calibri" pitchFamily="34" charset="0"/>
                <a:ea typeface="Calibri" pitchFamily="34" charset="-122"/>
                <a:cs typeface="Calibri" pitchFamily="34" charset="-120"/>
              </a:rPr>
              <a:t>MEASURED HERE</a:t>
            </a:r>
            <a:endParaRPr lang="en-US" sz="900" dirty="0"/>
          </a:p>
        </p:txBody>
      </p:sp>
      <p:sp>
        <p:nvSpPr>
          <p:cNvPr id="10" name="Text 8"/>
          <p:cNvSpPr/>
          <p:nvPr/>
        </p:nvSpPr>
        <p:spPr>
          <a:xfrm>
            <a:off x="3102102" y="2962656"/>
            <a:ext cx="292608" cy="365760"/>
          </a:xfrm>
          <a:prstGeom prst="rect">
            <a:avLst/>
          </a:prstGeom>
          <a:noFill/>
          <a:ln/>
        </p:spPr>
        <p:txBody>
          <a:bodyPr wrap="square" lIns="0" tIns="0" rIns="0" bIns="0" rtlCol="0" anchor="ctr"/>
          <a:lstStyle/>
          <a:p>
            <a:pPr algn="ctr" indent="0" marL="0">
              <a:buNone/>
            </a:pPr>
            <a:r>
              <a:rPr lang="en-US" sz="1900" dirty="0">
                <a:solidFill>
                  <a:srgbClr val="94A3B8"/>
                </a:solidFill>
                <a:latin typeface="Calibri" pitchFamily="34" charset="0"/>
                <a:ea typeface="Calibri" pitchFamily="34" charset="-122"/>
                <a:cs typeface="Calibri" pitchFamily="34" charset="-120"/>
              </a:rPr>
              <a:t>→</a:t>
            </a:r>
            <a:endParaRPr lang="en-US" sz="1900" dirty="0"/>
          </a:p>
        </p:txBody>
      </p:sp>
      <p:sp>
        <p:nvSpPr>
          <p:cNvPr id="11" name="Shape 9"/>
          <p:cNvSpPr/>
          <p:nvPr/>
        </p:nvSpPr>
        <p:spPr>
          <a:xfrm>
            <a:off x="3412998" y="1645920"/>
            <a:ext cx="2516886" cy="3127248"/>
          </a:xfrm>
          <a:prstGeom prst="roundRect">
            <a:avLst>
              <a:gd name="adj" fmla="val 3270"/>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12" name="Text 10"/>
          <p:cNvSpPr/>
          <p:nvPr/>
        </p:nvSpPr>
        <p:spPr>
          <a:xfrm>
            <a:off x="3669030" y="1847088"/>
            <a:ext cx="1097280" cy="457200"/>
          </a:xfrm>
          <a:prstGeom prst="rect">
            <a:avLst/>
          </a:prstGeom>
          <a:noFill/>
          <a:ln/>
        </p:spPr>
        <p:txBody>
          <a:bodyPr wrap="square" lIns="0" tIns="0" rIns="0" bIns="0" rtlCol="0" anchor="ctr"/>
          <a:lstStyle/>
          <a:p>
            <a:pPr indent="0" marL="0">
              <a:buNone/>
            </a:pPr>
            <a:r>
              <a:rPr lang="en-US" sz="2500" b="1" dirty="0">
                <a:solidFill>
                  <a:srgbClr val="E2E8F0"/>
                </a:solidFill>
                <a:latin typeface="Cambria" pitchFamily="34" charset="0"/>
                <a:ea typeface="Cambria" pitchFamily="34" charset="-122"/>
                <a:cs typeface="Cambria" pitchFamily="34" charset="-120"/>
              </a:rPr>
              <a:t>02</a:t>
            </a:r>
            <a:endParaRPr lang="en-US" sz="2500" dirty="0"/>
          </a:p>
        </p:txBody>
      </p:sp>
      <p:sp>
        <p:nvSpPr>
          <p:cNvPr id="13" name="Text 11"/>
          <p:cNvSpPr/>
          <p:nvPr/>
        </p:nvSpPr>
        <p:spPr>
          <a:xfrm>
            <a:off x="3669030" y="2340864"/>
            <a:ext cx="2004822" cy="347472"/>
          </a:xfrm>
          <a:prstGeom prst="rect">
            <a:avLst/>
          </a:prstGeom>
          <a:noFill/>
          <a:ln/>
        </p:spPr>
        <p:txBody>
          <a:bodyPr wrap="square" lIns="0" tIns="0" rIns="0" bIns="0" rtlCol="0" anchor="ctr"/>
          <a:lstStyle/>
          <a:p>
            <a:pPr indent="0" marL="0">
              <a:buNone/>
            </a:pPr>
            <a:r>
              <a:rPr lang="en-US" sz="1900" b="1" dirty="0">
                <a:solidFill>
                  <a:srgbClr val="0F172A"/>
                </a:solidFill>
                <a:latin typeface="Cambria" pitchFamily="34" charset="0"/>
                <a:ea typeface="Cambria" pitchFamily="34" charset="-122"/>
                <a:cs typeface="Cambria" pitchFamily="34" charset="-120"/>
              </a:rPr>
              <a:t>Hand off</a:t>
            </a:r>
            <a:endParaRPr lang="en-US" sz="1900" dirty="0"/>
          </a:p>
        </p:txBody>
      </p:sp>
      <p:sp>
        <p:nvSpPr>
          <p:cNvPr id="14" name="Text 12"/>
          <p:cNvSpPr/>
          <p:nvPr/>
        </p:nvSpPr>
        <p:spPr>
          <a:xfrm>
            <a:off x="3669030" y="2743200"/>
            <a:ext cx="2004822" cy="1298448"/>
          </a:xfrm>
          <a:prstGeom prst="rect">
            <a:avLst/>
          </a:prstGeom>
          <a:noFill/>
          <a:ln/>
        </p:spPr>
        <p:txBody>
          <a:bodyPr wrap="square" lIns="0" tIns="0" rIns="0" bIns="0" rtlCol="0" anchor="ctr"/>
          <a:lstStyle/>
          <a:p>
            <a:pPr indent="0" marL="0">
              <a:buNone/>
            </a:pPr>
            <a:r>
              <a:rPr lang="en-US" sz="1250" dirty="0">
                <a:solidFill>
                  <a:srgbClr val="64748B"/>
                </a:solidFill>
                <a:latin typeface="Calibri" pitchFamily="34" charset="0"/>
                <a:ea typeface="Calibri" pitchFamily="34" charset="-122"/>
                <a:cs typeface="Calibri" pitchFamily="34" charset="-120"/>
              </a:rPr>
              <a:t>Opening it mints a referral code and carries it to Careers on the link. The click is ours, exactly.</a:t>
            </a:r>
            <a:endParaRPr lang="en-US" sz="1250" dirty="0"/>
          </a:p>
        </p:txBody>
      </p:sp>
      <p:sp>
        <p:nvSpPr>
          <p:cNvPr id="15" name="Shape 13"/>
          <p:cNvSpPr/>
          <p:nvPr/>
        </p:nvSpPr>
        <p:spPr>
          <a:xfrm>
            <a:off x="3669030" y="4224528"/>
            <a:ext cx="1641348" cy="224028"/>
          </a:xfrm>
          <a:prstGeom prst="roundRect">
            <a:avLst>
              <a:gd name="adj" fmla="val 48980"/>
            </a:avLst>
          </a:prstGeom>
          <a:solidFill>
            <a:srgbClr val="DCFCE7"/>
          </a:solidFill>
          <a:ln w="12700">
            <a:solidFill>
              <a:srgbClr val="DCFCE7"/>
            </a:solidFill>
            <a:prstDash val="solid"/>
          </a:ln>
        </p:spPr>
      </p:sp>
      <p:sp>
        <p:nvSpPr>
          <p:cNvPr id="16" name="Text 14"/>
          <p:cNvSpPr/>
          <p:nvPr/>
        </p:nvSpPr>
        <p:spPr>
          <a:xfrm>
            <a:off x="3669030" y="4224528"/>
            <a:ext cx="1641348" cy="224028"/>
          </a:xfrm>
          <a:prstGeom prst="rect">
            <a:avLst/>
          </a:prstGeom>
          <a:noFill/>
          <a:ln/>
        </p:spPr>
        <p:txBody>
          <a:bodyPr wrap="square" lIns="0" tIns="0" rIns="0" bIns="0" rtlCol="0" anchor="ctr"/>
          <a:lstStyle/>
          <a:p>
            <a:pPr algn="ctr" indent="0" marL="0">
              <a:buNone/>
            </a:pPr>
            <a:r>
              <a:rPr lang="en-US" sz="900" b="1" spc="80" kern="0" dirty="0">
                <a:solidFill>
                  <a:srgbClr val="166534"/>
                </a:solidFill>
                <a:latin typeface="Calibri" pitchFamily="34" charset="0"/>
                <a:ea typeface="Calibri" pitchFamily="34" charset="-122"/>
                <a:cs typeface="Calibri" pitchFamily="34" charset="-120"/>
              </a:rPr>
              <a:t>MEASURED HERE</a:t>
            </a:r>
            <a:endParaRPr lang="en-US" sz="900" dirty="0"/>
          </a:p>
        </p:txBody>
      </p:sp>
      <p:sp>
        <p:nvSpPr>
          <p:cNvPr id="17" name="Text 15"/>
          <p:cNvSpPr/>
          <p:nvPr/>
        </p:nvSpPr>
        <p:spPr>
          <a:xfrm>
            <a:off x="5948172" y="2962656"/>
            <a:ext cx="292608" cy="365760"/>
          </a:xfrm>
          <a:prstGeom prst="rect">
            <a:avLst/>
          </a:prstGeom>
          <a:noFill/>
          <a:ln/>
        </p:spPr>
        <p:txBody>
          <a:bodyPr wrap="square" lIns="0" tIns="0" rIns="0" bIns="0" rtlCol="0" anchor="ctr"/>
          <a:lstStyle/>
          <a:p>
            <a:pPr algn="ctr" indent="0" marL="0">
              <a:buNone/>
            </a:pPr>
            <a:r>
              <a:rPr lang="en-US" sz="1900" dirty="0">
                <a:solidFill>
                  <a:srgbClr val="94A3B8"/>
                </a:solidFill>
                <a:latin typeface="Calibri" pitchFamily="34" charset="0"/>
                <a:ea typeface="Calibri" pitchFamily="34" charset="-122"/>
                <a:cs typeface="Calibri" pitchFamily="34" charset="-120"/>
              </a:rPr>
              <a:t>→</a:t>
            </a:r>
            <a:endParaRPr lang="en-US" sz="1900" dirty="0"/>
          </a:p>
        </p:txBody>
      </p:sp>
      <p:sp>
        <p:nvSpPr>
          <p:cNvPr id="18" name="Shape 16"/>
          <p:cNvSpPr/>
          <p:nvPr/>
        </p:nvSpPr>
        <p:spPr>
          <a:xfrm>
            <a:off x="6259068" y="1645920"/>
            <a:ext cx="2516886" cy="3127248"/>
          </a:xfrm>
          <a:prstGeom prst="roundRect">
            <a:avLst>
              <a:gd name="adj" fmla="val 3270"/>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19" name="Text 17"/>
          <p:cNvSpPr/>
          <p:nvPr/>
        </p:nvSpPr>
        <p:spPr>
          <a:xfrm>
            <a:off x="6515100" y="1847088"/>
            <a:ext cx="1097280" cy="457200"/>
          </a:xfrm>
          <a:prstGeom prst="rect">
            <a:avLst/>
          </a:prstGeom>
          <a:noFill/>
          <a:ln/>
        </p:spPr>
        <p:txBody>
          <a:bodyPr wrap="square" lIns="0" tIns="0" rIns="0" bIns="0" rtlCol="0" anchor="ctr"/>
          <a:lstStyle/>
          <a:p>
            <a:pPr indent="0" marL="0">
              <a:buNone/>
            </a:pPr>
            <a:r>
              <a:rPr lang="en-US" sz="2500" b="1" dirty="0">
                <a:solidFill>
                  <a:srgbClr val="E2E8F0"/>
                </a:solidFill>
                <a:latin typeface="Cambria" pitchFamily="34" charset="0"/>
                <a:ea typeface="Cambria" pitchFamily="34" charset="-122"/>
                <a:cs typeface="Cambria" pitchFamily="34" charset="-120"/>
              </a:rPr>
              <a:t>03</a:t>
            </a:r>
            <a:endParaRPr lang="en-US" sz="2500" dirty="0"/>
          </a:p>
        </p:txBody>
      </p:sp>
      <p:sp>
        <p:nvSpPr>
          <p:cNvPr id="20" name="Text 18"/>
          <p:cNvSpPr/>
          <p:nvPr/>
        </p:nvSpPr>
        <p:spPr>
          <a:xfrm>
            <a:off x="6515100" y="2340864"/>
            <a:ext cx="2004822" cy="347472"/>
          </a:xfrm>
          <a:prstGeom prst="rect">
            <a:avLst/>
          </a:prstGeom>
          <a:noFill/>
          <a:ln/>
        </p:spPr>
        <p:txBody>
          <a:bodyPr wrap="square" lIns="0" tIns="0" rIns="0" bIns="0" rtlCol="0" anchor="ctr"/>
          <a:lstStyle/>
          <a:p>
            <a:pPr indent="0" marL="0">
              <a:buNone/>
            </a:pPr>
            <a:r>
              <a:rPr lang="en-US" sz="1900" b="1" dirty="0">
                <a:solidFill>
                  <a:srgbClr val="0F172A"/>
                </a:solidFill>
                <a:latin typeface="Cambria" pitchFamily="34" charset="0"/>
                <a:ea typeface="Cambria" pitchFamily="34" charset="-122"/>
                <a:cs typeface="Cambria" pitchFamily="34" charset="-120"/>
              </a:rPr>
              <a:t>Confirm</a:t>
            </a:r>
            <a:endParaRPr lang="en-US" sz="1900" dirty="0"/>
          </a:p>
        </p:txBody>
      </p:sp>
      <p:sp>
        <p:nvSpPr>
          <p:cNvPr id="21" name="Text 19"/>
          <p:cNvSpPr/>
          <p:nvPr/>
        </p:nvSpPr>
        <p:spPr>
          <a:xfrm>
            <a:off x="6515100" y="2743200"/>
            <a:ext cx="2004822" cy="1298448"/>
          </a:xfrm>
          <a:prstGeom prst="rect">
            <a:avLst/>
          </a:prstGeom>
          <a:noFill/>
          <a:ln/>
        </p:spPr>
        <p:txBody>
          <a:bodyPr wrap="square" lIns="0" tIns="0" rIns="0" bIns="0" rtlCol="0" anchor="ctr"/>
          <a:lstStyle/>
          <a:p>
            <a:pPr indent="0" marL="0">
              <a:buNone/>
            </a:pPr>
            <a:r>
              <a:rPr lang="en-US" sz="1250" dirty="0">
                <a:solidFill>
                  <a:srgbClr val="64748B"/>
                </a:solidFill>
                <a:latin typeface="Calibri" pitchFamily="34" charset="0"/>
                <a:ea typeface="Calibri" pitchFamily="34" charset="-122"/>
                <a:cs typeface="Calibri" pitchFamily="34" charset="-120"/>
              </a:rPr>
              <a:t>We ask the employee afterwards whether they applied. One tap, and the board asks unprompted.</a:t>
            </a:r>
            <a:endParaRPr lang="en-US" sz="1250" dirty="0"/>
          </a:p>
        </p:txBody>
      </p:sp>
      <p:sp>
        <p:nvSpPr>
          <p:cNvPr id="22" name="Shape 20"/>
          <p:cNvSpPr/>
          <p:nvPr/>
        </p:nvSpPr>
        <p:spPr>
          <a:xfrm>
            <a:off x="6515100" y="4224528"/>
            <a:ext cx="1641348" cy="224028"/>
          </a:xfrm>
          <a:prstGeom prst="roundRect">
            <a:avLst>
              <a:gd name="adj" fmla="val 48980"/>
            </a:avLst>
          </a:prstGeom>
          <a:solidFill>
            <a:srgbClr val="FEF3C7"/>
          </a:solidFill>
          <a:ln w="12700">
            <a:solidFill>
              <a:srgbClr val="FEF3C7"/>
            </a:solidFill>
            <a:prstDash val="solid"/>
          </a:ln>
        </p:spPr>
      </p:sp>
      <p:sp>
        <p:nvSpPr>
          <p:cNvPr id="23" name="Text 21"/>
          <p:cNvSpPr/>
          <p:nvPr/>
        </p:nvSpPr>
        <p:spPr>
          <a:xfrm>
            <a:off x="6515100" y="4224528"/>
            <a:ext cx="1641348" cy="224028"/>
          </a:xfrm>
          <a:prstGeom prst="rect">
            <a:avLst/>
          </a:prstGeom>
          <a:noFill/>
          <a:ln/>
        </p:spPr>
        <p:txBody>
          <a:bodyPr wrap="square" lIns="0" tIns="0" rIns="0" bIns="0" rtlCol="0" anchor="ctr"/>
          <a:lstStyle/>
          <a:p>
            <a:pPr algn="ctr" indent="0" marL="0">
              <a:buNone/>
            </a:pPr>
            <a:r>
              <a:rPr lang="en-US" sz="900" b="1" spc="80" kern="0" dirty="0">
                <a:solidFill>
                  <a:srgbClr val="92400E"/>
                </a:solidFill>
                <a:latin typeface="Calibri" pitchFamily="34" charset="0"/>
                <a:ea typeface="Calibri" pitchFamily="34" charset="-122"/>
                <a:cs typeface="Calibri" pitchFamily="34" charset="-120"/>
              </a:rPr>
              <a:t>SELF-REPORTED</a:t>
            </a:r>
            <a:endParaRPr lang="en-US" sz="900" dirty="0"/>
          </a:p>
        </p:txBody>
      </p:sp>
      <p:sp>
        <p:nvSpPr>
          <p:cNvPr id="24" name="Text 22"/>
          <p:cNvSpPr/>
          <p:nvPr/>
        </p:nvSpPr>
        <p:spPr>
          <a:xfrm>
            <a:off x="8794242" y="2962656"/>
            <a:ext cx="292608" cy="365760"/>
          </a:xfrm>
          <a:prstGeom prst="rect">
            <a:avLst/>
          </a:prstGeom>
          <a:noFill/>
          <a:ln/>
        </p:spPr>
        <p:txBody>
          <a:bodyPr wrap="square" lIns="0" tIns="0" rIns="0" bIns="0" rtlCol="0" anchor="ctr"/>
          <a:lstStyle/>
          <a:p>
            <a:pPr algn="ctr" indent="0" marL="0">
              <a:buNone/>
            </a:pPr>
            <a:r>
              <a:rPr lang="en-US" sz="1900" dirty="0">
                <a:solidFill>
                  <a:srgbClr val="94A3B8"/>
                </a:solidFill>
                <a:latin typeface="Calibri" pitchFamily="34" charset="0"/>
                <a:ea typeface="Calibri" pitchFamily="34" charset="-122"/>
                <a:cs typeface="Calibri" pitchFamily="34" charset="-120"/>
              </a:rPr>
              <a:t>→</a:t>
            </a:r>
            <a:endParaRPr lang="en-US" sz="1900" dirty="0"/>
          </a:p>
        </p:txBody>
      </p:sp>
      <p:sp>
        <p:nvSpPr>
          <p:cNvPr id="25" name="Shape 23"/>
          <p:cNvSpPr/>
          <p:nvPr/>
        </p:nvSpPr>
        <p:spPr>
          <a:xfrm>
            <a:off x="9105138" y="1645920"/>
            <a:ext cx="2516886" cy="3127248"/>
          </a:xfrm>
          <a:prstGeom prst="roundRect">
            <a:avLst>
              <a:gd name="adj" fmla="val 3270"/>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26" name="Text 24"/>
          <p:cNvSpPr/>
          <p:nvPr/>
        </p:nvSpPr>
        <p:spPr>
          <a:xfrm>
            <a:off x="9361170" y="1847088"/>
            <a:ext cx="1097280" cy="457200"/>
          </a:xfrm>
          <a:prstGeom prst="rect">
            <a:avLst/>
          </a:prstGeom>
          <a:noFill/>
          <a:ln/>
        </p:spPr>
        <p:txBody>
          <a:bodyPr wrap="square" lIns="0" tIns="0" rIns="0" bIns="0" rtlCol="0" anchor="ctr"/>
          <a:lstStyle/>
          <a:p>
            <a:pPr indent="0" marL="0">
              <a:buNone/>
            </a:pPr>
            <a:r>
              <a:rPr lang="en-US" sz="2500" b="1" dirty="0">
                <a:solidFill>
                  <a:srgbClr val="E2E8F0"/>
                </a:solidFill>
                <a:latin typeface="Cambria" pitchFamily="34" charset="0"/>
                <a:ea typeface="Cambria" pitchFamily="34" charset="-122"/>
                <a:cs typeface="Cambria" pitchFamily="34" charset="-120"/>
              </a:rPr>
              <a:t>04</a:t>
            </a:r>
            <a:endParaRPr lang="en-US" sz="2500" dirty="0"/>
          </a:p>
        </p:txBody>
      </p:sp>
      <p:sp>
        <p:nvSpPr>
          <p:cNvPr id="27" name="Text 25"/>
          <p:cNvSpPr/>
          <p:nvPr/>
        </p:nvSpPr>
        <p:spPr>
          <a:xfrm>
            <a:off x="9361170" y="2340864"/>
            <a:ext cx="2004822" cy="347472"/>
          </a:xfrm>
          <a:prstGeom prst="rect">
            <a:avLst/>
          </a:prstGeom>
          <a:noFill/>
          <a:ln/>
        </p:spPr>
        <p:txBody>
          <a:bodyPr wrap="square" lIns="0" tIns="0" rIns="0" bIns="0" rtlCol="0" anchor="ctr"/>
          <a:lstStyle/>
          <a:p>
            <a:pPr indent="0" marL="0">
              <a:buNone/>
            </a:pPr>
            <a:r>
              <a:rPr lang="en-US" sz="1900" b="1" dirty="0">
                <a:solidFill>
                  <a:srgbClr val="0F172A"/>
                </a:solidFill>
                <a:latin typeface="Cambria" pitchFamily="34" charset="0"/>
                <a:ea typeface="Cambria" pitchFamily="34" charset="-122"/>
                <a:cs typeface="Cambria" pitchFamily="34" charset="-120"/>
              </a:rPr>
              <a:t>Reconcile</a:t>
            </a:r>
            <a:endParaRPr lang="en-US" sz="1900" dirty="0"/>
          </a:p>
        </p:txBody>
      </p:sp>
      <p:sp>
        <p:nvSpPr>
          <p:cNvPr id="28" name="Text 26"/>
          <p:cNvSpPr/>
          <p:nvPr/>
        </p:nvSpPr>
        <p:spPr>
          <a:xfrm>
            <a:off x="9361170" y="2743200"/>
            <a:ext cx="2004822" cy="1298448"/>
          </a:xfrm>
          <a:prstGeom prst="rect">
            <a:avLst/>
          </a:prstGeom>
          <a:noFill/>
          <a:ln/>
        </p:spPr>
        <p:txBody>
          <a:bodyPr wrap="square" lIns="0" tIns="0" rIns="0" bIns="0" rtlCol="0" anchor="ctr"/>
          <a:lstStyle/>
          <a:p>
            <a:pPr indent="0" marL="0">
              <a:buNone/>
            </a:pPr>
            <a:r>
              <a:rPr lang="en-US" sz="1250" dirty="0">
                <a:solidFill>
                  <a:srgbClr val="64748B"/>
                </a:solidFill>
                <a:latin typeface="Calibri" pitchFamily="34" charset="0"/>
                <a:ea typeface="Calibri" pitchFamily="34" charset="-122"/>
                <a:cs typeface="Calibri" pitchFamily="34" charset="-120"/>
              </a:rPr>
              <a:t>Quarterly, join our referral export against the Careers export on the referral code.</a:t>
            </a:r>
            <a:endParaRPr lang="en-US" sz="1250" dirty="0"/>
          </a:p>
        </p:txBody>
      </p:sp>
      <p:sp>
        <p:nvSpPr>
          <p:cNvPr id="29" name="Shape 27"/>
          <p:cNvSpPr/>
          <p:nvPr/>
        </p:nvSpPr>
        <p:spPr>
          <a:xfrm>
            <a:off x="9361170" y="4224528"/>
            <a:ext cx="1536192" cy="224028"/>
          </a:xfrm>
          <a:prstGeom prst="roundRect">
            <a:avLst>
              <a:gd name="adj" fmla="val 48980"/>
            </a:avLst>
          </a:prstGeom>
          <a:solidFill>
            <a:srgbClr val="E0E7FF"/>
          </a:solidFill>
          <a:ln w="12700">
            <a:solidFill>
              <a:srgbClr val="E0E7FF"/>
            </a:solidFill>
            <a:prstDash val="solid"/>
          </a:ln>
        </p:spPr>
      </p:sp>
      <p:sp>
        <p:nvSpPr>
          <p:cNvPr id="30" name="Text 28"/>
          <p:cNvSpPr/>
          <p:nvPr/>
        </p:nvSpPr>
        <p:spPr>
          <a:xfrm>
            <a:off x="9361170" y="4224528"/>
            <a:ext cx="1536192" cy="224028"/>
          </a:xfrm>
          <a:prstGeom prst="rect">
            <a:avLst/>
          </a:prstGeom>
          <a:noFill/>
          <a:ln/>
        </p:spPr>
        <p:txBody>
          <a:bodyPr wrap="square" lIns="0" tIns="0" rIns="0" bIns="0" rtlCol="0" anchor="ctr"/>
          <a:lstStyle/>
          <a:p>
            <a:pPr algn="ctr" indent="0" marL="0">
              <a:buNone/>
            </a:pPr>
            <a:r>
              <a:rPr lang="en-US" sz="900" b="1" spc="80" kern="0" dirty="0">
                <a:solidFill>
                  <a:srgbClr val="3730A3"/>
                </a:solidFill>
                <a:latin typeface="Calibri" pitchFamily="34" charset="0"/>
                <a:ea typeface="Calibri" pitchFamily="34" charset="-122"/>
                <a:cs typeface="Calibri" pitchFamily="34" charset="-120"/>
              </a:rPr>
              <a:t>FROM CAREERS</a:t>
            </a:r>
            <a:endParaRPr lang="en-US" sz="900" dirty="0"/>
          </a:p>
        </p:txBody>
      </p:sp>
      <p:sp>
        <p:nvSpPr>
          <p:cNvPr id="31" name="Shape 29"/>
          <p:cNvSpPr/>
          <p:nvPr/>
        </p:nvSpPr>
        <p:spPr>
          <a:xfrm>
            <a:off x="566928" y="5047488"/>
            <a:ext cx="11055096" cy="1060704"/>
          </a:xfrm>
          <a:prstGeom prst="roundRect">
            <a:avLst>
              <a:gd name="adj" fmla="val 7759"/>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32" name="Text 30"/>
          <p:cNvSpPr/>
          <p:nvPr/>
        </p:nvSpPr>
        <p:spPr>
          <a:xfrm>
            <a:off x="877824" y="5047488"/>
            <a:ext cx="10433304" cy="1060704"/>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The attribution rule, agreed before the first number is reported:  </a:t>
            </a:r>
            <a:pPr indent="0" marL="0">
              <a:buNone/>
            </a:pPr>
            <a:r>
              <a:rPr lang="en-US" sz="1400" b="1" dirty="0">
                <a:solidFill>
                  <a:srgbClr val="0F172A"/>
                </a:solidFill>
                <a:latin typeface="Calibri" pitchFamily="34" charset="0"/>
                <a:ea typeface="Calibri" pitchFamily="34" charset="-122"/>
                <a:cs typeface="Calibri" pitchFamily="34" charset="-120"/>
              </a:rPr>
              <a:t>a vacancy application counts as ours when a referral click precedes it by no more than 30 days, last touch.</a:t>
            </a:r>
            <a:pPr indent="0" marL="0">
              <a:buNone/>
            </a:pPr>
            <a:r>
              <a:rPr lang="en-US" sz="1400" dirty="0">
                <a:solidFill>
                  <a:srgbClr val="64748B"/>
                </a:solidFill>
                <a:latin typeface="Calibri" pitchFamily="34" charset="0"/>
                <a:ea typeface="Calibri" pitchFamily="34" charset="-122"/>
                <a:cs typeface="Calibri" pitchFamily="34" charset="-120"/>
              </a:rPr>
              <a:t>  Undercounting is the intended failure mode.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566928" y="475488"/>
            <a:ext cx="3218688" cy="224028"/>
          </a:xfrm>
          <a:prstGeom prst="roundRect">
            <a:avLst>
              <a:gd name="adj" fmla="val 48980"/>
            </a:avLst>
          </a:prstGeom>
          <a:solidFill>
            <a:srgbClr val="C00000"/>
          </a:solidFill>
          <a:ln w="12700">
            <a:solidFill>
              <a:srgbClr val="C00000"/>
            </a:solidFill>
            <a:prstDash val="solid"/>
          </a:ln>
        </p:spPr>
      </p:sp>
      <p:sp>
        <p:nvSpPr>
          <p:cNvPr id="3" name="Text 1"/>
          <p:cNvSpPr/>
          <p:nvPr/>
        </p:nvSpPr>
        <p:spPr>
          <a:xfrm>
            <a:off x="566928" y="475488"/>
            <a:ext cx="3218688" cy="224028"/>
          </a:xfrm>
          <a:prstGeom prst="rect">
            <a:avLst/>
          </a:prstGeom>
          <a:noFill/>
          <a:ln/>
        </p:spPr>
        <p:txBody>
          <a:bodyPr wrap="square" lIns="0" tIns="0" rIns="0" bIns="0" rtlCol="0" anchor="ctr"/>
          <a:lstStyle/>
          <a:p>
            <a:pPr algn="ctr" indent="0" marL="0">
              <a:buNone/>
            </a:pPr>
            <a:r>
              <a:rPr lang="en-US" sz="900" b="1" spc="80" kern="0" dirty="0">
                <a:solidFill>
                  <a:srgbClr val="FFFFFF"/>
                </a:solidFill>
                <a:latin typeface="Calibri" pitchFamily="34" charset="0"/>
                <a:ea typeface="Calibri" pitchFamily="34" charset="-122"/>
                <a:cs typeface="Calibri" pitchFamily="34" charset="-120"/>
              </a:rPr>
              <a:t>THE COUNTERINTUITIVE FINDING</a:t>
            </a:r>
            <a:endParaRPr lang="en-US" sz="900" dirty="0"/>
          </a:p>
        </p:txBody>
      </p:sp>
      <p:sp>
        <p:nvSpPr>
          <p:cNvPr id="4" name="Text 2"/>
          <p:cNvSpPr/>
          <p:nvPr/>
        </p:nvSpPr>
        <p:spPr>
          <a:xfrm>
            <a:off x="566928" y="896112"/>
            <a:ext cx="6858000" cy="1371600"/>
          </a:xfrm>
          <a:prstGeom prst="rect">
            <a:avLst/>
          </a:prstGeom>
          <a:noFill/>
          <a:ln/>
        </p:spPr>
        <p:txBody>
          <a:bodyPr wrap="square" lIns="0" tIns="0" rIns="0" bIns="0" rtlCol="0" anchor="ctr"/>
          <a:lstStyle/>
          <a:p>
            <a:pPr indent="0" marL="0">
              <a:lnSpc>
                <a:spcPts val="3800"/>
              </a:lnSpc>
              <a:buNone/>
            </a:pPr>
            <a:r>
              <a:rPr lang="en-US" sz="3400" b="1" dirty="0">
                <a:solidFill>
                  <a:srgbClr val="FFFFFF"/>
                </a:solidFill>
                <a:latin typeface="Cambria" pitchFamily="34" charset="0"/>
                <a:ea typeface="Cambria" pitchFamily="34" charset="-122"/>
                <a:cs typeface="Cambria" pitchFamily="34" charset="-120"/>
              </a:rPr>
              <a:t>Removing a service made</a:t>
            </a:r>
            <a:endParaRPr lang="en-US" sz="3400" dirty="0"/>
          </a:p>
          <a:p>
            <a:pPr indent="0" marL="0">
              <a:lnSpc>
                <a:spcPts val="3800"/>
              </a:lnSpc>
              <a:buNone/>
            </a:pPr>
            <a:r>
              <a:rPr lang="en-US" sz="3400" b="1" dirty="0">
                <a:solidFill>
                  <a:srgbClr val="FFFFFF"/>
                </a:solidFill>
                <a:latin typeface="Cambria" pitchFamily="34" charset="0"/>
                <a:ea typeface="Cambria" pitchFamily="34" charset="-122"/>
                <a:cs typeface="Cambria" pitchFamily="34" charset="-120"/>
              </a:rPr>
              <a:t>the system more expensive.</a:t>
            </a:r>
            <a:endParaRPr lang="en-US" sz="3400" dirty="0"/>
          </a:p>
        </p:txBody>
      </p:sp>
      <p:sp>
        <p:nvSpPr>
          <p:cNvPr id="5" name="Text 3"/>
          <p:cNvSpPr/>
          <p:nvPr/>
        </p:nvSpPr>
        <p:spPr>
          <a:xfrm>
            <a:off x="566928" y="2395728"/>
            <a:ext cx="6675120" cy="1371600"/>
          </a:xfrm>
          <a:prstGeom prst="rect">
            <a:avLst/>
          </a:prstGeom>
          <a:noFill/>
          <a:ln/>
        </p:spPr>
        <p:txBody>
          <a:bodyPr wrap="square" lIns="0" tIns="0" rIns="0" bIns="0" rtlCol="0" anchor="ctr"/>
          <a:lstStyle/>
          <a:p>
            <a:pPr indent="0" marL="0">
              <a:lnSpc>
                <a:spcPts val="2300"/>
              </a:lnSpc>
              <a:buNone/>
            </a:pPr>
            <a:r>
              <a:rPr lang="en-US" sz="1450" dirty="0">
                <a:solidFill>
                  <a:srgbClr val="CBD5E1"/>
                </a:solidFill>
                <a:latin typeface="Calibri" pitchFamily="34" charset="0"/>
                <a:ea typeface="Calibri" pitchFamily="34" charset="-122"/>
                <a:cs typeface="Calibri" pitchFamily="34" charset="-120"/>
              </a:rPr>
              <a:t>v1 owned the whole vacancy funnel, so measuring it was free — the data was already in our database. v2 hands that funnel to Careers and keeps only the top of it. The outcome now sits in someone else’s system, and has to be tracked, handed off, self-reported and reconciled to be claimable at all.</a:t>
            </a:r>
            <a:endParaRPr lang="en-US" sz="1450" dirty="0"/>
          </a:p>
        </p:txBody>
      </p:sp>
      <p:sp>
        <p:nvSpPr>
          <p:cNvPr id="6" name="Shape 4"/>
          <p:cNvSpPr/>
          <p:nvPr/>
        </p:nvSpPr>
        <p:spPr>
          <a:xfrm>
            <a:off x="7571232" y="969264"/>
            <a:ext cx="4023360" cy="2286000"/>
          </a:xfrm>
          <a:prstGeom prst="roundRect">
            <a:avLst>
              <a:gd name="adj" fmla="val 3600"/>
            </a:avLst>
          </a:prstGeom>
          <a:solidFill>
            <a:srgbClr val="1E293B"/>
          </a:solidFill>
          <a:ln w="12700">
            <a:solidFill>
              <a:srgbClr val="1E293B"/>
            </a:solidFill>
            <a:prstDash val="solid"/>
          </a:ln>
          <a:effectLst>
            <a:outerShdw sx="100000" sy="100000" kx="0" ky="0" algn="bl" rotWithShape="0" blurRad="114300" dist="17780" dir="5400000">
              <a:srgbClr val="0F172A">
                <a:alpha val="7000"/>
              </a:srgbClr>
            </a:outerShdw>
          </a:effectLst>
        </p:spPr>
      </p:sp>
      <p:sp>
        <p:nvSpPr>
          <p:cNvPr id="7" name="Text 5"/>
          <p:cNvSpPr/>
          <p:nvPr/>
        </p:nvSpPr>
        <p:spPr>
          <a:xfrm>
            <a:off x="7882128" y="1170432"/>
            <a:ext cx="3474720" cy="274320"/>
          </a:xfrm>
          <a:prstGeom prst="rect">
            <a:avLst/>
          </a:prstGeom>
          <a:noFill/>
          <a:ln/>
        </p:spPr>
        <p:txBody>
          <a:bodyPr wrap="square" lIns="0" tIns="0" rIns="0" bIns="0" rtlCol="0" anchor="ctr"/>
          <a:lstStyle/>
          <a:p>
            <a:pPr indent="0" marL="0">
              <a:buNone/>
            </a:pPr>
            <a:r>
              <a:rPr lang="en-US" sz="1150" b="1" spc="80" kern="0" dirty="0">
                <a:solidFill>
                  <a:srgbClr val="94A3B8"/>
                </a:solidFill>
                <a:latin typeface="Calibri" pitchFamily="34" charset="0"/>
                <a:ea typeface="Calibri" pitchFamily="34" charset="-122"/>
                <a:cs typeface="Calibri" pitchFamily="34" charset="-120"/>
              </a:rPr>
              <a:t>Developer effort</a:t>
            </a:r>
            <a:endParaRPr lang="en-US" sz="1150" dirty="0"/>
          </a:p>
        </p:txBody>
      </p:sp>
      <p:sp>
        <p:nvSpPr>
          <p:cNvPr id="8" name="Text 6"/>
          <p:cNvSpPr/>
          <p:nvPr/>
        </p:nvSpPr>
        <p:spPr>
          <a:xfrm>
            <a:off x="7882128" y="1591056"/>
            <a:ext cx="34747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Deleting the vacancy flow saves</a:t>
            </a:r>
            <a:endParaRPr lang="en-US" sz="1200" dirty="0"/>
          </a:p>
        </p:txBody>
      </p:sp>
      <p:sp>
        <p:nvSpPr>
          <p:cNvPr id="9" name="Text 7"/>
          <p:cNvSpPr/>
          <p:nvPr/>
        </p:nvSpPr>
        <p:spPr>
          <a:xfrm>
            <a:off x="7882128" y="1847088"/>
            <a:ext cx="3474720" cy="365760"/>
          </a:xfrm>
          <a:prstGeom prst="rect">
            <a:avLst/>
          </a:prstGeom>
          <a:noFill/>
          <a:ln/>
        </p:spPr>
        <p:txBody>
          <a:bodyPr wrap="square" lIns="0" tIns="0" rIns="0" bIns="0" rtlCol="0" anchor="ctr"/>
          <a:lstStyle/>
          <a:p>
            <a:pPr indent="0" marL="0">
              <a:buNone/>
            </a:pPr>
            <a:r>
              <a:rPr lang="en-US" sz="2000" b="1" dirty="0">
                <a:solidFill>
                  <a:srgbClr val="16A34A"/>
                </a:solidFill>
                <a:latin typeface="Cambria" pitchFamily="34" charset="0"/>
                <a:ea typeface="Cambria" pitchFamily="34" charset="-122"/>
                <a:cs typeface="Cambria" pitchFamily="34" charset="-120"/>
              </a:rPr>
              <a:t>0.4 months</a:t>
            </a:r>
            <a:endParaRPr lang="en-US" sz="2000" dirty="0"/>
          </a:p>
        </p:txBody>
      </p:sp>
      <p:sp>
        <p:nvSpPr>
          <p:cNvPr id="10" name="Text 8"/>
          <p:cNvSpPr/>
          <p:nvPr/>
        </p:nvSpPr>
        <p:spPr>
          <a:xfrm>
            <a:off x="7882128" y="2340864"/>
            <a:ext cx="34747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Building the machinery to count it costs</a:t>
            </a:r>
            <a:endParaRPr lang="en-US" sz="1200" dirty="0"/>
          </a:p>
        </p:txBody>
      </p:sp>
      <p:sp>
        <p:nvSpPr>
          <p:cNvPr id="11" name="Text 9"/>
          <p:cNvSpPr/>
          <p:nvPr/>
        </p:nvSpPr>
        <p:spPr>
          <a:xfrm>
            <a:off x="7882128" y="2596896"/>
            <a:ext cx="3474720" cy="365760"/>
          </a:xfrm>
          <a:prstGeom prst="rect">
            <a:avLst/>
          </a:prstGeom>
          <a:noFill/>
          <a:ln/>
        </p:spPr>
        <p:txBody>
          <a:bodyPr wrap="square" lIns="0" tIns="0" rIns="0" bIns="0" rtlCol="0" anchor="ctr"/>
          <a:lstStyle/>
          <a:p>
            <a:pPr indent="0" marL="0">
              <a:buNone/>
            </a:pPr>
            <a:r>
              <a:rPr lang="en-US" sz="2000" b="1" dirty="0">
                <a:solidFill>
                  <a:srgbClr val="C00000"/>
                </a:solidFill>
                <a:latin typeface="Cambria" pitchFamily="34" charset="0"/>
                <a:ea typeface="Cambria" pitchFamily="34" charset="-122"/>
                <a:cs typeface="Cambria" pitchFamily="34" charset="-120"/>
              </a:rPr>
              <a:t>1.2 months</a:t>
            </a:r>
            <a:endParaRPr lang="en-US" sz="2000" dirty="0"/>
          </a:p>
        </p:txBody>
      </p:sp>
      <p:sp>
        <p:nvSpPr>
          <p:cNvPr id="12" name="Text 10"/>
          <p:cNvSpPr/>
          <p:nvPr/>
        </p:nvSpPr>
        <p:spPr>
          <a:xfrm>
            <a:off x="7571232" y="3547872"/>
            <a:ext cx="2103120" cy="329184"/>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v1</a:t>
            </a:r>
            <a:endParaRPr lang="en-US" sz="1300" dirty="0"/>
          </a:p>
        </p:txBody>
      </p:sp>
      <p:sp>
        <p:nvSpPr>
          <p:cNvPr id="13" name="Text 11"/>
          <p:cNvSpPr/>
          <p:nvPr/>
        </p:nvSpPr>
        <p:spPr>
          <a:xfrm>
            <a:off x="9601200" y="3547872"/>
            <a:ext cx="1993392" cy="329184"/>
          </a:xfrm>
          <a:prstGeom prst="rect">
            <a:avLst/>
          </a:prstGeom>
          <a:noFill/>
          <a:ln/>
        </p:spPr>
        <p:txBody>
          <a:bodyPr wrap="square" lIns="0" tIns="0" rIns="0" bIns="0" rtlCol="0" anchor="ctr"/>
          <a:lstStyle/>
          <a:p>
            <a:pPr algn="r" indent="0" marL="0">
              <a:buNone/>
            </a:pPr>
            <a:r>
              <a:rPr lang="en-US" sz="1600" b="1" dirty="0">
                <a:solidFill>
                  <a:srgbClr val="94A3B8"/>
                </a:solidFill>
                <a:latin typeface="Cambria" pitchFamily="34" charset="0"/>
                <a:ea typeface="Cambria" pitchFamily="34" charset="-122"/>
                <a:cs typeface="Cambria" pitchFamily="34" charset="-120"/>
              </a:rPr>
              <a:t>₱1,112,420</a:t>
            </a:r>
            <a:endParaRPr lang="en-US" sz="1600" dirty="0"/>
          </a:p>
        </p:txBody>
      </p:sp>
      <p:sp>
        <p:nvSpPr>
          <p:cNvPr id="14" name="Text 12"/>
          <p:cNvSpPr/>
          <p:nvPr/>
        </p:nvSpPr>
        <p:spPr>
          <a:xfrm>
            <a:off x="7571232" y="4151376"/>
            <a:ext cx="2103120" cy="329184"/>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v2 as first scoped</a:t>
            </a:r>
            <a:endParaRPr lang="en-US" sz="1300" dirty="0"/>
          </a:p>
        </p:txBody>
      </p:sp>
      <p:sp>
        <p:nvSpPr>
          <p:cNvPr id="15" name="Text 13"/>
          <p:cNvSpPr/>
          <p:nvPr/>
        </p:nvSpPr>
        <p:spPr>
          <a:xfrm>
            <a:off x="9601200" y="4151376"/>
            <a:ext cx="1993392" cy="329184"/>
          </a:xfrm>
          <a:prstGeom prst="rect">
            <a:avLst/>
          </a:prstGeom>
          <a:noFill/>
          <a:ln/>
        </p:spPr>
        <p:txBody>
          <a:bodyPr wrap="square" lIns="0" tIns="0" rIns="0" bIns="0" rtlCol="0" anchor="ctr"/>
          <a:lstStyle/>
          <a:p>
            <a:pPr algn="r" indent="0" marL="0">
              <a:buNone/>
            </a:pPr>
            <a:r>
              <a:rPr lang="en-US" sz="1600" b="1" dirty="0">
                <a:solidFill>
                  <a:srgbClr val="C00000"/>
                </a:solidFill>
                <a:latin typeface="Cambria" pitchFamily="34" charset="0"/>
                <a:ea typeface="Cambria" pitchFamily="34" charset="-122"/>
                <a:cs typeface="Cambria" pitchFamily="34" charset="-120"/>
              </a:rPr>
              <a:t>₱1,542,136</a:t>
            </a:r>
            <a:endParaRPr lang="en-US" sz="1600" dirty="0"/>
          </a:p>
        </p:txBody>
      </p:sp>
      <p:sp>
        <p:nvSpPr>
          <p:cNvPr id="16" name="Text 14"/>
          <p:cNvSpPr/>
          <p:nvPr/>
        </p:nvSpPr>
        <p:spPr>
          <a:xfrm>
            <a:off x="7571232" y="4791456"/>
            <a:ext cx="4023360" cy="310896"/>
          </a:xfrm>
          <a:prstGeom prst="rect">
            <a:avLst/>
          </a:prstGeom>
          <a:noFill/>
          <a:ln/>
        </p:spPr>
        <p:txBody>
          <a:bodyPr wrap="square" lIns="0" tIns="0" rIns="0" bIns="0" rtlCol="0" anchor="ctr"/>
          <a:lstStyle/>
          <a:p>
            <a:pPr algn="r" indent="0" marL="0">
              <a:buNone/>
            </a:pPr>
            <a:r>
              <a:rPr lang="en-US" sz="1250" b="1" dirty="0">
                <a:solidFill>
                  <a:srgbClr val="C00000"/>
                </a:solidFill>
                <a:latin typeface="Calibri" pitchFamily="34" charset="0"/>
                <a:ea typeface="Calibri" pitchFamily="34" charset="-122"/>
                <a:cs typeface="Calibri" pitchFamily="34" charset="-120"/>
              </a:rPr>
              <a:t>+39% over three years</a:t>
            </a:r>
            <a:endParaRPr lang="en-US" sz="1250" dirty="0"/>
          </a:p>
        </p:txBody>
      </p:sp>
      <p:sp>
        <p:nvSpPr>
          <p:cNvPr id="17" name="Text 15"/>
          <p:cNvSpPr/>
          <p:nvPr/>
        </p:nvSpPr>
        <p:spPr>
          <a:xfrm>
            <a:off x="566928" y="4078224"/>
            <a:ext cx="6675120" cy="731520"/>
          </a:xfrm>
          <a:prstGeom prst="rect">
            <a:avLst/>
          </a:prstGeom>
          <a:noFill/>
          <a:ln/>
        </p:spPr>
        <p:txBody>
          <a:bodyPr wrap="square" lIns="0" tIns="0" rIns="0" bIns="0" rtlCol="0" anchor="ctr"/>
          <a:lstStyle/>
          <a:p>
            <a:pPr indent="0" marL="0">
              <a:buNone/>
            </a:pPr>
            <a:r>
              <a:rPr lang="en-US" sz="1500" i="1" dirty="0">
                <a:solidFill>
                  <a:srgbClr val="FFFFFF"/>
                </a:solidFill>
                <a:latin typeface="Calibri" pitchFamily="34" charset="0"/>
                <a:ea typeface="Calibri" pitchFamily="34" charset="-122"/>
                <a:cs typeface="Calibri" pitchFamily="34" charset="-120"/>
              </a:rPr>
              <a:t>That is the honest trade — and it is fixable without touching what drives internal growth.</a:t>
            </a:r>
            <a:endParaRPr lang="en-US" sz="1500" dirty="0"/>
          </a:p>
        </p:txBody>
      </p:sp>
      <p:sp>
        <p:nvSpPr>
          <p:cNvPr id="18" name="Text 16"/>
          <p:cNvSpPr/>
          <p:nvPr/>
        </p:nvSpPr>
        <p:spPr>
          <a:xfrm>
            <a:off x="566928" y="4956048"/>
            <a:ext cx="6675120" cy="365760"/>
          </a:xfrm>
          <a:prstGeom prst="rect">
            <a:avLst/>
          </a:prstGeom>
          <a:noFill/>
          <a:ln/>
        </p:spPr>
        <p:txBody>
          <a:bodyPr wrap="square" lIns="0" tIns="0" rIns="0" bIns="0" rtlCol="0" anchor="ctr"/>
          <a:lstStyle/>
          <a:p>
            <a:pPr indent="0" marL="0">
              <a:buNone/>
            </a:pPr>
            <a:r>
              <a:rPr lang="en-US" sz="1900" b="1" dirty="0">
                <a:solidFill>
                  <a:srgbClr val="16A34A"/>
                </a:solidFill>
                <a:latin typeface="Cambria" pitchFamily="34" charset="0"/>
                <a:ea typeface="Cambria" pitchFamily="34" charset="-122"/>
                <a:cs typeface="Cambria" pitchFamily="34" charset="-120"/>
              </a:rPr>
              <a:t>The next slide takes ₱491,761 back out.</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66928" y="402336"/>
            <a:ext cx="11055096" cy="566928"/>
          </a:xfrm>
          <a:prstGeom prst="rect">
            <a:avLst/>
          </a:prstGeom>
          <a:noFill/>
          <a:ln/>
        </p:spPr>
        <p:txBody>
          <a:bodyPr wrap="square" lIns="0" tIns="0" rIns="0" bIns="0" rtlCol="0" anchor="ctr"/>
          <a:lstStyle/>
          <a:p>
            <a:pPr indent="0" marL="0">
              <a:buNone/>
            </a:pPr>
            <a:r>
              <a:rPr lang="en-US" sz="3300" b="1" dirty="0">
                <a:solidFill>
                  <a:srgbClr val="0F172A"/>
                </a:solidFill>
                <a:latin typeface="Cambria" pitchFamily="34" charset="0"/>
                <a:ea typeface="Cambria" pitchFamily="34" charset="-122"/>
                <a:cs typeface="Cambria" pitchFamily="34" charset="-120"/>
              </a:rPr>
              <a:t>Five changes remove ₱491,761</a:t>
            </a:r>
            <a:endParaRPr lang="en-US" sz="3300" dirty="0"/>
          </a:p>
        </p:txBody>
      </p:sp>
      <p:sp>
        <p:nvSpPr>
          <p:cNvPr id="3" name="Text 1"/>
          <p:cNvSpPr/>
          <p:nvPr/>
        </p:nvSpPr>
        <p:spPr>
          <a:xfrm>
            <a:off x="566928" y="1005840"/>
            <a:ext cx="11055096" cy="310896"/>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None of them touches the board, the match scores or the job descriptions.</a:t>
            </a:r>
            <a:endParaRPr lang="en-US" sz="1350" dirty="0"/>
          </a:p>
        </p:txBody>
      </p:sp>
      <p:sp>
        <p:nvSpPr>
          <p:cNvPr id="4" name="Shape 2"/>
          <p:cNvSpPr/>
          <p:nvPr/>
        </p:nvSpPr>
        <p:spPr>
          <a:xfrm>
            <a:off x="566928" y="1609344"/>
            <a:ext cx="11055096" cy="3712464"/>
          </a:xfrm>
          <a:prstGeom prst="roundRect">
            <a:avLst>
              <a:gd name="adj" fmla="val 2217"/>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5" name="Shape 3"/>
          <p:cNvSpPr/>
          <p:nvPr/>
        </p:nvSpPr>
        <p:spPr>
          <a:xfrm>
            <a:off x="841248" y="1892808"/>
            <a:ext cx="384048" cy="384048"/>
          </a:xfrm>
          <a:prstGeom prst="ellipse">
            <a:avLst/>
          </a:prstGeom>
          <a:solidFill>
            <a:srgbClr val="0F172A"/>
          </a:solidFill>
          <a:ln w="12700">
            <a:solidFill>
              <a:srgbClr val="0F172A"/>
            </a:solidFill>
            <a:prstDash val="solid"/>
          </a:ln>
        </p:spPr>
      </p:sp>
      <p:sp>
        <p:nvSpPr>
          <p:cNvPr id="6" name="Text 4"/>
          <p:cNvSpPr/>
          <p:nvPr/>
        </p:nvSpPr>
        <p:spPr>
          <a:xfrm>
            <a:off x="841248" y="1892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B</a:t>
            </a:r>
            <a:endParaRPr lang="en-US" sz="1400" dirty="0"/>
          </a:p>
        </p:txBody>
      </p:sp>
      <p:sp>
        <p:nvSpPr>
          <p:cNvPr id="7" name="Text 5"/>
          <p:cNvSpPr/>
          <p:nvPr/>
        </p:nvSpPr>
        <p:spPr>
          <a:xfrm>
            <a:off x="1408176" y="1828800"/>
            <a:ext cx="4114800"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Supabase-native</a:t>
            </a:r>
            <a:endParaRPr lang="en-US" sz="1400" dirty="0"/>
          </a:p>
        </p:txBody>
      </p:sp>
      <p:sp>
        <p:nvSpPr>
          <p:cNvPr id="8" name="Text 6"/>
          <p:cNvSpPr/>
          <p:nvPr/>
        </p:nvSpPr>
        <p:spPr>
          <a:xfrm>
            <a:off x="1408176" y="2121408"/>
            <a:ext cx="6766560" cy="310896"/>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Auth, RLS and Edge Functions replace the separate API service.</a:t>
            </a:r>
            <a:endParaRPr lang="en-US" sz="1150" dirty="0"/>
          </a:p>
        </p:txBody>
      </p:sp>
      <p:sp>
        <p:nvSpPr>
          <p:cNvPr id="9" name="Text 7"/>
          <p:cNvSpPr/>
          <p:nvPr/>
        </p:nvSpPr>
        <p:spPr>
          <a:xfrm>
            <a:off x="8604504" y="1892808"/>
            <a:ext cx="2743200" cy="384048"/>
          </a:xfrm>
          <a:prstGeom prst="rect">
            <a:avLst/>
          </a:prstGeom>
          <a:noFill/>
          <a:ln/>
        </p:spPr>
        <p:txBody>
          <a:bodyPr wrap="square" lIns="0" tIns="0" rIns="0" bIns="0" rtlCol="0" anchor="ctr"/>
          <a:lstStyle/>
          <a:p>
            <a:pPr algn="r" indent="0" marL="0">
              <a:buNone/>
            </a:pPr>
            <a:r>
              <a:rPr lang="en-US" sz="1500" b="1" dirty="0">
                <a:solidFill>
                  <a:srgbClr val="16A34A"/>
                </a:solidFill>
                <a:latin typeface="Cambria" pitchFamily="34" charset="0"/>
                <a:ea typeface="Cambria" pitchFamily="34" charset="-122"/>
                <a:cs typeface="Cambria" pitchFamily="34" charset="-120"/>
              </a:rPr>
              <a:t>₱270,000 + ₱13,920/yr</a:t>
            </a:r>
            <a:endParaRPr lang="en-US" sz="1500" dirty="0"/>
          </a:p>
        </p:txBody>
      </p:sp>
      <p:sp>
        <p:nvSpPr>
          <p:cNvPr id="10" name="Shape 8"/>
          <p:cNvSpPr/>
          <p:nvPr/>
        </p:nvSpPr>
        <p:spPr>
          <a:xfrm>
            <a:off x="841248" y="2450592"/>
            <a:ext cx="10506456" cy="0"/>
          </a:xfrm>
          <a:prstGeom prst="line">
            <a:avLst/>
          </a:prstGeom>
          <a:noFill/>
          <a:ln w="12700">
            <a:solidFill>
              <a:srgbClr val="F1F5F9"/>
            </a:solidFill>
            <a:prstDash val="solid"/>
          </a:ln>
        </p:spPr>
      </p:sp>
      <p:sp>
        <p:nvSpPr>
          <p:cNvPr id="11" name="Shape 9"/>
          <p:cNvSpPr/>
          <p:nvPr/>
        </p:nvSpPr>
        <p:spPr>
          <a:xfrm>
            <a:off x="841248" y="2601468"/>
            <a:ext cx="384048" cy="384048"/>
          </a:xfrm>
          <a:prstGeom prst="ellipse">
            <a:avLst/>
          </a:prstGeom>
          <a:solidFill>
            <a:srgbClr val="0F172A"/>
          </a:solidFill>
          <a:ln w="12700">
            <a:solidFill>
              <a:srgbClr val="0F172A"/>
            </a:solidFill>
            <a:prstDash val="solid"/>
          </a:ln>
        </p:spPr>
      </p:sp>
      <p:sp>
        <p:nvSpPr>
          <p:cNvPr id="12" name="Text 10"/>
          <p:cNvSpPr/>
          <p:nvPr/>
        </p:nvSpPr>
        <p:spPr>
          <a:xfrm>
            <a:off x="841248" y="26014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13" name="Text 11"/>
          <p:cNvSpPr/>
          <p:nvPr/>
        </p:nvSpPr>
        <p:spPr>
          <a:xfrm>
            <a:off x="1408176" y="2537460"/>
            <a:ext cx="4114800"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Reuse the v1 design system</a:t>
            </a:r>
            <a:endParaRPr lang="en-US" sz="1400" dirty="0"/>
          </a:p>
        </p:txBody>
      </p:sp>
      <p:sp>
        <p:nvSpPr>
          <p:cNvPr id="14" name="Text 12"/>
          <p:cNvSpPr/>
          <p:nvPr/>
        </p:nvSpPr>
        <p:spPr>
          <a:xfrm>
            <a:off x="1408176" y="2830068"/>
            <a:ext cx="6766560" cy="310896"/>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All three new surfaces are already designed in the working prototype.</a:t>
            </a:r>
            <a:endParaRPr lang="en-US" sz="1150" dirty="0"/>
          </a:p>
        </p:txBody>
      </p:sp>
      <p:sp>
        <p:nvSpPr>
          <p:cNvPr id="15" name="Text 13"/>
          <p:cNvSpPr/>
          <p:nvPr/>
        </p:nvSpPr>
        <p:spPr>
          <a:xfrm>
            <a:off x="8604504" y="2601468"/>
            <a:ext cx="2743200" cy="384048"/>
          </a:xfrm>
          <a:prstGeom prst="rect">
            <a:avLst/>
          </a:prstGeom>
          <a:noFill/>
          <a:ln/>
        </p:spPr>
        <p:txBody>
          <a:bodyPr wrap="square" lIns="0" tIns="0" rIns="0" bIns="0" rtlCol="0" anchor="ctr"/>
          <a:lstStyle/>
          <a:p>
            <a:pPr algn="r" indent="0" marL="0">
              <a:buNone/>
            </a:pPr>
            <a:r>
              <a:rPr lang="en-US" sz="1500" b="1" dirty="0">
                <a:solidFill>
                  <a:srgbClr val="16A34A"/>
                </a:solidFill>
                <a:latin typeface="Cambria" pitchFamily="34" charset="0"/>
                <a:ea typeface="Cambria" pitchFamily="34" charset="-122"/>
                <a:cs typeface="Cambria" pitchFamily="34" charset="-120"/>
              </a:rPr>
              <a:t>₱66,000</a:t>
            </a:r>
            <a:endParaRPr lang="en-US" sz="1500" dirty="0"/>
          </a:p>
        </p:txBody>
      </p:sp>
      <p:sp>
        <p:nvSpPr>
          <p:cNvPr id="16" name="Shape 14"/>
          <p:cNvSpPr/>
          <p:nvPr/>
        </p:nvSpPr>
        <p:spPr>
          <a:xfrm>
            <a:off x="841248" y="3159252"/>
            <a:ext cx="10506456" cy="0"/>
          </a:xfrm>
          <a:prstGeom prst="line">
            <a:avLst/>
          </a:prstGeom>
          <a:noFill/>
          <a:ln w="12700">
            <a:solidFill>
              <a:srgbClr val="F1F5F9"/>
            </a:solidFill>
            <a:prstDash val="solid"/>
          </a:ln>
        </p:spPr>
      </p:sp>
      <p:sp>
        <p:nvSpPr>
          <p:cNvPr id="17" name="Shape 15"/>
          <p:cNvSpPr/>
          <p:nvPr/>
        </p:nvSpPr>
        <p:spPr>
          <a:xfrm>
            <a:off x="841248" y="3310128"/>
            <a:ext cx="384048" cy="384048"/>
          </a:xfrm>
          <a:prstGeom prst="ellipse">
            <a:avLst/>
          </a:prstGeom>
          <a:solidFill>
            <a:srgbClr val="0F172A"/>
          </a:solidFill>
          <a:ln w="12700">
            <a:solidFill>
              <a:srgbClr val="0F172A"/>
            </a:solidFill>
            <a:prstDash val="solid"/>
          </a:ln>
        </p:spPr>
      </p:sp>
      <p:sp>
        <p:nvSpPr>
          <p:cNvPr id="18" name="Text 16"/>
          <p:cNvSpPr/>
          <p:nvPr/>
        </p:nvSpPr>
        <p:spPr>
          <a:xfrm>
            <a:off x="841248" y="33101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19" name="Text 17"/>
          <p:cNvSpPr/>
          <p:nvPr/>
        </p:nvSpPr>
        <p:spPr>
          <a:xfrm>
            <a:off x="1408176" y="3246120"/>
            <a:ext cx="4114800"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Ship promotion Q1, tracking Q2</a:t>
            </a:r>
            <a:endParaRPr lang="en-US" sz="1400" dirty="0"/>
          </a:p>
        </p:txBody>
      </p:sp>
      <p:sp>
        <p:nvSpPr>
          <p:cNvPr id="20" name="Text 18"/>
          <p:cNvSpPr/>
          <p:nvPr/>
        </p:nvSpPr>
        <p:spPr>
          <a:xfrm>
            <a:off x="1408176" y="3538728"/>
            <a:ext cx="6766560" cy="310896"/>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Launch the board first; measure Q1 from the Careers source field alone.</a:t>
            </a:r>
            <a:endParaRPr lang="en-US" sz="1150" dirty="0"/>
          </a:p>
        </p:txBody>
      </p:sp>
      <p:sp>
        <p:nvSpPr>
          <p:cNvPr id="21" name="Text 19"/>
          <p:cNvSpPr/>
          <p:nvPr/>
        </p:nvSpPr>
        <p:spPr>
          <a:xfrm>
            <a:off x="8604504" y="3310128"/>
            <a:ext cx="2743200" cy="384048"/>
          </a:xfrm>
          <a:prstGeom prst="rect">
            <a:avLst/>
          </a:prstGeom>
          <a:noFill/>
          <a:ln/>
        </p:spPr>
        <p:txBody>
          <a:bodyPr wrap="square" lIns="0" tIns="0" rIns="0" bIns="0" rtlCol="0" anchor="ctr"/>
          <a:lstStyle/>
          <a:p>
            <a:pPr algn="r" indent="0" marL="0">
              <a:buNone/>
            </a:pPr>
            <a:r>
              <a:rPr lang="en-US" sz="1500" b="1" dirty="0">
                <a:solidFill>
                  <a:srgbClr val="16A34A"/>
                </a:solidFill>
                <a:latin typeface="Cambria" pitchFamily="34" charset="0"/>
                <a:ea typeface="Cambria" pitchFamily="34" charset="-122"/>
                <a:cs typeface="Cambria" pitchFamily="34" charset="-120"/>
              </a:rPr>
              <a:t>₱162,000 out of Y1</a:t>
            </a:r>
            <a:endParaRPr lang="en-US" sz="1500" dirty="0"/>
          </a:p>
        </p:txBody>
      </p:sp>
      <p:sp>
        <p:nvSpPr>
          <p:cNvPr id="22" name="Shape 20"/>
          <p:cNvSpPr/>
          <p:nvPr/>
        </p:nvSpPr>
        <p:spPr>
          <a:xfrm>
            <a:off x="841248" y="3867912"/>
            <a:ext cx="10506456" cy="0"/>
          </a:xfrm>
          <a:prstGeom prst="line">
            <a:avLst/>
          </a:prstGeom>
          <a:noFill/>
          <a:ln w="12700">
            <a:solidFill>
              <a:srgbClr val="F1F5F9"/>
            </a:solidFill>
            <a:prstDash val="solid"/>
          </a:ln>
        </p:spPr>
      </p:sp>
      <p:sp>
        <p:nvSpPr>
          <p:cNvPr id="23" name="Shape 21"/>
          <p:cNvSpPr/>
          <p:nvPr/>
        </p:nvSpPr>
        <p:spPr>
          <a:xfrm>
            <a:off x="841248" y="4018788"/>
            <a:ext cx="384048" cy="384048"/>
          </a:xfrm>
          <a:prstGeom prst="ellipse">
            <a:avLst/>
          </a:prstGeom>
          <a:solidFill>
            <a:srgbClr val="0F172A"/>
          </a:solidFill>
          <a:ln w="12700">
            <a:solidFill>
              <a:srgbClr val="0F172A"/>
            </a:solidFill>
            <a:prstDash val="solid"/>
          </a:ln>
        </p:spPr>
      </p:sp>
      <p:sp>
        <p:nvSpPr>
          <p:cNvPr id="24" name="Text 22"/>
          <p:cNvSpPr/>
          <p:nvPr/>
        </p:nvSpPr>
        <p:spPr>
          <a:xfrm>
            <a:off x="841248" y="40187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D</a:t>
            </a:r>
            <a:endParaRPr lang="en-US" sz="1400" dirty="0"/>
          </a:p>
        </p:txBody>
      </p:sp>
      <p:sp>
        <p:nvSpPr>
          <p:cNvPr id="25" name="Text 23"/>
          <p:cNvSpPr/>
          <p:nvPr/>
        </p:nvSpPr>
        <p:spPr>
          <a:xfrm>
            <a:off x="1408176" y="3954780"/>
            <a:ext cx="4114800"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No phase 2</a:t>
            </a:r>
            <a:endParaRPr lang="en-US" sz="1400" dirty="0"/>
          </a:p>
        </p:txBody>
      </p:sp>
      <p:sp>
        <p:nvSpPr>
          <p:cNvPr id="26" name="Text 24"/>
          <p:cNvSpPr/>
          <p:nvPr/>
        </p:nvSpPr>
        <p:spPr>
          <a:xfrm>
            <a:off x="1408176" y="4247388"/>
            <a:ext cx="6766560" cy="310896"/>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Do not automate the ATS join unless referral volume justifies it.</a:t>
            </a:r>
            <a:endParaRPr lang="en-US" sz="1150" dirty="0"/>
          </a:p>
        </p:txBody>
      </p:sp>
      <p:sp>
        <p:nvSpPr>
          <p:cNvPr id="27" name="Text 25"/>
          <p:cNvSpPr/>
          <p:nvPr/>
        </p:nvSpPr>
        <p:spPr>
          <a:xfrm>
            <a:off x="8604504" y="4018788"/>
            <a:ext cx="2743200" cy="384048"/>
          </a:xfrm>
          <a:prstGeom prst="rect">
            <a:avLst/>
          </a:prstGeom>
          <a:noFill/>
          <a:ln/>
        </p:spPr>
        <p:txBody>
          <a:bodyPr wrap="square" lIns="0" tIns="0" rIns="0" bIns="0" rtlCol="0" anchor="ctr"/>
          <a:lstStyle/>
          <a:p>
            <a:pPr algn="r" indent="0" marL="0">
              <a:buNone/>
            </a:pPr>
            <a:r>
              <a:rPr lang="en-US" sz="1500" b="1" dirty="0">
                <a:solidFill>
                  <a:srgbClr val="16A34A"/>
                </a:solidFill>
                <a:latin typeface="Cambria" pitchFamily="34" charset="0"/>
                <a:ea typeface="Cambria" pitchFamily="34" charset="-122"/>
                <a:cs typeface="Cambria" pitchFamily="34" charset="-120"/>
              </a:rPr>
              <a:t>₱108,000</a:t>
            </a:r>
            <a:endParaRPr lang="en-US" sz="1500" dirty="0"/>
          </a:p>
        </p:txBody>
      </p:sp>
      <p:sp>
        <p:nvSpPr>
          <p:cNvPr id="28" name="Shape 26"/>
          <p:cNvSpPr/>
          <p:nvPr/>
        </p:nvSpPr>
        <p:spPr>
          <a:xfrm>
            <a:off x="841248" y="4576572"/>
            <a:ext cx="10506456" cy="0"/>
          </a:xfrm>
          <a:prstGeom prst="line">
            <a:avLst/>
          </a:prstGeom>
          <a:noFill/>
          <a:ln w="12700">
            <a:solidFill>
              <a:srgbClr val="F1F5F9"/>
            </a:solidFill>
            <a:prstDash val="solid"/>
          </a:ln>
        </p:spPr>
      </p:sp>
      <p:sp>
        <p:nvSpPr>
          <p:cNvPr id="29" name="Shape 27"/>
          <p:cNvSpPr/>
          <p:nvPr/>
        </p:nvSpPr>
        <p:spPr>
          <a:xfrm>
            <a:off x="841248" y="4727448"/>
            <a:ext cx="384048" cy="384048"/>
          </a:xfrm>
          <a:prstGeom prst="ellipse">
            <a:avLst/>
          </a:prstGeom>
          <a:solidFill>
            <a:srgbClr val="0F172A"/>
          </a:solidFill>
          <a:ln w="12700">
            <a:solidFill>
              <a:srgbClr val="0F172A"/>
            </a:solidFill>
            <a:prstDash val="solid"/>
          </a:ln>
        </p:spPr>
      </p:sp>
      <p:sp>
        <p:nvSpPr>
          <p:cNvPr id="30" name="Text 28"/>
          <p:cNvSpPr/>
          <p:nvPr/>
        </p:nvSpPr>
        <p:spPr>
          <a:xfrm>
            <a:off x="841248" y="47274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F</a:t>
            </a:r>
            <a:endParaRPr lang="en-US" sz="1400" dirty="0"/>
          </a:p>
        </p:txBody>
      </p:sp>
      <p:sp>
        <p:nvSpPr>
          <p:cNvPr id="31" name="Text 29"/>
          <p:cNvSpPr/>
          <p:nvPr/>
        </p:nvSpPr>
        <p:spPr>
          <a:xfrm>
            <a:off x="1408176" y="4663440"/>
            <a:ext cx="4114800"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Reconcile quarterly</a:t>
            </a:r>
            <a:endParaRPr lang="en-US" sz="1400" dirty="0"/>
          </a:p>
        </p:txBody>
      </p:sp>
      <p:sp>
        <p:nvSpPr>
          <p:cNvPr id="32" name="Text 30"/>
          <p:cNvSpPr/>
          <p:nvPr/>
        </p:nvSpPr>
        <p:spPr>
          <a:xfrm>
            <a:off x="1408176" y="4956048"/>
            <a:ext cx="6766560" cy="310896"/>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Not monthly.</a:t>
            </a:r>
            <a:endParaRPr lang="en-US" sz="1150" dirty="0"/>
          </a:p>
        </p:txBody>
      </p:sp>
      <p:sp>
        <p:nvSpPr>
          <p:cNvPr id="33" name="Text 31"/>
          <p:cNvSpPr/>
          <p:nvPr/>
        </p:nvSpPr>
        <p:spPr>
          <a:xfrm>
            <a:off x="8604504" y="4727448"/>
            <a:ext cx="2743200" cy="384048"/>
          </a:xfrm>
          <a:prstGeom prst="rect">
            <a:avLst/>
          </a:prstGeom>
          <a:noFill/>
          <a:ln/>
        </p:spPr>
        <p:txBody>
          <a:bodyPr wrap="square" lIns="0" tIns="0" rIns="0" bIns="0" rtlCol="0" anchor="ctr"/>
          <a:lstStyle/>
          <a:p>
            <a:pPr algn="r" indent="0" marL="0">
              <a:buNone/>
            </a:pPr>
            <a:r>
              <a:rPr lang="en-US" sz="1500" b="1" dirty="0">
                <a:solidFill>
                  <a:srgbClr val="16A34A"/>
                </a:solidFill>
                <a:latin typeface="Cambria" pitchFamily="34" charset="0"/>
                <a:ea typeface="Cambria" pitchFamily="34" charset="-122"/>
                <a:cs typeface="Cambria" pitchFamily="34" charset="-120"/>
              </a:rPr>
              <a:t>₱7,500/yr</a:t>
            </a:r>
            <a:endParaRPr lang="en-US" sz="1500" dirty="0"/>
          </a:p>
        </p:txBody>
      </p:sp>
      <p:sp>
        <p:nvSpPr>
          <p:cNvPr id="34" name="Shape 32"/>
          <p:cNvSpPr/>
          <p:nvPr/>
        </p:nvSpPr>
        <p:spPr>
          <a:xfrm>
            <a:off x="566928" y="5486400"/>
            <a:ext cx="11055096" cy="786384"/>
          </a:xfrm>
          <a:prstGeom prst="roundRect">
            <a:avLst>
              <a:gd name="adj" fmla="val 10465"/>
            </a:avLst>
          </a:prstGeom>
          <a:solidFill>
            <a:srgbClr val="FFFBEB"/>
          </a:solidFill>
          <a:ln w="12700">
            <a:solidFill>
              <a:srgbClr val="FFFBEB"/>
            </a:solidFill>
            <a:prstDash val="solid"/>
          </a:ln>
          <a:effectLst>
            <a:outerShdw sx="100000" sy="100000" kx="0" ky="0" algn="bl" rotWithShape="0" blurRad="114300" dist="17780" dir="5400000">
              <a:srgbClr val="0F172A">
                <a:alpha val="7000"/>
              </a:srgbClr>
            </a:outerShdw>
          </a:effectLst>
        </p:spPr>
      </p:sp>
      <p:sp>
        <p:nvSpPr>
          <p:cNvPr id="35" name="Text 33"/>
          <p:cNvSpPr/>
          <p:nvPr/>
        </p:nvSpPr>
        <p:spPr>
          <a:xfrm>
            <a:off x="877824" y="5486400"/>
            <a:ext cx="10433304" cy="786384"/>
          </a:xfrm>
          <a:prstGeom prst="rect">
            <a:avLst/>
          </a:prstGeom>
          <a:noFill/>
          <a:ln/>
        </p:spPr>
        <p:txBody>
          <a:bodyPr wrap="square" lIns="0" tIns="0" rIns="0" bIns="0" rtlCol="0" anchor="ctr"/>
          <a:lstStyle/>
          <a:p>
            <a:pPr indent="0" marL="0">
              <a:buNone/>
            </a:pPr>
            <a:r>
              <a:rPr lang="en-US" sz="1300" b="1" dirty="0">
                <a:solidFill>
                  <a:srgbClr val="92400E"/>
                </a:solidFill>
                <a:latin typeface="Calibri" pitchFamily="34" charset="0"/>
                <a:ea typeface="Calibri" pitchFamily="34" charset="-122"/>
                <a:cs typeface="Calibri" pitchFamily="34" charset="-120"/>
              </a:rPr>
              <a:t>Held back:  </a:t>
            </a:r>
            <a:pPr indent="0" marL="0">
              <a:buNone/>
            </a:pPr>
            <a:r>
              <a:rPr lang="en-US" sz="1300" dirty="0">
                <a:solidFill>
                  <a:srgbClr val="92400E"/>
                </a:solidFill>
                <a:latin typeface="Calibri" pitchFamily="34" charset="0"/>
                <a:ea typeface="Calibri" pitchFamily="34" charset="-122"/>
                <a:cs typeface="Calibri" pitchFamily="34" charset="-120"/>
              </a:rPr>
              <a:t>Claude Haiku instead of Sonnet would save ₱14,674/yr — but match quality </a:t>
            </a:r>
            <a:pPr indent="0" marL="0">
              <a:buNone/>
            </a:pPr>
            <a:r>
              <a:rPr lang="en-US" sz="1300" b="1" i="1" dirty="0">
                <a:solidFill>
                  <a:srgbClr val="92400E"/>
                </a:solidFill>
                <a:latin typeface="Calibri" pitchFamily="34" charset="0"/>
                <a:ea typeface="Calibri" pitchFamily="34" charset="-122"/>
                <a:cs typeface="Calibri" pitchFamily="34" charset="-120"/>
              </a:rPr>
              <a:t>is</a:t>
            </a:r>
            <a:pPr indent="0" marL="0">
              <a:buNone/>
            </a:pPr>
            <a:r>
              <a:rPr lang="en-US" sz="1300" dirty="0">
                <a:solidFill>
                  <a:srgbClr val="92400E"/>
                </a:solidFill>
                <a:latin typeface="Calibri" pitchFamily="34" charset="0"/>
                <a:ea typeface="Calibri" pitchFamily="34" charset="-122"/>
                <a:cs typeface="Calibri" pitchFamily="34" charset="-120"/>
              </a:rPr>
              <a:t> promotion efficiency. Benchmark on 50 real pairs first.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66928" y="402336"/>
            <a:ext cx="11055096" cy="566928"/>
          </a:xfrm>
          <a:prstGeom prst="rect">
            <a:avLst/>
          </a:prstGeom>
          <a:noFill/>
          <a:ln/>
        </p:spPr>
        <p:txBody>
          <a:bodyPr wrap="square" lIns="0" tIns="0" rIns="0" bIns="0" rtlCol="0" anchor="ctr"/>
          <a:lstStyle/>
          <a:p>
            <a:pPr indent="0" marL="0">
              <a:buNone/>
            </a:pPr>
            <a:r>
              <a:rPr lang="en-US" sz="3300" b="1" dirty="0">
                <a:solidFill>
                  <a:srgbClr val="0F172A"/>
                </a:solidFill>
                <a:latin typeface="Cambria" pitchFamily="34" charset="0"/>
                <a:ea typeface="Cambria" pitchFamily="34" charset="-122"/>
                <a:cs typeface="Cambria" pitchFamily="34" charset="-120"/>
              </a:rPr>
              <a:t>What we deliberately did not cut</a:t>
            </a:r>
            <a:endParaRPr lang="en-US" sz="3300" dirty="0"/>
          </a:p>
        </p:txBody>
      </p:sp>
      <p:sp>
        <p:nvSpPr>
          <p:cNvPr id="3" name="Text 1"/>
          <p:cNvSpPr/>
          <p:nvPr/>
        </p:nvSpPr>
        <p:spPr>
          <a:xfrm>
            <a:off x="566928" y="1005840"/>
            <a:ext cx="11055096" cy="310896"/>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Promotion efficiency lives in five cheap things. Cutting any of them saves little and costs the case.</a:t>
            </a:r>
            <a:endParaRPr lang="en-US" sz="1350" dirty="0"/>
          </a:p>
        </p:txBody>
      </p:sp>
      <p:sp>
        <p:nvSpPr>
          <p:cNvPr id="4" name="Shape 2"/>
          <p:cNvSpPr/>
          <p:nvPr/>
        </p:nvSpPr>
        <p:spPr>
          <a:xfrm>
            <a:off x="566928" y="1627632"/>
            <a:ext cx="3489960" cy="2121408"/>
          </a:xfrm>
          <a:prstGeom prst="roundRect">
            <a:avLst>
              <a:gd name="adj" fmla="val 3879"/>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5" name="Shape 3"/>
          <p:cNvSpPr/>
          <p:nvPr/>
        </p:nvSpPr>
        <p:spPr>
          <a:xfrm>
            <a:off x="841248" y="1883664"/>
            <a:ext cx="402336" cy="402336"/>
          </a:xfrm>
          <a:prstGeom prst="ellipse">
            <a:avLst/>
          </a:prstGeom>
          <a:solidFill>
            <a:srgbClr val="FEE2E2"/>
          </a:solidFill>
          <a:ln w="12700">
            <a:solidFill>
              <a:srgbClr val="FEE2E2"/>
            </a:solidFill>
            <a:prstDash val="solid"/>
          </a:ln>
        </p:spPr>
      </p:sp>
      <p:sp>
        <p:nvSpPr>
          <p:cNvPr id="6" name="Text 4"/>
          <p:cNvSpPr/>
          <p:nvPr/>
        </p:nvSpPr>
        <p:spPr>
          <a:xfrm>
            <a:off x="841248" y="1883664"/>
            <a:ext cx="402336" cy="402336"/>
          </a:xfrm>
          <a:prstGeom prst="rect">
            <a:avLst/>
          </a:prstGeom>
          <a:noFill/>
          <a:ln/>
        </p:spPr>
        <p:txBody>
          <a:bodyPr wrap="square" lIns="0" tIns="0" rIns="0" bIns="0" rtlCol="0" anchor="ctr"/>
          <a:lstStyle/>
          <a:p>
            <a:pPr algn="ctr" indent="0" marL="0">
              <a:buNone/>
            </a:pPr>
            <a:r>
              <a:rPr lang="en-US" sz="1500" b="1" dirty="0">
                <a:solidFill>
                  <a:srgbClr val="C00000"/>
                </a:solidFill>
                <a:latin typeface="Calibri" pitchFamily="34" charset="0"/>
                <a:ea typeface="Calibri" pitchFamily="34" charset="-122"/>
                <a:cs typeface="Calibri" pitchFamily="34" charset="-120"/>
              </a:rPr>
              <a:t>✓</a:t>
            </a:r>
            <a:endParaRPr lang="en-US" sz="1500" dirty="0"/>
          </a:p>
        </p:txBody>
      </p:sp>
      <p:sp>
        <p:nvSpPr>
          <p:cNvPr id="7" name="Text 5"/>
          <p:cNvSpPr/>
          <p:nvPr/>
        </p:nvSpPr>
        <p:spPr>
          <a:xfrm>
            <a:off x="841248" y="2377440"/>
            <a:ext cx="2941320" cy="512064"/>
          </a:xfrm>
          <a:prstGeom prst="rect">
            <a:avLst/>
          </a:prstGeom>
          <a:noFill/>
          <a:ln/>
        </p:spPr>
        <p:txBody>
          <a:bodyPr wrap="square" lIns="0" tIns="0" rIns="0" bIns="0"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Match scores on promoted roles</a:t>
            </a:r>
            <a:endParaRPr lang="en-US" sz="1450" dirty="0"/>
          </a:p>
        </p:txBody>
      </p:sp>
      <p:sp>
        <p:nvSpPr>
          <p:cNvPr id="8" name="Text 6"/>
          <p:cNvSpPr/>
          <p:nvPr/>
        </p:nvSpPr>
        <p:spPr>
          <a:xfrm>
            <a:off x="841248" y="2926080"/>
            <a:ext cx="2941320" cy="694944"/>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The entire reason our board beats a plain Careers listing. Without it we have built a duplicate job board.</a:t>
            </a:r>
            <a:endParaRPr lang="en-US" sz="1150" dirty="0"/>
          </a:p>
        </p:txBody>
      </p:sp>
      <p:sp>
        <p:nvSpPr>
          <p:cNvPr id="9" name="Shape 7"/>
          <p:cNvSpPr/>
          <p:nvPr/>
        </p:nvSpPr>
        <p:spPr>
          <a:xfrm>
            <a:off x="4349496" y="1627632"/>
            <a:ext cx="3489960" cy="2121408"/>
          </a:xfrm>
          <a:prstGeom prst="roundRect">
            <a:avLst>
              <a:gd name="adj" fmla="val 3879"/>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10" name="Shape 8"/>
          <p:cNvSpPr/>
          <p:nvPr/>
        </p:nvSpPr>
        <p:spPr>
          <a:xfrm>
            <a:off x="4623816" y="1883664"/>
            <a:ext cx="402336" cy="402336"/>
          </a:xfrm>
          <a:prstGeom prst="ellipse">
            <a:avLst/>
          </a:prstGeom>
          <a:solidFill>
            <a:srgbClr val="FEE2E2"/>
          </a:solidFill>
          <a:ln w="12700">
            <a:solidFill>
              <a:srgbClr val="FEE2E2"/>
            </a:solidFill>
            <a:prstDash val="solid"/>
          </a:ln>
        </p:spPr>
      </p:sp>
      <p:sp>
        <p:nvSpPr>
          <p:cNvPr id="11" name="Text 9"/>
          <p:cNvSpPr/>
          <p:nvPr/>
        </p:nvSpPr>
        <p:spPr>
          <a:xfrm>
            <a:off x="4623816" y="1883664"/>
            <a:ext cx="402336" cy="402336"/>
          </a:xfrm>
          <a:prstGeom prst="rect">
            <a:avLst/>
          </a:prstGeom>
          <a:noFill/>
          <a:ln/>
        </p:spPr>
        <p:txBody>
          <a:bodyPr wrap="square" lIns="0" tIns="0" rIns="0" bIns="0" rtlCol="0" anchor="ctr"/>
          <a:lstStyle/>
          <a:p>
            <a:pPr algn="ctr" indent="0" marL="0">
              <a:buNone/>
            </a:pPr>
            <a:r>
              <a:rPr lang="en-US" sz="1500" b="1" dirty="0">
                <a:solidFill>
                  <a:srgbClr val="C00000"/>
                </a:solidFill>
                <a:latin typeface="Calibri" pitchFamily="34" charset="0"/>
                <a:ea typeface="Calibri" pitchFamily="34" charset="-122"/>
                <a:cs typeface="Calibri" pitchFamily="34" charset="-120"/>
              </a:rPr>
              <a:t>✓</a:t>
            </a:r>
            <a:endParaRPr lang="en-US" sz="1500" dirty="0"/>
          </a:p>
        </p:txBody>
      </p:sp>
      <p:sp>
        <p:nvSpPr>
          <p:cNvPr id="12" name="Text 10"/>
          <p:cNvSpPr/>
          <p:nvPr/>
        </p:nvSpPr>
        <p:spPr>
          <a:xfrm>
            <a:off x="4623816" y="2377440"/>
            <a:ext cx="2941320" cy="512064"/>
          </a:xfrm>
          <a:prstGeom prst="rect">
            <a:avLst/>
          </a:prstGeom>
          <a:noFill/>
          <a:ln/>
        </p:spPr>
        <p:txBody>
          <a:bodyPr wrap="square" lIns="0" tIns="0" rIns="0" bIns="0"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The job description on the card</a:t>
            </a:r>
            <a:endParaRPr lang="en-US" sz="1450" dirty="0"/>
          </a:p>
        </p:txBody>
      </p:sp>
      <p:sp>
        <p:nvSpPr>
          <p:cNvPr id="13" name="Text 11"/>
          <p:cNvSpPr/>
          <p:nvPr/>
        </p:nvSpPr>
        <p:spPr>
          <a:xfrm>
            <a:off x="4623816" y="2926080"/>
            <a:ext cx="2941320" cy="694944"/>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What people actually decide on before clicking through.</a:t>
            </a:r>
            <a:endParaRPr lang="en-US" sz="1150" dirty="0"/>
          </a:p>
        </p:txBody>
      </p:sp>
      <p:sp>
        <p:nvSpPr>
          <p:cNvPr id="14" name="Shape 12"/>
          <p:cNvSpPr/>
          <p:nvPr/>
        </p:nvSpPr>
        <p:spPr>
          <a:xfrm>
            <a:off x="8132064" y="1627632"/>
            <a:ext cx="3489960" cy="2121408"/>
          </a:xfrm>
          <a:prstGeom prst="roundRect">
            <a:avLst>
              <a:gd name="adj" fmla="val 3879"/>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15" name="Shape 13"/>
          <p:cNvSpPr/>
          <p:nvPr/>
        </p:nvSpPr>
        <p:spPr>
          <a:xfrm>
            <a:off x="8406384" y="1883664"/>
            <a:ext cx="402336" cy="402336"/>
          </a:xfrm>
          <a:prstGeom prst="ellipse">
            <a:avLst/>
          </a:prstGeom>
          <a:solidFill>
            <a:srgbClr val="FEE2E2"/>
          </a:solidFill>
          <a:ln w="12700">
            <a:solidFill>
              <a:srgbClr val="FEE2E2"/>
            </a:solidFill>
            <a:prstDash val="solid"/>
          </a:ln>
        </p:spPr>
      </p:sp>
      <p:sp>
        <p:nvSpPr>
          <p:cNvPr id="16" name="Text 14"/>
          <p:cNvSpPr/>
          <p:nvPr/>
        </p:nvSpPr>
        <p:spPr>
          <a:xfrm>
            <a:off x="8406384" y="1883664"/>
            <a:ext cx="402336" cy="402336"/>
          </a:xfrm>
          <a:prstGeom prst="rect">
            <a:avLst/>
          </a:prstGeom>
          <a:noFill/>
          <a:ln/>
        </p:spPr>
        <p:txBody>
          <a:bodyPr wrap="square" lIns="0" tIns="0" rIns="0" bIns="0" rtlCol="0" anchor="ctr"/>
          <a:lstStyle/>
          <a:p>
            <a:pPr algn="ctr" indent="0" marL="0">
              <a:buNone/>
            </a:pPr>
            <a:r>
              <a:rPr lang="en-US" sz="1500" b="1" dirty="0">
                <a:solidFill>
                  <a:srgbClr val="C00000"/>
                </a:solidFill>
                <a:latin typeface="Calibri" pitchFamily="34" charset="0"/>
                <a:ea typeface="Calibri" pitchFamily="34" charset="-122"/>
                <a:cs typeface="Calibri" pitchFamily="34" charset="-120"/>
              </a:rPr>
              <a:t>✓</a:t>
            </a:r>
            <a:endParaRPr lang="en-US" sz="1500" dirty="0"/>
          </a:p>
        </p:txBody>
      </p:sp>
      <p:sp>
        <p:nvSpPr>
          <p:cNvPr id="17" name="Text 15"/>
          <p:cNvSpPr/>
          <p:nvPr/>
        </p:nvSpPr>
        <p:spPr>
          <a:xfrm>
            <a:off x="8406384" y="2377440"/>
            <a:ext cx="2941320" cy="512064"/>
          </a:xfrm>
          <a:prstGeom prst="rect">
            <a:avLst/>
          </a:prstGeom>
          <a:noFill/>
          <a:ln/>
        </p:spPr>
        <p:txBody>
          <a:bodyPr wrap="square" lIns="0" tIns="0" rIns="0" bIns="0"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The “did you apply?” nudge</a:t>
            </a:r>
            <a:endParaRPr lang="en-US" sz="1450" dirty="0"/>
          </a:p>
        </p:txBody>
      </p:sp>
      <p:sp>
        <p:nvSpPr>
          <p:cNvPr id="18" name="Text 16"/>
          <p:cNvSpPr/>
          <p:nvPr/>
        </p:nvSpPr>
        <p:spPr>
          <a:xfrm>
            <a:off x="8406384" y="2926080"/>
            <a:ext cx="2941320" cy="694944"/>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₱1,740/yr — the cheapest line in the model, and what turns a click into a countable application.</a:t>
            </a:r>
            <a:endParaRPr lang="en-US" sz="1150" dirty="0"/>
          </a:p>
        </p:txBody>
      </p:sp>
      <p:sp>
        <p:nvSpPr>
          <p:cNvPr id="19" name="Shape 17"/>
          <p:cNvSpPr/>
          <p:nvPr/>
        </p:nvSpPr>
        <p:spPr>
          <a:xfrm>
            <a:off x="566928" y="3931920"/>
            <a:ext cx="3489960" cy="2121408"/>
          </a:xfrm>
          <a:prstGeom prst="roundRect">
            <a:avLst>
              <a:gd name="adj" fmla="val 3879"/>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20" name="Shape 18"/>
          <p:cNvSpPr/>
          <p:nvPr/>
        </p:nvSpPr>
        <p:spPr>
          <a:xfrm>
            <a:off x="841248" y="4187952"/>
            <a:ext cx="402336" cy="402336"/>
          </a:xfrm>
          <a:prstGeom prst="ellipse">
            <a:avLst/>
          </a:prstGeom>
          <a:solidFill>
            <a:srgbClr val="FEE2E2"/>
          </a:solidFill>
          <a:ln w="12700">
            <a:solidFill>
              <a:srgbClr val="FEE2E2"/>
            </a:solidFill>
            <a:prstDash val="solid"/>
          </a:ln>
        </p:spPr>
      </p:sp>
      <p:sp>
        <p:nvSpPr>
          <p:cNvPr id="21" name="Text 19"/>
          <p:cNvSpPr/>
          <p:nvPr/>
        </p:nvSpPr>
        <p:spPr>
          <a:xfrm>
            <a:off x="841248" y="4187952"/>
            <a:ext cx="402336" cy="402336"/>
          </a:xfrm>
          <a:prstGeom prst="rect">
            <a:avLst/>
          </a:prstGeom>
          <a:noFill/>
          <a:ln/>
        </p:spPr>
        <p:txBody>
          <a:bodyPr wrap="square" lIns="0" tIns="0" rIns="0" bIns="0" rtlCol="0" anchor="ctr"/>
          <a:lstStyle/>
          <a:p>
            <a:pPr algn="ctr" indent="0" marL="0">
              <a:buNone/>
            </a:pPr>
            <a:r>
              <a:rPr lang="en-US" sz="1500" b="1" dirty="0">
                <a:solidFill>
                  <a:srgbClr val="C00000"/>
                </a:solidFill>
                <a:latin typeface="Calibri" pitchFamily="34" charset="0"/>
                <a:ea typeface="Calibri" pitchFamily="34" charset="-122"/>
                <a:cs typeface="Calibri" pitchFamily="34" charset="-120"/>
              </a:rPr>
              <a:t>✓</a:t>
            </a:r>
            <a:endParaRPr lang="en-US" sz="1500" dirty="0"/>
          </a:p>
        </p:txBody>
      </p:sp>
      <p:sp>
        <p:nvSpPr>
          <p:cNvPr id="22" name="Text 20"/>
          <p:cNvSpPr/>
          <p:nvPr/>
        </p:nvSpPr>
        <p:spPr>
          <a:xfrm>
            <a:off x="841248" y="4681728"/>
            <a:ext cx="2941320" cy="512064"/>
          </a:xfrm>
          <a:prstGeom prst="rect">
            <a:avLst/>
          </a:prstGeom>
          <a:noFill/>
          <a:ln/>
        </p:spPr>
        <p:txBody>
          <a:bodyPr wrap="square" lIns="0" tIns="0" rIns="0" bIns="0"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The referral-log DPIA</a:t>
            </a:r>
            <a:endParaRPr lang="en-US" sz="1450" dirty="0"/>
          </a:p>
        </p:txBody>
      </p:sp>
      <p:sp>
        <p:nvSpPr>
          <p:cNvPr id="23" name="Text 21"/>
          <p:cNvSpPr/>
          <p:nvPr/>
        </p:nvSpPr>
        <p:spPr>
          <a:xfrm>
            <a:off x="841248" y="5230368"/>
            <a:ext cx="2941320" cy="694944"/>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A legal gate, not a documentation task. The log records who looked at which internal role.</a:t>
            </a:r>
            <a:endParaRPr lang="en-US" sz="1150" dirty="0"/>
          </a:p>
        </p:txBody>
      </p:sp>
      <p:sp>
        <p:nvSpPr>
          <p:cNvPr id="24" name="Shape 22"/>
          <p:cNvSpPr/>
          <p:nvPr/>
        </p:nvSpPr>
        <p:spPr>
          <a:xfrm>
            <a:off x="4349496" y="3931920"/>
            <a:ext cx="3489960" cy="2121408"/>
          </a:xfrm>
          <a:prstGeom prst="roundRect">
            <a:avLst>
              <a:gd name="adj" fmla="val 3879"/>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25" name="Shape 23"/>
          <p:cNvSpPr/>
          <p:nvPr/>
        </p:nvSpPr>
        <p:spPr>
          <a:xfrm>
            <a:off x="4623816" y="4187952"/>
            <a:ext cx="402336" cy="402336"/>
          </a:xfrm>
          <a:prstGeom prst="ellipse">
            <a:avLst/>
          </a:prstGeom>
          <a:solidFill>
            <a:srgbClr val="FEE2E2"/>
          </a:solidFill>
          <a:ln w="12700">
            <a:solidFill>
              <a:srgbClr val="FEE2E2"/>
            </a:solidFill>
            <a:prstDash val="solid"/>
          </a:ln>
        </p:spPr>
      </p:sp>
      <p:sp>
        <p:nvSpPr>
          <p:cNvPr id="26" name="Text 24"/>
          <p:cNvSpPr/>
          <p:nvPr/>
        </p:nvSpPr>
        <p:spPr>
          <a:xfrm>
            <a:off x="4623816" y="4187952"/>
            <a:ext cx="402336" cy="402336"/>
          </a:xfrm>
          <a:prstGeom prst="rect">
            <a:avLst/>
          </a:prstGeom>
          <a:noFill/>
          <a:ln/>
        </p:spPr>
        <p:txBody>
          <a:bodyPr wrap="square" lIns="0" tIns="0" rIns="0" bIns="0" rtlCol="0" anchor="ctr"/>
          <a:lstStyle/>
          <a:p>
            <a:pPr algn="ctr" indent="0" marL="0">
              <a:buNone/>
            </a:pPr>
            <a:r>
              <a:rPr lang="en-US" sz="1500" b="1" dirty="0">
                <a:solidFill>
                  <a:srgbClr val="C00000"/>
                </a:solidFill>
                <a:latin typeface="Calibri" pitchFamily="34" charset="0"/>
                <a:ea typeface="Calibri" pitchFamily="34" charset="-122"/>
                <a:cs typeface="Calibri" pitchFamily="34" charset="-120"/>
              </a:rPr>
              <a:t>✓</a:t>
            </a:r>
            <a:endParaRPr lang="en-US" sz="1500" dirty="0"/>
          </a:p>
        </p:txBody>
      </p:sp>
      <p:sp>
        <p:nvSpPr>
          <p:cNvPr id="27" name="Text 25"/>
          <p:cNvSpPr/>
          <p:nvPr/>
        </p:nvSpPr>
        <p:spPr>
          <a:xfrm>
            <a:off x="4623816" y="4681728"/>
            <a:ext cx="2941320" cy="512064"/>
          </a:xfrm>
          <a:prstGeom prst="rect">
            <a:avLst/>
          </a:prstGeom>
          <a:noFill/>
          <a:ln/>
        </p:spPr>
        <p:txBody>
          <a:bodyPr wrap="square" lIns="0" tIns="0" rIns="0" bIns="0"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Recruitment’s source field</a:t>
            </a:r>
            <a:endParaRPr lang="en-US" sz="1450" dirty="0"/>
          </a:p>
        </p:txBody>
      </p:sp>
      <p:sp>
        <p:nvSpPr>
          <p:cNvPr id="28" name="Text 26"/>
          <p:cNvSpPr/>
          <p:nvPr/>
        </p:nvSpPr>
        <p:spPr>
          <a:xfrm>
            <a:off x="4623816" y="5230368"/>
            <a:ext cx="2941320" cy="694944"/>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Free to them. It carries Q1 attribution on its own, which is what makes deferring the engine safe.</a:t>
            </a:r>
            <a:endParaRPr lang="en-US" sz="1150" dirty="0"/>
          </a:p>
        </p:txBody>
      </p:sp>
      <p:sp>
        <p:nvSpPr>
          <p:cNvPr id="29" name="Shape 27"/>
          <p:cNvSpPr/>
          <p:nvPr/>
        </p:nvSpPr>
        <p:spPr>
          <a:xfrm>
            <a:off x="8132064" y="3931920"/>
            <a:ext cx="3489960" cy="2121408"/>
          </a:xfrm>
          <a:prstGeom prst="roundRect">
            <a:avLst>
              <a:gd name="adj" fmla="val 3879"/>
            </a:avLst>
          </a:prstGeom>
          <a:solidFill>
            <a:srgbClr val="0F172A"/>
          </a:solidFill>
          <a:ln w="12700">
            <a:solidFill>
              <a:srgbClr val="0F172A"/>
            </a:solidFill>
            <a:prstDash val="solid"/>
          </a:ln>
          <a:effectLst>
            <a:outerShdw sx="100000" sy="100000" kx="0" ky="0" algn="bl" rotWithShape="0" blurRad="114300" dist="17780" dir="5400000">
              <a:srgbClr val="0F172A">
                <a:alpha val="7000"/>
              </a:srgbClr>
            </a:outerShdw>
          </a:effectLst>
        </p:spPr>
      </p:sp>
      <p:sp>
        <p:nvSpPr>
          <p:cNvPr id="30" name="Text 28"/>
          <p:cNvSpPr/>
          <p:nvPr/>
        </p:nvSpPr>
        <p:spPr>
          <a:xfrm>
            <a:off x="8406384" y="4261104"/>
            <a:ext cx="2941320" cy="1463040"/>
          </a:xfrm>
          <a:prstGeom prst="rect">
            <a:avLst/>
          </a:prstGeom>
          <a:noFill/>
          <a:ln/>
        </p:spPr>
        <p:txBody>
          <a:bodyPr wrap="square" lIns="0" tIns="0" rIns="0" bIns="0" rtlCol="0" anchor="ctr"/>
          <a:lstStyle/>
          <a:p>
            <a:pPr indent="0" marL="0">
              <a:lnSpc>
                <a:spcPts val="2400"/>
              </a:lnSpc>
              <a:buNone/>
            </a:pPr>
            <a:r>
              <a:rPr lang="en-US" sz="1700" b="1" dirty="0">
                <a:solidFill>
                  <a:srgbClr val="FFFFFF"/>
                </a:solidFill>
                <a:latin typeface="Cambria" pitchFamily="34" charset="0"/>
                <a:ea typeface="Cambria" pitchFamily="34" charset="-122"/>
                <a:cs typeface="Cambria" pitchFamily="34" charset="-120"/>
              </a:rPr>
              <a:t>78% of v2’s cost is the build —</a:t>
            </a:r>
            <a:endParaRPr lang="en-US" sz="1700" dirty="0"/>
          </a:p>
          <a:p>
            <a:pPr indent="0" marL="0">
              <a:lnSpc>
                <a:spcPts val="2400"/>
              </a:lnSpc>
              <a:buNone/>
            </a:pPr>
            <a:r>
              <a:rPr lang="en-US" sz="1700" b="1" dirty="0">
                <a:solidFill>
                  <a:srgbClr val="FFFFFF"/>
                </a:solidFill>
                <a:latin typeface="Cambria" pitchFamily="34" charset="0"/>
                <a:ea typeface="Cambria" pitchFamily="34" charset="-122"/>
                <a:cs typeface="Cambria" pitchFamily="34" charset="-120"/>
              </a:rPr>
              <a:t>and none of the build</a:t>
            </a:r>
            <a:endParaRPr lang="en-US" sz="1700" dirty="0"/>
          </a:p>
          <a:p>
            <a:pPr indent="0" marL="0">
              <a:lnSpc>
                <a:spcPts val="2400"/>
              </a:lnSpc>
              <a:buNone/>
            </a:pPr>
            <a:r>
              <a:rPr lang="en-US" sz="1700" b="1" dirty="0">
                <a:solidFill>
                  <a:srgbClr val="FFFFFF"/>
                </a:solidFill>
                <a:latin typeface="Cambria" pitchFamily="34" charset="0"/>
                <a:ea typeface="Cambria" pitchFamily="34" charset="-122"/>
                <a:cs typeface="Cambria" pitchFamily="34" charset="-120"/>
              </a:rPr>
              <a:t>is the promotion.</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66928" y="402336"/>
            <a:ext cx="11055096" cy="566928"/>
          </a:xfrm>
          <a:prstGeom prst="rect">
            <a:avLst/>
          </a:prstGeom>
          <a:noFill/>
          <a:ln/>
        </p:spPr>
        <p:txBody>
          <a:bodyPr wrap="square" lIns="0" tIns="0" rIns="0" bIns="0" rtlCol="0" anchor="ctr"/>
          <a:lstStyle/>
          <a:p>
            <a:pPr indent="0" marL="0">
              <a:buNone/>
            </a:pPr>
            <a:r>
              <a:rPr lang="en-US" sz="3300" b="1" dirty="0">
                <a:solidFill>
                  <a:srgbClr val="0F172A"/>
                </a:solidFill>
                <a:latin typeface="Cambria" pitchFamily="34" charset="0"/>
                <a:ea typeface="Cambria" pitchFamily="34" charset="-122"/>
                <a:cs typeface="Cambria" pitchFamily="34" charset="-120"/>
              </a:rPr>
              <a:t>v2-lean — where the money goes</a:t>
            </a:r>
            <a:endParaRPr lang="en-US" sz="3300" dirty="0"/>
          </a:p>
        </p:txBody>
      </p:sp>
      <p:sp>
        <p:nvSpPr>
          <p:cNvPr id="3" name="Text 1"/>
          <p:cNvSpPr/>
          <p:nvPr/>
        </p:nvSpPr>
        <p:spPr>
          <a:xfrm>
            <a:off x="566928" y="1005840"/>
            <a:ext cx="11055096" cy="310896"/>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Build front-loaded, run flat. All figures in pesos, ₱58 = US$1.</a:t>
            </a:r>
            <a:endParaRPr lang="en-US" sz="1350" dirty="0"/>
          </a:p>
        </p:txBody>
      </p:sp>
      <p:sp>
        <p:nvSpPr>
          <p:cNvPr id="4" name="Shape 2"/>
          <p:cNvSpPr/>
          <p:nvPr/>
        </p:nvSpPr>
        <p:spPr>
          <a:xfrm>
            <a:off x="566928" y="1572768"/>
            <a:ext cx="6903720" cy="4572000"/>
          </a:xfrm>
          <a:prstGeom prst="roundRect">
            <a:avLst>
              <a:gd name="adj" fmla="val 1800"/>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5" name="Shape 3"/>
          <p:cNvSpPr/>
          <p:nvPr/>
        </p:nvSpPr>
        <p:spPr>
          <a:xfrm>
            <a:off x="841248" y="1810512"/>
            <a:ext cx="1536192" cy="224028"/>
          </a:xfrm>
          <a:prstGeom prst="roundRect">
            <a:avLst>
              <a:gd name="adj" fmla="val 48980"/>
            </a:avLst>
          </a:prstGeom>
          <a:solidFill>
            <a:srgbClr val="F1F5F9"/>
          </a:solidFill>
          <a:ln w="12700">
            <a:solidFill>
              <a:srgbClr val="F1F5F9"/>
            </a:solidFill>
            <a:prstDash val="solid"/>
          </a:ln>
        </p:spPr>
      </p:sp>
      <p:sp>
        <p:nvSpPr>
          <p:cNvPr id="6" name="Text 4"/>
          <p:cNvSpPr/>
          <p:nvPr/>
        </p:nvSpPr>
        <p:spPr>
          <a:xfrm>
            <a:off x="841248" y="1810512"/>
            <a:ext cx="1536192" cy="224028"/>
          </a:xfrm>
          <a:prstGeom prst="rect">
            <a:avLst/>
          </a:prstGeom>
          <a:noFill/>
          <a:ln/>
        </p:spPr>
        <p:txBody>
          <a:bodyPr wrap="square" lIns="0" tIns="0" rIns="0" bIns="0" rtlCol="0" anchor="ctr"/>
          <a:lstStyle/>
          <a:p>
            <a:pPr algn="ctr" indent="0" marL="0">
              <a:buNone/>
            </a:pPr>
            <a:r>
              <a:rPr lang="en-US" sz="900" b="1" spc="80" kern="0" dirty="0">
                <a:solidFill>
                  <a:srgbClr val="64748B"/>
                </a:solidFill>
                <a:latin typeface="Calibri" pitchFamily="34" charset="0"/>
                <a:ea typeface="Calibri" pitchFamily="34" charset="-122"/>
                <a:cs typeface="Calibri" pitchFamily="34" charset="-120"/>
              </a:rPr>
              <a:t>YEAR 1 BUILD</a:t>
            </a:r>
            <a:endParaRPr lang="en-US" sz="900" dirty="0"/>
          </a:p>
        </p:txBody>
      </p:sp>
      <p:sp>
        <p:nvSpPr>
          <p:cNvPr id="7" name="Text 5"/>
          <p:cNvSpPr/>
          <p:nvPr/>
        </p:nvSpPr>
        <p:spPr>
          <a:xfrm>
            <a:off x="841248" y="2157984"/>
            <a:ext cx="5029200" cy="292608"/>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Developer, 1.4 months — board, matching, JD reader, handoff</a:t>
            </a:r>
            <a:endParaRPr lang="en-US" sz="1150" dirty="0"/>
          </a:p>
        </p:txBody>
      </p:sp>
      <p:sp>
        <p:nvSpPr>
          <p:cNvPr id="8" name="Text 6"/>
          <p:cNvSpPr/>
          <p:nvPr/>
        </p:nvSpPr>
        <p:spPr>
          <a:xfrm>
            <a:off x="5916168" y="2157984"/>
            <a:ext cx="1280160" cy="292608"/>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₱210,000</a:t>
            </a:r>
            <a:endParaRPr lang="en-US" sz="1200" dirty="0"/>
          </a:p>
        </p:txBody>
      </p:sp>
      <p:sp>
        <p:nvSpPr>
          <p:cNvPr id="9" name="Text 7"/>
          <p:cNvSpPr/>
          <p:nvPr/>
        </p:nvSpPr>
        <p:spPr>
          <a:xfrm>
            <a:off x="841248" y="2482596"/>
            <a:ext cx="5029200" cy="292608"/>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Designer, 1.5 months at 50% — reuses the v1 design system</a:t>
            </a:r>
            <a:endParaRPr lang="en-US" sz="1150" dirty="0"/>
          </a:p>
        </p:txBody>
      </p:sp>
      <p:sp>
        <p:nvSpPr>
          <p:cNvPr id="10" name="Text 8"/>
          <p:cNvSpPr/>
          <p:nvPr/>
        </p:nvSpPr>
        <p:spPr>
          <a:xfrm>
            <a:off x="5916168" y="2482596"/>
            <a:ext cx="1280160" cy="292608"/>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₱82,500</a:t>
            </a:r>
            <a:endParaRPr lang="en-US" sz="1200" dirty="0"/>
          </a:p>
        </p:txBody>
      </p:sp>
      <p:sp>
        <p:nvSpPr>
          <p:cNvPr id="11" name="Text 9"/>
          <p:cNvSpPr/>
          <p:nvPr/>
        </p:nvSpPr>
        <p:spPr>
          <a:xfrm>
            <a:off x="841248" y="2807208"/>
            <a:ext cx="5029200" cy="292608"/>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PM/BA, 4 months at 30% — incl. recruitment coordination</a:t>
            </a:r>
            <a:endParaRPr lang="en-US" sz="1150" dirty="0"/>
          </a:p>
        </p:txBody>
      </p:sp>
      <p:sp>
        <p:nvSpPr>
          <p:cNvPr id="12" name="Text 10"/>
          <p:cNvSpPr/>
          <p:nvPr/>
        </p:nvSpPr>
        <p:spPr>
          <a:xfrm>
            <a:off x="5916168" y="2807208"/>
            <a:ext cx="1280160" cy="292608"/>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₱180,000</a:t>
            </a:r>
            <a:endParaRPr lang="en-US" sz="1200" dirty="0"/>
          </a:p>
        </p:txBody>
      </p:sp>
      <p:sp>
        <p:nvSpPr>
          <p:cNvPr id="13" name="Text 11"/>
          <p:cNvSpPr/>
          <p:nvPr/>
        </p:nvSpPr>
        <p:spPr>
          <a:xfrm>
            <a:off x="841248" y="3131820"/>
            <a:ext cx="5029200" cy="292608"/>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Security review + DPA assessment + referral-log DPIA</a:t>
            </a:r>
            <a:endParaRPr lang="en-US" sz="1150" dirty="0"/>
          </a:p>
        </p:txBody>
      </p:sp>
      <p:sp>
        <p:nvSpPr>
          <p:cNvPr id="14" name="Text 12"/>
          <p:cNvSpPr/>
          <p:nvPr/>
        </p:nvSpPr>
        <p:spPr>
          <a:xfrm>
            <a:off x="5916168" y="3131820"/>
            <a:ext cx="1280160" cy="292608"/>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₱120,000</a:t>
            </a:r>
            <a:endParaRPr lang="en-US" sz="1200" dirty="0"/>
          </a:p>
        </p:txBody>
      </p:sp>
      <p:sp>
        <p:nvSpPr>
          <p:cNvPr id="15" name="Text 13"/>
          <p:cNvSpPr/>
          <p:nvPr/>
        </p:nvSpPr>
        <p:spPr>
          <a:xfrm>
            <a:off x="841248" y="3456432"/>
            <a:ext cx="5029200" cy="292608"/>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Contingency (20%)</a:t>
            </a:r>
            <a:endParaRPr lang="en-US" sz="1150" dirty="0"/>
          </a:p>
        </p:txBody>
      </p:sp>
      <p:sp>
        <p:nvSpPr>
          <p:cNvPr id="16" name="Text 14"/>
          <p:cNvSpPr/>
          <p:nvPr/>
        </p:nvSpPr>
        <p:spPr>
          <a:xfrm>
            <a:off x="5916168" y="3456432"/>
            <a:ext cx="1280160" cy="292608"/>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₱118,500</a:t>
            </a:r>
            <a:endParaRPr lang="en-US" sz="1200" dirty="0"/>
          </a:p>
        </p:txBody>
      </p:sp>
      <p:sp>
        <p:nvSpPr>
          <p:cNvPr id="17" name="Text 15"/>
          <p:cNvSpPr/>
          <p:nvPr/>
        </p:nvSpPr>
        <p:spPr>
          <a:xfrm>
            <a:off x="841248" y="3781044"/>
            <a:ext cx="5029200" cy="292608"/>
          </a:xfrm>
          <a:prstGeom prst="rect">
            <a:avLst/>
          </a:prstGeom>
          <a:noFill/>
          <a:ln/>
        </p:spPr>
        <p:txBody>
          <a:bodyPr wrap="square" lIns="0" tIns="0" rIns="0" bIns="0"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Build, year 1</a:t>
            </a:r>
            <a:endParaRPr lang="en-US" sz="1150" dirty="0"/>
          </a:p>
        </p:txBody>
      </p:sp>
      <p:sp>
        <p:nvSpPr>
          <p:cNvPr id="18" name="Text 16"/>
          <p:cNvSpPr/>
          <p:nvPr/>
        </p:nvSpPr>
        <p:spPr>
          <a:xfrm>
            <a:off x="5916168" y="3781044"/>
            <a:ext cx="1280160" cy="292608"/>
          </a:xfrm>
          <a:prstGeom prst="rect">
            <a:avLst/>
          </a:prstGeom>
          <a:noFill/>
          <a:ln/>
        </p:spPr>
        <p:txBody>
          <a:bodyPr wrap="square" lIns="0" tIns="0" rIns="0" bIns="0" rtlCol="0" anchor="ctr"/>
          <a:lstStyle/>
          <a:p>
            <a:pPr algn="r" indent="0" marL="0">
              <a:buNone/>
            </a:pPr>
            <a:r>
              <a:rPr lang="en-US" sz="1300" b="1" dirty="0">
                <a:solidFill>
                  <a:srgbClr val="0F172A"/>
                </a:solidFill>
                <a:latin typeface="Cambria" pitchFamily="34" charset="0"/>
                <a:ea typeface="Cambria" pitchFamily="34" charset="-122"/>
                <a:cs typeface="Cambria" pitchFamily="34" charset="-120"/>
              </a:rPr>
              <a:t>₱711,000</a:t>
            </a:r>
            <a:endParaRPr lang="en-US" sz="1300" dirty="0"/>
          </a:p>
        </p:txBody>
      </p:sp>
      <p:sp>
        <p:nvSpPr>
          <p:cNvPr id="19" name="Shape 17"/>
          <p:cNvSpPr/>
          <p:nvPr/>
        </p:nvSpPr>
        <p:spPr>
          <a:xfrm>
            <a:off x="841248" y="4142232"/>
            <a:ext cx="1536192" cy="224028"/>
          </a:xfrm>
          <a:prstGeom prst="roundRect">
            <a:avLst>
              <a:gd name="adj" fmla="val 48980"/>
            </a:avLst>
          </a:prstGeom>
          <a:solidFill>
            <a:srgbClr val="F1F5F9"/>
          </a:solidFill>
          <a:ln w="12700">
            <a:solidFill>
              <a:srgbClr val="F1F5F9"/>
            </a:solidFill>
            <a:prstDash val="solid"/>
          </a:ln>
        </p:spPr>
      </p:sp>
      <p:sp>
        <p:nvSpPr>
          <p:cNvPr id="20" name="Text 18"/>
          <p:cNvSpPr/>
          <p:nvPr/>
        </p:nvSpPr>
        <p:spPr>
          <a:xfrm>
            <a:off x="841248" y="4142232"/>
            <a:ext cx="1536192" cy="224028"/>
          </a:xfrm>
          <a:prstGeom prst="rect">
            <a:avLst/>
          </a:prstGeom>
          <a:noFill/>
          <a:ln/>
        </p:spPr>
        <p:txBody>
          <a:bodyPr wrap="square" lIns="0" tIns="0" rIns="0" bIns="0" rtlCol="0" anchor="ctr"/>
          <a:lstStyle/>
          <a:p>
            <a:pPr algn="ctr" indent="0" marL="0">
              <a:buNone/>
            </a:pPr>
            <a:r>
              <a:rPr lang="en-US" sz="900" b="1" spc="80" kern="0" dirty="0">
                <a:solidFill>
                  <a:srgbClr val="64748B"/>
                </a:solidFill>
                <a:latin typeface="Calibri" pitchFamily="34" charset="0"/>
                <a:ea typeface="Calibri" pitchFamily="34" charset="-122"/>
                <a:cs typeface="Calibri" pitchFamily="34" charset="-120"/>
              </a:rPr>
              <a:t>YEAR 2 BUILD</a:t>
            </a:r>
            <a:endParaRPr lang="en-US" sz="900" dirty="0"/>
          </a:p>
        </p:txBody>
      </p:sp>
      <p:sp>
        <p:nvSpPr>
          <p:cNvPr id="21" name="Text 19"/>
          <p:cNvSpPr/>
          <p:nvPr/>
        </p:nvSpPr>
        <p:spPr>
          <a:xfrm>
            <a:off x="841248" y="4489704"/>
            <a:ext cx="5029200" cy="292608"/>
          </a:xfrm>
          <a:prstGeom prst="rect">
            <a:avLst/>
          </a:prstGeom>
          <a:noFill/>
          <a:ln/>
        </p:spPr>
        <p:txBody>
          <a:bodyPr wrap="square" lIns="0" tIns="0" rIns="0" bIns="0"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Developer, 0.9 months — referral engine + reporting, +20%</a:t>
            </a:r>
            <a:endParaRPr lang="en-US" sz="1150" dirty="0"/>
          </a:p>
        </p:txBody>
      </p:sp>
      <p:sp>
        <p:nvSpPr>
          <p:cNvPr id="22" name="Text 20"/>
          <p:cNvSpPr/>
          <p:nvPr/>
        </p:nvSpPr>
        <p:spPr>
          <a:xfrm>
            <a:off x="5916168" y="4489704"/>
            <a:ext cx="1280160" cy="292608"/>
          </a:xfrm>
          <a:prstGeom prst="rect">
            <a:avLst/>
          </a:prstGeom>
          <a:noFill/>
          <a:ln/>
        </p:spPr>
        <p:txBody>
          <a:bodyPr wrap="square" lIns="0" tIns="0" rIns="0" bIns="0" rtlCol="0" anchor="ctr"/>
          <a:lstStyle/>
          <a:p>
            <a:pPr algn="r" indent="0" marL="0">
              <a:buNone/>
            </a:pPr>
            <a:r>
              <a:rPr lang="en-US" sz="1300" b="1" dirty="0">
                <a:solidFill>
                  <a:srgbClr val="0F172A"/>
                </a:solidFill>
                <a:latin typeface="Cambria" pitchFamily="34" charset="0"/>
                <a:ea typeface="Cambria" pitchFamily="34" charset="-122"/>
                <a:cs typeface="Cambria" pitchFamily="34" charset="-120"/>
              </a:rPr>
              <a:t>₱162,000</a:t>
            </a:r>
            <a:endParaRPr lang="en-US" sz="1300" dirty="0"/>
          </a:p>
        </p:txBody>
      </p:sp>
      <p:sp>
        <p:nvSpPr>
          <p:cNvPr id="23" name="Shape 21"/>
          <p:cNvSpPr/>
          <p:nvPr/>
        </p:nvSpPr>
        <p:spPr>
          <a:xfrm>
            <a:off x="841248" y="4850892"/>
            <a:ext cx="1325880" cy="224028"/>
          </a:xfrm>
          <a:prstGeom prst="roundRect">
            <a:avLst>
              <a:gd name="adj" fmla="val 48980"/>
            </a:avLst>
          </a:prstGeom>
          <a:solidFill>
            <a:srgbClr val="F1F5F9"/>
          </a:solidFill>
          <a:ln w="12700">
            <a:solidFill>
              <a:srgbClr val="F1F5F9"/>
            </a:solidFill>
            <a:prstDash val="solid"/>
          </a:ln>
        </p:spPr>
      </p:sp>
      <p:sp>
        <p:nvSpPr>
          <p:cNvPr id="24" name="Text 22"/>
          <p:cNvSpPr/>
          <p:nvPr/>
        </p:nvSpPr>
        <p:spPr>
          <a:xfrm>
            <a:off x="841248" y="4850892"/>
            <a:ext cx="1325880" cy="224028"/>
          </a:xfrm>
          <a:prstGeom prst="rect">
            <a:avLst/>
          </a:prstGeom>
          <a:noFill/>
          <a:ln/>
        </p:spPr>
        <p:txBody>
          <a:bodyPr wrap="square" lIns="0" tIns="0" rIns="0" bIns="0" rtlCol="0" anchor="ctr"/>
          <a:lstStyle/>
          <a:p>
            <a:pPr algn="ctr" indent="0" marL="0">
              <a:buNone/>
            </a:pPr>
            <a:r>
              <a:rPr lang="en-US" sz="900" b="1" spc="80" kern="0" dirty="0">
                <a:solidFill>
                  <a:srgbClr val="64748B"/>
                </a:solidFill>
                <a:latin typeface="Calibri" pitchFamily="34" charset="0"/>
                <a:ea typeface="Calibri" pitchFamily="34" charset="-122"/>
                <a:cs typeface="Calibri" pitchFamily="34" charset="-120"/>
              </a:rPr>
              <a:t>ANNUAL RUN</a:t>
            </a:r>
            <a:endParaRPr lang="en-US" sz="900" dirty="0"/>
          </a:p>
        </p:txBody>
      </p:sp>
      <p:sp>
        <p:nvSpPr>
          <p:cNvPr id="25" name="Text 23"/>
          <p:cNvSpPr/>
          <p:nvPr/>
        </p:nvSpPr>
        <p:spPr>
          <a:xfrm>
            <a:off x="841248" y="5198364"/>
            <a:ext cx="5029200" cy="292608"/>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Run, year 1 — Supabase Pro + Auth, Claude API, email, monitoring</a:t>
            </a:r>
            <a:endParaRPr lang="en-US" sz="1150" dirty="0"/>
          </a:p>
        </p:txBody>
      </p:sp>
      <p:sp>
        <p:nvSpPr>
          <p:cNvPr id="26" name="Text 24"/>
          <p:cNvSpPr/>
          <p:nvPr/>
        </p:nvSpPr>
        <p:spPr>
          <a:xfrm>
            <a:off x="5916168" y="5198364"/>
            <a:ext cx="1280160" cy="292608"/>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₱55,125</a:t>
            </a:r>
            <a:endParaRPr lang="en-US" sz="1200" dirty="0"/>
          </a:p>
        </p:txBody>
      </p:sp>
      <p:sp>
        <p:nvSpPr>
          <p:cNvPr id="27" name="Text 25"/>
          <p:cNvSpPr/>
          <p:nvPr/>
        </p:nvSpPr>
        <p:spPr>
          <a:xfrm>
            <a:off x="841248" y="5522976"/>
            <a:ext cx="5029200" cy="292608"/>
          </a:xfrm>
          <a:prstGeom prst="rect">
            <a:avLst/>
          </a:prstGeom>
          <a:noFill/>
          <a:ln/>
        </p:spPr>
        <p:txBody>
          <a:bodyPr wrap="square" lIns="0" tIns="0" rIns="0" bIns="0" rtlCol="0" anchor="ctr"/>
          <a:lstStyle/>
          <a:p>
            <a:pPr indent="0" marL="0">
              <a:buNone/>
            </a:pPr>
            <a:r>
              <a:rPr lang="en-US" sz="1150" b="1" dirty="0">
                <a:solidFill>
                  <a:srgbClr val="0F172A"/>
                </a:solidFill>
                <a:latin typeface="Calibri" pitchFamily="34" charset="0"/>
                <a:ea typeface="Calibri" pitchFamily="34" charset="-122"/>
                <a:cs typeface="Calibri" pitchFamily="34" charset="-120"/>
              </a:rPr>
              <a:t>Run, year 2 onward — adds quarterly reconciliation</a:t>
            </a:r>
            <a:endParaRPr lang="en-US" sz="1150" dirty="0"/>
          </a:p>
        </p:txBody>
      </p:sp>
      <p:sp>
        <p:nvSpPr>
          <p:cNvPr id="28" name="Text 26"/>
          <p:cNvSpPr/>
          <p:nvPr/>
        </p:nvSpPr>
        <p:spPr>
          <a:xfrm>
            <a:off x="5916168" y="5522976"/>
            <a:ext cx="1280160" cy="292608"/>
          </a:xfrm>
          <a:prstGeom prst="rect">
            <a:avLst/>
          </a:prstGeom>
          <a:noFill/>
          <a:ln/>
        </p:spPr>
        <p:txBody>
          <a:bodyPr wrap="square" lIns="0" tIns="0" rIns="0" bIns="0" rtlCol="0" anchor="ctr"/>
          <a:lstStyle/>
          <a:p>
            <a:pPr algn="r" indent="0" marL="0">
              <a:buNone/>
            </a:pPr>
            <a:r>
              <a:rPr lang="en-US" sz="1300" b="1" dirty="0">
                <a:solidFill>
                  <a:srgbClr val="0F172A"/>
                </a:solidFill>
                <a:latin typeface="Cambria" pitchFamily="34" charset="0"/>
                <a:ea typeface="Cambria" pitchFamily="34" charset="-122"/>
                <a:cs typeface="Cambria" pitchFamily="34" charset="-120"/>
              </a:rPr>
              <a:t>₱61,125</a:t>
            </a:r>
            <a:endParaRPr lang="en-US" sz="1300" dirty="0"/>
          </a:p>
        </p:txBody>
      </p:sp>
      <p:sp>
        <p:nvSpPr>
          <p:cNvPr id="29" name="Shape 27"/>
          <p:cNvSpPr/>
          <p:nvPr/>
        </p:nvSpPr>
        <p:spPr>
          <a:xfrm>
            <a:off x="7726680" y="1572768"/>
            <a:ext cx="3895344" cy="566928"/>
          </a:xfrm>
          <a:prstGeom prst="roundRect">
            <a:avLst>
              <a:gd name="adj" fmla="val 14516"/>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30" name="Text 28"/>
          <p:cNvSpPr/>
          <p:nvPr/>
        </p:nvSpPr>
        <p:spPr>
          <a:xfrm>
            <a:off x="7964424" y="1572768"/>
            <a:ext cx="1463040" cy="566928"/>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Year 1</a:t>
            </a:r>
            <a:endParaRPr lang="en-US" sz="1300" dirty="0"/>
          </a:p>
        </p:txBody>
      </p:sp>
      <p:sp>
        <p:nvSpPr>
          <p:cNvPr id="31" name="Text 29"/>
          <p:cNvSpPr/>
          <p:nvPr/>
        </p:nvSpPr>
        <p:spPr>
          <a:xfrm>
            <a:off x="9464040" y="1572768"/>
            <a:ext cx="1920240" cy="566928"/>
          </a:xfrm>
          <a:prstGeom prst="rect">
            <a:avLst/>
          </a:prstGeom>
          <a:noFill/>
          <a:ln/>
        </p:spPr>
        <p:txBody>
          <a:bodyPr wrap="square" lIns="0" tIns="0" rIns="0" bIns="0" rtlCol="0" anchor="ctr"/>
          <a:lstStyle/>
          <a:p>
            <a:pPr algn="r" indent="0" marL="0">
              <a:buNone/>
            </a:pPr>
            <a:r>
              <a:rPr lang="en-US" sz="1600" b="1" dirty="0">
                <a:solidFill>
                  <a:srgbClr val="0F172A"/>
                </a:solidFill>
                <a:latin typeface="Cambria" pitchFamily="34" charset="0"/>
                <a:ea typeface="Cambria" pitchFamily="34" charset="-122"/>
                <a:cs typeface="Cambria" pitchFamily="34" charset="-120"/>
              </a:rPr>
              <a:t>₱766,125</a:t>
            </a:r>
            <a:endParaRPr lang="en-US" sz="1600" dirty="0"/>
          </a:p>
        </p:txBody>
      </p:sp>
      <p:sp>
        <p:nvSpPr>
          <p:cNvPr id="32" name="Shape 30"/>
          <p:cNvSpPr/>
          <p:nvPr/>
        </p:nvSpPr>
        <p:spPr>
          <a:xfrm>
            <a:off x="7726680" y="2249424"/>
            <a:ext cx="3895344" cy="566928"/>
          </a:xfrm>
          <a:prstGeom prst="roundRect">
            <a:avLst>
              <a:gd name="adj" fmla="val 14516"/>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33" name="Text 31"/>
          <p:cNvSpPr/>
          <p:nvPr/>
        </p:nvSpPr>
        <p:spPr>
          <a:xfrm>
            <a:off x="7964424" y="2249424"/>
            <a:ext cx="1463040" cy="566928"/>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Year 2</a:t>
            </a:r>
            <a:endParaRPr lang="en-US" sz="1300" dirty="0"/>
          </a:p>
        </p:txBody>
      </p:sp>
      <p:sp>
        <p:nvSpPr>
          <p:cNvPr id="34" name="Text 32"/>
          <p:cNvSpPr/>
          <p:nvPr/>
        </p:nvSpPr>
        <p:spPr>
          <a:xfrm>
            <a:off x="9464040" y="2249424"/>
            <a:ext cx="1920240" cy="566928"/>
          </a:xfrm>
          <a:prstGeom prst="rect">
            <a:avLst/>
          </a:prstGeom>
          <a:noFill/>
          <a:ln/>
        </p:spPr>
        <p:txBody>
          <a:bodyPr wrap="square" lIns="0" tIns="0" rIns="0" bIns="0" rtlCol="0" anchor="ctr"/>
          <a:lstStyle/>
          <a:p>
            <a:pPr algn="r" indent="0" marL="0">
              <a:buNone/>
            </a:pPr>
            <a:r>
              <a:rPr lang="en-US" sz="1600" b="1" dirty="0">
                <a:solidFill>
                  <a:srgbClr val="0F172A"/>
                </a:solidFill>
                <a:latin typeface="Cambria" pitchFamily="34" charset="0"/>
                <a:ea typeface="Cambria" pitchFamily="34" charset="-122"/>
                <a:cs typeface="Cambria" pitchFamily="34" charset="-120"/>
              </a:rPr>
              <a:t>₱223,125</a:t>
            </a:r>
            <a:endParaRPr lang="en-US" sz="1600" dirty="0"/>
          </a:p>
        </p:txBody>
      </p:sp>
      <p:sp>
        <p:nvSpPr>
          <p:cNvPr id="35" name="Shape 33"/>
          <p:cNvSpPr/>
          <p:nvPr/>
        </p:nvSpPr>
        <p:spPr>
          <a:xfrm>
            <a:off x="7726680" y="2926080"/>
            <a:ext cx="3895344" cy="566928"/>
          </a:xfrm>
          <a:prstGeom prst="roundRect">
            <a:avLst>
              <a:gd name="adj" fmla="val 14516"/>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36" name="Text 34"/>
          <p:cNvSpPr/>
          <p:nvPr/>
        </p:nvSpPr>
        <p:spPr>
          <a:xfrm>
            <a:off x="7964424" y="2926080"/>
            <a:ext cx="1463040" cy="566928"/>
          </a:xfrm>
          <a:prstGeom prst="rect">
            <a:avLst/>
          </a:prstGeom>
          <a:noFill/>
          <a:ln/>
        </p:spPr>
        <p:txBody>
          <a:bodyPr wrap="square" lIns="0" tIns="0" rIns="0" bIns="0" rtlCol="0" anchor="ctr"/>
          <a:lstStyle/>
          <a:p>
            <a:pPr indent="0" marL="0">
              <a:buNone/>
            </a:pPr>
            <a:r>
              <a:rPr lang="en-US" sz="1300" dirty="0">
                <a:solidFill>
                  <a:srgbClr val="64748B"/>
                </a:solidFill>
                <a:latin typeface="Calibri" pitchFamily="34" charset="0"/>
                <a:ea typeface="Calibri" pitchFamily="34" charset="-122"/>
                <a:cs typeface="Calibri" pitchFamily="34" charset="-120"/>
              </a:rPr>
              <a:t>Year 3</a:t>
            </a:r>
            <a:endParaRPr lang="en-US" sz="1300" dirty="0"/>
          </a:p>
        </p:txBody>
      </p:sp>
      <p:sp>
        <p:nvSpPr>
          <p:cNvPr id="37" name="Text 35"/>
          <p:cNvSpPr/>
          <p:nvPr/>
        </p:nvSpPr>
        <p:spPr>
          <a:xfrm>
            <a:off x="9464040" y="2926080"/>
            <a:ext cx="1920240" cy="566928"/>
          </a:xfrm>
          <a:prstGeom prst="rect">
            <a:avLst/>
          </a:prstGeom>
          <a:noFill/>
          <a:ln/>
        </p:spPr>
        <p:txBody>
          <a:bodyPr wrap="square" lIns="0" tIns="0" rIns="0" bIns="0" rtlCol="0" anchor="ctr"/>
          <a:lstStyle/>
          <a:p>
            <a:pPr algn="r" indent="0" marL="0">
              <a:buNone/>
            </a:pPr>
            <a:r>
              <a:rPr lang="en-US" sz="1600" b="1" dirty="0">
                <a:solidFill>
                  <a:srgbClr val="0F172A"/>
                </a:solidFill>
                <a:latin typeface="Cambria" pitchFamily="34" charset="0"/>
                <a:ea typeface="Cambria" pitchFamily="34" charset="-122"/>
                <a:cs typeface="Cambria" pitchFamily="34" charset="-120"/>
              </a:rPr>
              <a:t>₱61,125</a:t>
            </a:r>
            <a:endParaRPr lang="en-US" sz="1600" dirty="0"/>
          </a:p>
        </p:txBody>
      </p:sp>
      <p:sp>
        <p:nvSpPr>
          <p:cNvPr id="38" name="Shape 36"/>
          <p:cNvSpPr/>
          <p:nvPr/>
        </p:nvSpPr>
        <p:spPr>
          <a:xfrm>
            <a:off x="7726680" y="3675888"/>
            <a:ext cx="3895344" cy="2468880"/>
          </a:xfrm>
          <a:prstGeom prst="roundRect">
            <a:avLst>
              <a:gd name="adj" fmla="val 3333"/>
            </a:avLst>
          </a:prstGeom>
          <a:solidFill>
            <a:srgbClr val="0F172A"/>
          </a:solidFill>
          <a:ln w="12700">
            <a:solidFill>
              <a:srgbClr val="0F172A"/>
            </a:solidFill>
            <a:prstDash val="solid"/>
          </a:ln>
          <a:effectLst>
            <a:outerShdw sx="100000" sy="100000" kx="0" ky="0" algn="bl" rotWithShape="0" blurRad="114300" dist="17780" dir="5400000">
              <a:srgbClr val="0F172A">
                <a:alpha val="7000"/>
              </a:srgbClr>
            </a:outerShdw>
          </a:effectLst>
        </p:spPr>
      </p:sp>
      <p:sp>
        <p:nvSpPr>
          <p:cNvPr id="39" name="Text 37"/>
          <p:cNvSpPr/>
          <p:nvPr/>
        </p:nvSpPr>
        <p:spPr>
          <a:xfrm>
            <a:off x="7964424" y="3913632"/>
            <a:ext cx="3419856" cy="256032"/>
          </a:xfrm>
          <a:prstGeom prst="rect">
            <a:avLst/>
          </a:prstGeom>
          <a:noFill/>
          <a:ln/>
        </p:spPr>
        <p:txBody>
          <a:bodyPr wrap="square" lIns="0" tIns="0" rIns="0" bIns="0" rtlCol="0" anchor="ctr"/>
          <a:lstStyle/>
          <a:p>
            <a:pPr indent="0" marL="0">
              <a:buNone/>
            </a:pPr>
            <a:r>
              <a:rPr lang="en-US" sz="1100" b="1" spc="160" kern="0" dirty="0">
                <a:solidFill>
                  <a:srgbClr val="94A3B8"/>
                </a:solidFill>
                <a:latin typeface="Calibri" pitchFamily="34" charset="0"/>
                <a:ea typeface="Calibri" pitchFamily="34" charset="-122"/>
                <a:cs typeface="Calibri" pitchFamily="34" charset="-120"/>
              </a:rPr>
              <a:t>3-YEAR TOTAL</a:t>
            </a:r>
            <a:endParaRPr lang="en-US" sz="1100" dirty="0"/>
          </a:p>
        </p:txBody>
      </p:sp>
      <p:sp>
        <p:nvSpPr>
          <p:cNvPr id="40" name="Text 38"/>
          <p:cNvSpPr/>
          <p:nvPr/>
        </p:nvSpPr>
        <p:spPr>
          <a:xfrm>
            <a:off x="7964424" y="4187952"/>
            <a:ext cx="3419856"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₱1,050,375</a:t>
            </a:r>
            <a:endParaRPr lang="en-US" sz="3400" dirty="0"/>
          </a:p>
        </p:txBody>
      </p:sp>
      <p:sp>
        <p:nvSpPr>
          <p:cNvPr id="41" name="Text 39"/>
          <p:cNvSpPr/>
          <p:nvPr/>
        </p:nvSpPr>
        <p:spPr>
          <a:xfrm>
            <a:off x="7964424" y="4846320"/>
            <a:ext cx="3419856" cy="274320"/>
          </a:xfrm>
          <a:prstGeom prst="rect">
            <a:avLst/>
          </a:prstGeom>
          <a:noFill/>
          <a:ln/>
        </p:spPr>
        <p:txBody>
          <a:bodyPr wrap="square" lIns="0" tIns="0" rIns="0" bIns="0" rtlCol="0" anchor="ctr"/>
          <a:lstStyle/>
          <a:p>
            <a:pPr indent="0" marL="0">
              <a:buNone/>
            </a:pPr>
            <a:r>
              <a:rPr lang="en-US" sz="1300" dirty="0">
                <a:solidFill>
                  <a:srgbClr val="CBD5E1"/>
                </a:solidFill>
                <a:latin typeface="Calibri" pitchFamily="34" charset="0"/>
                <a:ea typeface="Calibri" pitchFamily="34" charset="-122"/>
                <a:cs typeface="Calibri" pitchFamily="34" charset="-120"/>
              </a:rPr>
              <a:t>US$18,110</a:t>
            </a:r>
            <a:endParaRPr lang="en-US" sz="1300" dirty="0"/>
          </a:p>
        </p:txBody>
      </p:sp>
      <p:sp>
        <p:nvSpPr>
          <p:cNvPr id="42" name="Text 40"/>
          <p:cNvSpPr/>
          <p:nvPr/>
        </p:nvSpPr>
        <p:spPr>
          <a:xfrm>
            <a:off x="7964424" y="5248656"/>
            <a:ext cx="1097280" cy="310896"/>
          </a:xfrm>
          <a:prstGeom prst="rect">
            <a:avLst/>
          </a:prstGeom>
          <a:noFill/>
          <a:ln/>
        </p:spPr>
        <p:txBody>
          <a:bodyPr wrap="square" lIns="0" tIns="0" rIns="0" bIns="0" rtlCol="0" anchor="ctr"/>
          <a:lstStyle/>
          <a:p>
            <a:pPr indent="0" marL="0">
              <a:buNone/>
            </a:pPr>
            <a:r>
              <a:rPr lang="en-US" sz="1500" b="1" dirty="0">
                <a:solidFill>
                  <a:srgbClr val="16A34A"/>
                </a:solidFill>
                <a:latin typeface="Cambria" pitchFamily="34" charset="0"/>
                <a:ea typeface="Cambria" pitchFamily="34" charset="-122"/>
                <a:cs typeface="Cambria" pitchFamily="34" charset="-120"/>
              </a:rPr>
              <a:t>₱1,649</a:t>
            </a:r>
            <a:endParaRPr lang="en-US" sz="1500" dirty="0"/>
          </a:p>
        </p:txBody>
      </p:sp>
      <p:sp>
        <p:nvSpPr>
          <p:cNvPr id="43" name="Text 41"/>
          <p:cNvSpPr/>
          <p:nvPr/>
        </p:nvSpPr>
        <p:spPr>
          <a:xfrm>
            <a:off x="9098280" y="5248656"/>
            <a:ext cx="2286000" cy="310896"/>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per employee, 3 years</a:t>
            </a:r>
            <a:endParaRPr lang="en-US" sz="1100" dirty="0"/>
          </a:p>
        </p:txBody>
      </p:sp>
      <p:sp>
        <p:nvSpPr>
          <p:cNvPr id="44" name="Text 42"/>
          <p:cNvSpPr/>
          <p:nvPr/>
        </p:nvSpPr>
        <p:spPr>
          <a:xfrm>
            <a:off x="7964424" y="5650992"/>
            <a:ext cx="1097280" cy="310896"/>
          </a:xfrm>
          <a:prstGeom prst="rect">
            <a:avLst/>
          </a:prstGeom>
          <a:noFill/>
          <a:ln/>
        </p:spPr>
        <p:txBody>
          <a:bodyPr wrap="square" lIns="0" tIns="0" rIns="0" bIns="0" rtlCol="0" anchor="ctr"/>
          <a:lstStyle/>
          <a:p>
            <a:pPr indent="0" marL="0">
              <a:buNone/>
            </a:pPr>
            <a:r>
              <a:rPr lang="en-US" sz="1500" b="1" dirty="0">
                <a:solidFill>
                  <a:srgbClr val="16A34A"/>
                </a:solidFill>
                <a:latin typeface="Cambria" pitchFamily="34" charset="0"/>
                <a:ea typeface="Cambria" pitchFamily="34" charset="-122"/>
                <a:cs typeface="Cambria" pitchFamily="34" charset="-120"/>
              </a:rPr>
              <a:t>₱550</a:t>
            </a:r>
            <a:endParaRPr lang="en-US" sz="1500" dirty="0"/>
          </a:p>
        </p:txBody>
      </p:sp>
      <p:sp>
        <p:nvSpPr>
          <p:cNvPr id="45" name="Text 43"/>
          <p:cNvSpPr/>
          <p:nvPr/>
        </p:nvSpPr>
        <p:spPr>
          <a:xfrm>
            <a:off x="9098280" y="5650992"/>
            <a:ext cx="2286000" cy="310896"/>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per employee, per year</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66928" y="402336"/>
            <a:ext cx="11055096" cy="566928"/>
          </a:xfrm>
          <a:prstGeom prst="rect">
            <a:avLst/>
          </a:prstGeom>
          <a:noFill/>
          <a:ln/>
        </p:spPr>
        <p:txBody>
          <a:bodyPr wrap="square" lIns="0" tIns="0" rIns="0" bIns="0" rtlCol="0" anchor="ctr"/>
          <a:lstStyle/>
          <a:p>
            <a:pPr indent="0" marL="0">
              <a:buNone/>
            </a:pPr>
            <a:r>
              <a:rPr lang="en-US" sz="3300" b="1" dirty="0">
                <a:solidFill>
                  <a:srgbClr val="0F172A"/>
                </a:solidFill>
                <a:latin typeface="Cambria" pitchFamily="34" charset="0"/>
                <a:ea typeface="Cambria" pitchFamily="34" charset="-122"/>
                <a:cs typeface="Cambria" pitchFamily="34" charset="-120"/>
              </a:rPr>
              <a:t>Cheaper than v1, despite doing more</a:t>
            </a:r>
            <a:endParaRPr lang="en-US" sz="3300" dirty="0"/>
          </a:p>
        </p:txBody>
      </p:sp>
      <p:sp>
        <p:nvSpPr>
          <p:cNvPr id="3" name="Text 1"/>
          <p:cNvSpPr/>
          <p:nvPr/>
        </p:nvSpPr>
        <p:spPr>
          <a:xfrm>
            <a:off x="566928" y="1005840"/>
            <a:ext cx="11055096" cy="310896"/>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Three-year total cost of ownership, 637 employees.</a:t>
            </a:r>
            <a:endParaRPr lang="en-US" sz="1350" dirty="0"/>
          </a:p>
        </p:txBody>
      </p:sp>
      <p:graphicFrame>
        <p:nvGraphicFramePr>
          <p:cNvPr id="4" name="Chart 0" descr=""/>
          <p:cNvGraphicFramePr/>
          <p:nvPr/>
        </p:nvGraphicFramePr>
        <p:xfrm>
          <a:off x="566928" y="1627632"/>
          <a:ext cx="731520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138160" y="1700784"/>
            <a:ext cx="3483864" cy="1060704"/>
          </a:xfrm>
          <a:prstGeom prst="roundRect">
            <a:avLst>
              <a:gd name="adj" fmla="val 7759"/>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6" name="Text 3"/>
          <p:cNvSpPr/>
          <p:nvPr/>
        </p:nvSpPr>
        <p:spPr>
          <a:xfrm>
            <a:off x="8394192" y="1828800"/>
            <a:ext cx="3017520" cy="457200"/>
          </a:xfrm>
          <a:prstGeom prst="rect">
            <a:avLst/>
          </a:prstGeom>
          <a:noFill/>
          <a:ln/>
        </p:spPr>
        <p:txBody>
          <a:bodyPr wrap="square" lIns="0" tIns="0" rIns="0" bIns="0" rtlCol="0" anchor="ctr"/>
          <a:lstStyle/>
          <a:p>
            <a:pPr indent="0" marL="0">
              <a:buNone/>
            </a:pPr>
            <a:r>
              <a:rPr lang="en-US" sz="2400" b="1" dirty="0">
                <a:solidFill>
                  <a:srgbClr val="C00000"/>
                </a:solidFill>
                <a:latin typeface="Cambria" pitchFamily="34" charset="0"/>
                <a:ea typeface="Cambria" pitchFamily="34" charset="-122"/>
                <a:cs typeface="Cambria" pitchFamily="34" charset="-120"/>
              </a:rPr>
              <a:t>−32%</a:t>
            </a:r>
            <a:endParaRPr lang="en-US" sz="2400" dirty="0"/>
          </a:p>
        </p:txBody>
      </p:sp>
      <p:sp>
        <p:nvSpPr>
          <p:cNvPr id="7" name="Text 4"/>
          <p:cNvSpPr/>
          <p:nvPr/>
        </p:nvSpPr>
        <p:spPr>
          <a:xfrm>
            <a:off x="8394192" y="2304288"/>
            <a:ext cx="3017520" cy="292608"/>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against v2 as first scoped</a:t>
            </a:r>
            <a:endParaRPr lang="en-US" sz="1200" dirty="0"/>
          </a:p>
        </p:txBody>
      </p:sp>
      <p:sp>
        <p:nvSpPr>
          <p:cNvPr id="8" name="Shape 5"/>
          <p:cNvSpPr/>
          <p:nvPr/>
        </p:nvSpPr>
        <p:spPr>
          <a:xfrm>
            <a:off x="8138160" y="2944368"/>
            <a:ext cx="3483864" cy="1060704"/>
          </a:xfrm>
          <a:prstGeom prst="roundRect">
            <a:avLst>
              <a:gd name="adj" fmla="val 7759"/>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9" name="Text 6"/>
          <p:cNvSpPr/>
          <p:nvPr/>
        </p:nvSpPr>
        <p:spPr>
          <a:xfrm>
            <a:off x="8394192" y="3072384"/>
            <a:ext cx="3017520" cy="457200"/>
          </a:xfrm>
          <a:prstGeom prst="rect">
            <a:avLst/>
          </a:prstGeom>
          <a:noFill/>
          <a:ln/>
        </p:spPr>
        <p:txBody>
          <a:bodyPr wrap="square" lIns="0" tIns="0" rIns="0" bIns="0" rtlCol="0" anchor="ctr"/>
          <a:lstStyle/>
          <a:p>
            <a:pPr indent="0" marL="0">
              <a:buNone/>
            </a:pPr>
            <a:r>
              <a:rPr lang="en-US" sz="2400" b="1" dirty="0">
                <a:solidFill>
                  <a:srgbClr val="16A34A"/>
                </a:solidFill>
                <a:latin typeface="Cambria" pitchFamily="34" charset="0"/>
                <a:ea typeface="Cambria" pitchFamily="34" charset="-122"/>
                <a:cs typeface="Cambria" pitchFamily="34" charset="-120"/>
              </a:rPr>
              <a:t>−6%</a:t>
            </a:r>
            <a:endParaRPr lang="en-US" sz="2400" dirty="0"/>
          </a:p>
        </p:txBody>
      </p:sp>
      <p:sp>
        <p:nvSpPr>
          <p:cNvPr id="10" name="Text 7"/>
          <p:cNvSpPr/>
          <p:nvPr/>
        </p:nvSpPr>
        <p:spPr>
          <a:xfrm>
            <a:off x="8394192" y="3547872"/>
            <a:ext cx="3017520" cy="292608"/>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against v1</a:t>
            </a:r>
            <a:endParaRPr lang="en-US" sz="1200" dirty="0"/>
          </a:p>
        </p:txBody>
      </p:sp>
      <p:sp>
        <p:nvSpPr>
          <p:cNvPr id="11" name="Shape 8"/>
          <p:cNvSpPr/>
          <p:nvPr/>
        </p:nvSpPr>
        <p:spPr>
          <a:xfrm>
            <a:off x="8138160" y="4187952"/>
            <a:ext cx="3483864" cy="1060704"/>
          </a:xfrm>
          <a:prstGeom prst="roundRect">
            <a:avLst>
              <a:gd name="adj" fmla="val 7759"/>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12" name="Text 9"/>
          <p:cNvSpPr/>
          <p:nvPr/>
        </p:nvSpPr>
        <p:spPr>
          <a:xfrm>
            <a:off x="8394192" y="4315968"/>
            <a:ext cx="3017520" cy="457200"/>
          </a:xfrm>
          <a:prstGeom prst="rect">
            <a:avLst/>
          </a:prstGeom>
          <a:noFill/>
          <a:ln/>
        </p:spPr>
        <p:txBody>
          <a:bodyPr wrap="square" lIns="0" tIns="0" rIns="0" bIns="0" rtlCol="0" anchor="ctr"/>
          <a:lstStyle/>
          <a:p>
            <a:pPr indent="0" marL="0">
              <a:buNone/>
            </a:pPr>
            <a:r>
              <a:rPr lang="en-US" sz="2400" b="1" dirty="0">
                <a:solidFill>
                  <a:srgbClr val="0F172A"/>
                </a:solidFill>
                <a:latin typeface="Cambria" pitchFamily="34" charset="0"/>
                <a:ea typeface="Cambria" pitchFamily="34" charset="-122"/>
                <a:cs typeface="Cambria" pitchFamily="34" charset="-120"/>
              </a:rPr>
              <a:t>₱550</a:t>
            </a:r>
            <a:endParaRPr lang="en-US" sz="2400" dirty="0"/>
          </a:p>
        </p:txBody>
      </p:sp>
      <p:sp>
        <p:nvSpPr>
          <p:cNvPr id="13" name="Text 10"/>
          <p:cNvSpPr/>
          <p:nvPr/>
        </p:nvSpPr>
        <p:spPr>
          <a:xfrm>
            <a:off x="8394192" y="4791456"/>
            <a:ext cx="3017520" cy="292608"/>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per employee per year</a:t>
            </a:r>
            <a:endParaRPr lang="en-US" sz="1200" dirty="0"/>
          </a:p>
        </p:txBody>
      </p:sp>
      <p:sp>
        <p:nvSpPr>
          <p:cNvPr id="14" name="Text 11"/>
          <p:cNvSpPr/>
          <p:nvPr/>
        </p:nvSpPr>
        <p:spPr>
          <a:xfrm>
            <a:off x="8138160" y="5468112"/>
            <a:ext cx="3483864" cy="548640"/>
          </a:xfrm>
          <a:prstGeom prst="rect">
            <a:avLst/>
          </a:prstGeom>
          <a:noFill/>
          <a:ln/>
        </p:spPr>
        <p:txBody>
          <a:bodyPr wrap="square" lIns="0" tIns="0" rIns="0" bIns="0"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The lean build lands under the version that still ran vacancies in-house.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66928" y="402336"/>
            <a:ext cx="11055096" cy="566928"/>
          </a:xfrm>
          <a:prstGeom prst="rect">
            <a:avLst/>
          </a:prstGeom>
          <a:noFill/>
          <a:ln/>
        </p:spPr>
        <p:txBody>
          <a:bodyPr wrap="square" lIns="0" tIns="0" rIns="0" bIns="0" rtlCol="0" anchor="ctr"/>
          <a:lstStyle/>
          <a:p>
            <a:pPr indent="0" marL="0">
              <a:buNone/>
            </a:pPr>
            <a:r>
              <a:rPr lang="en-US" sz="3300" b="1" dirty="0">
                <a:solidFill>
                  <a:srgbClr val="0F172A"/>
                </a:solidFill>
                <a:latin typeface="Cambria" pitchFamily="34" charset="0"/>
                <a:ea typeface="Cambria" pitchFamily="34" charset="-122"/>
                <a:cs typeface="Cambria" pitchFamily="34" charset="-120"/>
              </a:rPr>
              <a:t>Against buying a platform: 10× – 27× cheaper</a:t>
            </a:r>
            <a:endParaRPr lang="en-US" sz="3300" dirty="0"/>
          </a:p>
        </p:txBody>
      </p:sp>
      <p:sp>
        <p:nvSpPr>
          <p:cNvPr id="3" name="Text 1"/>
          <p:cNvSpPr/>
          <p:nvPr/>
        </p:nvSpPr>
        <p:spPr>
          <a:xfrm>
            <a:off x="566928" y="1005840"/>
            <a:ext cx="11055096" cy="310896"/>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Gloat, Fuel50, Eightfold and Workday do not publish per-seat pricing. Bands are RFP planning estimates, not quotes.</a:t>
            </a:r>
            <a:endParaRPr lang="en-US" sz="1350" dirty="0"/>
          </a:p>
        </p:txBody>
      </p:sp>
      <p:graphicFrame>
        <p:nvGraphicFramePr>
          <p:cNvPr id="4" name="Chart 0" descr=""/>
          <p:cNvGraphicFramePr/>
          <p:nvPr/>
        </p:nvGraphicFramePr>
        <p:xfrm>
          <a:off x="566928" y="1700784"/>
          <a:ext cx="7040880" cy="3017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863840" y="1700784"/>
            <a:ext cx="3758184" cy="3017520"/>
          </a:xfrm>
          <a:prstGeom prst="roundRect">
            <a:avLst>
              <a:gd name="adj" fmla="val 2727"/>
            </a:avLst>
          </a:prstGeom>
          <a:solidFill>
            <a:srgbClr val="0F172A"/>
          </a:solidFill>
          <a:ln w="12700">
            <a:solidFill>
              <a:srgbClr val="0F172A"/>
            </a:solidFill>
            <a:prstDash val="solid"/>
          </a:ln>
          <a:effectLst>
            <a:outerShdw sx="100000" sy="100000" kx="0" ky="0" algn="bl" rotWithShape="0" blurRad="114300" dist="17780" dir="5400000">
              <a:srgbClr val="0F172A">
                <a:alpha val="7000"/>
              </a:srgbClr>
            </a:outerShdw>
          </a:effectLst>
        </p:spPr>
      </p:sp>
      <p:sp>
        <p:nvSpPr>
          <p:cNvPr id="6" name="Text 3"/>
          <p:cNvSpPr/>
          <p:nvPr/>
        </p:nvSpPr>
        <p:spPr>
          <a:xfrm>
            <a:off x="8138160" y="1920240"/>
            <a:ext cx="3200400" cy="274320"/>
          </a:xfrm>
          <a:prstGeom prst="rect">
            <a:avLst/>
          </a:prstGeom>
          <a:noFill/>
          <a:ln/>
        </p:spPr>
        <p:txBody>
          <a:bodyPr wrap="square" lIns="0" tIns="0" rIns="0" bIns="0" rtlCol="0" anchor="ctr"/>
          <a:lstStyle/>
          <a:p>
            <a:pPr indent="0" marL="0">
              <a:buNone/>
            </a:pPr>
            <a:r>
              <a:rPr lang="en-US" sz="1150" b="1" spc="100" kern="0" dirty="0">
                <a:solidFill>
                  <a:srgbClr val="94A3B8"/>
                </a:solidFill>
                <a:latin typeface="Calibri" pitchFamily="34" charset="0"/>
                <a:ea typeface="Calibri" pitchFamily="34" charset="-122"/>
                <a:cs typeface="Calibri" pitchFamily="34" charset="-120"/>
              </a:rPr>
              <a:t>The number that lands</a:t>
            </a:r>
            <a:endParaRPr lang="en-US" sz="1150" dirty="0"/>
          </a:p>
        </p:txBody>
      </p:sp>
      <p:sp>
        <p:nvSpPr>
          <p:cNvPr id="7" name="Text 4"/>
          <p:cNvSpPr/>
          <p:nvPr/>
        </p:nvSpPr>
        <p:spPr>
          <a:xfrm>
            <a:off x="8138160" y="2249424"/>
            <a:ext cx="3200400" cy="786384"/>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29</a:t>
            </a:r>
            <a:endParaRPr lang="en-US" sz="5200" dirty="0"/>
          </a:p>
        </p:txBody>
      </p:sp>
      <p:sp>
        <p:nvSpPr>
          <p:cNvPr id="8" name="Text 5"/>
          <p:cNvSpPr/>
          <p:nvPr/>
        </p:nvSpPr>
        <p:spPr>
          <a:xfrm>
            <a:off x="8138160" y="3072384"/>
            <a:ext cx="3200400" cy="786384"/>
          </a:xfrm>
          <a:prstGeom prst="rect">
            <a:avLst/>
          </a:prstGeom>
          <a:noFill/>
          <a:ln/>
        </p:spPr>
        <p:txBody>
          <a:bodyPr wrap="square" lIns="0" tIns="0" rIns="0" bIns="0" rtlCol="0" anchor="ctr"/>
          <a:lstStyle/>
          <a:p>
            <a:pPr indent="0" marL="0">
              <a:buNone/>
            </a:pPr>
            <a:r>
              <a:rPr lang="en-US" sz="1250" dirty="0">
                <a:solidFill>
                  <a:srgbClr val="CBD5E1"/>
                </a:solidFill>
                <a:latin typeface="Calibri" pitchFamily="34" charset="0"/>
                <a:ea typeface="Calibri" pitchFamily="34" charset="-122"/>
                <a:cs typeface="Calibri" pitchFamily="34" charset="-120"/>
              </a:rPr>
              <a:t>attributed internal hires a vendor at the low band needs over three years, just to cover its own licence.</a:t>
            </a:r>
            <a:endParaRPr lang="en-US" sz="1250" dirty="0"/>
          </a:p>
        </p:txBody>
      </p:sp>
      <p:sp>
        <p:nvSpPr>
          <p:cNvPr id="9" name="Shape 6"/>
          <p:cNvSpPr/>
          <p:nvPr/>
        </p:nvSpPr>
        <p:spPr>
          <a:xfrm>
            <a:off x="8138160" y="3968496"/>
            <a:ext cx="3200400" cy="0"/>
          </a:xfrm>
          <a:prstGeom prst="line">
            <a:avLst/>
          </a:prstGeom>
          <a:noFill/>
          <a:ln w="12700">
            <a:solidFill>
              <a:srgbClr val="334155"/>
            </a:solidFill>
            <a:prstDash val="solid"/>
          </a:ln>
        </p:spPr>
      </p:sp>
      <p:sp>
        <p:nvSpPr>
          <p:cNvPr id="10" name="Text 7"/>
          <p:cNvSpPr/>
          <p:nvPr/>
        </p:nvSpPr>
        <p:spPr>
          <a:xfrm>
            <a:off x="8138160" y="4078224"/>
            <a:ext cx="3200400" cy="365760"/>
          </a:xfrm>
          <a:prstGeom prst="rect">
            <a:avLst/>
          </a:prstGeom>
          <a:noFill/>
          <a:ln/>
        </p:spPr>
        <p:txBody>
          <a:bodyPr wrap="square" lIns="0" tIns="0" rIns="0" bIns="0" rtlCol="0" anchor="ctr"/>
          <a:lstStyle/>
          <a:p>
            <a:pPr indent="0" marL="0">
              <a:buNone/>
            </a:pPr>
            <a:r>
              <a:rPr lang="en-US" sz="1600" dirty="0">
                <a:solidFill>
                  <a:srgbClr val="CBD5E1"/>
                </a:solidFill>
                <a:latin typeface="Calibri" pitchFamily="34" charset="0"/>
                <a:ea typeface="Calibri" pitchFamily="34" charset="-122"/>
                <a:cs typeface="Calibri" pitchFamily="34" charset="-120"/>
              </a:rPr>
              <a:t>v2-lean needs </a:t>
            </a:r>
            <a:pPr indent="0" marL="0">
              <a:buNone/>
            </a:pPr>
            <a:r>
              <a:rPr lang="en-US" sz="1600" b="1" dirty="0">
                <a:solidFill>
                  <a:srgbClr val="16A34A"/>
                </a:solidFill>
                <a:latin typeface="Calibri" pitchFamily="34" charset="0"/>
                <a:ea typeface="Calibri" pitchFamily="34" charset="-122"/>
                <a:cs typeface="Calibri" pitchFamily="34" charset="-120"/>
              </a:rPr>
              <a:t>3.</a:t>
            </a:r>
            <a:endParaRPr lang="en-US" sz="1600" dirty="0"/>
          </a:p>
        </p:txBody>
      </p:sp>
      <p:sp>
        <p:nvSpPr>
          <p:cNvPr id="11" name="Shape 8"/>
          <p:cNvSpPr/>
          <p:nvPr/>
        </p:nvSpPr>
        <p:spPr>
          <a:xfrm>
            <a:off x="566928" y="4956048"/>
            <a:ext cx="11055096" cy="1152144"/>
          </a:xfrm>
          <a:prstGeom prst="roundRect">
            <a:avLst>
              <a:gd name="adj" fmla="val 7143"/>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12" name="Text 9"/>
          <p:cNvSpPr/>
          <p:nvPr/>
        </p:nvSpPr>
        <p:spPr>
          <a:xfrm>
            <a:off x="877824" y="4956048"/>
            <a:ext cx="10433304" cy="115214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Before deciding:  </a:t>
            </a:r>
            <a:pPr indent="0" marL="0">
              <a:buNone/>
            </a:pPr>
            <a:r>
              <a:rPr lang="en-US" sz="1300" dirty="0">
                <a:solidFill>
                  <a:srgbClr val="64748B"/>
                </a:solidFill>
                <a:latin typeface="Calibri" pitchFamily="34" charset="0"/>
                <a:ea typeface="Calibri" pitchFamily="34" charset="-122"/>
                <a:cs typeface="Calibri" pitchFamily="34" charset="-120"/>
              </a:rPr>
              <a:t>issue an RFP with the 637 seat count stated up front and ask specifically for minimum contract value. At this size the binding constraint is the vendor’s floor, not the per-seat rate — a US$20/employee headline would imply US$12,740, well below what any of them will contract at.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66928" y="402336"/>
            <a:ext cx="11055096" cy="566928"/>
          </a:xfrm>
          <a:prstGeom prst="rect">
            <a:avLst/>
          </a:prstGeom>
          <a:noFill/>
          <a:ln/>
        </p:spPr>
        <p:txBody>
          <a:bodyPr wrap="square" lIns="0" tIns="0" rIns="0" bIns="0" rtlCol="0" anchor="ctr"/>
          <a:lstStyle/>
          <a:p>
            <a:pPr indent="0" marL="0">
              <a:buNone/>
            </a:pPr>
            <a:r>
              <a:rPr lang="en-US" sz="3300" b="1" dirty="0">
                <a:solidFill>
                  <a:srgbClr val="0F172A"/>
                </a:solidFill>
                <a:latin typeface="Cambria" pitchFamily="34" charset="0"/>
                <a:ea typeface="Cambria" pitchFamily="34" charset="-122"/>
                <a:cs typeface="Cambria" pitchFamily="34" charset="-120"/>
              </a:rPr>
              <a:t>Two benefit streams — unequally defensible</a:t>
            </a:r>
            <a:endParaRPr lang="en-US" sz="3300" dirty="0"/>
          </a:p>
        </p:txBody>
      </p:sp>
      <p:sp>
        <p:nvSpPr>
          <p:cNvPr id="3" name="Text 1"/>
          <p:cNvSpPr/>
          <p:nvPr/>
        </p:nvSpPr>
        <p:spPr>
          <a:xfrm>
            <a:off x="566928" y="1005840"/>
            <a:ext cx="11055096" cy="310896"/>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Base case: 4 attributed hires a year, 120 gig/DJI/service-offer participants.</a:t>
            </a:r>
            <a:endParaRPr lang="en-US" sz="1350" dirty="0"/>
          </a:p>
        </p:txBody>
      </p:sp>
      <p:sp>
        <p:nvSpPr>
          <p:cNvPr id="4" name="Shape 2"/>
          <p:cNvSpPr/>
          <p:nvPr/>
        </p:nvSpPr>
        <p:spPr>
          <a:xfrm>
            <a:off x="566928" y="1609344"/>
            <a:ext cx="5381244" cy="4480560"/>
          </a:xfrm>
          <a:prstGeom prst="roundRect">
            <a:avLst>
              <a:gd name="adj" fmla="val 1837"/>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5" name="Shape 3"/>
          <p:cNvSpPr/>
          <p:nvPr/>
        </p:nvSpPr>
        <p:spPr>
          <a:xfrm>
            <a:off x="877824" y="1865376"/>
            <a:ext cx="1325880" cy="224028"/>
          </a:xfrm>
          <a:prstGeom prst="roundRect">
            <a:avLst>
              <a:gd name="adj" fmla="val 48980"/>
            </a:avLst>
          </a:prstGeom>
          <a:solidFill>
            <a:srgbClr val="E0E7FF"/>
          </a:solidFill>
          <a:ln w="12700">
            <a:solidFill>
              <a:srgbClr val="E0E7FF"/>
            </a:solidFill>
            <a:prstDash val="solid"/>
          </a:ln>
        </p:spPr>
      </p:sp>
      <p:sp>
        <p:nvSpPr>
          <p:cNvPr id="6" name="Text 4"/>
          <p:cNvSpPr/>
          <p:nvPr/>
        </p:nvSpPr>
        <p:spPr>
          <a:xfrm>
            <a:off x="877824" y="1865376"/>
            <a:ext cx="1325880" cy="224028"/>
          </a:xfrm>
          <a:prstGeom prst="rect">
            <a:avLst/>
          </a:prstGeom>
          <a:noFill/>
          <a:ln/>
        </p:spPr>
        <p:txBody>
          <a:bodyPr wrap="square" lIns="0" tIns="0" rIns="0" bIns="0" rtlCol="0" anchor="ctr"/>
          <a:lstStyle/>
          <a:p>
            <a:pPr algn="ctr" indent="0" marL="0">
              <a:buNone/>
            </a:pPr>
            <a:r>
              <a:rPr lang="en-US" sz="900" b="1" spc="80" kern="0" dirty="0">
                <a:solidFill>
                  <a:srgbClr val="3730A3"/>
                </a:solidFill>
                <a:latin typeface="Calibri" pitchFamily="34" charset="0"/>
                <a:ea typeface="Calibri" pitchFamily="34" charset="-122"/>
                <a:cs typeface="Calibri" pitchFamily="34" charset="-120"/>
              </a:rPr>
              <a:t>ATTRIBUTED</a:t>
            </a:r>
            <a:endParaRPr lang="en-US" sz="900" dirty="0"/>
          </a:p>
        </p:txBody>
      </p:sp>
      <p:sp>
        <p:nvSpPr>
          <p:cNvPr id="7" name="Text 5"/>
          <p:cNvSpPr/>
          <p:nvPr/>
        </p:nvSpPr>
        <p:spPr>
          <a:xfrm>
            <a:off x="877824" y="2212848"/>
            <a:ext cx="4759452" cy="365760"/>
          </a:xfrm>
          <a:prstGeom prst="rect">
            <a:avLst/>
          </a:prstGeom>
          <a:noFill/>
          <a:ln/>
        </p:spPr>
        <p:txBody>
          <a:bodyPr wrap="square" lIns="0" tIns="0" rIns="0" bIns="0" rtlCol="0" anchor="ctr"/>
          <a:lstStyle/>
          <a:p>
            <a:pPr indent="0" marL="0">
              <a:buNone/>
            </a:pPr>
            <a:r>
              <a:rPr lang="en-US" sz="2000" b="1" dirty="0">
                <a:solidFill>
                  <a:srgbClr val="0F172A"/>
                </a:solidFill>
                <a:latin typeface="Cambria" pitchFamily="34" charset="0"/>
                <a:ea typeface="Cambria" pitchFamily="34" charset="-122"/>
                <a:cs typeface="Cambria" pitchFamily="34" charset="-120"/>
              </a:rPr>
              <a:t>Permanent-role outcomes</a:t>
            </a:r>
            <a:endParaRPr lang="en-US" sz="2000" dirty="0"/>
          </a:p>
        </p:txBody>
      </p:sp>
      <p:sp>
        <p:nvSpPr>
          <p:cNvPr id="8" name="Text 6"/>
          <p:cNvSpPr/>
          <p:nvPr/>
        </p:nvSpPr>
        <p:spPr>
          <a:xfrm>
            <a:off x="877824" y="2615184"/>
            <a:ext cx="4759452" cy="603504"/>
          </a:xfrm>
          <a:prstGeom prst="rect">
            <a:avLst/>
          </a:prstGeom>
          <a:noFill/>
          <a:ln/>
        </p:spPr>
        <p:txBody>
          <a:bodyPr wrap="square" lIns="0" tIns="0" rIns="0" bIns="0" rtlCol="0" anchor="ctr"/>
          <a:lstStyle/>
          <a:p>
            <a:pPr indent="0" marL="0">
              <a:buNone/>
            </a:pPr>
            <a:r>
              <a:rPr lang="en-US" sz="3300" b="1" dirty="0">
                <a:solidFill>
                  <a:srgbClr val="1E40AF"/>
                </a:solidFill>
                <a:latin typeface="Cambria" pitchFamily="34" charset="0"/>
                <a:ea typeface="Cambria" pitchFamily="34" charset="-122"/>
                <a:cs typeface="Cambria" pitchFamily="34" charset="-120"/>
              </a:rPr>
              <a:t>₱1,673,231</a:t>
            </a:r>
            <a:endParaRPr lang="en-US" sz="3300" dirty="0"/>
          </a:p>
        </p:txBody>
      </p:sp>
      <p:sp>
        <p:nvSpPr>
          <p:cNvPr id="9" name="Text 7"/>
          <p:cNvSpPr/>
          <p:nvPr/>
        </p:nvSpPr>
        <p:spPr>
          <a:xfrm>
            <a:off x="877824" y="3200400"/>
            <a:ext cx="4759452" cy="256032"/>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per year</a:t>
            </a:r>
            <a:endParaRPr lang="en-US" sz="1150" dirty="0"/>
          </a:p>
        </p:txBody>
      </p:sp>
      <p:sp>
        <p:nvSpPr>
          <p:cNvPr id="10" name="Text 8"/>
          <p:cNvSpPr/>
          <p:nvPr/>
        </p:nvSpPr>
        <p:spPr>
          <a:xfrm>
            <a:off x="877824" y="3602736"/>
            <a:ext cx="3278124" cy="329184"/>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Avoided agency fees — 4 × ₱350,000</a:t>
            </a:r>
            <a:endParaRPr lang="en-US" sz="1200" dirty="0"/>
          </a:p>
        </p:txBody>
      </p:sp>
      <p:sp>
        <p:nvSpPr>
          <p:cNvPr id="11" name="Text 9"/>
          <p:cNvSpPr/>
          <p:nvPr/>
        </p:nvSpPr>
        <p:spPr>
          <a:xfrm>
            <a:off x="4174236" y="3602736"/>
            <a:ext cx="1463040" cy="329184"/>
          </a:xfrm>
          <a:prstGeom prst="rect">
            <a:avLst/>
          </a:prstGeom>
          <a:noFill/>
          <a:ln/>
        </p:spPr>
        <p:txBody>
          <a:bodyPr wrap="square" lIns="0" tIns="0" rIns="0" bIns="0" rtlCol="0" anchor="ctr"/>
          <a:lstStyle/>
          <a:p>
            <a:pPr algn="r" indent="0" marL="0">
              <a:buNone/>
            </a:pPr>
            <a:r>
              <a:rPr lang="en-US" sz="1250" b="1" dirty="0">
                <a:solidFill>
                  <a:srgbClr val="0F172A"/>
                </a:solidFill>
                <a:latin typeface="Cambria" pitchFamily="34" charset="0"/>
                <a:ea typeface="Cambria" pitchFamily="34" charset="-122"/>
                <a:cs typeface="Cambria" pitchFamily="34" charset="-120"/>
              </a:rPr>
              <a:t>₱1,400,000</a:t>
            </a:r>
            <a:endParaRPr lang="en-US" sz="1250" dirty="0"/>
          </a:p>
        </p:txBody>
      </p:sp>
      <p:sp>
        <p:nvSpPr>
          <p:cNvPr id="12" name="Text 10"/>
          <p:cNvSpPr/>
          <p:nvPr/>
        </p:nvSpPr>
        <p:spPr>
          <a:xfrm>
            <a:off x="877824" y="4005072"/>
            <a:ext cx="3278124" cy="329184"/>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37 vacancy days saved per fill</a:t>
            </a:r>
            <a:endParaRPr lang="en-US" sz="1200" dirty="0"/>
          </a:p>
        </p:txBody>
      </p:sp>
      <p:sp>
        <p:nvSpPr>
          <p:cNvPr id="13" name="Text 11"/>
          <p:cNvSpPr/>
          <p:nvPr/>
        </p:nvSpPr>
        <p:spPr>
          <a:xfrm>
            <a:off x="4174236" y="4005072"/>
            <a:ext cx="1463040" cy="329184"/>
          </a:xfrm>
          <a:prstGeom prst="rect">
            <a:avLst/>
          </a:prstGeom>
          <a:noFill/>
          <a:ln/>
        </p:spPr>
        <p:txBody>
          <a:bodyPr wrap="square" lIns="0" tIns="0" rIns="0" bIns="0" rtlCol="0" anchor="ctr"/>
          <a:lstStyle/>
          <a:p>
            <a:pPr algn="r" indent="0" marL="0">
              <a:buNone/>
            </a:pPr>
            <a:r>
              <a:rPr lang="en-US" sz="1250" b="1" dirty="0">
                <a:solidFill>
                  <a:srgbClr val="0F172A"/>
                </a:solidFill>
                <a:latin typeface="Cambria" pitchFamily="34" charset="0"/>
                <a:ea typeface="Cambria" pitchFamily="34" charset="-122"/>
                <a:cs typeface="Cambria" pitchFamily="34" charset="-120"/>
              </a:rPr>
              <a:t>₱273,231</a:t>
            </a:r>
            <a:endParaRPr lang="en-US" sz="1250" dirty="0"/>
          </a:p>
        </p:txBody>
      </p:sp>
      <p:sp>
        <p:nvSpPr>
          <p:cNvPr id="14" name="Shape 12"/>
          <p:cNvSpPr/>
          <p:nvPr/>
        </p:nvSpPr>
        <p:spPr>
          <a:xfrm>
            <a:off x="877824" y="4517136"/>
            <a:ext cx="4759452" cy="0"/>
          </a:xfrm>
          <a:prstGeom prst="line">
            <a:avLst/>
          </a:prstGeom>
          <a:noFill/>
          <a:ln w="12700">
            <a:solidFill>
              <a:srgbClr val="F1F5F9"/>
            </a:solidFill>
            <a:prstDash val="solid"/>
          </a:ln>
        </p:spPr>
      </p:sp>
      <p:sp>
        <p:nvSpPr>
          <p:cNvPr id="15" name="Text 13"/>
          <p:cNvSpPr/>
          <p:nvPr/>
        </p:nvSpPr>
        <p:spPr>
          <a:xfrm>
            <a:off x="877824" y="4626864"/>
            <a:ext cx="4759452" cy="1280160"/>
          </a:xfrm>
          <a:prstGeom prst="rect">
            <a:avLst/>
          </a:prstGeom>
          <a:noFill/>
          <a:ln/>
        </p:spPr>
        <p:txBody>
          <a:bodyPr wrap="square" lIns="0" tIns="0" rIns="0" bIns="0" rtlCol="0" anchor="ctr"/>
          <a:lstStyle/>
          <a:p>
            <a:pPr indent="0" marL="0">
              <a:lnSpc>
                <a:spcPts val="1700"/>
              </a:lnSpc>
              <a:buNone/>
            </a:pPr>
            <a:r>
              <a:rPr lang="en-US" sz="1150" dirty="0">
                <a:solidFill>
                  <a:srgbClr val="64748B"/>
                </a:solidFill>
                <a:latin typeface="Calibri" pitchFamily="34" charset="0"/>
                <a:ea typeface="Calibri" pitchFamily="34" charset="-122"/>
                <a:cs typeface="Calibri" pitchFamily="34" charset="-120"/>
              </a:rPr>
              <a:t>Exists only because of the tracking spend. Without a confirmed referral the hire is invisible in our data and belongs, as far as anyone can tell, to Careers.</a:t>
            </a:r>
            <a:endParaRPr lang="en-US" sz="1150" dirty="0"/>
          </a:p>
        </p:txBody>
      </p:sp>
      <p:sp>
        <p:nvSpPr>
          <p:cNvPr id="16" name="Shape 14"/>
          <p:cNvSpPr/>
          <p:nvPr/>
        </p:nvSpPr>
        <p:spPr>
          <a:xfrm>
            <a:off x="6240780" y="1609344"/>
            <a:ext cx="5381244" cy="4480560"/>
          </a:xfrm>
          <a:prstGeom prst="roundRect">
            <a:avLst>
              <a:gd name="adj" fmla="val 1837"/>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17" name="Shape 15"/>
          <p:cNvSpPr/>
          <p:nvPr/>
        </p:nvSpPr>
        <p:spPr>
          <a:xfrm>
            <a:off x="6551676" y="1865376"/>
            <a:ext cx="800100" cy="224028"/>
          </a:xfrm>
          <a:prstGeom prst="roundRect">
            <a:avLst>
              <a:gd name="adj" fmla="val 48980"/>
            </a:avLst>
          </a:prstGeom>
          <a:solidFill>
            <a:srgbClr val="DCFCE7"/>
          </a:solidFill>
          <a:ln w="12700">
            <a:solidFill>
              <a:srgbClr val="DCFCE7"/>
            </a:solidFill>
            <a:prstDash val="solid"/>
          </a:ln>
        </p:spPr>
      </p:sp>
      <p:sp>
        <p:nvSpPr>
          <p:cNvPr id="18" name="Text 16"/>
          <p:cNvSpPr/>
          <p:nvPr/>
        </p:nvSpPr>
        <p:spPr>
          <a:xfrm>
            <a:off x="6551676" y="1865376"/>
            <a:ext cx="800100" cy="224028"/>
          </a:xfrm>
          <a:prstGeom prst="rect">
            <a:avLst/>
          </a:prstGeom>
          <a:noFill/>
          <a:ln/>
        </p:spPr>
        <p:txBody>
          <a:bodyPr wrap="square" lIns="0" tIns="0" rIns="0" bIns="0" rtlCol="0" anchor="ctr"/>
          <a:lstStyle/>
          <a:p>
            <a:pPr algn="ctr" indent="0" marL="0">
              <a:buNone/>
            </a:pPr>
            <a:r>
              <a:rPr lang="en-US" sz="900" b="1" spc="80" kern="0" dirty="0">
                <a:solidFill>
                  <a:srgbClr val="166534"/>
                </a:solidFill>
                <a:latin typeface="Calibri" pitchFamily="34" charset="0"/>
                <a:ea typeface="Calibri" pitchFamily="34" charset="-122"/>
                <a:cs typeface="Calibri" pitchFamily="34" charset="-120"/>
              </a:rPr>
              <a:t>OWNED</a:t>
            </a:r>
            <a:endParaRPr lang="en-US" sz="900" dirty="0"/>
          </a:p>
        </p:txBody>
      </p:sp>
      <p:sp>
        <p:nvSpPr>
          <p:cNvPr id="19" name="Text 17"/>
          <p:cNvSpPr/>
          <p:nvPr/>
        </p:nvSpPr>
        <p:spPr>
          <a:xfrm>
            <a:off x="6551676" y="2212848"/>
            <a:ext cx="4759452" cy="365760"/>
          </a:xfrm>
          <a:prstGeom prst="rect">
            <a:avLst/>
          </a:prstGeom>
          <a:noFill/>
          <a:ln/>
        </p:spPr>
        <p:txBody>
          <a:bodyPr wrap="square" lIns="0" tIns="0" rIns="0" bIns="0" rtlCol="0" anchor="ctr"/>
          <a:lstStyle/>
          <a:p>
            <a:pPr indent="0" marL="0">
              <a:buNone/>
            </a:pPr>
            <a:r>
              <a:rPr lang="en-US" sz="2000" b="1" dirty="0">
                <a:solidFill>
                  <a:srgbClr val="0F172A"/>
                </a:solidFill>
                <a:latin typeface="Cambria" pitchFamily="34" charset="0"/>
                <a:ea typeface="Cambria" pitchFamily="34" charset="-122"/>
                <a:cs typeface="Cambria" pitchFamily="34" charset="-120"/>
              </a:rPr>
              <a:t>Retention on participants</a:t>
            </a:r>
            <a:endParaRPr lang="en-US" sz="2000" dirty="0"/>
          </a:p>
        </p:txBody>
      </p:sp>
      <p:sp>
        <p:nvSpPr>
          <p:cNvPr id="20" name="Text 18"/>
          <p:cNvSpPr/>
          <p:nvPr/>
        </p:nvSpPr>
        <p:spPr>
          <a:xfrm>
            <a:off x="6551676" y="2615184"/>
            <a:ext cx="4759452" cy="603504"/>
          </a:xfrm>
          <a:prstGeom prst="rect">
            <a:avLst/>
          </a:prstGeom>
          <a:noFill/>
          <a:ln/>
        </p:spPr>
        <p:txBody>
          <a:bodyPr wrap="square" lIns="0" tIns="0" rIns="0" bIns="0" rtlCol="0" anchor="ctr"/>
          <a:lstStyle/>
          <a:p>
            <a:pPr indent="0" marL="0">
              <a:buNone/>
            </a:pPr>
            <a:r>
              <a:rPr lang="en-US" sz="3300" b="1" dirty="0">
                <a:solidFill>
                  <a:srgbClr val="16A34A"/>
                </a:solidFill>
                <a:latin typeface="Cambria" pitchFamily="34" charset="0"/>
                <a:ea typeface="Cambria" pitchFamily="34" charset="-122"/>
                <a:cs typeface="Cambria" pitchFamily="34" charset="-120"/>
              </a:rPr>
              <a:t>₱1,296,000</a:t>
            </a:r>
            <a:endParaRPr lang="en-US" sz="3300" dirty="0"/>
          </a:p>
        </p:txBody>
      </p:sp>
      <p:sp>
        <p:nvSpPr>
          <p:cNvPr id="21" name="Text 19"/>
          <p:cNvSpPr/>
          <p:nvPr/>
        </p:nvSpPr>
        <p:spPr>
          <a:xfrm>
            <a:off x="6551676" y="3200400"/>
            <a:ext cx="4759452" cy="256032"/>
          </a:xfrm>
          <a:prstGeom prst="rect">
            <a:avLst/>
          </a:prstGeom>
          <a:noFill/>
          <a:ln/>
        </p:spPr>
        <p:txBody>
          <a:bodyPr wrap="square" lIns="0" tIns="0" rIns="0" bIns="0" rtlCol="0" anchor="ctr"/>
          <a:lstStyle/>
          <a:p>
            <a:pPr indent="0" marL="0">
              <a:buNone/>
            </a:pPr>
            <a:r>
              <a:rPr lang="en-US" sz="1150" dirty="0">
                <a:solidFill>
                  <a:srgbClr val="94A3B8"/>
                </a:solidFill>
                <a:latin typeface="Calibri" pitchFamily="34" charset="0"/>
                <a:ea typeface="Calibri" pitchFamily="34" charset="-122"/>
                <a:cs typeface="Calibri" pitchFamily="34" charset="-120"/>
              </a:rPr>
              <a:t>per year</a:t>
            </a:r>
            <a:endParaRPr lang="en-US" sz="1150" dirty="0"/>
          </a:p>
        </p:txBody>
      </p:sp>
      <p:sp>
        <p:nvSpPr>
          <p:cNvPr id="22" name="Text 20"/>
          <p:cNvSpPr/>
          <p:nvPr/>
        </p:nvSpPr>
        <p:spPr>
          <a:xfrm>
            <a:off x="6551676" y="3602736"/>
            <a:ext cx="3278124" cy="329184"/>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120 participants × 3pt retention lift</a:t>
            </a:r>
            <a:endParaRPr lang="en-US" sz="1200" dirty="0"/>
          </a:p>
        </p:txBody>
      </p:sp>
      <p:sp>
        <p:nvSpPr>
          <p:cNvPr id="23" name="Text 21"/>
          <p:cNvSpPr/>
          <p:nvPr/>
        </p:nvSpPr>
        <p:spPr>
          <a:xfrm>
            <a:off x="6551676" y="4005072"/>
            <a:ext cx="3278124" cy="329184"/>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 ₱360,000 replacement cost each</a:t>
            </a:r>
            <a:endParaRPr lang="en-US" sz="1200" dirty="0"/>
          </a:p>
        </p:txBody>
      </p:sp>
      <p:sp>
        <p:nvSpPr>
          <p:cNvPr id="24" name="Text 22"/>
          <p:cNvSpPr/>
          <p:nvPr/>
        </p:nvSpPr>
        <p:spPr>
          <a:xfrm>
            <a:off x="9848088" y="4005072"/>
            <a:ext cx="1463040" cy="329184"/>
          </a:xfrm>
          <a:prstGeom prst="rect">
            <a:avLst/>
          </a:prstGeom>
          <a:noFill/>
          <a:ln/>
        </p:spPr>
        <p:txBody>
          <a:bodyPr wrap="square" lIns="0" tIns="0" rIns="0" bIns="0" rtlCol="0" anchor="ctr"/>
          <a:lstStyle/>
          <a:p>
            <a:pPr algn="r" indent="0" marL="0">
              <a:buNone/>
            </a:pPr>
            <a:r>
              <a:rPr lang="en-US" sz="1250" b="1" dirty="0">
                <a:solidFill>
                  <a:srgbClr val="0F172A"/>
                </a:solidFill>
                <a:latin typeface="Cambria" pitchFamily="34" charset="0"/>
                <a:ea typeface="Cambria" pitchFamily="34" charset="-122"/>
                <a:cs typeface="Cambria" pitchFamily="34" charset="-120"/>
              </a:rPr>
              <a:t>₱1,296,000</a:t>
            </a:r>
            <a:endParaRPr lang="en-US" sz="1250" dirty="0"/>
          </a:p>
        </p:txBody>
      </p:sp>
      <p:sp>
        <p:nvSpPr>
          <p:cNvPr id="25" name="Shape 23"/>
          <p:cNvSpPr/>
          <p:nvPr/>
        </p:nvSpPr>
        <p:spPr>
          <a:xfrm>
            <a:off x="6551676" y="4517136"/>
            <a:ext cx="4759452" cy="0"/>
          </a:xfrm>
          <a:prstGeom prst="line">
            <a:avLst/>
          </a:prstGeom>
          <a:noFill/>
          <a:ln w="12700">
            <a:solidFill>
              <a:srgbClr val="F1F5F9"/>
            </a:solidFill>
            <a:prstDash val="solid"/>
          </a:ln>
        </p:spPr>
      </p:sp>
      <p:sp>
        <p:nvSpPr>
          <p:cNvPr id="26" name="Text 24"/>
          <p:cNvSpPr/>
          <p:nvPr/>
        </p:nvSpPr>
        <p:spPr>
          <a:xfrm>
            <a:off x="6551676" y="4626864"/>
            <a:ext cx="4759452" cy="1280160"/>
          </a:xfrm>
          <a:prstGeom prst="rect">
            <a:avLst/>
          </a:prstGeom>
          <a:noFill/>
          <a:ln/>
        </p:spPr>
        <p:txBody>
          <a:bodyPr wrap="square" lIns="0" tIns="0" rIns="0" bIns="0" rtlCol="0" anchor="ctr"/>
          <a:lstStyle/>
          <a:p>
            <a:pPr indent="0" marL="0">
              <a:lnSpc>
                <a:spcPts val="1700"/>
              </a:lnSpc>
              <a:buNone/>
            </a:pPr>
            <a:r>
              <a:rPr lang="en-US" sz="1150" dirty="0">
                <a:solidFill>
                  <a:srgbClr val="64748B"/>
                </a:solidFill>
                <a:latin typeface="Calibri" pitchFamily="34" charset="0"/>
                <a:ea typeface="Calibri" pitchFamily="34" charset="-122"/>
                <a:cs typeface="Calibri" pitchFamily="34" charset="-120"/>
              </a:rPr>
              <a:t>Needs no attribution — gigs, DJIs and service offers run end to end here. But the 3-point lift is a discounted judgement, not a measurement. See the stress test.</a:t>
            </a:r>
            <a:endParaRPr lang="en-US" sz="1150" dirty="0"/>
          </a:p>
        </p:txBody>
      </p:sp>
      <p:sp>
        <p:nvSpPr>
          <p:cNvPr id="27" name="Text 25"/>
          <p:cNvSpPr/>
          <p:nvPr/>
        </p:nvSpPr>
        <p:spPr>
          <a:xfrm>
            <a:off x="566928" y="6236208"/>
            <a:ext cx="11055096" cy="365760"/>
          </a:xfrm>
          <a:prstGeom prst="rect">
            <a:avLst/>
          </a:prstGeom>
          <a:noFill/>
          <a:ln/>
        </p:spPr>
        <p:txBody>
          <a:bodyPr wrap="square" lIns="0" tIns="0" rIns="0" bIns="0" rtlCol="0" anchor="ctr"/>
          <a:lstStyle/>
          <a:p>
            <a:pPr indent="0" marL="0">
              <a:buNone/>
            </a:pPr>
            <a:r>
              <a:rPr lang="en-US" sz="1100" i="1" dirty="0">
                <a:solidFill>
                  <a:srgbClr val="94A3B8"/>
                </a:solidFill>
                <a:latin typeface="Calibri" pitchFamily="34" charset="0"/>
                <a:ea typeface="Calibri" pitchFamily="34" charset="-122"/>
                <a:cs typeface="Calibri" pitchFamily="34" charset="-120"/>
              </a:rPr>
              <a:t>Excluded on purpose: the value of gig output itself, skills built, and cross-functional network effects. All real, none reliably measurable, none needed to make the case.</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66928" y="402336"/>
            <a:ext cx="11055096" cy="566928"/>
          </a:xfrm>
          <a:prstGeom prst="rect">
            <a:avLst/>
          </a:prstGeom>
          <a:noFill/>
          <a:ln/>
        </p:spPr>
        <p:txBody>
          <a:bodyPr wrap="square" lIns="0" tIns="0" rIns="0" bIns="0" rtlCol="0" anchor="ctr"/>
          <a:lstStyle/>
          <a:p>
            <a:pPr indent="0" marL="0">
              <a:buNone/>
            </a:pPr>
            <a:r>
              <a:rPr lang="en-US" sz="3300" b="1" dirty="0">
                <a:solidFill>
                  <a:srgbClr val="0F172A"/>
                </a:solidFill>
                <a:latin typeface="Cambria" pitchFamily="34" charset="0"/>
                <a:ea typeface="Cambria" pitchFamily="34" charset="-122"/>
                <a:cs typeface="Cambria" pitchFamily="34" charset="-120"/>
              </a:rPr>
              <a:t>Cost-benefit analysis</a:t>
            </a:r>
            <a:endParaRPr lang="en-US" sz="3300" dirty="0"/>
          </a:p>
        </p:txBody>
      </p:sp>
      <p:sp>
        <p:nvSpPr>
          <p:cNvPr id="3" name="Text 1"/>
          <p:cNvSpPr/>
          <p:nvPr/>
        </p:nvSpPr>
        <p:spPr>
          <a:xfrm>
            <a:off x="566928" y="1005840"/>
            <a:ext cx="11055096" cy="310896"/>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Three years, 10% discount rate. Year-1 benefit ramped to 40% for build and adoption.</a:t>
            </a:r>
            <a:endParaRPr lang="en-US" sz="1350" dirty="0"/>
          </a:p>
        </p:txBody>
      </p:sp>
      <p:sp>
        <p:nvSpPr>
          <p:cNvPr id="4" name="Shape 2"/>
          <p:cNvSpPr/>
          <p:nvPr/>
        </p:nvSpPr>
        <p:spPr>
          <a:xfrm>
            <a:off x="566928" y="1591056"/>
            <a:ext cx="11055096" cy="3310128"/>
          </a:xfrm>
          <a:prstGeom prst="roundRect">
            <a:avLst>
              <a:gd name="adj" fmla="val 2486"/>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5" name="Text 3"/>
          <p:cNvSpPr/>
          <p:nvPr/>
        </p:nvSpPr>
        <p:spPr>
          <a:xfrm>
            <a:off x="822960" y="1755648"/>
            <a:ext cx="3291840" cy="310896"/>
          </a:xfrm>
          <a:prstGeom prst="rect">
            <a:avLst/>
          </a:prstGeom>
          <a:noFill/>
          <a:ln/>
        </p:spPr>
        <p:txBody>
          <a:bodyPr wrap="square" lIns="0" tIns="0" rIns="0" bIns="0" rtlCol="0" anchor="ctr"/>
          <a:lstStyle/>
          <a:p>
            <a:pPr algn="l" indent="0" marL="0">
              <a:buNone/>
            </a:pPr>
            <a:r>
              <a:rPr lang="en-US" sz="1050" b="1" spc="60" kern="0" dirty="0">
                <a:solidFill>
                  <a:srgbClr val="94A3B8"/>
                </a:solidFill>
                <a:latin typeface="Calibri" pitchFamily="34" charset="0"/>
                <a:ea typeface="Calibri" pitchFamily="34" charset="-122"/>
                <a:cs typeface="Calibri" pitchFamily="34" charset="-120"/>
              </a:rPr>
              <a:t>Scenario</a:t>
            </a:r>
            <a:endParaRPr lang="en-US" sz="1050" dirty="0"/>
          </a:p>
        </p:txBody>
      </p:sp>
      <p:sp>
        <p:nvSpPr>
          <p:cNvPr id="6" name="Text 4"/>
          <p:cNvSpPr/>
          <p:nvPr/>
        </p:nvSpPr>
        <p:spPr>
          <a:xfrm>
            <a:off x="3657600" y="1755648"/>
            <a:ext cx="1417320" cy="310896"/>
          </a:xfrm>
          <a:prstGeom prst="rect">
            <a:avLst/>
          </a:prstGeom>
          <a:noFill/>
          <a:ln/>
        </p:spPr>
        <p:txBody>
          <a:bodyPr wrap="square" lIns="0" tIns="0" rIns="0" bIns="0" rtlCol="0" anchor="ctr"/>
          <a:lstStyle/>
          <a:p>
            <a:pPr algn="r" indent="0" marL="0">
              <a:buNone/>
            </a:pPr>
            <a:r>
              <a:rPr lang="en-US" sz="1050" b="1" spc="60" kern="0" dirty="0">
                <a:solidFill>
                  <a:srgbClr val="94A3B8"/>
                </a:solidFill>
                <a:latin typeface="Calibri" pitchFamily="34" charset="0"/>
                <a:ea typeface="Calibri" pitchFamily="34" charset="-122"/>
                <a:cs typeface="Calibri" pitchFamily="34" charset="-120"/>
              </a:rPr>
              <a:t>3-yr benefit</a:t>
            </a:r>
            <a:endParaRPr lang="en-US" sz="1050" dirty="0"/>
          </a:p>
        </p:txBody>
      </p:sp>
      <p:sp>
        <p:nvSpPr>
          <p:cNvPr id="7" name="Text 5"/>
          <p:cNvSpPr/>
          <p:nvPr/>
        </p:nvSpPr>
        <p:spPr>
          <a:xfrm>
            <a:off x="5166360" y="1755648"/>
            <a:ext cx="1280160" cy="310896"/>
          </a:xfrm>
          <a:prstGeom prst="rect">
            <a:avLst/>
          </a:prstGeom>
          <a:noFill/>
          <a:ln/>
        </p:spPr>
        <p:txBody>
          <a:bodyPr wrap="square" lIns="0" tIns="0" rIns="0" bIns="0" rtlCol="0" anchor="ctr"/>
          <a:lstStyle/>
          <a:p>
            <a:pPr algn="r" indent="0" marL="0">
              <a:buNone/>
            </a:pPr>
            <a:r>
              <a:rPr lang="en-US" sz="1050" b="1" spc="60" kern="0" dirty="0">
                <a:solidFill>
                  <a:srgbClr val="94A3B8"/>
                </a:solidFill>
                <a:latin typeface="Calibri" pitchFamily="34" charset="0"/>
                <a:ea typeface="Calibri" pitchFamily="34" charset="-122"/>
                <a:cs typeface="Calibri" pitchFamily="34" charset="-120"/>
              </a:rPr>
              <a:t>3-yr cost</a:t>
            </a:r>
            <a:endParaRPr lang="en-US" sz="1050" dirty="0"/>
          </a:p>
        </p:txBody>
      </p:sp>
      <p:sp>
        <p:nvSpPr>
          <p:cNvPr id="8" name="Text 6"/>
          <p:cNvSpPr/>
          <p:nvPr/>
        </p:nvSpPr>
        <p:spPr>
          <a:xfrm>
            <a:off x="6537960" y="1755648"/>
            <a:ext cx="1554480" cy="310896"/>
          </a:xfrm>
          <a:prstGeom prst="rect">
            <a:avLst/>
          </a:prstGeom>
          <a:noFill/>
          <a:ln/>
        </p:spPr>
        <p:txBody>
          <a:bodyPr wrap="square" lIns="0" tIns="0" rIns="0" bIns="0" rtlCol="0" anchor="ctr"/>
          <a:lstStyle/>
          <a:p>
            <a:pPr algn="r" indent="0" marL="0">
              <a:buNone/>
            </a:pPr>
            <a:r>
              <a:rPr lang="en-US" sz="1050" b="1" spc="60" kern="0" dirty="0">
                <a:solidFill>
                  <a:srgbClr val="94A3B8"/>
                </a:solidFill>
                <a:latin typeface="Calibri" pitchFamily="34" charset="0"/>
                <a:ea typeface="Calibri" pitchFamily="34" charset="-122"/>
                <a:cs typeface="Calibri" pitchFamily="34" charset="-120"/>
              </a:rPr>
              <a:t>Net</a:t>
            </a:r>
            <a:endParaRPr lang="en-US" sz="1050" dirty="0"/>
          </a:p>
        </p:txBody>
      </p:sp>
      <p:sp>
        <p:nvSpPr>
          <p:cNvPr id="9" name="Text 7"/>
          <p:cNvSpPr/>
          <p:nvPr/>
        </p:nvSpPr>
        <p:spPr>
          <a:xfrm>
            <a:off x="8183880" y="1755648"/>
            <a:ext cx="603504" cy="310896"/>
          </a:xfrm>
          <a:prstGeom prst="rect">
            <a:avLst/>
          </a:prstGeom>
          <a:noFill/>
          <a:ln/>
        </p:spPr>
        <p:txBody>
          <a:bodyPr wrap="square" lIns="0" tIns="0" rIns="0" bIns="0" rtlCol="0" anchor="ctr"/>
          <a:lstStyle/>
          <a:p>
            <a:pPr algn="r" indent="0" marL="0">
              <a:buNone/>
            </a:pPr>
            <a:r>
              <a:rPr lang="en-US" sz="1050" b="1" spc="60" kern="0" dirty="0">
                <a:solidFill>
                  <a:srgbClr val="94A3B8"/>
                </a:solidFill>
                <a:latin typeface="Calibri" pitchFamily="34" charset="0"/>
                <a:ea typeface="Calibri" pitchFamily="34" charset="-122"/>
                <a:cs typeface="Calibri" pitchFamily="34" charset="-120"/>
              </a:rPr>
              <a:t>BCR</a:t>
            </a:r>
            <a:endParaRPr lang="en-US" sz="1050" dirty="0"/>
          </a:p>
        </p:txBody>
      </p:sp>
      <p:sp>
        <p:nvSpPr>
          <p:cNvPr id="10" name="Text 8"/>
          <p:cNvSpPr/>
          <p:nvPr/>
        </p:nvSpPr>
        <p:spPr>
          <a:xfrm>
            <a:off x="8869680" y="1755648"/>
            <a:ext cx="1700784" cy="310896"/>
          </a:xfrm>
          <a:prstGeom prst="rect">
            <a:avLst/>
          </a:prstGeom>
          <a:noFill/>
          <a:ln/>
        </p:spPr>
        <p:txBody>
          <a:bodyPr wrap="square" lIns="0" tIns="0" rIns="0" bIns="0" rtlCol="0" anchor="ctr"/>
          <a:lstStyle/>
          <a:p>
            <a:pPr algn="r" indent="0" marL="0">
              <a:buNone/>
            </a:pPr>
            <a:r>
              <a:rPr lang="en-US" sz="1050" b="1" spc="60" kern="0" dirty="0">
                <a:solidFill>
                  <a:srgbClr val="94A3B8"/>
                </a:solidFill>
                <a:latin typeface="Calibri" pitchFamily="34" charset="0"/>
                <a:ea typeface="Calibri" pitchFamily="34" charset="-122"/>
                <a:cs typeface="Calibri" pitchFamily="34" charset="-120"/>
              </a:rPr>
              <a:t>NPV @10%</a:t>
            </a:r>
            <a:endParaRPr lang="en-US" sz="1050" dirty="0"/>
          </a:p>
        </p:txBody>
      </p:sp>
      <p:sp>
        <p:nvSpPr>
          <p:cNvPr id="11" name="Text 9"/>
          <p:cNvSpPr/>
          <p:nvPr/>
        </p:nvSpPr>
        <p:spPr>
          <a:xfrm>
            <a:off x="10652760" y="1755648"/>
            <a:ext cx="713232" cy="310896"/>
          </a:xfrm>
          <a:prstGeom prst="rect">
            <a:avLst/>
          </a:prstGeom>
          <a:noFill/>
          <a:ln/>
        </p:spPr>
        <p:txBody>
          <a:bodyPr wrap="square" lIns="0" tIns="0" rIns="0" bIns="0" rtlCol="0" anchor="ctr"/>
          <a:lstStyle/>
          <a:p>
            <a:pPr algn="r" indent="0" marL="0">
              <a:buNone/>
            </a:pPr>
            <a:r>
              <a:rPr lang="en-US" sz="1050" b="1" spc="60" kern="0" dirty="0">
                <a:solidFill>
                  <a:srgbClr val="94A3B8"/>
                </a:solidFill>
                <a:latin typeface="Calibri" pitchFamily="34" charset="0"/>
                <a:ea typeface="Calibri" pitchFamily="34" charset="-122"/>
                <a:cs typeface="Calibri" pitchFamily="34" charset="-120"/>
              </a:rPr>
              <a:t>Payback</a:t>
            </a:r>
            <a:endParaRPr lang="en-US" sz="1050" dirty="0"/>
          </a:p>
        </p:txBody>
      </p:sp>
      <p:sp>
        <p:nvSpPr>
          <p:cNvPr id="12" name="Shape 10"/>
          <p:cNvSpPr/>
          <p:nvPr/>
        </p:nvSpPr>
        <p:spPr>
          <a:xfrm>
            <a:off x="822960" y="2139696"/>
            <a:ext cx="10543032" cy="0"/>
          </a:xfrm>
          <a:prstGeom prst="line">
            <a:avLst/>
          </a:prstGeom>
          <a:noFill/>
          <a:ln w="12700">
            <a:solidFill>
              <a:srgbClr val="E2E8F0"/>
            </a:solidFill>
            <a:prstDash val="solid"/>
          </a:ln>
        </p:spPr>
      </p:sp>
      <p:sp>
        <p:nvSpPr>
          <p:cNvPr id="13" name="Text 11"/>
          <p:cNvSpPr/>
          <p:nvPr/>
        </p:nvSpPr>
        <p:spPr>
          <a:xfrm>
            <a:off x="822960" y="2231136"/>
            <a:ext cx="3291840" cy="402336"/>
          </a:xfrm>
          <a:prstGeom prst="rect">
            <a:avLst/>
          </a:prstGeom>
          <a:noFill/>
          <a:ln/>
        </p:spPr>
        <p:txBody>
          <a:bodyPr wrap="square" lIns="0" tIns="0" rIns="0" bIns="0" rtlCol="0" anchor="ctr"/>
          <a:lstStyle/>
          <a:p>
            <a:pPr algn="l" indent="0" marL="0">
              <a:buNone/>
            </a:pPr>
            <a:r>
              <a:rPr lang="en-US" sz="1200" dirty="0">
                <a:solidFill>
                  <a:srgbClr val="64748B"/>
                </a:solidFill>
                <a:latin typeface="Calibri" pitchFamily="34" charset="0"/>
                <a:ea typeface="Calibri" pitchFamily="34" charset="-122"/>
                <a:cs typeface="Calibri" pitchFamily="34" charset="-120"/>
              </a:rPr>
              <a:t>Conservative — 2 hires/yr</a:t>
            </a:r>
            <a:endParaRPr lang="en-US" sz="1200" dirty="0"/>
          </a:p>
        </p:txBody>
      </p:sp>
      <p:sp>
        <p:nvSpPr>
          <p:cNvPr id="14" name="Text 12"/>
          <p:cNvSpPr/>
          <p:nvPr/>
        </p:nvSpPr>
        <p:spPr>
          <a:xfrm>
            <a:off x="3657600" y="2231136"/>
            <a:ext cx="1417320"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₱5,118,277</a:t>
            </a:r>
            <a:endParaRPr lang="en-US" sz="1200" dirty="0"/>
          </a:p>
        </p:txBody>
      </p:sp>
      <p:sp>
        <p:nvSpPr>
          <p:cNvPr id="15" name="Text 13"/>
          <p:cNvSpPr/>
          <p:nvPr/>
        </p:nvSpPr>
        <p:spPr>
          <a:xfrm>
            <a:off x="5166360" y="2231136"/>
            <a:ext cx="1280160"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₱1,050,375</a:t>
            </a:r>
            <a:endParaRPr lang="en-US" sz="1200" dirty="0"/>
          </a:p>
        </p:txBody>
      </p:sp>
      <p:sp>
        <p:nvSpPr>
          <p:cNvPr id="16" name="Text 14"/>
          <p:cNvSpPr/>
          <p:nvPr/>
        </p:nvSpPr>
        <p:spPr>
          <a:xfrm>
            <a:off x="6537960" y="2231136"/>
            <a:ext cx="1554480"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₱4,067,902</a:t>
            </a:r>
            <a:endParaRPr lang="en-US" sz="1200" dirty="0"/>
          </a:p>
        </p:txBody>
      </p:sp>
      <p:sp>
        <p:nvSpPr>
          <p:cNvPr id="17" name="Text 15"/>
          <p:cNvSpPr/>
          <p:nvPr/>
        </p:nvSpPr>
        <p:spPr>
          <a:xfrm>
            <a:off x="8183880" y="2231136"/>
            <a:ext cx="603504" cy="402336"/>
          </a:xfrm>
          <a:prstGeom prst="rect">
            <a:avLst/>
          </a:prstGeom>
          <a:noFill/>
          <a:ln/>
        </p:spPr>
        <p:txBody>
          <a:bodyPr wrap="square" lIns="0" tIns="0" rIns="0" bIns="0" rtlCol="0" anchor="ctr"/>
          <a:lstStyle/>
          <a:p>
            <a:pPr algn="r" indent="0" marL="0">
              <a:buNone/>
            </a:pPr>
            <a:r>
              <a:rPr lang="en-US" sz="1200" b="1" dirty="0">
                <a:solidFill>
                  <a:srgbClr val="0F172A"/>
                </a:solidFill>
                <a:latin typeface="Cambria" pitchFamily="34" charset="0"/>
                <a:ea typeface="Cambria" pitchFamily="34" charset="-122"/>
                <a:cs typeface="Cambria" pitchFamily="34" charset="-120"/>
              </a:rPr>
              <a:t>4.9</a:t>
            </a:r>
            <a:endParaRPr lang="en-US" sz="1200" dirty="0"/>
          </a:p>
        </p:txBody>
      </p:sp>
      <p:sp>
        <p:nvSpPr>
          <p:cNvPr id="18" name="Text 16"/>
          <p:cNvSpPr/>
          <p:nvPr/>
        </p:nvSpPr>
        <p:spPr>
          <a:xfrm>
            <a:off x="8869680" y="2231136"/>
            <a:ext cx="1700784"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₱3,213,452</a:t>
            </a:r>
            <a:endParaRPr lang="en-US" sz="1200" dirty="0"/>
          </a:p>
        </p:txBody>
      </p:sp>
      <p:sp>
        <p:nvSpPr>
          <p:cNvPr id="19" name="Text 17"/>
          <p:cNvSpPr/>
          <p:nvPr/>
        </p:nvSpPr>
        <p:spPr>
          <a:xfrm>
            <a:off x="10652760" y="2231136"/>
            <a:ext cx="713232"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12 mo</a:t>
            </a:r>
            <a:endParaRPr lang="en-US" sz="1200" dirty="0"/>
          </a:p>
        </p:txBody>
      </p:sp>
      <p:sp>
        <p:nvSpPr>
          <p:cNvPr id="20" name="Shape 18"/>
          <p:cNvSpPr/>
          <p:nvPr/>
        </p:nvSpPr>
        <p:spPr>
          <a:xfrm>
            <a:off x="694944" y="2715768"/>
            <a:ext cx="10799064" cy="457200"/>
          </a:xfrm>
          <a:prstGeom prst="roundRect">
            <a:avLst>
              <a:gd name="adj" fmla="val 12000"/>
            </a:avLst>
          </a:prstGeom>
          <a:solidFill>
            <a:srgbClr val="FEF2F2"/>
          </a:solidFill>
          <a:ln w="12700">
            <a:solidFill>
              <a:srgbClr val="FEF2F2"/>
            </a:solidFill>
            <a:prstDash val="solid"/>
          </a:ln>
        </p:spPr>
      </p:sp>
      <p:sp>
        <p:nvSpPr>
          <p:cNvPr id="21" name="Text 19"/>
          <p:cNvSpPr/>
          <p:nvPr/>
        </p:nvSpPr>
        <p:spPr>
          <a:xfrm>
            <a:off x="822960" y="2743200"/>
            <a:ext cx="3291840" cy="402336"/>
          </a:xfrm>
          <a:prstGeom prst="rect">
            <a:avLst/>
          </a:prstGeom>
          <a:noFill/>
          <a:ln/>
        </p:spPr>
        <p:txBody>
          <a:bodyPr wrap="square" lIns="0" tIns="0" rIns="0" bIns="0" rtlCol="0" anchor="ctr"/>
          <a:lstStyle/>
          <a:p>
            <a:pPr algn="l" indent="0" marL="0">
              <a:buNone/>
            </a:pPr>
            <a:r>
              <a:rPr lang="en-US" sz="1300" b="1" dirty="0">
                <a:solidFill>
                  <a:srgbClr val="0F172A"/>
                </a:solidFill>
                <a:latin typeface="Calibri" pitchFamily="34" charset="0"/>
                <a:ea typeface="Calibri" pitchFamily="34" charset="-122"/>
                <a:cs typeface="Calibri" pitchFamily="34" charset="-120"/>
              </a:rPr>
              <a:t>Base — 4 hires/yr</a:t>
            </a:r>
            <a:endParaRPr lang="en-US" sz="1300" dirty="0"/>
          </a:p>
        </p:txBody>
      </p:sp>
      <p:sp>
        <p:nvSpPr>
          <p:cNvPr id="22" name="Text 20"/>
          <p:cNvSpPr/>
          <p:nvPr/>
        </p:nvSpPr>
        <p:spPr>
          <a:xfrm>
            <a:off x="3657600" y="2743200"/>
            <a:ext cx="1417320" cy="402336"/>
          </a:xfrm>
          <a:prstGeom prst="rect">
            <a:avLst/>
          </a:prstGeom>
          <a:noFill/>
          <a:ln/>
        </p:spPr>
        <p:txBody>
          <a:bodyPr wrap="square" lIns="0" tIns="0" rIns="0" bIns="0" rtlCol="0" anchor="ctr"/>
          <a:lstStyle/>
          <a:p>
            <a:pPr algn="r" indent="0" marL="0">
              <a:buNone/>
            </a:pPr>
            <a:r>
              <a:rPr lang="en-US" sz="1300" b="1" dirty="0">
                <a:solidFill>
                  <a:srgbClr val="0F172A"/>
                </a:solidFill>
                <a:latin typeface="Cambria" pitchFamily="34" charset="0"/>
                <a:ea typeface="Cambria" pitchFamily="34" charset="-122"/>
                <a:cs typeface="Cambria" pitchFamily="34" charset="-120"/>
              </a:rPr>
              <a:t>₱7,126,154</a:t>
            </a:r>
            <a:endParaRPr lang="en-US" sz="1300" dirty="0"/>
          </a:p>
        </p:txBody>
      </p:sp>
      <p:sp>
        <p:nvSpPr>
          <p:cNvPr id="23" name="Text 21"/>
          <p:cNvSpPr/>
          <p:nvPr/>
        </p:nvSpPr>
        <p:spPr>
          <a:xfrm>
            <a:off x="5166360" y="2743200"/>
            <a:ext cx="1280160" cy="402336"/>
          </a:xfrm>
          <a:prstGeom prst="rect">
            <a:avLst/>
          </a:prstGeom>
          <a:noFill/>
          <a:ln/>
        </p:spPr>
        <p:txBody>
          <a:bodyPr wrap="square" lIns="0" tIns="0" rIns="0" bIns="0" rtlCol="0" anchor="ctr"/>
          <a:lstStyle/>
          <a:p>
            <a:pPr algn="r" indent="0" marL="0">
              <a:buNone/>
            </a:pPr>
            <a:r>
              <a:rPr lang="en-US" sz="1300" b="1" dirty="0">
                <a:solidFill>
                  <a:srgbClr val="0F172A"/>
                </a:solidFill>
                <a:latin typeface="Cambria" pitchFamily="34" charset="0"/>
                <a:ea typeface="Cambria" pitchFamily="34" charset="-122"/>
                <a:cs typeface="Cambria" pitchFamily="34" charset="-120"/>
              </a:rPr>
              <a:t>₱1,050,375</a:t>
            </a:r>
            <a:endParaRPr lang="en-US" sz="1300" dirty="0"/>
          </a:p>
        </p:txBody>
      </p:sp>
      <p:sp>
        <p:nvSpPr>
          <p:cNvPr id="24" name="Text 22"/>
          <p:cNvSpPr/>
          <p:nvPr/>
        </p:nvSpPr>
        <p:spPr>
          <a:xfrm>
            <a:off x="6537960" y="2743200"/>
            <a:ext cx="1554480" cy="402336"/>
          </a:xfrm>
          <a:prstGeom prst="rect">
            <a:avLst/>
          </a:prstGeom>
          <a:noFill/>
          <a:ln/>
        </p:spPr>
        <p:txBody>
          <a:bodyPr wrap="square" lIns="0" tIns="0" rIns="0" bIns="0" rtlCol="0" anchor="ctr"/>
          <a:lstStyle/>
          <a:p>
            <a:pPr algn="r" indent="0" marL="0">
              <a:buNone/>
            </a:pPr>
            <a:r>
              <a:rPr lang="en-US" sz="1300" b="1" dirty="0">
                <a:solidFill>
                  <a:srgbClr val="0F172A"/>
                </a:solidFill>
                <a:latin typeface="Cambria" pitchFamily="34" charset="0"/>
                <a:ea typeface="Cambria" pitchFamily="34" charset="-122"/>
                <a:cs typeface="Cambria" pitchFamily="34" charset="-120"/>
              </a:rPr>
              <a:t>₱6,075,779</a:t>
            </a:r>
            <a:endParaRPr lang="en-US" sz="1300" dirty="0"/>
          </a:p>
        </p:txBody>
      </p:sp>
      <p:sp>
        <p:nvSpPr>
          <p:cNvPr id="25" name="Text 23"/>
          <p:cNvSpPr/>
          <p:nvPr/>
        </p:nvSpPr>
        <p:spPr>
          <a:xfrm>
            <a:off x="8183880" y="2743200"/>
            <a:ext cx="603504" cy="402336"/>
          </a:xfrm>
          <a:prstGeom prst="rect">
            <a:avLst/>
          </a:prstGeom>
          <a:noFill/>
          <a:ln/>
        </p:spPr>
        <p:txBody>
          <a:bodyPr wrap="square" lIns="0" tIns="0" rIns="0" bIns="0" rtlCol="0" anchor="ctr"/>
          <a:lstStyle/>
          <a:p>
            <a:pPr algn="r" indent="0" marL="0">
              <a:buNone/>
            </a:pPr>
            <a:r>
              <a:rPr lang="en-US" sz="1300" b="1" dirty="0">
                <a:solidFill>
                  <a:srgbClr val="C00000"/>
                </a:solidFill>
                <a:latin typeface="Cambria" pitchFamily="34" charset="0"/>
                <a:ea typeface="Cambria" pitchFamily="34" charset="-122"/>
                <a:cs typeface="Cambria" pitchFamily="34" charset="-120"/>
              </a:rPr>
              <a:t>6.8</a:t>
            </a:r>
            <a:endParaRPr lang="en-US" sz="1300" dirty="0"/>
          </a:p>
        </p:txBody>
      </p:sp>
      <p:sp>
        <p:nvSpPr>
          <p:cNvPr id="26" name="Text 24"/>
          <p:cNvSpPr/>
          <p:nvPr/>
        </p:nvSpPr>
        <p:spPr>
          <a:xfrm>
            <a:off x="8869680" y="2743200"/>
            <a:ext cx="1700784" cy="402336"/>
          </a:xfrm>
          <a:prstGeom prst="rect">
            <a:avLst/>
          </a:prstGeom>
          <a:noFill/>
          <a:ln/>
        </p:spPr>
        <p:txBody>
          <a:bodyPr wrap="square" lIns="0" tIns="0" rIns="0" bIns="0" rtlCol="0" anchor="ctr"/>
          <a:lstStyle/>
          <a:p>
            <a:pPr algn="r" indent="0" marL="0">
              <a:buNone/>
            </a:pPr>
            <a:r>
              <a:rPr lang="en-US" sz="1300" b="1" dirty="0">
                <a:solidFill>
                  <a:srgbClr val="0F172A"/>
                </a:solidFill>
                <a:latin typeface="Cambria" pitchFamily="34" charset="0"/>
                <a:ea typeface="Cambria" pitchFamily="34" charset="-122"/>
                <a:cs typeface="Cambria" pitchFamily="34" charset="-120"/>
              </a:rPr>
              <a:t>₱4,837,655</a:t>
            </a:r>
            <a:endParaRPr lang="en-US" sz="1300" dirty="0"/>
          </a:p>
        </p:txBody>
      </p:sp>
      <p:sp>
        <p:nvSpPr>
          <p:cNvPr id="27" name="Text 25"/>
          <p:cNvSpPr/>
          <p:nvPr/>
        </p:nvSpPr>
        <p:spPr>
          <a:xfrm>
            <a:off x="10652760" y="2743200"/>
            <a:ext cx="713232" cy="402336"/>
          </a:xfrm>
          <a:prstGeom prst="rect">
            <a:avLst/>
          </a:prstGeom>
          <a:noFill/>
          <a:ln/>
        </p:spPr>
        <p:txBody>
          <a:bodyPr wrap="square" lIns="0" tIns="0" rIns="0" bIns="0" rtlCol="0" anchor="ctr"/>
          <a:lstStyle/>
          <a:p>
            <a:pPr algn="r" indent="0" marL="0">
              <a:buNone/>
            </a:pPr>
            <a:r>
              <a:rPr lang="en-US" sz="1300" b="1" dirty="0">
                <a:solidFill>
                  <a:srgbClr val="0F172A"/>
                </a:solidFill>
                <a:latin typeface="Cambria" pitchFamily="34" charset="0"/>
                <a:ea typeface="Cambria" pitchFamily="34" charset="-122"/>
                <a:cs typeface="Cambria" pitchFamily="34" charset="-120"/>
              </a:rPr>
              <a:t>9 mo</a:t>
            </a:r>
            <a:endParaRPr lang="en-US" sz="1300" dirty="0"/>
          </a:p>
        </p:txBody>
      </p:sp>
      <p:sp>
        <p:nvSpPr>
          <p:cNvPr id="28" name="Text 26"/>
          <p:cNvSpPr/>
          <p:nvPr/>
        </p:nvSpPr>
        <p:spPr>
          <a:xfrm>
            <a:off x="822960" y="3255264"/>
            <a:ext cx="3291840" cy="402336"/>
          </a:xfrm>
          <a:prstGeom prst="rect">
            <a:avLst/>
          </a:prstGeom>
          <a:noFill/>
          <a:ln/>
        </p:spPr>
        <p:txBody>
          <a:bodyPr wrap="square" lIns="0" tIns="0" rIns="0" bIns="0" rtlCol="0" anchor="ctr"/>
          <a:lstStyle/>
          <a:p>
            <a:pPr algn="l" indent="0" marL="0">
              <a:buNone/>
            </a:pPr>
            <a:r>
              <a:rPr lang="en-US" sz="1200" dirty="0">
                <a:solidFill>
                  <a:srgbClr val="64748B"/>
                </a:solidFill>
                <a:latin typeface="Calibri" pitchFamily="34" charset="0"/>
                <a:ea typeface="Calibri" pitchFamily="34" charset="-122"/>
                <a:cs typeface="Calibri" pitchFamily="34" charset="-120"/>
              </a:rPr>
              <a:t>Optimistic — 7 hires/yr</a:t>
            </a:r>
            <a:endParaRPr lang="en-US" sz="1200" dirty="0"/>
          </a:p>
        </p:txBody>
      </p:sp>
      <p:sp>
        <p:nvSpPr>
          <p:cNvPr id="29" name="Text 27"/>
          <p:cNvSpPr/>
          <p:nvPr/>
        </p:nvSpPr>
        <p:spPr>
          <a:xfrm>
            <a:off x="3657600" y="3255264"/>
            <a:ext cx="1417320"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₱10,137,969</a:t>
            </a:r>
            <a:endParaRPr lang="en-US" sz="1200" dirty="0"/>
          </a:p>
        </p:txBody>
      </p:sp>
      <p:sp>
        <p:nvSpPr>
          <p:cNvPr id="30" name="Text 28"/>
          <p:cNvSpPr/>
          <p:nvPr/>
        </p:nvSpPr>
        <p:spPr>
          <a:xfrm>
            <a:off x="5166360" y="3255264"/>
            <a:ext cx="1280160"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₱1,050,375</a:t>
            </a:r>
            <a:endParaRPr lang="en-US" sz="1200" dirty="0"/>
          </a:p>
        </p:txBody>
      </p:sp>
      <p:sp>
        <p:nvSpPr>
          <p:cNvPr id="31" name="Text 29"/>
          <p:cNvSpPr/>
          <p:nvPr/>
        </p:nvSpPr>
        <p:spPr>
          <a:xfrm>
            <a:off x="6537960" y="3255264"/>
            <a:ext cx="1554480"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₱9,087,594</a:t>
            </a:r>
            <a:endParaRPr lang="en-US" sz="1200" dirty="0"/>
          </a:p>
        </p:txBody>
      </p:sp>
      <p:sp>
        <p:nvSpPr>
          <p:cNvPr id="32" name="Text 30"/>
          <p:cNvSpPr/>
          <p:nvPr/>
        </p:nvSpPr>
        <p:spPr>
          <a:xfrm>
            <a:off x="8183880" y="3255264"/>
            <a:ext cx="603504" cy="402336"/>
          </a:xfrm>
          <a:prstGeom prst="rect">
            <a:avLst/>
          </a:prstGeom>
          <a:noFill/>
          <a:ln/>
        </p:spPr>
        <p:txBody>
          <a:bodyPr wrap="square" lIns="0" tIns="0" rIns="0" bIns="0" rtlCol="0" anchor="ctr"/>
          <a:lstStyle/>
          <a:p>
            <a:pPr algn="r" indent="0" marL="0">
              <a:buNone/>
            </a:pPr>
            <a:r>
              <a:rPr lang="en-US" sz="1200" b="1" dirty="0">
                <a:solidFill>
                  <a:srgbClr val="0F172A"/>
                </a:solidFill>
                <a:latin typeface="Cambria" pitchFamily="34" charset="0"/>
                <a:ea typeface="Cambria" pitchFamily="34" charset="-122"/>
                <a:cs typeface="Cambria" pitchFamily="34" charset="-120"/>
              </a:rPr>
              <a:t>9.7</a:t>
            </a:r>
            <a:endParaRPr lang="en-US" sz="1200" dirty="0"/>
          </a:p>
        </p:txBody>
      </p:sp>
      <p:sp>
        <p:nvSpPr>
          <p:cNvPr id="33" name="Text 31"/>
          <p:cNvSpPr/>
          <p:nvPr/>
        </p:nvSpPr>
        <p:spPr>
          <a:xfrm>
            <a:off x="8869680" y="3255264"/>
            <a:ext cx="1700784"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₱7,273,959</a:t>
            </a:r>
            <a:endParaRPr lang="en-US" sz="1200" dirty="0"/>
          </a:p>
        </p:txBody>
      </p:sp>
      <p:sp>
        <p:nvSpPr>
          <p:cNvPr id="34" name="Text 32"/>
          <p:cNvSpPr/>
          <p:nvPr/>
        </p:nvSpPr>
        <p:spPr>
          <a:xfrm>
            <a:off x="10652760" y="3255264"/>
            <a:ext cx="713232"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7 mo</a:t>
            </a:r>
            <a:endParaRPr lang="en-US" sz="1200" dirty="0"/>
          </a:p>
        </p:txBody>
      </p:sp>
      <p:sp>
        <p:nvSpPr>
          <p:cNvPr id="35" name="Shape 33"/>
          <p:cNvSpPr/>
          <p:nvPr/>
        </p:nvSpPr>
        <p:spPr>
          <a:xfrm>
            <a:off x="822960" y="3730752"/>
            <a:ext cx="10543032" cy="0"/>
          </a:xfrm>
          <a:prstGeom prst="line">
            <a:avLst/>
          </a:prstGeom>
          <a:noFill/>
          <a:ln w="12700">
            <a:solidFill>
              <a:srgbClr val="E2E8F0"/>
            </a:solidFill>
            <a:prstDash val="solid"/>
          </a:ln>
        </p:spPr>
      </p:sp>
      <p:sp>
        <p:nvSpPr>
          <p:cNvPr id="36" name="Text 34"/>
          <p:cNvSpPr/>
          <p:nvPr/>
        </p:nvSpPr>
        <p:spPr>
          <a:xfrm>
            <a:off x="822960" y="3767328"/>
            <a:ext cx="3291840" cy="402336"/>
          </a:xfrm>
          <a:prstGeom prst="rect">
            <a:avLst/>
          </a:prstGeom>
          <a:noFill/>
          <a:ln/>
        </p:spPr>
        <p:txBody>
          <a:bodyPr wrap="square" lIns="0" tIns="0" rIns="0" bIns="0" rtlCol="0" anchor="ctr"/>
          <a:lstStyle/>
          <a:p>
            <a:pPr algn="l" indent="0" marL="0">
              <a:buNone/>
            </a:pPr>
            <a:r>
              <a:rPr lang="en-US" sz="1200" i="1" dirty="0">
                <a:solidFill>
                  <a:srgbClr val="64748B"/>
                </a:solidFill>
                <a:latin typeface="Calibri" pitchFamily="34" charset="0"/>
                <a:ea typeface="Calibri" pitchFamily="34" charset="-122"/>
                <a:cs typeface="Calibri" pitchFamily="34" charset="-120"/>
              </a:rPr>
              <a:t>Retention excluded entirely</a:t>
            </a:r>
            <a:endParaRPr lang="en-US" sz="1200" dirty="0"/>
          </a:p>
        </p:txBody>
      </p:sp>
      <p:sp>
        <p:nvSpPr>
          <p:cNvPr id="37" name="Text 35"/>
          <p:cNvSpPr/>
          <p:nvPr/>
        </p:nvSpPr>
        <p:spPr>
          <a:xfrm>
            <a:off x="3657600" y="3767328"/>
            <a:ext cx="1417320"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₱4,015,754</a:t>
            </a:r>
            <a:endParaRPr lang="en-US" sz="1200" dirty="0"/>
          </a:p>
        </p:txBody>
      </p:sp>
      <p:sp>
        <p:nvSpPr>
          <p:cNvPr id="38" name="Text 36"/>
          <p:cNvSpPr/>
          <p:nvPr/>
        </p:nvSpPr>
        <p:spPr>
          <a:xfrm>
            <a:off x="5166360" y="3767328"/>
            <a:ext cx="1280160"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₱1,050,375</a:t>
            </a:r>
            <a:endParaRPr lang="en-US" sz="1200" dirty="0"/>
          </a:p>
        </p:txBody>
      </p:sp>
      <p:sp>
        <p:nvSpPr>
          <p:cNvPr id="39" name="Text 37"/>
          <p:cNvSpPr/>
          <p:nvPr/>
        </p:nvSpPr>
        <p:spPr>
          <a:xfrm>
            <a:off x="6537960" y="3767328"/>
            <a:ext cx="1554480"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₱2,965,379</a:t>
            </a:r>
            <a:endParaRPr lang="en-US" sz="1200" dirty="0"/>
          </a:p>
        </p:txBody>
      </p:sp>
      <p:sp>
        <p:nvSpPr>
          <p:cNvPr id="40" name="Text 38"/>
          <p:cNvSpPr/>
          <p:nvPr/>
        </p:nvSpPr>
        <p:spPr>
          <a:xfrm>
            <a:off x="8183880" y="3767328"/>
            <a:ext cx="603504" cy="402336"/>
          </a:xfrm>
          <a:prstGeom prst="rect">
            <a:avLst/>
          </a:prstGeom>
          <a:noFill/>
          <a:ln/>
        </p:spPr>
        <p:txBody>
          <a:bodyPr wrap="square" lIns="0" tIns="0" rIns="0" bIns="0" rtlCol="0" anchor="ctr"/>
          <a:lstStyle/>
          <a:p>
            <a:pPr algn="r" indent="0" marL="0">
              <a:buNone/>
            </a:pPr>
            <a:r>
              <a:rPr lang="en-US" sz="1200" b="1" dirty="0">
                <a:solidFill>
                  <a:srgbClr val="64748B"/>
                </a:solidFill>
                <a:latin typeface="Cambria" pitchFamily="34" charset="0"/>
                <a:ea typeface="Cambria" pitchFamily="34" charset="-122"/>
                <a:cs typeface="Cambria" pitchFamily="34" charset="-120"/>
              </a:rPr>
              <a:t>3.8</a:t>
            </a:r>
            <a:endParaRPr lang="en-US" sz="1200" dirty="0"/>
          </a:p>
        </p:txBody>
      </p:sp>
      <p:sp>
        <p:nvSpPr>
          <p:cNvPr id="41" name="Text 39"/>
          <p:cNvSpPr/>
          <p:nvPr/>
        </p:nvSpPr>
        <p:spPr>
          <a:xfrm>
            <a:off x="8869680" y="3767328"/>
            <a:ext cx="1700784"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₱2,321,604</a:t>
            </a:r>
            <a:endParaRPr lang="en-US" sz="1200" dirty="0"/>
          </a:p>
        </p:txBody>
      </p:sp>
      <p:sp>
        <p:nvSpPr>
          <p:cNvPr id="42" name="Text 40"/>
          <p:cNvSpPr/>
          <p:nvPr/>
        </p:nvSpPr>
        <p:spPr>
          <a:xfrm>
            <a:off x="10652760" y="3767328"/>
            <a:ext cx="713232"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14 mo</a:t>
            </a:r>
            <a:endParaRPr lang="en-US" sz="1200" dirty="0"/>
          </a:p>
        </p:txBody>
      </p:sp>
      <p:sp>
        <p:nvSpPr>
          <p:cNvPr id="43" name="Text 41"/>
          <p:cNvSpPr/>
          <p:nvPr/>
        </p:nvSpPr>
        <p:spPr>
          <a:xfrm>
            <a:off x="822960" y="4279392"/>
            <a:ext cx="3291840" cy="402336"/>
          </a:xfrm>
          <a:prstGeom prst="rect">
            <a:avLst/>
          </a:prstGeom>
          <a:noFill/>
          <a:ln/>
        </p:spPr>
        <p:txBody>
          <a:bodyPr wrap="square" lIns="0" tIns="0" rIns="0" bIns="0" rtlCol="0" anchor="ctr"/>
          <a:lstStyle/>
          <a:p>
            <a:pPr algn="l" indent="0" marL="0">
              <a:buNone/>
            </a:pPr>
            <a:r>
              <a:rPr lang="en-US" sz="1200" i="1" dirty="0">
                <a:solidFill>
                  <a:srgbClr val="64748B"/>
                </a:solidFill>
                <a:latin typeface="Calibri" pitchFamily="34" charset="0"/>
                <a:ea typeface="Calibri" pitchFamily="34" charset="-122"/>
                <a:cs typeface="Calibri" pitchFamily="34" charset="-120"/>
              </a:rPr>
              <a:t>Retention only, zero hires</a:t>
            </a:r>
            <a:endParaRPr lang="en-US" sz="1200" dirty="0"/>
          </a:p>
        </p:txBody>
      </p:sp>
      <p:sp>
        <p:nvSpPr>
          <p:cNvPr id="44" name="Text 42"/>
          <p:cNvSpPr/>
          <p:nvPr/>
        </p:nvSpPr>
        <p:spPr>
          <a:xfrm>
            <a:off x="3657600" y="4279392"/>
            <a:ext cx="1417320"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₱3,110,400</a:t>
            </a:r>
            <a:endParaRPr lang="en-US" sz="1200" dirty="0"/>
          </a:p>
        </p:txBody>
      </p:sp>
      <p:sp>
        <p:nvSpPr>
          <p:cNvPr id="45" name="Text 43"/>
          <p:cNvSpPr/>
          <p:nvPr/>
        </p:nvSpPr>
        <p:spPr>
          <a:xfrm>
            <a:off x="5166360" y="4279392"/>
            <a:ext cx="1280160"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₱1,050,375</a:t>
            </a:r>
            <a:endParaRPr lang="en-US" sz="1200" dirty="0"/>
          </a:p>
        </p:txBody>
      </p:sp>
      <p:sp>
        <p:nvSpPr>
          <p:cNvPr id="46" name="Text 44"/>
          <p:cNvSpPr/>
          <p:nvPr/>
        </p:nvSpPr>
        <p:spPr>
          <a:xfrm>
            <a:off x="6537960" y="4279392"/>
            <a:ext cx="1554480"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₱2,060,025</a:t>
            </a:r>
            <a:endParaRPr lang="en-US" sz="1200" dirty="0"/>
          </a:p>
        </p:txBody>
      </p:sp>
      <p:sp>
        <p:nvSpPr>
          <p:cNvPr id="47" name="Text 45"/>
          <p:cNvSpPr/>
          <p:nvPr/>
        </p:nvSpPr>
        <p:spPr>
          <a:xfrm>
            <a:off x="8183880" y="4279392"/>
            <a:ext cx="603504" cy="402336"/>
          </a:xfrm>
          <a:prstGeom prst="rect">
            <a:avLst/>
          </a:prstGeom>
          <a:noFill/>
          <a:ln/>
        </p:spPr>
        <p:txBody>
          <a:bodyPr wrap="square" lIns="0" tIns="0" rIns="0" bIns="0" rtlCol="0" anchor="ctr"/>
          <a:lstStyle/>
          <a:p>
            <a:pPr algn="r" indent="0" marL="0">
              <a:buNone/>
            </a:pPr>
            <a:r>
              <a:rPr lang="en-US" sz="1200" b="1" dirty="0">
                <a:solidFill>
                  <a:srgbClr val="64748B"/>
                </a:solidFill>
                <a:latin typeface="Cambria" pitchFamily="34" charset="0"/>
                <a:ea typeface="Cambria" pitchFamily="34" charset="-122"/>
                <a:cs typeface="Cambria" pitchFamily="34" charset="-120"/>
              </a:rPr>
              <a:t>3.0</a:t>
            </a:r>
            <a:endParaRPr lang="en-US" sz="1200" dirty="0"/>
          </a:p>
        </p:txBody>
      </p:sp>
      <p:sp>
        <p:nvSpPr>
          <p:cNvPr id="48" name="Text 46"/>
          <p:cNvSpPr/>
          <p:nvPr/>
        </p:nvSpPr>
        <p:spPr>
          <a:xfrm>
            <a:off x="8869680" y="4279392"/>
            <a:ext cx="1700784"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₱1,589,249</a:t>
            </a:r>
            <a:endParaRPr lang="en-US" sz="1200" dirty="0"/>
          </a:p>
        </p:txBody>
      </p:sp>
      <p:sp>
        <p:nvSpPr>
          <p:cNvPr id="49" name="Text 47"/>
          <p:cNvSpPr/>
          <p:nvPr/>
        </p:nvSpPr>
        <p:spPr>
          <a:xfrm>
            <a:off x="10652760" y="4279392"/>
            <a:ext cx="713232" cy="402336"/>
          </a:xfrm>
          <a:prstGeom prst="rect">
            <a:avLst/>
          </a:prstGeom>
          <a:noFill/>
          <a:ln/>
        </p:spPr>
        <p:txBody>
          <a:bodyPr wrap="square" lIns="0" tIns="0" rIns="0" bIns="0" rtlCol="0" anchor="ctr"/>
          <a:lstStyle/>
          <a:p>
            <a:pPr algn="r" indent="0" marL="0">
              <a:buNone/>
            </a:pPr>
            <a:r>
              <a:rPr lang="en-US" sz="1200" dirty="0">
                <a:solidFill>
                  <a:srgbClr val="64748B"/>
                </a:solidFill>
                <a:latin typeface="Cambria" pitchFamily="34" charset="0"/>
                <a:ea typeface="Cambria" pitchFamily="34" charset="-122"/>
                <a:cs typeface="Cambria" pitchFamily="34" charset="-120"/>
              </a:rPr>
              <a:t>16 mo</a:t>
            </a:r>
            <a:endParaRPr lang="en-US" sz="1200" dirty="0"/>
          </a:p>
        </p:txBody>
      </p:sp>
      <p:sp>
        <p:nvSpPr>
          <p:cNvPr id="50" name="Shape 48"/>
          <p:cNvSpPr/>
          <p:nvPr/>
        </p:nvSpPr>
        <p:spPr>
          <a:xfrm>
            <a:off x="566928" y="5084064"/>
            <a:ext cx="11055096" cy="1170432"/>
          </a:xfrm>
          <a:prstGeom prst="roundRect">
            <a:avLst>
              <a:gd name="adj" fmla="val 7031"/>
            </a:avLst>
          </a:prstGeom>
          <a:solidFill>
            <a:srgbClr val="0F172A"/>
          </a:solidFill>
          <a:ln w="12700">
            <a:solidFill>
              <a:srgbClr val="0F172A"/>
            </a:solidFill>
            <a:prstDash val="solid"/>
          </a:ln>
          <a:effectLst>
            <a:outerShdw sx="100000" sy="100000" kx="0" ky="0" algn="bl" rotWithShape="0" blurRad="114300" dist="17780" dir="5400000">
              <a:srgbClr val="0F172A">
                <a:alpha val="7000"/>
              </a:srgbClr>
            </a:outerShdw>
          </a:effectLst>
        </p:spPr>
      </p:sp>
      <p:sp>
        <p:nvSpPr>
          <p:cNvPr id="51" name="Text 49"/>
          <p:cNvSpPr/>
          <p:nvPr/>
        </p:nvSpPr>
        <p:spPr>
          <a:xfrm>
            <a:off x="877824" y="5084064"/>
            <a:ext cx="10433304" cy="1170432"/>
          </a:xfrm>
          <a:prstGeom prst="rect">
            <a:avLst/>
          </a:prstGeom>
          <a:noFill/>
          <a:ln/>
        </p:spPr>
        <p:txBody>
          <a:bodyPr wrap="square" lIns="0" tIns="0" rIns="0" bIns="0" rtlCol="0" anchor="ctr"/>
          <a:lstStyle/>
          <a:p>
            <a:pPr indent="0" marL="0">
              <a:lnSpc>
                <a:spcPts val="1900"/>
              </a:lnSpc>
              <a:buNone/>
            </a:pPr>
            <a:r>
              <a:rPr lang="en-US" sz="1300" b="1" dirty="0">
                <a:solidFill>
                  <a:srgbClr val="FFFFFF"/>
                </a:solidFill>
                <a:latin typeface="Calibri" pitchFamily="34" charset="0"/>
                <a:ea typeface="Calibri" pitchFamily="34" charset="-122"/>
                <a:cs typeface="Calibri" pitchFamily="34" charset="-120"/>
              </a:rPr>
              <a:t>The case survives the removal of either stream.  </a:t>
            </a:r>
            <a:pPr indent="0" marL="0">
              <a:lnSpc>
                <a:spcPts val="1900"/>
              </a:lnSpc>
              <a:buNone/>
            </a:pPr>
            <a:r>
              <a:rPr lang="en-US" sz="1300" dirty="0">
                <a:solidFill>
                  <a:srgbClr val="CBD5E1"/>
                </a:solidFill>
                <a:latin typeface="Calibri" pitchFamily="34" charset="0"/>
                <a:ea typeface="Calibri" pitchFamily="34" charset="-122"/>
                <a:cs typeface="Calibri" pitchFamily="34" charset="-120"/>
              </a:rPr>
              <a:t>Strip retention out — the softest input — and it is still 3.8. Strip out every vacancy hire instead and retention alone repays the three-year cost in 0.8 years. Both halves would have to be wrong at once.  </a:t>
            </a:r>
            <a:pPr indent="0" marL="0">
              <a:lnSpc>
                <a:spcPts val="1900"/>
              </a:lnSpc>
              <a:buNone/>
            </a:pPr>
            <a:r>
              <a:rPr lang="en-US" sz="1300" b="1" dirty="0">
                <a:solidFill>
                  <a:srgbClr val="16A34A"/>
                </a:solidFill>
                <a:latin typeface="Calibri" pitchFamily="34" charset="0"/>
                <a:ea typeface="Calibri" pitchFamily="34" charset="-122"/>
                <a:cs typeface="Calibri" pitchFamily="34" charset="-120"/>
              </a:rPr>
              <a:t>Break-even is 1.0 attributed hires a year — one internal fill out of roughly 60 requisitions.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66928" y="402336"/>
            <a:ext cx="11055096" cy="566928"/>
          </a:xfrm>
          <a:prstGeom prst="rect">
            <a:avLst/>
          </a:prstGeom>
          <a:noFill/>
          <a:ln/>
        </p:spPr>
        <p:txBody>
          <a:bodyPr wrap="square" lIns="0" tIns="0" rIns="0" bIns="0" rtlCol="0" anchor="ctr"/>
          <a:lstStyle/>
          <a:p>
            <a:pPr indent="0" marL="0">
              <a:buNone/>
            </a:pPr>
            <a:r>
              <a:rPr lang="en-US" sz="3300" b="1" dirty="0">
                <a:solidFill>
                  <a:srgbClr val="0F172A"/>
                </a:solidFill>
                <a:latin typeface="Cambria" pitchFamily="34" charset="0"/>
                <a:ea typeface="Cambria" pitchFamily="34" charset="-122"/>
                <a:cs typeface="Cambria" pitchFamily="34" charset="-120"/>
              </a:rPr>
              <a:t>What would break the case</a:t>
            </a:r>
            <a:endParaRPr lang="en-US" sz="3300" dirty="0"/>
          </a:p>
        </p:txBody>
      </p:sp>
      <p:sp>
        <p:nvSpPr>
          <p:cNvPr id="3" name="Text 1"/>
          <p:cNvSpPr/>
          <p:nvPr/>
        </p:nvSpPr>
        <p:spPr>
          <a:xfrm>
            <a:off x="566928" y="1005840"/>
            <a:ext cx="11055096" cy="310896"/>
          </a:xfrm>
          <a:prstGeom prst="rect">
            <a:avLst/>
          </a:prstGeom>
          <a:noFill/>
          <a:ln/>
        </p:spPr>
        <p:txBody>
          <a:bodyPr wrap="square" lIns="0" tIns="0" rIns="0" bIns="0" rtlCol="0" anchor="ctr"/>
          <a:lstStyle/>
          <a:p>
            <a:pPr indent="0" marL="0">
              <a:buNone/>
            </a:pPr>
            <a:r>
              <a:rPr lang="en-US" sz="1350" dirty="0">
                <a:solidFill>
                  <a:srgbClr val="64748B"/>
                </a:solidFill>
                <a:latin typeface="Calibri" pitchFamily="34" charset="0"/>
                <a:ea typeface="Calibri" pitchFamily="34" charset="-122"/>
                <a:cs typeface="Calibri" pitchFamily="34" charset="-120"/>
              </a:rPr>
              <a:t>One of these is a gating item. The rest are survivable and already modelled.</a:t>
            </a:r>
            <a:endParaRPr lang="en-US" sz="1350" dirty="0"/>
          </a:p>
        </p:txBody>
      </p:sp>
      <p:sp>
        <p:nvSpPr>
          <p:cNvPr id="4" name="Shape 2"/>
          <p:cNvSpPr/>
          <p:nvPr/>
        </p:nvSpPr>
        <p:spPr>
          <a:xfrm>
            <a:off x="566928" y="1609344"/>
            <a:ext cx="5390388" cy="1481328"/>
          </a:xfrm>
          <a:prstGeom prst="roundRect">
            <a:avLst>
              <a:gd name="adj" fmla="val 5556"/>
            </a:avLst>
          </a:prstGeom>
          <a:solidFill>
            <a:srgbClr val="FEF2F2"/>
          </a:solidFill>
          <a:ln w="12700">
            <a:solidFill>
              <a:srgbClr val="FEF2F2"/>
            </a:solidFill>
            <a:prstDash val="solid"/>
          </a:ln>
          <a:effectLst>
            <a:outerShdw sx="100000" sy="100000" kx="0" ky="0" algn="bl" rotWithShape="0" blurRad="114300" dist="17780" dir="5400000">
              <a:srgbClr val="0F172A">
                <a:alpha val="7000"/>
              </a:srgbClr>
            </a:outerShdw>
          </a:effectLst>
        </p:spPr>
      </p:sp>
      <p:sp>
        <p:nvSpPr>
          <p:cNvPr id="5" name="Text 3"/>
          <p:cNvSpPr/>
          <p:nvPr/>
        </p:nvSpPr>
        <p:spPr>
          <a:xfrm>
            <a:off x="822960" y="1755648"/>
            <a:ext cx="4878324" cy="292608"/>
          </a:xfrm>
          <a:prstGeom prst="rect">
            <a:avLst/>
          </a:prstGeom>
          <a:noFill/>
          <a:ln/>
        </p:spPr>
        <p:txBody>
          <a:bodyPr wrap="square" lIns="0" tIns="0" rIns="0" bIns="0" rtlCol="0" anchor="ctr"/>
          <a:lstStyle/>
          <a:p>
            <a:pPr indent="0" marL="0">
              <a:buNone/>
            </a:pPr>
            <a:r>
              <a:rPr lang="en-US" sz="1450" b="1" dirty="0">
                <a:solidFill>
                  <a:srgbClr val="C00000"/>
                </a:solidFill>
                <a:latin typeface="Cambria" pitchFamily="34" charset="0"/>
                <a:ea typeface="Cambria" pitchFamily="34" charset="-122"/>
                <a:cs typeface="Cambria" pitchFamily="34" charset="-120"/>
              </a:rPr>
              <a:t>Recruitment declines the source field</a:t>
            </a:r>
            <a:endParaRPr lang="en-US" sz="1450" dirty="0"/>
          </a:p>
        </p:txBody>
      </p:sp>
      <p:sp>
        <p:nvSpPr>
          <p:cNvPr id="6" name="Text 4"/>
          <p:cNvSpPr/>
          <p:nvPr/>
        </p:nvSpPr>
        <p:spPr>
          <a:xfrm>
            <a:off x="822960" y="2103120"/>
            <a:ext cx="4878324" cy="384048"/>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Every attributed peso becomes unprovable and Q1 measurement disappears. BCR falls to 3.0.</a:t>
            </a:r>
            <a:endParaRPr lang="en-US" sz="1150" dirty="0"/>
          </a:p>
        </p:txBody>
      </p:sp>
      <p:sp>
        <p:nvSpPr>
          <p:cNvPr id="7" name="Text 5"/>
          <p:cNvSpPr/>
          <p:nvPr/>
        </p:nvSpPr>
        <p:spPr>
          <a:xfrm>
            <a:off x="822960" y="2578608"/>
            <a:ext cx="4878324" cy="402336"/>
          </a:xfrm>
          <a:prstGeom prst="rect">
            <a:avLst/>
          </a:prstGeom>
          <a:noFill/>
          <a:ln/>
        </p:spPr>
        <p:txBody>
          <a:bodyPr wrap="square" lIns="0" tIns="0" rIns="0" bIns="0" rtlCol="0" anchor="ctr"/>
          <a:lstStyle/>
          <a:p>
            <a:pPr indent="0" marL="0">
              <a:buNone/>
            </a:pPr>
            <a:r>
              <a:rPr lang="en-US" sz="1150" b="1" dirty="0">
                <a:solidFill>
                  <a:srgbClr val="C00000"/>
                </a:solidFill>
                <a:latin typeface="Calibri" pitchFamily="34" charset="0"/>
                <a:ea typeface="Calibri" pitchFamily="34" charset="-122"/>
                <a:cs typeface="Calibri" pitchFamily="34" charset="-120"/>
              </a:rPr>
              <a:t>→ </a:t>
            </a:r>
            <a:pPr indent="0" marL="0">
              <a:buNone/>
            </a:pPr>
            <a:r>
              <a:rPr lang="en-US" sz="1150" dirty="0">
                <a:solidFill>
                  <a:srgbClr val="0F172A"/>
                </a:solidFill>
                <a:latin typeface="Calibri" pitchFamily="34" charset="0"/>
                <a:ea typeface="Calibri" pitchFamily="34" charset="-122"/>
                <a:cs typeface="Calibri" pitchFamily="34" charset="-120"/>
              </a:rPr>
              <a:t>Secure it before committing to the build. It is a form configuration change, not an integration.</a:t>
            </a:r>
            <a:endParaRPr lang="en-US" sz="1150" dirty="0"/>
          </a:p>
        </p:txBody>
      </p:sp>
      <p:sp>
        <p:nvSpPr>
          <p:cNvPr id="8" name="Shape 6"/>
          <p:cNvSpPr/>
          <p:nvPr/>
        </p:nvSpPr>
        <p:spPr>
          <a:xfrm>
            <a:off x="6231636" y="1609344"/>
            <a:ext cx="5390388" cy="1481328"/>
          </a:xfrm>
          <a:prstGeom prst="roundRect">
            <a:avLst>
              <a:gd name="adj" fmla="val 5556"/>
            </a:avLst>
          </a:prstGeom>
          <a:solidFill>
            <a:srgbClr val="FEF2F2"/>
          </a:solidFill>
          <a:ln w="12700">
            <a:solidFill>
              <a:srgbClr val="FEF2F2"/>
            </a:solidFill>
            <a:prstDash val="solid"/>
          </a:ln>
          <a:effectLst>
            <a:outerShdw sx="100000" sy="100000" kx="0" ky="0" algn="bl" rotWithShape="0" blurRad="114300" dist="17780" dir="5400000">
              <a:srgbClr val="0F172A">
                <a:alpha val="7000"/>
              </a:srgbClr>
            </a:outerShdw>
          </a:effectLst>
        </p:spPr>
      </p:sp>
      <p:sp>
        <p:nvSpPr>
          <p:cNvPr id="9" name="Text 7"/>
          <p:cNvSpPr/>
          <p:nvPr/>
        </p:nvSpPr>
        <p:spPr>
          <a:xfrm>
            <a:off x="6487668" y="1755648"/>
            <a:ext cx="4878324" cy="292608"/>
          </a:xfrm>
          <a:prstGeom prst="rect">
            <a:avLst/>
          </a:prstGeom>
          <a:noFill/>
          <a:ln/>
        </p:spPr>
        <p:txBody>
          <a:bodyPr wrap="square" lIns="0" tIns="0" rIns="0" bIns="0" rtlCol="0" anchor="ctr"/>
          <a:lstStyle/>
          <a:p>
            <a:pPr indent="0" marL="0">
              <a:buNone/>
            </a:pPr>
            <a:r>
              <a:rPr lang="en-US" sz="1450" b="1" dirty="0">
                <a:solidFill>
                  <a:srgbClr val="C00000"/>
                </a:solidFill>
                <a:latin typeface="Cambria" pitchFamily="34" charset="0"/>
                <a:ea typeface="Cambria" pitchFamily="34" charset="-122"/>
                <a:cs typeface="Cambria" pitchFamily="34" charset="-120"/>
              </a:rPr>
              <a:t>DPO blocks the referral log</a:t>
            </a:r>
            <a:endParaRPr lang="en-US" sz="1450" dirty="0"/>
          </a:p>
        </p:txBody>
      </p:sp>
      <p:sp>
        <p:nvSpPr>
          <p:cNvPr id="10" name="Text 8"/>
          <p:cNvSpPr/>
          <p:nvPr/>
        </p:nvSpPr>
        <p:spPr>
          <a:xfrm>
            <a:off x="6487668" y="2103120"/>
            <a:ext cx="4878324" cy="384048"/>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The whole attribution tier is unavailable. Retention benefits unaffected.</a:t>
            </a:r>
            <a:endParaRPr lang="en-US" sz="1150" dirty="0"/>
          </a:p>
        </p:txBody>
      </p:sp>
      <p:sp>
        <p:nvSpPr>
          <p:cNvPr id="11" name="Text 9"/>
          <p:cNvSpPr/>
          <p:nvPr/>
        </p:nvSpPr>
        <p:spPr>
          <a:xfrm>
            <a:off x="6487668" y="2578608"/>
            <a:ext cx="4878324" cy="402336"/>
          </a:xfrm>
          <a:prstGeom prst="rect">
            <a:avLst/>
          </a:prstGeom>
          <a:noFill/>
          <a:ln/>
        </p:spPr>
        <p:txBody>
          <a:bodyPr wrap="square" lIns="0" tIns="0" rIns="0" bIns="0" rtlCol="0" anchor="ctr"/>
          <a:lstStyle/>
          <a:p>
            <a:pPr indent="0" marL="0">
              <a:buNone/>
            </a:pPr>
            <a:r>
              <a:rPr lang="en-US" sz="1150" b="1" dirty="0">
                <a:solidFill>
                  <a:srgbClr val="C00000"/>
                </a:solidFill>
                <a:latin typeface="Calibri" pitchFamily="34" charset="0"/>
                <a:ea typeface="Calibri" pitchFamily="34" charset="-122"/>
                <a:cs typeface="Calibri" pitchFamily="34" charset="-120"/>
              </a:rPr>
              <a:t>→ </a:t>
            </a:r>
            <a:pPr indent="0" marL="0">
              <a:buNone/>
            </a:pPr>
            <a:r>
              <a:rPr lang="en-US" sz="1150" dirty="0">
                <a:solidFill>
                  <a:srgbClr val="0F172A"/>
                </a:solidFill>
                <a:latin typeface="Calibri" pitchFamily="34" charset="0"/>
                <a:ea typeface="Calibri" pitchFamily="34" charset="-122"/>
                <a:cs typeface="Calibri" pitchFamily="34" charset="-120"/>
              </a:rPr>
              <a:t>Get the position before build, not after. Gating item.</a:t>
            </a:r>
            <a:endParaRPr lang="en-US" sz="1150" dirty="0"/>
          </a:p>
        </p:txBody>
      </p:sp>
      <p:sp>
        <p:nvSpPr>
          <p:cNvPr id="12" name="Shape 10"/>
          <p:cNvSpPr/>
          <p:nvPr/>
        </p:nvSpPr>
        <p:spPr>
          <a:xfrm>
            <a:off x="566928" y="3236976"/>
            <a:ext cx="5390388" cy="1481328"/>
          </a:xfrm>
          <a:prstGeom prst="roundRect">
            <a:avLst>
              <a:gd name="adj" fmla="val 5556"/>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13" name="Text 11"/>
          <p:cNvSpPr/>
          <p:nvPr/>
        </p:nvSpPr>
        <p:spPr>
          <a:xfrm>
            <a:off x="822960" y="3383280"/>
            <a:ext cx="4878324" cy="292608"/>
          </a:xfrm>
          <a:prstGeom prst="rect">
            <a:avLst/>
          </a:prstGeom>
          <a:noFill/>
          <a:ln/>
        </p:spPr>
        <p:txBody>
          <a:bodyPr wrap="square" lIns="0" tIns="0" rIns="0" bIns="0"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Retention lift is actually zero</a:t>
            </a:r>
            <a:endParaRPr lang="en-US" sz="1450" dirty="0"/>
          </a:p>
        </p:txBody>
      </p:sp>
      <p:sp>
        <p:nvSpPr>
          <p:cNvPr id="14" name="Text 12"/>
          <p:cNvSpPr/>
          <p:nvPr/>
        </p:nvSpPr>
        <p:spPr>
          <a:xfrm>
            <a:off x="822960" y="3730752"/>
            <a:ext cx="4878324" cy="384048"/>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Benefits fall to the attributed rows. Still BCR 3.8.</a:t>
            </a:r>
            <a:endParaRPr lang="en-US" sz="1150" dirty="0"/>
          </a:p>
        </p:txBody>
      </p:sp>
      <p:sp>
        <p:nvSpPr>
          <p:cNvPr id="15" name="Text 13"/>
          <p:cNvSpPr/>
          <p:nvPr/>
        </p:nvSpPr>
        <p:spPr>
          <a:xfrm>
            <a:off x="822960" y="4206240"/>
            <a:ext cx="4878324" cy="402336"/>
          </a:xfrm>
          <a:prstGeom prst="rect">
            <a:avLst/>
          </a:prstGeom>
          <a:noFill/>
          <a:ln/>
        </p:spPr>
        <p:txBody>
          <a:bodyPr wrap="square" lIns="0" tIns="0" rIns="0" bIns="0" rtlCol="0" anchor="ctr"/>
          <a:lstStyle/>
          <a:p>
            <a:pPr indent="0" marL="0">
              <a:buNone/>
            </a:pPr>
            <a:r>
              <a:rPr lang="en-US" sz="1150" b="1" dirty="0">
                <a:solidFill>
                  <a:srgbClr val="16A34A"/>
                </a:solidFill>
                <a:latin typeface="Calibri" pitchFamily="34" charset="0"/>
                <a:ea typeface="Calibri" pitchFamily="34" charset="-122"/>
                <a:cs typeface="Calibri" pitchFamily="34" charset="-120"/>
              </a:rPr>
              <a:t>→ </a:t>
            </a:r>
            <a:pPr indent="0" marL="0">
              <a:buNone/>
            </a:pPr>
            <a:r>
              <a:rPr lang="en-US" sz="1150" dirty="0">
                <a:solidFill>
                  <a:srgbClr val="0F172A"/>
                </a:solidFill>
                <a:latin typeface="Calibri" pitchFamily="34" charset="0"/>
                <a:ea typeface="Calibri" pitchFamily="34" charset="-122"/>
                <a:cs typeface="Calibri" pitchFamily="34" charset="-120"/>
              </a:rPr>
              <a:t>Already modelled. Run the promoted-vs-not holdout to measure it properly.</a:t>
            </a:r>
            <a:endParaRPr lang="en-US" sz="1150" dirty="0"/>
          </a:p>
        </p:txBody>
      </p:sp>
      <p:sp>
        <p:nvSpPr>
          <p:cNvPr id="16" name="Shape 14"/>
          <p:cNvSpPr/>
          <p:nvPr/>
        </p:nvSpPr>
        <p:spPr>
          <a:xfrm>
            <a:off x="6231636" y="3236976"/>
            <a:ext cx="5390388" cy="1481328"/>
          </a:xfrm>
          <a:prstGeom prst="roundRect">
            <a:avLst>
              <a:gd name="adj" fmla="val 5556"/>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17" name="Text 15"/>
          <p:cNvSpPr/>
          <p:nvPr/>
        </p:nvSpPr>
        <p:spPr>
          <a:xfrm>
            <a:off x="6487668" y="3383280"/>
            <a:ext cx="4878324" cy="292608"/>
          </a:xfrm>
          <a:prstGeom prst="rect">
            <a:avLst/>
          </a:prstGeom>
          <a:noFill/>
          <a:ln/>
        </p:spPr>
        <p:txBody>
          <a:bodyPr wrap="square" lIns="0" tIns="0" rIns="0" bIns="0"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Adoption below 120 participants/yr</a:t>
            </a:r>
            <a:endParaRPr lang="en-US" sz="1450" dirty="0"/>
          </a:p>
        </p:txBody>
      </p:sp>
      <p:sp>
        <p:nvSpPr>
          <p:cNvPr id="18" name="Text 16"/>
          <p:cNvSpPr/>
          <p:nvPr/>
        </p:nvSpPr>
        <p:spPr>
          <a:xfrm>
            <a:off x="6487668" y="3730752"/>
            <a:ext cx="4878324" cy="384048"/>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Retention benefit scales linearly — 60 participants halves it.</a:t>
            </a:r>
            <a:endParaRPr lang="en-US" sz="1150" dirty="0"/>
          </a:p>
        </p:txBody>
      </p:sp>
      <p:sp>
        <p:nvSpPr>
          <p:cNvPr id="19" name="Text 17"/>
          <p:cNvSpPr/>
          <p:nvPr/>
        </p:nvSpPr>
        <p:spPr>
          <a:xfrm>
            <a:off x="6487668" y="4206240"/>
            <a:ext cx="4878324" cy="402336"/>
          </a:xfrm>
          <a:prstGeom prst="rect">
            <a:avLst/>
          </a:prstGeom>
          <a:noFill/>
          <a:ln/>
        </p:spPr>
        <p:txBody>
          <a:bodyPr wrap="square" lIns="0" tIns="0" rIns="0" bIns="0" rtlCol="0" anchor="ctr"/>
          <a:lstStyle/>
          <a:p>
            <a:pPr indent="0" marL="0">
              <a:buNone/>
            </a:pPr>
            <a:r>
              <a:rPr lang="en-US" sz="1150" b="1" dirty="0">
                <a:solidFill>
                  <a:srgbClr val="16A34A"/>
                </a:solidFill>
                <a:latin typeface="Calibri" pitchFamily="34" charset="0"/>
                <a:ea typeface="Calibri" pitchFamily="34" charset="-122"/>
                <a:cs typeface="Calibri" pitchFamily="34" charset="-120"/>
              </a:rPr>
              <a:t>→ </a:t>
            </a:r>
            <a:pPr indent="0" marL="0">
              <a:buNone/>
            </a:pPr>
            <a:r>
              <a:rPr lang="en-US" sz="1150" dirty="0">
                <a:solidFill>
                  <a:srgbClr val="0F172A"/>
                </a:solidFill>
                <a:latin typeface="Calibri" pitchFamily="34" charset="0"/>
                <a:ea typeface="Calibri" pitchFamily="34" charset="-122"/>
                <a:cs typeface="Calibri" pitchFamily="34" charset="-120"/>
              </a:rPr>
              <a:t>Case still clears at roughly BCR 5 in the base scenario.</a:t>
            </a:r>
            <a:endParaRPr lang="en-US" sz="1150" dirty="0"/>
          </a:p>
        </p:txBody>
      </p:sp>
      <p:sp>
        <p:nvSpPr>
          <p:cNvPr id="20" name="Shape 18"/>
          <p:cNvSpPr/>
          <p:nvPr/>
        </p:nvSpPr>
        <p:spPr>
          <a:xfrm>
            <a:off x="566928" y="4864608"/>
            <a:ext cx="5390388" cy="1481328"/>
          </a:xfrm>
          <a:prstGeom prst="roundRect">
            <a:avLst>
              <a:gd name="adj" fmla="val 5556"/>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21" name="Text 19"/>
          <p:cNvSpPr/>
          <p:nvPr/>
        </p:nvSpPr>
        <p:spPr>
          <a:xfrm>
            <a:off x="822960" y="5010912"/>
            <a:ext cx="4878324" cy="292608"/>
          </a:xfrm>
          <a:prstGeom prst="rect">
            <a:avLst/>
          </a:prstGeom>
          <a:noFill/>
          <a:ln/>
        </p:spPr>
        <p:txBody>
          <a:bodyPr wrap="square" lIns="0" tIns="0" rIns="0" bIns="0"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Build effort doubles</a:t>
            </a:r>
            <a:endParaRPr lang="en-US" sz="1450" dirty="0"/>
          </a:p>
        </p:txBody>
      </p:sp>
      <p:sp>
        <p:nvSpPr>
          <p:cNvPr id="22" name="Text 20"/>
          <p:cNvSpPr/>
          <p:nvPr/>
        </p:nvSpPr>
        <p:spPr>
          <a:xfrm>
            <a:off x="822960" y="5358384"/>
            <a:ext cx="4878324" cy="384048"/>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3-year cost ≈ ₱1.76M, base BCR falls to 4.0.</a:t>
            </a:r>
            <a:endParaRPr lang="en-US" sz="1150" dirty="0"/>
          </a:p>
        </p:txBody>
      </p:sp>
      <p:sp>
        <p:nvSpPr>
          <p:cNvPr id="23" name="Text 21"/>
          <p:cNvSpPr/>
          <p:nvPr/>
        </p:nvSpPr>
        <p:spPr>
          <a:xfrm>
            <a:off x="822960" y="5833872"/>
            <a:ext cx="4878324" cy="402336"/>
          </a:xfrm>
          <a:prstGeom prst="rect">
            <a:avLst/>
          </a:prstGeom>
          <a:noFill/>
          <a:ln/>
        </p:spPr>
        <p:txBody>
          <a:bodyPr wrap="square" lIns="0" tIns="0" rIns="0" bIns="0" rtlCol="0" anchor="ctr"/>
          <a:lstStyle/>
          <a:p>
            <a:pPr indent="0" marL="0">
              <a:buNone/>
            </a:pPr>
            <a:r>
              <a:rPr lang="en-US" sz="1150" b="1" dirty="0">
                <a:solidFill>
                  <a:srgbClr val="16A34A"/>
                </a:solidFill>
                <a:latin typeface="Calibri" pitchFamily="34" charset="0"/>
                <a:ea typeface="Calibri" pitchFamily="34" charset="-122"/>
                <a:cs typeface="Calibri" pitchFamily="34" charset="-120"/>
              </a:rPr>
              <a:t>→ </a:t>
            </a:r>
            <a:pPr indent="0" marL="0">
              <a:buNone/>
            </a:pPr>
            <a:r>
              <a:rPr lang="en-US" sz="1150" dirty="0">
                <a:solidFill>
                  <a:srgbClr val="0F172A"/>
                </a:solidFill>
                <a:latin typeface="Calibri" pitchFamily="34" charset="0"/>
                <a:ea typeface="Calibri" pitchFamily="34" charset="-122"/>
                <a:cs typeface="Calibri" pitchFamily="34" charset="-120"/>
              </a:rPr>
              <a:t>Still 6×–16× under the vendor bands.</a:t>
            </a:r>
            <a:endParaRPr lang="en-US" sz="1150" dirty="0"/>
          </a:p>
        </p:txBody>
      </p:sp>
      <p:sp>
        <p:nvSpPr>
          <p:cNvPr id="24" name="Shape 22"/>
          <p:cNvSpPr/>
          <p:nvPr/>
        </p:nvSpPr>
        <p:spPr>
          <a:xfrm>
            <a:off x="6231636" y="4864608"/>
            <a:ext cx="5390388" cy="1481328"/>
          </a:xfrm>
          <a:prstGeom prst="roundRect">
            <a:avLst>
              <a:gd name="adj" fmla="val 5556"/>
            </a:avLst>
          </a:prstGeom>
          <a:solidFill>
            <a:srgbClr val="FFFFFF"/>
          </a:solidFill>
          <a:ln w="12700">
            <a:solidFill>
              <a:srgbClr val="E2E8F0"/>
            </a:solidFill>
            <a:prstDash val="solid"/>
          </a:ln>
          <a:effectLst>
            <a:outerShdw sx="100000" sy="100000" kx="0" ky="0" algn="bl" rotWithShape="0" blurRad="114300" dist="17780" dir="5400000">
              <a:srgbClr val="0F172A">
                <a:alpha val="7000"/>
              </a:srgbClr>
            </a:outerShdw>
          </a:effectLst>
        </p:spPr>
      </p:sp>
      <p:sp>
        <p:nvSpPr>
          <p:cNvPr id="25" name="Text 23"/>
          <p:cNvSpPr/>
          <p:nvPr/>
        </p:nvSpPr>
        <p:spPr>
          <a:xfrm>
            <a:off x="6487668" y="5010912"/>
            <a:ext cx="4878324" cy="292608"/>
          </a:xfrm>
          <a:prstGeom prst="rect">
            <a:avLst/>
          </a:prstGeom>
          <a:noFill/>
          <a:ln/>
        </p:spPr>
        <p:txBody>
          <a:bodyPr wrap="square" lIns="0" tIns="0" rIns="0" bIns="0" rtlCol="0" anchor="ctr"/>
          <a:lstStyle/>
          <a:p>
            <a:pPr indent="0" marL="0">
              <a:buNone/>
            </a:pPr>
            <a:r>
              <a:rPr lang="en-US" sz="1450" b="1" dirty="0">
                <a:solidFill>
                  <a:srgbClr val="0F172A"/>
                </a:solidFill>
                <a:latin typeface="Cambria" pitchFamily="34" charset="0"/>
                <a:ea typeface="Cambria" pitchFamily="34" charset="-122"/>
                <a:cs typeface="Cambria" pitchFamily="34" charset="-120"/>
              </a:rPr>
              <a:t>0.25 FTE ownership from year 2</a:t>
            </a:r>
            <a:endParaRPr lang="en-US" sz="1450" dirty="0"/>
          </a:p>
        </p:txBody>
      </p:sp>
      <p:sp>
        <p:nvSpPr>
          <p:cNvPr id="26" name="Text 24"/>
          <p:cNvSpPr/>
          <p:nvPr/>
        </p:nvSpPr>
        <p:spPr>
          <a:xfrm>
            <a:off x="6487668" y="5358384"/>
            <a:ext cx="4878324" cy="384048"/>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+₱450,000 over three years. Base BCR 6.8 → 3.1.</a:t>
            </a:r>
            <a:endParaRPr lang="en-US" sz="1150" dirty="0"/>
          </a:p>
        </p:txBody>
      </p:sp>
      <p:sp>
        <p:nvSpPr>
          <p:cNvPr id="27" name="Text 25"/>
          <p:cNvSpPr/>
          <p:nvPr/>
        </p:nvSpPr>
        <p:spPr>
          <a:xfrm>
            <a:off x="6487668" y="5833872"/>
            <a:ext cx="4878324" cy="402336"/>
          </a:xfrm>
          <a:prstGeom prst="rect">
            <a:avLst/>
          </a:prstGeom>
          <a:noFill/>
          <a:ln/>
        </p:spPr>
        <p:txBody>
          <a:bodyPr wrap="square" lIns="0" tIns="0" rIns="0" bIns="0" rtlCol="0" anchor="ctr"/>
          <a:lstStyle/>
          <a:p>
            <a:pPr indent="0" marL="0">
              <a:buNone/>
            </a:pPr>
            <a:r>
              <a:rPr lang="en-US" sz="1150" b="1" dirty="0">
                <a:solidFill>
                  <a:srgbClr val="16A34A"/>
                </a:solidFill>
                <a:latin typeface="Calibri" pitchFamily="34" charset="0"/>
                <a:ea typeface="Calibri" pitchFamily="34" charset="-122"/>
                <a:cs typeface="Calibri" pitchFamily="34" charset="-120"/>
              </a:rPr>
              <a:t>→ </a:t>
            </a:r>
            <a:pPr indent="0" marL="0">
              <a:buNone/>
            </a:pPr>
            <a:r>
              <a:rPr lang="en-US" sz="1150" dirty="0">
                <a:solidFill>
                  <a:srgbClr val="0F172A"/>
                </a:solidFill>
                <a:latin typeface="Calibri" pitchFamily="34" charset="0"/>
                <a:ea typeface="Calibri" pitchFamily="34" charset="-122"/>
                <a:cs typeface="Calibri" pitchFamily="34" charset="-120"/>
              </a:rPr>
              <a:t>Include it in the paper — the most under-estimated line in any build-vs-buy.</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566928" y="512064"/>
            <a:ext cx="1010412" cy="224028"/>
          </a:xfrm>
          <a:prstGeom prst="roundRect">
            <a:avLst>
              <a:gd name="adj" fmla="val 48980"/>
            </a:avLst>
          </a:prstGeom>
          <a:solidFill>
            <a:srgbClr val="C00000"/>
          </a:solidFill>
          <a:ln w="12700">
            <a:solidFill>
              <a:srgbClr val="C00000"/>
            </a:solidFill>
            <a:prstDash val="solid"/>
          </a:ln>
        </p:spPr>
      </p:sp>
      <p:sp>
        <p:nvSpPr>
          <p:cNvPr id="3" name="Text 1"/>
          <p:cNvSpPr/>
          <p:nvPr/>
        </p:nvSpPr>
        <p:spPr>
          <a:xfrm>
            <a:off x="566928" y="512064"/>
            <a:ext cx="1010412" cy="224028"/>
          </a:xfrm>
          <a:prstGeom prst="rect">
            <a:avLst/>
          </a:prstGeom>
          <a:noFill/>
          <a:ln/>
        </p:spPr>
        <p:txBody>
          <a:bodyPr wrap="square" lIns="0" tIns="0" rIns="0" bIns="0" rtlCol="0" anchor="ctr"/>
          <a:lstStyle/>
          <a:p>
            <a:pPr algn="ctr" indent="0" marL="0">
              <a:buNone/>
            </a:pPr>
            <a:r>
              <a:rPr lang="en-US" sz="900" b="1" spc="8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4" name="Text 2"/>
          <p:cNvSpPr/>
          <p:nvPr/>
        </p:nvSpPr>
        <p:spPr>
          <a:xfrm>
            <a:off x="566928" y="914400"/>
            <a:ext cx="11055096" cy="64008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Recommendation</a:t>
            </a:r>
            <a:endParaRPr lang="en-US" sz="3600" dirty="0"/>
          </a:p>
        </p:txBody>
      </p:sp>
      <p:sp>
        <p:nvSpPr>
          <p:cNvPr id="5" name="Shape 3"/>
          <p:cNvSpPr/>
          <p:nvPr/>
        </p:nvSpPr>
        <p:spPr>
          <a:xfrm>
            <a:off x="566928" y="1828800"/>
            <a:ext cx="420624" cy="420624"/>
          </a:xfrm>
          <a:prstGeom prst="ellipse">
            <a:avLst/>
          </a:prstGeom>
          <a:solidFill>
            <a:srgbClr val="C00000"/>
          </a:solidFill>
          <a:ln w="12700">
            <a:solidFill>
              <a:srgbClr val="C00000"/>
            </a:solidFill>
            <a:prstDash val="solid"/>
          </a:ln>
        </p:spPr>
      </p:sp>
      <p:sp>
        <p:nvSpPr>
          <p:cNvPr id="6" name="Text 4"/>
          <p:cNvSpPr/>
          <p:nvPr/>
        </p:nvSpPr>
        <p:spPr>
          <a:xfrm>
            <a:off x="566928" y="18288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188720" y="1773936"/>
            <a:ext cx="3657600"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Build v2-lean</a:t>
            </a:r>
            <a:endParaRPr lang="en-US" sz="1600" dirty="0"/>
          </a:p>
        </p:txBody>
      </p:sp>
      <p:sp>
        <p:nvSpPr>
          <p:cNvPr id="8" name="Text 6"/>
          <p:cNvSpPr/>
          <p:nvPr/>
        </p:nvSpPr>
        <p:spPr>
          <a:xfrm>
            <a:off x="4956048" y="1755648"/>
            <a:ext cx="7040880" cy="603504"/>
          </a:xfrm>
          <a:prstGeom prst="rect">
            <a:avLst/>
          </a:prstGeom>
          <a:noFill/>
          <a:ln/>
        </p:spPr>
        <p:txBody>
          <a:bodyPr wrap="square" lIns="0" tIns="0" rIns="0" bIns="0" rtlCol="0" anchor="ctr"/>
          <a:lstStyle/>
          <a:p>
            <a:pPr indent="0" marL="0">
              <a:lnSpc>
                <a:spcPts val="1700"/>
              </a:lnSpc>
              <a:buNone/>
            </a:pPr>
            <a:r>
              <a:rPr lang="en-US" sz="1250" dirty="0">
                <a:solidFill>
                  <a:srgbClr val="CBD5E1"/>
                </a:solidFill>
                <a:latin typeface="Calibri" pitchFamily="34" charset="0"/>
                <a:ea typeface="Calibri" pitchFamily="34" charset="-122"/>
                <a:cs typeface="Calibri" pitchFamily="34" charset="-120"/>
              </a:rPr>
              <a:t>₱766,125 in year one, ₱1,050,375 over three. Base-case BCR 6.8, payback nine months — and cheaper than v1 despite doing more.</a:t>
            </a:r>
            <a:endParaRPr lang="en-US" sz="1250" dirty="0"/>
          </a:p>
        </p:txBody>
      </p:sp>
      <p:sp>
        <p:nvSpPr>
          <p:cNvPr id="9" name="Shape 7"/>
          <p:cNvSpPr/>
          <p:nvPr/>
        </p:nvSpPr>
        <p:spPr>
          <a:xfrm>
            <a:off x="566928" y="2688336"/>
            <a:ext cx="420624" cy="420624"/>
          </a:xfrm>
          <a:prstGeom prst="ellipse">
            <a:avLst/>
          </a:prstGeom>
          <a:solidFill>
            <a:srgbClr val="C00000"/>
          </a:solidFill>
          <a:ln w="12700">
            <a:solidFill>
              <a:srgbClr val="C00000"/>
            </a:solidFill>
            <a:prstDash val="solid"/>
          </a:ln>
        </p:spPr>
      </p:sp>
      <p:sp>
        <p:nvSpPr>
          <p:cNvPr id="10" name="Text 8"/>
          <p:cNvSpPr/>
          <p:nvPr/>
        </p:nvSpPr>
        <p:spPr>
          <a:xfrm>
            <a:off x="566928" y="268833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1" name="Text 9"/>
          <p:cNvSpPr/>
          <p:nvPr/>
        </p:nvSpPr>
        <p:spPr>
          <a:xfrm>
            <a:off x="1188720" y="2633472"/>
            <a:ext cx="3657600"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Get the source field committed first</a:t>
            </a:r>
            <a:endParaRPr lang="en-US" sz="1600" dirty="0"/>
          </a:p>
        </p:txBody>
      </p:sp>
      <p:sp>
        <p:nvSpPr>
          <p:cNvPr id="12" name="Text 10"/>
          <p:cNvSpPr/>
          <p:nvPr/>
        </p:nvSpPr>
        <p:spPr>
          <a:xfrm>
            <a:off x="4956048" y="2615184"/>
            <a:ext cx="7040880" cy="603504"/>
          </a:xfrm>
          <a:prstGeom prst="rect">
            <a:avLst/>
          </a:prstGeom>
          <a:noFill/>
          <a:ln/>
        </p:spPr>
        <p:txBody>
          <a:bodyPr wrap="square" lIns="0" tIns="0" rIns="0" bIns="0" rtlCol="0" anchor="ctr"/>
          <a:lstStyle/>
          <a:p>
            <a:pPr indent="0" marL="0">
              <a:lnSpc>
                <a:spcPts val="1700"/>
              </a:lnSpc>
              <a:buNone/>
            </a:pPr>
            <a:r>
              <a:rPr lang="en-US" sz="1250" dirty="0">
                <a:solidFill>
                  <a:srgbClr val="CBD5E1"/>
                </a:solidFill>
                <a:latin typeface="Calibri" pitchFamily="34" charset="0"/>
                <a:ea typeface="Calibri" pitchFamily="34" charset="-122"/>
                <a:cs typeface="Calibri" pitchFamily="34" charset="-120"/>
              </a:rPr>
              <a:t>Free, carries Q1 attribution on its own, and without it the attributed half of the case evaporates. Do not start the build until recruitment has agreed.</a:t>
            </a:r>
            <a:endParaRPr lang="en-US" sz="1250" dirty="0"/>
          </a:p>
        </p:txBody>
      </p:sp>
      <p:sp>
        <p:nvSpPr>
          <p:cNvPr id="13" name="Shape 11"/>
          <p:cNvSpPr/>
          <p:nvPr/>
        </p:nvSpPr>
        <p:spPr>
          <a:xfrm>
            <a:off x="566928" y="3547872"/>
            <a:ext cx="420624" cy="420624"/>
          </a:xfrm>
          <a:prstGeom prst="ellipse">
            <a:avLst/>
          </a:prstGeom>
          <a:solidFill>
            <a:srgbClr val="C00000"/>
          </a:solidFill>
          <a:ln w="12700">
            <a:solidFill>
              <a:srgbClr val="C00000"/>
            </a:solidFill>
            <a:prstDash val="solid"/>
          </a:ln>
        </p:spPr>
      </p:sp>
      <p:sp>
        <p:nvSpPr>
          <p:cNvPr id="14" name="Text 12"/>
          <p:cNvSpPr/>
          <p:nvPr/>
        </p:nvSpPr>
        <p:spPr>
          <a:xfrm>
            <a:off x="566928" y="35478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5" name="Text 13"/>
          <p:cNvSpPr/>
          <p:nvPr/>
        </p:nvSpPr>
        <p:spPr>
          <a:xfrm>
            <a:off x="1188720" y="3493008"/>
            <a:ext cx="3657600"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Ship promotion Q1, tracking Q2</a:t>
            </a:r>
            <a:endParaRPr lang="en-US" sz="1600" dirty="0"/>
          </a:p>
        </p:txBody>
      </p:sp>
      <p:sp>
        <p:nvSpPr>
          <p:cNvPr id="16" name="Text 14"/>
          <p:cNvSpPr/>
          <p:nvPr/>
        </p:nvSpPr>
        <p:spPr>
          <a:xfrm>
            <a:off x="4956048" y="3474720"/>
            <a:ext cx="7040880" cy="603504"/>
          </a:xfrm>
          <a:prstGeom prst="rect">
            <a:avLst/>
          </a:prstGeom>
          <a:noFill/>
          <a:ln/>
        </p:spPr>
        <p:txBody>
          <a:bodyPr wrap="square" lIns="0" tIns="0" rIns="0" bIns="0" rtlCol="0" anchor="ctr"/>
          <a:lstStyle/>
          <a:p>
            <a:pPr indent="0" marL="0">
              <a:lnSpc>
                <a:spcPts val="1700"/>
              </a:lnSpc>
              <a:buNone/>
            </a:pPr>
            <a:r>
              <a:rPr lang="en-US" sz="1250" dirty="0">
                <a:solidFill>
                  <a:srgbClr val="CBD5E1"/>
                </a:solidFill>
                <a:latin typeface="Calibri" pitchFamily="34" charset="0"/>
                <a:ea typeface="Calibri" pitchFamily="34" charset="-122"/>
                <a:cs typeface="Calibri" pitchFamily="34" charset="-120"/>
              </a:rPr>
              <a:t>Unless a budget review falls inside Q1 — then build the engine up front. ₱162,000 is cheap next to arriving with nothing to show.</a:t>
            </a:r>
            <a:endParaRPr lang="en-US" sz="1250" dirty="0"/>
          </a:p>
        </p:txBody>
      </p:sp>
      <p:sp>
        <p:nvSpPr>
          <p:cNvPr id="17" name="Shape 15"/>
          <p:cNvSpPr/>
          <p:nvPr/>
        </p:nvSpPr>
        <p:spPr>
          <a:xfrm>
            <a:off x="566928" y="4407408"/>
            <a:ext cx="420624" cy="420624"/>
          </a:xfrm>
          <a:prstGeom prst="ellipse">
            <a:avLst/>
          </a:prstGeom>
          <a:solidFill>
            <a:srgbClr val="C00000"/>
          </a:solidFill>
          <a:ln w="12700">
            <a:solidFill>
              <a:srgbClr val="C00000"/>
            </a:solidFill>
            <a:prstDash val="solid"/>
          </a:ln>
        </p:spPr>
      </p:sp>
      <p:sp>
        <p:nvSpPr>
          <p:cNvPr id="18" name="Text 16"/>
          <p:cNvSpPr/>
          <p:nvPr/>
        </p:nvSpPr>
        <p:spPr>
          <a:xfrm>
            <a:off x="566928" y="4407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19" name="Text 17"/>
          <p:cNvSpPr/>
          <p:nvPr/>
        </p:nvSpPr>
        <p:spPr>
          <a:xfrm>
            <a:off x="1188720" y="4352544"/>
            <a:ext cx="3657600"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Decide phase 2 on year-one data</a:t>
            </a:r>
            <a:endParaRPr lang="en-US" sz="1600" dirty="0"/>
          </a:p>
        </p:txBody>
      </p:sp>
      <p:sp>
        <p:nvSpPr>
          <p:cNvPr id="20" name="Text 18"/>
          <p:cNvSpPr/>
          <p:nvPr/>
        </p:nvSpPr>
        <p:spPr>
          <a:xfrm>
            <a:off x="4956048" y="4334256"/>
            <a:ext cx="7040880" cy="603504"/>
          </a:xfrm>
          <a:prstGeom prst="rect">
            <a:avLst/>
          </a:prstGeom>
          <a:noFill/>
          <a:ln/>
        </p:spPr>
        <p:txBody>
          <a:bodyPr wrap="square" lIns="0" tIns="0" rIns="0" bIns="0" rtlCol="0" anchor="ctr"/>
          <a:lstStyle/>
          <a:p>
            <a:pPr indent="0" marL="0">
              <a:lnSpc>
                <a:spcPts val="1700"/>
              </a:lnSpc>
              <a:buNone/>
            </a:pPr>
            <a:r>
              <a:rPr lang="en-US" sz="1250" dirty="0">
                <a:solidFill>
                  <a:srgbClr val="CBD5E1"/>
                </a:solidFill>
                <a:latin typeface="Calibri" pitchFamily="34" charset="0"/>
                <a:ea typeface="Calibri" pitchFamily="34" charset="-122"/>
                <a:cs typeface="Calibri" pitchFamily="34" charset="-120"/>
              </a:rPr>
              <a:t>Automate the ATS join only if referral volume justifies ₱108,000. Assume it does not until it does.</a:t>
            </a:r>
            <a:endParaRPr lang="en-US" sz="1250" dirty="0"/>
          </a:p>
        </p:txBody>
      </p:sp>
      <p:sp>
        <p:nvSpPr>
          <p:cNvPr id="21" name="Shape 19"/>
          <p:cNvSpPr/>
          <p:nvPr/>
        </p:nvSpPr>
        <p:spPr>
          <a:xfrm>
            <a:off x="566928" y="5266944"/>
            <a:ext cx="420624" cy="420624"/>
          </a:xfrm>
          <a:prstGeom prst="ellipse">
            <a:avLst/>
          </a:prstGeom>
          <a:solidFill>
            <a:srgbClr val="C00000"/>
          </a:solidFill>
          <a:ln w="12700">
            <a:solidFill>
              <a:srgbClr val="C00000"/>
            </a:solidFill>
            <a:prstDash val="solid"/>
          </a:ln>
        </p:spPr>
      </p:sp>
      <p:sp>
        <p:nvSpPr>
          <p:cNvPr id="22" name="Text 20"/>
          <p:cNvSpPr/>
          <p:nvPr/>
        </p:nvSpPr>
        <p:spPr>
          <a:xfrm>
            <a:off x="566928" y="52669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23" name="Text 21"/>
          <p:cNvSpPr/>
          <p:nvPr/>
        </p:nvSpPr>
        <p:spPr>
          <a:xfrm>
            <a:off x="1188720" y="5212080"/>
            <a:ext cx="3657600" cy="310896"/>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Re-run the benefit side once real data exists</a:t>
            </a:r>
            <a:endParaRPr lang="en-US" sz="1600" dirty="0"/>
          </a:p>
        </p:txBody>
      </p:sp>
      <p:sp>
        <p:nvSpPr>
          <p:cNvPr id="24" name="Text 22"/>
          <p:cNvSpPr/>
          <p:nvPr/>
        </p:nvSpPr>
        <p:spPr>
          <a:xfrm>
            <a:off x="4956048" y="5193792"/>
            <a:ext cx="7040880" cy="603504"/>
          </a:xfrm>
          <a:prstGeom prst="rect">
            <a:avLst/>
          </a:prstGeom>
          <a:noFill/>
          <a:ln/>
        </p:spPr>
        <p:txBody>
          <a:bodyPr wrap="square" lIns="0" tIns="0" rIns="0" bIns="0" rtlCol="0" anchor="ctr"/>
          <a:lstStyle/>
          <a:p>
            <a:pPr indent="0" marL="0">
              <a:lnSpc>
                <a:spcPts val="1700"/>
              </a:lnSpc>
              <a:buNone/>
            </a:pPr>
            <a:r>
              <a:rPr lang="en-US" sz="1250" dirty="0">
                <a:solidFill>
                  <a:srgbClr val="CBD5E1"/>
                </a:solidFill>
                <a:latin typeface="Calibri" pitchFamily="34" charset="0"/>
                <a:ea typeface="Calibri" pitchFamily="34" charset="-122"/>
                <a:cs typeface="Calibri" pitchFamily="34" charset="-120"/>
              </a:rPr>
              <a:t>Every benefit figure here is a planning assumption. The pilot replaces them within two quarters; the holdout replaces the causal claim within three.</a:t>
            </a:r>
            <a:endParaRPr lang="en-US" sz="1250" dirty="0"/>
          </a:p>
        </p:txBody>
      </p:sp>
      <p:sp>
        <p:nvSpPr>
          <p:cNvPr id="25" name="Text 23"/>
          <p:cNvSpPr/>
          <p:nvPr/>
        </p:nvSpPr>
        <p:spPr>
          <a:xfrm>
            <a:off x="566928" y="6236208"/>
            <a:ext cx="11055096" cy="292608"/>
          </a:xfrm>
          <a:prstGeom prst="rect">
            <a:avLst/>
          </a:prstGeom>
          <a:noFill/>
          <a:ln/>
        </p:spPr>
        <p:txBody>
          <a:bodyPr wrap="square" lIns="0" tIns="0" rIns="0" bIns="0" rtlCol="0" anchor="ctr"/>
          <a:lstStyle/>
          <a:p>
            <a:pPr indent="0" marL="0">
              <a:buNone/>
            </a:pPr>
            <a:r>
              <a:rPr lang="en-US" sz="1050" dirty="0">
                <a:solidFill>
                  <a:srgbClr val="64748B"/>
                </a:solidFill>
                <a:latin typeface="Calibri" pitchFamily="34" charset="0"/>
                <a:ea typeface="Calibri" pitchFamily="34" charset="-122"/>
                <a:cs typeface="Calibri" pitchFamily="34" charset="-120"/>
              </a:rPr>
              <a:t>Full analysis: docs/V2_CBA.md  ·  cost model: docs/v2-cba-model.py  ·  working prototype on branch claude/talent-marketplace-v2-explore-kps8k8</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Growth Marketplace v2 — Build Recommendation</dc:title>
  <dc:subject>PptxGenJS Presentation</dc:subject>
  <dc:creator>People &amp; Culture Department</dc:creator>
  <cp:lastModifiedBy>People &amp; Culture Department</cp:lastModifiedBy>
  <cp:revision>1</cp:revision>
  <dcterms:created xsi:type="dcterms:W3CDTF">2026-08-18T15:14:51Z</dcterms:created>
  <dcterms:modified xsi:type="dcterms:W3CDTF">2026-08-18T15:14:51Z</dcterms:modified>
</cp:coreProperties>
</file>