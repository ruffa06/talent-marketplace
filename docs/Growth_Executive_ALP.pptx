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roughly seven on the deck, eight in the product. I will show you the problem, show you the thing working, then show you the money.
One sentence up front: we fill 17% of our roles from the inside, the benchmark is 30%, and the gap is costing us about 4 million pesos a year. Growth closes it for 2.05 million over three years, which is 614 pesos per employee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case on one slide. Everything after it is evidence.
The 17% is ours: 170 accepted out of 1,008 vacancies posted between 2024 and 2026. The 30% is the published market benchmark for internal fill; mature marketplaces run 40-50%.
The 67/38 number is the one I would hold onto. It is not modelled, it is a headcount we can check in the HRIS: 67 people raised their hand in 2025, we told them no, and 29 of them have since left. What we do not yet have is the fair comparator — attrition among band B and C non-mass staff, which is who these applicants are. HR has been asked for it. The whole-company rate is the wrong benchmark: mass operations would drag it up and flatter us.
If asked "is this causal" — no, not proven. It is an association, and the exposure window runs longer than a year so the true excess is smaller than 24 points. I model it at 15. It matters more than it used to: after the days-to-fill correction, retention is five-sixths of the value of an internal fill. The holdout in the adoption plan is how we settle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funnel left to right and it looks like a selection problem. It is not.
463 applications across three years, from a company of 20,587 people. That is the real number: fewer than eight internal applications a week, company-wide. People are not being rejected in droves — they are not applying, because they cannot see the roles.
The bottom band is the part that should worry us, and I want to be precise about what is measured and what is not.
MEASURED: 67 people raised their hand in 2025, we said no, and 29 have since left. 43% of that cohort. That comes straight out of HRIS and anyone can re-pull it.
NOT MEASURED: what to compare it against. An earlier draft of this used 19% as a company average. I have withdrawn that — it traced back to a placeholder tile in the v1 prototype dashboard, not to Payroll. The right comparator is attrition among band B and C non-mass staff, because that is who these applicants are; a whole-company rate would be dragged up by mass operations. HR has been asked for it.
The 16 and the 5.2 million on this slide assume a 28% comparator, which is what the 15-point excess I model implies. The appendix shows the case from 20% to 35%. If anyone asks the obvious question — what if the comparator is 35% — the answer is that the expected case still clears a ratio of 4.3, and I would rather show you that range than defend a number I cannot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twenty seconds. It is the bridge between the problem and the product.
The point to land: every one of these three is a systems gap, not a talent gap or a manager-attitude gap. That matters because it means the fix is buildable rather than cultural, and buildable things have costs and timelines you can approve.
If a panel member pushes on manager hoarding — it is real, and it is on the risk slide. But hoarding cannot explain 463 applications; you cannot hoard a role nobody applied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then straight into the demo.
The four shelves matter because a vacancy is a once-a-year event but a gig is a once-a-month one. If the only thing on the marketplace is permanent roles, most people have no reason to come back, and the people we turn down leave with nothing. The gigs, immersions and service offers are the second door — and they are the answer to the 67/38 problem.
On the AI: it is Claude, called in batch when a post goes live. It scores against verified skills, self-declared skills, stated aspiration and track record. The reasoning is shown on every card, and a low score never stops anyone applying. That was a deliberate design decision — an opaque gate would have killed trust in week one.
Cost of the AI is 40,544 pesos a year at 1,113 people. It is on the cost slide and it is not inside IT's 1,785,500 build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creativity and innovation criterion, and it is forty seconds.
The honest framing: internal talent marketplaces are not a new product category. Gloat, Fuel50 and Eightfold have existed for years. What is designed here rather than copied is the response to a problem the category has not solved — that a marketplace which only sells permanent roles manufactures rejection, and rejection is what pushes people out. Our own 67/38 cohort is the evidence. The four shelves exist because of it.
On provenance: most systems treat a self-declared skill and a demonstrated one as the same string. Ours does not — verified, HR-uploaded and self-declared carry different weight in the match rubric, and the employee can see which is which on their own profile. That is what stops the skills inventory rotting into a wish list.
If the Chief AI Officer asks what is genuinely AI here rather than rules: the model reads unstructured job posts and unstructured profiles and produces a scored, explained judgement about adjacency — it understands that workforce planning is close to capacity planning without anyone maintaining a synonym table. The deliberate constraints are that it never ranks people against each other, never gates an application, and always shows its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Four beats, in this order, and do not improvise beyond them.
1. Sign in as Taylor Swift. Go to My Matches. Point out that the matches are 80% and above, and read one "why this score" line out loud. The panel needs to hear that the machine explains itself.
2. Go to My Profile and add a skill. Come back to My Matches. New opportunities appear. This is the single most persuasive twenty seconds in the demo — the marketplace is live, not a mockup.
3. Switch role to a manager. Post a gig. Switch to HR admin, approve it. Switch back to employee, and it is on the shelf with an applicant count. This proves the full loop, including governance.
4. Close out a completed immersion with a rating, then open the employee profile and show it recorded there. That is how a skill becomes verified rather than claimed.
If the demo fails: the screenshots in the appendix cover beats 1 and 3. Do not spend more than thirty seconds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CFO will test. Three things to say before being asked.
FIRST — the hiring-cost row is small on purpose. A Band C hire costs 35,367 pesos through TA. Of that, 3,378 is HR and TA cost per hire which we still pay on an internal move, so it is not a saving. And filling a Band C role internally creates a Band B vacancy we then hire for externally at 6,977. Net of both, one Band C internal fill saves 25,012 pesos of hiring cost, not 35,367. I have netted the backfill everywhere.
SECOND — vacancy days, and this row got much smaller in the final cut. It is 43 days to fill externally against 23 internally, so 20 days saved on the senior role at its own day rate, minus 43 days on the backfilled seat at its lower day rate. On a Band C move that nets to 13,572 pesos, not the 61,247 an earlier draft carried on a wrong 58/21 assumption. I corrected it down rather than let it be found. It is lost output, not cash.
THIRD — turnover is now five-sixths of the value of a fill, and that is the honest shape of this business case: internal mobility at Home Credit is a retention instrument, not a speed instrument. It rests on the measured 67/38 cohort, discounted from 24 points of excess attrition to 15, priced at 75% of blended Band B/C annual basic.
Because retention carries the case, the single number worth confirming before we spend anything is band B and C non-mass attrition for 2025. HR has been asked. If it comes back at 35% rather than the 28% modelled, the value per fill drops to about 57,000 — the appendix has the full range.
If challenged that 4 million a year is too small to matter: agreed, on its own. The point is that we capture it for 86 pesos per employee per year at full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"let us get to 30%" is the kind of target that gets approved and then quietly missed. The arithmetic says why.
463 applications produced 170 hires over three years — a 37% success rate. If that rate holds, 30% of 336 vacancies means 101 internal hires a year, which needs 275 applications, up from 154. Nearly double.
The catch is genuine and I would rather raise it than have it raised at me. Doubling applications while holding the success rate means rejecting 174 people a year instead of 98. Our own data says a rejected internal applicant leaves at 43%. Scale that naively and we would be building a machine that generates attrition.
The four shelves are the mitigation. A vacancy is zero-sum — one slot, one winner. A gig is not. An immersion is not. A service offer is not. Those absorb the people a vacancy turns away, and they are the reason the retention benefit in the model is defensible rather than wishful.
This is the answer if anyone asks what is actually innovative here versus a job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scrupulous here: I built these bands from how enterprise HR SaaS is typically structured. They are not quotes and no vendor in the set publishes per-seat pricing. If anyone treats them as firm, correct them.
The two tiers are genuinely different products. Fuel50 and Gloat sell an opportunity marketplace and career pathing — closest to what we have built. Eightfold and Workday sell a skills-inference layer inside a wider suite, which is more capability than we need and usually comes with a multi-module commitment.
The honest case for buying, which I would rather make myself than have made at me: they have spent years on a skills ontology, they benchmark against other companies, and they carry a support SLA. We have none of that, and our 0.2 to 0.3 FTE of ownership from year two is the thin end of that problem.
The case against, at our size: 1,113 seats is below every vendor minimum, so we would pay for a minimum contract value rather than for seats — the worst possible per-seat economics. And none of them ship developmental job immersion, which is a Home Credit policy instrument, or service offers, or day-one wiring into HC Connect and MyDevelopment.
So the recommendation is sequencing, not ideology: build cheap now to prove people actually use it, and if it works across the whole company, run a real RFP with real usage data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seconds. Name the three, say why, move on. Do not read the right column.
Three of eight, not six — I would rather claim three convincingly than eight loosely. People &amp; Culture, Deep Focus on Tech and Expand Horizons all depend on internal talent supply, and none of them can be met by hiring alone at the pace the plan assumes.
The strongest single argument in this room: Deep Focus on Tech needs engineers and data people we are currently buying at a premium through headhunters, and our own Operations and Risk populations contain people who could cross into that work if there were a route. Gigs and immersions are that route, and they cost us nothing but a manager saying yes.
The asset is not the app. It is the first live, verified skills inventory this company has had — and it stays current because people update it to get matched, which is the reason every previous attempt at a skills database died.
If the Chief AI Officer asks where AI sits: it reads unstructured job posts and profiles and returns an explained score. It does not make selection decisions, does not rank people against each other, and never gates an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to hold: 2.05 million for the pilot, 5.26 million for the whole company, 86 pesos per employee per year at full scale.\n\nNote the time base, because it differs from the last money slide. Slide 8 is per year. This one is a three-year total, because that is how the build is funded.\n\nSTART WITH THE COST TABLE, because it answers the question the CFO is already forming: if 1,113 people cost 2 million, does the whole company cost 38? No. 5.26 million, because the build never moves. Going from the pilot to everyone costs 55 pesos per extra employee per year. The asset is bought once and every wave after it is nearly free.\n\nTHEN THE RIGHT-HAND SIDE, and do not skip the awkward row. The pilot pays back in 13 months on the expected case and 43 months on the measured floor. Full rollout pays back in 6 and 18. The pilot is the WORSE investment on every line, and I want to say that before anyone works it out. The reason is structural: the build costs the same either way, but a 1,113-person boundary only captures about 719,000 pesos a year of a 4 million company-wide prize.\n\nThe gold box is the one I would not hide. On measured benefit alone — extra internal fills and the turnover we can evidence, nothing else — the pilot returns 0.8 and an NPV of minus 420,000. It does not clear. An earlier version of this pack said 1.1; that was built on a wrong days-to-fill assumption of 58 external against 21 internal. The real gap is 43 against 23, the vacancy-days benefit is a fifth of what I had, and the floor case went underwater. I corrected it.\n\nSo the argument is not that the pilot is a good investment in isolation. It is that a 2 million pilot is the cheapest way to buy certainty about a 5.26 million decision that does clear, at 1.8 on measured benefit and 9.7 with the shelves. If the panel would rather skip the pilot and approve the rollout, the economics actually support that — but we would be spending 5.26 million on an untested adoption assumption, and I am not recommending it.\n\nExcluded from the cost, and material: 0.2 to 0.3 FTE of internal ownership from year two. At 0.25 FTE the pilot three-year cost is about 3.4 million and the expected ratio falls to roughly 2.6. I would rather you heard that from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This is the slide IT, the DPO and the Chief AI Officer will each want, for different reasons.
For IT: there is no new system of record. Growth reads from HRIS, MyDevelopment and HC Connect, and the only thing it writes back into a corporate system is one source-field value on a requisition. Supabase gives us Postgres, authentication, row-level security and scheduled jobs in one managed service — that is the lever that took a separate API service out of the build.
For the DPO: row-level security means a manager sees applicants to their own post and nothing else. Authentication is Azure AD single sign-on, so joiners and leavers are handled by the process we already run — nobody has to remember to deprovision. LinkedIn data is employee-supplied and opt-in. Retention is profile-while-employed plus twelve months, referral log twenty-four. The DPIA is costed into the build and is a launch gate, not a follow-up.
For the Chief AI Officer, four design constraints, and I would say all four out loud. One: the prompt carries skills, role text and stated aspiration — no name, no employee ID, no band, no salary, no protected attributes. Two: it scores a person against a post, never people against each other. Three: it never gates an application; a low score is advice, and anyone can apply anyway. Four: the reasoning is shown on every card, so an employee can see why and disagree.
On commercial data terms specifically: zero-data-retention is an available enterprise configuration, and confirming it in the DPA with Anthropic is on the pre-build checklist. I am not claiming it is already in place — that is a procurement action, and it should be closed before the first real profile is loaded.
On cost control, since the previous slide raised it: batch scoring, rescoring only on change, and the cheaper model tier are the three levers, and all three are already in the design rather than being things we would bolt 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for every internal marketplace is the same: it launches, it is empty, people look once and never return. So the first three items all happen before anyone is invited in.
On seeding skills — this is why MyDevelopment and LinkedIn matter. A blank profile is a dead profile. If we pre-fill from records we already hold and ask the employee to correct rather than author, completion goes from a twenty-minute chore to a two-minute one. Data protection position: LinkedIn data is employee-supplied and opt-in, and the DPIA covers it.
On the quarterly email — this is the mechanism that does the heavy lifting on the previous slide. We need applications to go from 154 to 275 a year. A quarterly note saying "here are your three best matches, by name" is the cheapest way to get there. It costs 15,987 pesos a year, it is on the cost slide, and it is the line I would defend last if the budget were cut.
On measurement — the holdout is not optional. It is what turns the retention number from an argument into a finding, and it is what I would want to bring back to this room in twelve months.
Further comms detail if asked: the launch film features one real internal mover telling their own story; a monthly "new on the shelves" digest; and a standing item in the ExCo pack showing posts, applications and fills by function — visibility of who is NOT posting is what moves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asks and then stop talking. Do not summarise.
The second ask is the one people underestimate. Without a "Growth Marketplace" source value in HC Connect, every internal hire that came through the marketplace is invisible in our own data and gets attributed to the recruitment tool. It costs nothing and it is the difference between coming back here in a year with evidence and coming back with anecdotes. Get it agreed before the build starts, not after.
The third ask is the one that determines whether this works. Six managers, each committing one gig or one immersion before launch. If nobody in this room will name them, the honest answer is that the organisation is not ready and we should not spend the 1.78 million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turn to when someone says the hiring-cost saving looks small.
It is small, and that is the honest answer. Internal mobility does not eliminate a hire — it moves the hire one band down the chain, where it is cheaper and faster but not free. Most business cases for talent marketplaces quietly skip this. Ours does not.
The earlier draft of this business case used a 350,000-peso avoided agency fee per internal fill. I retired it: it was cited to the v1 paper, that paper does not contain it, and it conflicts with TA's own 2025 cost-per-hire file. Everything here now comes from that file and from Payroll.
Where the value genuinely is: the 76,260 of replacement cost we do not pay because the person stayed. That is five-sixths of it. An earlier draft of this pack had the speed benefit far larger, because it assumed 58 days to fill externally against 21 internally. The real figures are 43 and 23 — 20 days saved, not 37 — and the backfilled seat sits empty for 43 of them. Correcting it cut the value of a fill from 119,822 to 91,276 and turned this into a retention case rather than a speed case. Band B barely pays at all on this basis: 1,943 a fill, because the Band M seat left behind eats nearly the whole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to this the moment anyone questions the turnover line, and volunteer it if the CFO looks sceptical.
Three layers, and I want them kept apart.
MEASURED: 67 turned down in 2025, 38 still employed in September 2026. HRIS fact, re-pullable. Payroll band averages are also fact.
DERIVED: the blend. The 2025 band split — 186 Band B to 103 Band C — scaled onto the three-year external hire volume of 838, weights the two band averages into about 56,488 a month, 677,863 a year. Arithmetic, plus one assumption I should name: we only have band-level counts for 2025, so those proportions are held constant across 2024 and 2026. If TA can give us the real splits it is a one-line change, and it matters, because Band B and Band C now differ twentyfold per fill.
ASSUMED: two things. First, replacement at 75% of annual basic — published ranges run 50 to 200% of salary depending on seniority, so 75% of basic is deliberately at the low end, and using basic rather than total cost understates it again. Second, the comparator attrition rate, which we do not have.
On that second one: I had 19% in an earlier draft. It came from a demo tile in the v1 prototype that read "94% versus 81% company average" — illustrative placeholder text I wrote, never a Payroll figure. Withdrawing it is the right call and I would rather say so than have it found.
The table is the answer to "what if you are wrong". Across the whole plausible range the expected case stays above 4.0. The floor moves from 1.2 to 0.5 and never clears 1.0 at the modelled comparator — so on measured benefit alone, at pilot scale, this does not pay for itself. That is exactly why confirming this number is the first thing on the measurement plan, and why the ask is framed as buying evidence rather than buying a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It is here so that any number challenged from the floor can be answered by turning to one slide.
The division is deliberate: the left column is data we hold and can re-pull, the right column is judgement. If a panel member wants to argue, point them at the right column — that is where the argument is, and I have already taken the conservative side of every item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are gates rather than risks: manager supply and the source field. Both are decisions this room can make today, both cost nothing, and the project should not start without them. Saying that out loud is what makes the rest of the risk table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C00000"/>
          </a:solidFill>
          <a:ln w="12700">
            <a:solidFill>
              <a:srgbClr val="333333"/>
            </a:solidFill>
            <a:prstDash val="solid"/>
          </a:ln>
        </p:spPr>
      </p:sp>
      <p:sp>
        <p:nvSpPr>
          <p:cNvPr id="3" name="Shape 1"/>
          <p:cNvSpPr/>
          <p:nvPr/>
        </p:nvSpPr>
        <p:spPr>
          <a:xfrm>
            <a:off x="1051560" y="1115568"/>
            <a:ext cx="841248" cy="841248"/>
          </a:xfrm>
          <a:prstGeom prst="roundRect">
            <a:avLst>
              <a:gd name="adj" fmla="val 23913"/>
            </a:avLst>
          </a:prstGeom>
          <a:solidFill>
            <a:srgbClr val="C00000"/>
          </a:solidFill>
          <a:ln w="12700">
            <a:solidFill>
              <a:srgbClr val="333333"/>
            </a:solidFill>
            <a:prstDash val="solid"/>
          </a:ln>
        </p:spPr>
      </p:sp>
      <p:pic>
        <p:nvPicPr>
          <p:cNvPr id="4" name="Image 0" descr="preencoded.png">    </p:cNvPr>
          <p:cNvPicPr>
            <a:picLocks noChangeAspect="1"/>
          </p:cNvPicPr>
          <p:nvPr/>
        </p:nvPicPr>
        <p:blipFill>
          <a:blip r:embed="rId1"/>
          <a:stretch>
            <a:fillRect/>
          </a:stretch>
        </p:blipFill>
        <p:spPr>
          <a:xfrm>
            <a:off x="1202985" y="1266993"/>
            <a:ext cx="538399" cy="538399"/>
          </a:xfrm>
          <a:prstGeom prst="rect">
            <a:avLst/>
          </a:prstGeom>
        </p:spPr>
      </p:pic>
      <p:sp>
        <p:nvSpPr>
          <p:cNvPr id="5" name="Text 2"/>
          <p:cNvSpPr txBox="1"/>
          <p:nvPr/>
        </p:nvSpPr>
        <p:spPr>
          <a:xfrm>
            <a:off x="1051560" y="2139696"/>
            <a:ext cx="8229600" cy="960120"/>
          </a:xfrm>
          <a:prstGeom prst="rect">
            <a:avLst/>
          </a:prstGeom>
          <a:noFill/>
          <a:ln/>
        </p:spPr>
        <p:txBody>
          <a:bodyPr wrap="square" lIns="0" tIns="0" rIns="0" bIns="0" rtlCol="0" anchor="ctr"/>
          <a:lstStyle/>
          <a:p>
            <a:pPr indent="0" marL="0">
              <a:buNone/>
            </a:pPr>
            <a:r>
              <a:rPr lang="en-US" sz="6200" b="1" dirty="0">
                <a:solidFill>
                  <a:srgbClr val="222834"/>
                </a:solidFill>
                <a:latin typeface="Arial" pitchFamily="34" charset="0"/>
                <a:ea typeface="Arial" pitchFamily="34" charset="-122"/>
                <a:cs typeface="Arial" pitchFamily="34" charset="-120"/>
              </a:rPr>
              <a:t>Growth</a:t>
            </a:r>
            <a:endParaRPr lang="en-US" sz="6200" dirty="0"/>
          </a:p>
        </p:txBody>
      </p:sp>
      <p:sp>
        <p:nvSpPr>
          <p:cNvPr id="6" name="Text 3"/>
          <p:cNvSpPr txBox="1"/>
          <p:nvPr/>
        </p:nvSpPr>
        <p:spPr>
          <a:xfrm>
            <a:off x="1051560" y="3127248"/>
            <a:ext cx="8595360" cy="384048"/>
          </a:xfrm>
          <a:prstGeom prst="rect">
            <a:avLst/>
          </a:prstGeom>
          <a:noFill/>
          <a:ln/>
        </p:spPr>
        <p:txBody>
          <a:bodyPr wrap="square" lIns="0" tIns="0" rIns="0" bIns="0" rtlCol="0" anchor="ctr"/>
          <a:lstStyle/>
          <a:p>
            <a:pPr indent="0" marL="0">
              <a:buNone/>
            </a:pPr>
            <a:r>
              <a:rPr lang="en-US" sz="2000" dirty="0">
                <a:solidFill>
                  <a:srgbClr val="4B5363"/>
                </a:solidFill>
                <a:latin typeface="Arial" pitchFamily="34" charset="0"/>
                <a:ea typeface="Arial" pitchFamily="34" charset="-122"/>
                <a:cs typeface="Arial" pitchFamily="34" charset="-120"/>
              </a:rPr>
              <a:t>An internal talent marketplace for Home Credit Philippines</a:t>
            </a:r>
            <a:endParaRPr lang="en-US" sz="2000" dirty="0"/>
          </a:p>
        </p:txBody>
      </p:sp>
      <p:sp>
        <p:nvSpPr>
          <p:cNvPr id="7" name="Shape 4"/>
          <p:cNvSpPr/>
          <p:nvPr/>
        </p:nvSpPr>
        <p:spPr>
          <a:xfrm>
            <a:off x="1051560" y="3712464"/>
            <a:ext cx="1371600" cy="54864"/>
          </a:xfrm>
          <a:prstGeom prst="rect">
            <a:avLst/>
          </a:prstGeom>
          <a:solidFill>
            <a:srgbClr val="C00000"/>
          </a:solidFill>
          <a:ln w="12700">
            <a:solidFill>
              <a:srgbClr val="333333"/>
            </a:solidFill>
            <a:prstDash val="solid"/>
          </a:ln>
        </p:spPr>
      </p:sp>
      <p:sp>
        <p:nvSpPr>
          <p:cNvPr id="8" name="Text 5"/>
          <p:cNvSpPr txBox="1"/>
          <p:nvPr/>
        </p:nvSpPr>
        <p:spPr>
          <a:xfrm>
            <a:off x="1051560" y="3968496"/>
            <a:ext cx="10241280" cy="310896"/>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Action Learning Project</a:t>
            </a:r>
            <a:pPr indent="0" marL="0">
              <a:buNone/>
            </a:pPr>
            <a:r>
              <a:rPr lang="en-US" sz="1600" dirty="0">
                <a:solidFill>
                  <a:srgbClr val="858D9B"/>
                </a:solidFill>
                <a:latin typeface="Arial" pitchFamily="34" charset="0"/>
                <a:ea typeface="Arial" pitchFamily="34" charset="-122"/>
                <a:cs typeface="Arial" pitchFamily="34" charset="-120"/>
              </a:rPr>
              <a:t>   ·   Ruffa Gayla Gonzales, Organisational Effectiveness   ·   September 2026</a:t>
            </a:r>
            <a:endParaRPr lang="en-US" sz="1600" dirty="0"/>
          </a:p>
        </p:txBody>
      </p:sp>
      <p:sp>
        <p:nvSpPr>
          <p:cNvPr id="9" name="Shape 6"/>
          <p:cNvSpPr/>
          <p:nvPr/>
        </p:nvSpPr>
        <p:spPr>
          <a:xfrm>
            <a:off x="1051560" y="4864608"/>
            <a:ext cx="1965960" cy="0"/>
          </a:xfrm>
          <a:prstGeom prst="line">
            <a:avLst/>
          </a:prstGeom>
          <a:noFill/>
          <a:ln w="12700">
            <a:solidFill>
              <a:srgbClr val="E9E1D3"/>
            </a:solidFill>
            <a:prstDash val="solid"/>
          </a:ln>
        </p:spPr>
      </p:sp>
      <p:sp>
        <p:nvSpPr>
          <p:cNvPr id="10" name="Text 7"/>
          <p:cNvSpPr txBox="1"/>
          <p:nvPr/>
        </p:nvSpPr>
        <p:spPr>
          <a:xfrm>
            <a:off x="1051560" y="4956048"/>
            <a:ext cx="2011680" cy="420624"/>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17%</a:t>
            </a:r>
            <a:endParaRPr lang="en-US" sz="2800" dirty="0"/>
          </a:p>
        </p:txBody>
      </p:sp>
      <p:sp>
        <p:nvSpPr>
          <p:cNvPr id="11" name="Text 8"/>
          <p:cNvSpPr txBox="1"/>
          <p:nvPr/>
        </p:nvSpPr>
        <p:spPr>
          <a:xfrm>
            <a:off x="105156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of roles filled</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from inside</a:t>
            </a:r>
            <a:endParaRPr lang="en-US" sz="1400" dirty="0"/>
          </a:p>
        </p:txBody>
      </p:sp>
      <p:sp>
        <p:nvSpPr>
          <p:cNvPr id="12" name="Shape 9"/>
          <p:cNvSpPr/>
          <p:nvPr/>
        </p:nvSpPr>
        <p:spPr>
          <a:xfrm>
            <a:off x="3383280" y="4864608"/>
            <a:ext cx="1965960" cy="0"/>
          </a:xfrm>
          <a:prstGeom prst="line">
            <a:avLst/>
          </a:prstGeom>
          <a:noFill/>
          <a:ln w="12700">
            <a:solidFill>
              <a:srgbClr val="E9E1D3"/>
            </a:solidFill>
            <a:prstDash val="solid"/>
          </a:ln>
        </p:spPr>
      </p:sp>
      <p:sp>
        <p:nvSpPr>
          <p:cNvPr id="13" name="Text 10"/>
          <p:cNvSpPr txBox="1"/>
          <p:nvPr/>
        </p:nvSpPr>
        <p:spPr>
          <a:xfrm>
            <a:off x="3383280" y="4956048"/>
            <a:ext cx="2011680" cy="420624"/>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₱4.0M</a:t>
            </a:r>
            <a:endParaRPr lang="en-US" sz="2800" dirty="0"/>
          </a:p>
        </p:txBody>
      </p:sp>
      <p:sp>
        <p:nvSpPr>
          <p:cNvPr id="14" name="Text 11"/>
          <p:cNvSpPr txBox="1"/>
          <p:nvPr/>
        </p:nvSpPr>
        <p:spPr>
          <a:xfrm>
            <a:off x="338328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a year that</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costs us</a:t>
            </a:r>
            <a:endParaRPr lang="en-US" sz="1400" dirty="0"/>
          </a:p>
        </p:txBody>
      </p:sp>
      <p:sp>
        <p:nvSpPr>
          <p:cNvPr id="15" name="Shape 12"/>
          <p:cNvSpPr/>
          <p:nvPr/>
        </p:nvSpPr>
        <p:spPr>
          <a:xfrm>
            <a:off x="5715000" y="4864608"/>
            <a:ext cx="1965960" cy="0"/>
          </a:xfrm>
          <a:prstGeom prst="line">
            <a:avLst/>
          </a:prstGeom>
          <a:noFill/>
          <a:ln w="12700">
            <a:solidFill>
              <a:srgbClr val="E9E1D3"/>
            </a:solidFill>
            <a:prstDash val="solid"/>
          </a:ln>
        </p:spPr>
      </p:sp>
      <p:sp>
        <p:nvSpPr>
          <p:cNvPr id="16" name="Text 13"/>
          <p:cNvSpPr txBox="1"/>
          <p:nvPr/>
        </p:nvSpPr>
        <p:spPr>
          <a:xfrm>
            <a:off x="5715000" y="4956048"/>
            <a:ext cx="2011680" cy="420624"/>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₱2.05M</a:t>
            </a:r>
            <a:endParaRPr lang="en-US" sz="2800" dirty="0"/>
          </a:p>
        </p:txBody>
      </p:sp>
      <p:sp>
        <p:nvSpPr>
          <p:cNvPr id="17" name="Text 14"/>
          <p:cNvSpPr txBox="1"/>
          <p:nvPr/>
        </p:nvSpPr>
        <p:spPr>
          <a:xfrm>
            <a:off x="571500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to build and run</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for three years</a:t>
            </a:r>
            <a:endParaRPr lang="en-US" sz="1400" dirty="0"/>
          </a:p>
        </p:txBody>
      </p:sp>
      <p:sp>
        <p:nvSpPr>
          <p:cNvPr id="18" name="Shape 15"/>
          <p:cNvSpPr/>
          <p:nvPr/>
        </p:nvSpPr>
        <p:spPr>
          <a:xfrm>
            <a:off x="8046720" y="4864608"/>
            <a:ext cx="1965960" cy="0"/>
          </a:xfrm>
          <a:prstGeom prst="line">
            <a:avLst/>
          </a:prstGeom>
          <a:noFill/>
          <a:ln w="12700">
            <a:solidFill>
              <a:srgbClr val="E9E1D3"/>
            </a:solidFill>
            <a:prstDash val="solid"/>
          </a:ln>
        </p:spPr>
      </p:sp>
      <p:sp>
        <p:nvSpPr>
          <p:cNvPr id="19" name="Text 16"/>
          <p:cNvSpPr txBox="1"/>
          <p:nvPr/>
        </p:nvSpPr>
        <p:spPr>
          <a:xfrm>
            <a:off x="8046720" y="4956048"/>
            <a:ext cx="2011680" cy="420624"/>
          </a:xfrm>
          <a:prstGeom prst="rect">
            <a:avLst/>
          </a:prstGeom>
          <a:noFill/>
          <a:ln/>
        </p:spPr>
        <p:txBody>
          <a:bodyPr wrap="square" lIns="0" tIns="0" rIns="0" bIns="0" rtlCol="0" anchor="ctr"/>
          <a:lstStyle/>
          <a:p>
            <a:pPr indent="0" marL="0">
              <a:buNone/>
            </a:pPr>
            <a:r>
              <a:rPr lang="en-US" sz="2800" b="1" dirty="0">
                <a:solidFill>
                  <a:srgbClr val="0E7C66"/>
                </a:solidFill>
                <a:latin typeface="Arial" pitchFamily="34" charset="0"/>
                <a:ea typeface="Arial" pitchFamily="34" charset="-122"/>
                <a:cs typeface="Arial" pitchFamily="34" charset="-120"/>
              </a:rPr>
              <a:t>13 mo</a:t>
            </a:r>
            <a:endParaRPr lang="en-US" sz="2800" dirty="0"/>
          </a:p>
        </p:txBody>
      </p:sp>
      <p:sp>
        <p:nvSpPr>
          <p:cNvPr id="20" name="Text 17"/>
          <p:cNvSpPr txBox="1"/>
          <p:nvPr/>
        </p:nvSpPr>
        <p:spPr>
          <a:xfrm>
            <a:off x="804672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to pay for</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itself</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EXECUTIVE SUMMARY</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We are buying from outside what we already have inside.</a:t>
            </a:r>
            <a:endParaRPr lang="en-US" sz="2900" dirty="0"/>
          </a:p>
        </p:txBody>
      </p:sp>
      <p:sp>
        <p:nvSpPr>
          <p:cNvPr id="5" name="Shape 3"/>
          <p:cNvSpPr/>
          <p:nvPr/>
        </p:nvSpPr>
        <p:spPr>
          <a:xfrm>
            <a:off x="566928" y="1700784"/>
            <a:ext cx="6026522" cy="4590288"/>
          </a:xfrm>
          <a:prstGeom prst="roundRect">
            <a:avLst>
              <a:gd name="adj" fmla="val 797"/>
            </a:avLst>
          </a:prstGeom>
          <a:solidFill>
            <a:srgbClr val="F6F2EA"/>
          </a:solidFill>
          <a:ln w="12700">
            <a:solidFill>
              <a:srgbClr val="333333"/>
            </a:solidFill>
            <a:prstDash val="solid"/>
          </a:ln>
        </p:spPr>
      </p:sp>
      <p:sp>
        <p:nvSpPr>
          <p:cNvPr id="6" name="Text 4"/>
          <p:cNvSpPr txBox="1"/>
          <p:nvPr/>
        </p:nvSpPr>
        <p:spPr>
          <a:xfrm>
            <a:off x="877824" y="1883664"/>
            <a:ext cx="5404730"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7" name="Text 5"/>
          <p:cNvSpPr txBox="1"/>
          <p:nvPr/>
        </p:nvSpPr>
        <p:spPr>
          <a:xfrm>
            <a:off x="877824" y="2212848"/>
            <a:ext cx="5404730" cy="950976"/>
          </a:xfrm>
          <a:prstGeom prst="rect">
            <a:avLst/>
          </a:prstGeom>
          <a:noFill/>
          <a:ln/>
        </p:spPr>
        <p:txBody>
          <a:bodyPr wrap="square" lIns="0" tIns="0" rIns="0" bIns="0" rtlCol="0" anchor="t"/>
          <a:lstStyle/>
          <a:p>
            <a:pPr indent="0" marL="0">
              <a:lnSpc>
                <a:spcPts val="2400"/>
              </a:lnSpc>
              <a:buNone/>
            </a:pPr>
            <a:r>
              <a:rPr lang="en-US" sz="1700" dirty="0">
                <a:solidFill>
                  <a:srgbClr val="222834"/>
                </a:solidFill>
                <a:latin typeface="Arial" pitchFamily="34" charset="0"/>
                <a:ea typeface="Arial" pitchFamily="34" charset="-122"/>
                <a:cs typeface="Arial" pitchFamily="34" charset="-120"/>
              </a:rPr>
              <a:t>Over 2024–2026 we opened 1,008 vacancies. 463 people applied from inside. 170 got the job — a 17% internal fill rate against a 30% market benchmark.</a:t>
            </a:r>
            <a:endParaRPr lang="en-US" sz="1700" dirty="0"/>
          </a:p>
        </p:txBody>
      </p:sp>
      <p:sp>
        <p:nvSpPr>
          <p:cNvPr id="8" name="Shape 6"/>
          <p:cNvSpPr/>
          <p:nvPr/>
        </p:nvSpPr>
        <p:spPr>
          <a:xfrm>
            <a:off x="877824" y="3273552"/>
            <a:ext cx="5404730" cy="0"/>
          </a:xfrm>
          <a:prstGeom prst="line">
            <a:avLst/>
          </a:prstGeom>
          <a:noFill/>
          <a:ln w="12700">
            <a:solidFill>
              <a:srgbClr val="E9E1D3"/>
            </a:solidFill>
            <a:prstDash val="solid"/>
          </a:ln>
        </p:spPr>
      </p:sp>
      <p:sp>
        <p:nvSpPr>
          <p:cNvPr id="9" name="Text 7"/>
          <p:cNvSpPr txBox="1"/>
          <p:nvPr/>
        </p:nvSpPr>
        <p:spPr>
          <a:xfrm>
            <a:off x="877824" y="3419856"/>
            <a:ext cx="5404730" cy="1170432"/>
          </a:xfrm>
          <a:prstGeom prst="rect">
            <a:avLst/>
          </a:prstGeom>
          <a:noFill/>
          <a:ln/>
        </p:spPr>
        <p:txBody>
          <a:bodyPr wrap="square" lIns="0" tIns="0" rIns="0" bIns="0" rtlCol="0" anchor="t"/>
          <a:lstStyle/>
          <a:p>
            <a:pPr indent="0" marL="0">
              <a:lnSpc>
                <a:spcPts val="2200"/>
              </a:lnSpc>
              <a:buNone/>
            </a:pPr>
            <a:r>
              <a:rPr lang="en-US" sz="1600" b="1" dirty="0">
                <a:solidFill>
                  <a:srgbClr val="222834"/>
                </a:solidFill>
                <a:latin typeface="Arial" pitchFamily="34" charset="0"/>
                <a:ea typeface="Arial" pitchFamily="34" charset="-122"/>
                <a:cs typeface="Arial" pitchFamily="34" charset="-120"/>
              </a:rPr>
              <a:t>And saying no has a price. </a:t>
            </a:r>
            <a:pPr indent="0" marL="0">
              <a:lnSpc>
                <a:spcPts val="2200"/>
              </a:lnSpc>
              <a:buNone/>
            </a:pPr>
            <a:r>
              <a:rPr lang="en-US" sz="1600" dirty="0">
                <a:solidFill>
                  <a:srgbClr val="4B5363"/>
                </a:solidFill>
                <a:latin typeface="Arial" pitchFamily="34" charset="0"/>
                <a:ea typeface="Arial" pitchFamily="34" charset="-122"/>
                <a:cs typeface="Arial" pitchFamily="34" charset="-120"/>
              </a:rPr>
              <a:t>Of the 67 internal applicants we turned down in 2025, only 38 are still with Home Credit. 43% of that cohort has already left us.</a:t>
            </a:r>
            <a:endParaRPr lang="en-US" sz="1600" dirty="0"/>
          </a:p>
        </p:txBody>
      </p:sp>
      <p:sp>
        <p:nvSpPr>
          <p:cNvPr id="10" name="Shape 8"/>
          <p:cNvSpPr/>
          <p:nvPr/>
        </p:nvSpPr>
        <p:spPr>
          <a:xfrm>
            <a:off x="877824" y="4663440"/>
            <a:ext cx="5404730" cy="0"/>
          </a:xfrm>
          <a:prstGeom prst="line">
            <a:avLst/>
          </a:prstGeom>
          <a:noFill/>
          <a:ln w="12700">
            <a:solidFill>
              <a:srgbClr val="E9E1D3"/>
            </a:solidFill>
            <a:prstDash val="solid"/>
          </a:ln>
        </p:spPr>
      </p:sp>
      <p:sp>
        <p:nvSpPr>
          <p:cNvPr id="11" name="Text 9"/>
          <p:cNvSpPr txBox="1"/>
          <p:nvPr/>
        </p:nvSpPr>
        <p:spPr>
          <a:xfrm>
            <a:off x="877824" y="4809744"/>
            <a:ext cx="5404730"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THE CAUSE</a:t>
            </a:r>
            <a:endParaRPr lang="en-US" sz="1400" dirty="0"/>
          </a:p>
        </p:txBody>
      </p:sp>
      <p:sp>
        <p:nvSpPr>
          <p:cNvPr id="12" name="Text 10"/>
          <p:cNvSpPr txBox="1"/>
          <p:nvPr/>
        </p:nvSpPr>
        <p:spPr>
          <a:xfrm>
            <a:off x="877824" y="5102352"/>
            <a:ext cx="5404730" cy="950976"/>
          </a:xfrm>
          <a:prstGeom prst="rect">
            <a:avLst/>
          </a:prstGeom>
          <a:noFill/>
          <a:ln/>
        </p:spPr>
        <p:txBody>
          <a:bodyPr wrap="square" lIns="0" tIns="0" rIns="0" bIns="0" rtlCol="0" anchor="t"/>
          <a:lstStyle/>
          <a:p>
            <a:pPr indent="0" marL="0">
              <a:lnSpc>
                <a:spcPts val="2100"/>
              </a:lnSpc>
              <a:buNone/>
            </a:pPr>
            <a:r>
              <a:rPr lang="en-US" sz="1500" dirty="0">
                <a:solidFill>
                  <a:srgbClr val="4B5363"/>
                </a:solidFill>
                <a:latin typeface="Arial" pitchFamily="34" charset="0"/>
                <a:ea typeface="Arial" pitchFamily="34" charset="-122"/>
                <a:cs typeface="Arial" pitchFamily="34" charset="-120"/>
              </a:rPr>
              <a:t>Not selection — visibility. Nothing shows an employee a role they would fit, and nothing tells a manager the person they need is already on payroll.</a:t>
            </a:r>
            <a:endParaRPr lang="en-US" sz="1500" dirty="0"/>
          </a:p>
        </p:txBody>
      </p:sp>
      <p:sp>
        <p:nvSpPr>
          <p:cNvPr id="13" name="Text 11"/>
          <p:cNvSpPr txBox="1"/>
          <p:nvPr/>
        </p:nvSpPr>
        <p:spPr>
          <a:xfrm>
            <a:off x="6867770" y="1737360"/>
            <a:ext cx="4756997"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WHAT WE ARE ASKING FOR</a:t>
            </a:r>
            <a:endParaRPr lang="en-US" sz="1400" dirty="0"/>
          </a:p>
        </p:txBody>
      </p:sp>
      <p:sp>
        <p:nvSpPr>
          <p:cNvPr id="14" name="Text 12"/>
          <p:cNvSpPr txBox="1"/>
          <p:nvPr/>
        </p:nvSpPr>
        <p:spPr>
          <a:xfrm>
            <a:off x="6867770" y="2029968"/>
            <a:ext cx="4756997" cy="603504"/>
          </a:xfrm>
          <a:prstGeom prst="rect">
            <a:avLst/>
          </a:prstGeom>
          <a:noFill/>
          <a:ln/>
        </p:spPr>
        <p:txBody>
          <a:bodyPr wrap="square" lIns="0" tIns="0" rIns="0" bIns="0" rtlCol="0" anchor="t"/>
          <a:lstStyle/>
          <a:p>
            <a:pPr indent="0" marL="0">
              <a:lnSpc>
                <a:spcPts val="2300"/>
              </a:lnSpc>
              <a:buNone/>
            </a:pPr>
            <a:r>
              <a:rPr lang="en-US" sz="1700" b="1" dirty="0">
                <a:solidFill>
                  <a:srgbClr val="222834"/>
                </a:solidFill>
                <a:latin typeface="Arial" pitchFamily="34" charset="0"/>
                <a:ea typeface="Arial" pitchFamily="34" charset="-122"/>
                <a:cs typeface="Arial" pitchFamily="34" charset="-120"/>
              </a:rPr>
              <a:t>Build Growth for a 1,113-person pilot — IT, HR and Operations, mass and non-mass.</a:t>
            </a:r>
            <a:endParaRPr lang="en-US" sz="1700" dirty="0"/>
          </a:p>
        </p:txBody>
      </p:sp>
      <p:sp>
        <p:nvSpPr>
          <p:cNvPr id="15" name="Text 13"/>
          <p:cNvSpPr txBox="1"/>
          <p:nvPr/>
        </p:nvSpPr>
        <p:spPr>
          <a:xfrm>
            <a:off x="6867770" y="2724912"/>
            <a:ext cx="1997939"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₱2.05M</a:t>
            </a:r>
            <a:endParaRPr lang="en-US" sz="2100" dirty="0"/>
          </a:p>
        </p:txBody>
      </p:sp>
      <p:sp>
        <p:nvSpPr>
          <p:cNvPr id="16" name="Text 14"/>
          <p:cNvSpPr txBox="1"/>
          <p:nvPr/>
        </p:nvSpPr>
        <p:spPr>
          <a:xfrm>
            <a:off x="8865709" y="272491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three-year cost, all in</a:t>
            </a:r>
            <a:endParaRPr lang="en-US" sz="1500" dirty="0"/>
          </a:p>
        </p:txBody>
      </p:sp>
      <p:sp>
        <p:nvSpPr>
          <p:cNvPr id="17" name="Shape 15"/>
          <p:cNvSpPr/>
          <p:nvPr/>
        </p:nvSpPr>
        <p:spPr>
          <a:xfrm>
            <a:off x="6867770" y="3273552"/>
            <a:ext cx="4756997" cy="0"/>
          </a:xfrm>
          <a:prstGeom prst="line">
            <a:avLst/>
          </a:prstGeom>
          <a:noFill/>
          <a:ln w="12700">
            <a:solidFill>
              <a:srgbClr val="E7E1D7"/>
            </a:solidFill>
            <a:prstDash val="solid"/>
          </a:ln>
        </p:spPr>
      </p:sp>
      <p:sp>
        <p:nvSpPr>
          <p:cNvPr id="18" name="Text 16"/>
          <p:cNvSpPr txBox="1"/>
          <p:nvPr/>
        </p:nvSpPr>
        <p:spPr>
          <a:xfrm>
            <a:off x="6867770" y="3456432"/>
            <a:ext cx="1997939"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₱614</a:t>
            </a:r>
            <a:endParaRPr lang="en-US" sz="2100" dirty="0"/>
          </a:p>
        </p:txBody>
      </p:sp>
      <p:sp>
        <p:nvSpPr>
          <p:cNvPr id="19" name="Text 17"/>
          <p:cNvSpPr txBox="1"/>
          <p:nvPr/>
        </p:nvSpPr>
        <p:spPr>
          <a:xfrm>
            <a:off x="8865709" y="345643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per employee a year</a:t>
            </a:r>
            <a:endParaRPr lang="en-US" sz="1500" dirty="0"/>
          </a:p>
        </p:txBody>
      </p:sp>
      <p:sp>
        <p:nvSpPr>
          <p:cNvPr id="20" name="Shape 18"/>
          <p:cNvSpPr/>
          <p:nvPr/>
        </p:nvSpPr>
        <p:spPr>
          <a:xfrm>
            <a:off x="6867770" y="4005072"/>
            <a:ext cx="4756997" cy="0"/>
          </a:xfrm>
          <a:prstGeom prst="line">
            <a:avLst/>
          </a:prstGeom>
          <a:noFill/>
          <a:ln w="12700">
            <a:solidFill>
              <a:srgbClr val="E7E1D7"/>
            </a:solidFill>
            <a:prstDash val="solid"/>
          </a:ln>
        </p:spPr>
      </p:sp>
      <p:sp>
        <p:nvSpPr>
          <p:cNvPr id="21" name="Text 19"/>
          <p:cNvSpPr txBox="1"/>
          <p:nvPr/>
        </p:nvSpPr>
        <p:spPr>
          <a:xfrm>
            <a:off x="6867770" y="4187952"/>
            <a:ext cx="1997939" cy="365760"/>
          </a:xfrm>
          <a:prstGeom prst="rect">
            <a:avLst/>
          </a:prstGeom>
          <a:noFill/>
          <a:ln/>
        </p:spPr>
        <p:txBody>
          <a:bodyPr wrap="square" lIns="0" tIns="0" rIns="0" bIns="0" rtlCol="0" anchor="ctr"/>
          <a:lstStyle/>
          <a:p>
            <a:pPr indent="0" marL="0">
              <a:buNone/>
            </a:pPr>
            <a:r>
              <a:rPr lang="en-US" sz="2100" b="1" dirty="0">
                <a:solidFill>
                  <a:srgbClr val="0E7C66"/>
                </a:solidFill>
                <a:latin typeface="Arial" pitchFamily="34" charset="0"/>
                <a:ea typeface="Arial" pitchFamily="34" charset="-122"/>
                <a:cs typeface="Arial" pitchFamily="34" charset="-120"/>
              </a:rPr>
              <a:t>13 months</a:t>
            </a:r>
            <a:endParaRPr lang="en-US" sz="2100" dirty="0"/>
          </a:p>
        </p:txBody>
      </p:sp>
      <p:sp>
        <p:nvSpPr>
          <p:cNvPr id="22" name="Text 20"/>
          <p:cNvSpPr txBox="1"/>
          <p:nvPr/>
        </p:nvSpPr>
        <p:spPr>
          <a:xfrm>
            <a:off x="8865709" y="418795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to pay for itself</a:t>
            </a:r>
            <a:endParaRPr lang="en-US" sz="1500" dirty="0"/>
          </a:p>
        </p:txBody>
      </p:sp>
      <p:sp>
        <p:nvSpPr>
          <p:cNvPr id="23" name="Shape 21"/>
          <p:cNvSpPr/>
          <p:nvPr/>
        </p:nvSpPr>
        <p:spPr>
          <a:xfrm>
            <a:off x="6867770" y="4736592"/>
            <a:ext cx="4756997" cy="0"/>
          </a:xfrm>
          <a:prstGeom prst="line">
            <a:avLst/>
          </a:prstGeom>
          <a:noFill/>
          <a:ln w="12700">
            <a:solidFill>
              <a:srgbClr val="E7E1D7"/>
            </a:solidFill>
            <a:prstDash val="solid"/>
          </a:ln>
        </p:spPr>
      </p:sp>
      <p:sp>
        <p:nvSpPr>
          <p:cNvPr id="24" name="Text 22"/>
          <p:cNvSpPr txBox="1"/>
          <p:nvPr/>
        </p:nvSpPr>
        <p:spPr>
          <a:xfrm>
            <a:off x="6867770" y="4919472"/>
            <a:ext cx="1997939" cy="365760"/>
          </a:xfrm>
          <a:prstGeom prst="rect">
            <a:avLst/>
          </a:prstGeom>
          <a:noFill/>
          <a:ln/>
        </p:spPr>
        <p:txBody>
          <a:bodyPr wrap="square" lIns="0" tIns="0" rIns="0" bIns="0" rtlCol="0" anchor="ctr"/>
          <a:lstStyle/>
          <a:p>
            <a:pPr indent="0" marL="0">
              <a:buNone/>
            </a:pPr>
            <a:r>
              <a:rPr lang="en-US" sz="2100" b="1" dirty="0">
                <a:solidFill>
                  <a:srgbClr val="0E7C66"/>
                </a:solidFill>
                <a:latin typeface="Arial" pitchFamily="34" charset="0"/>
                <a:ea typeface="Arial" pitchFamily="34" charset="-122"/>
                <a:cs typeface="Arial" pitchFamily="34" charset="-120"/>
              </a:rPr>
              <a:t>5× – 14×</a:t>
            </a:r>
            <a:endParaRPr lang="en-US" sz="2100" dirty="0"/>
          </a:p>
        </p:txBody>
      </p:sp>
      <p:sp>
        <p:nvSpPr>
          <p:cNvPr id="25" name="Text 23"/>
          <p:cNvSpPr txBox="1"/>
          <p:nvPr/>
        </p:nvSpPr>
        <p:spPr>
          <a:xfrm>
            <a:off x="8865709" y="491947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cheaper than buying a platform</a:t>
            </a:r>
            <a:endParaRPr lang="en-US" sz="1500" dirty="0"/>
          </a:p>
        </p:txBody>
      </p:sp>
      <p:sp>
        <p:nvSpPr>
          <p:cNvPr id="26" name="Shape 24"/>
          <p:cNvSpPr/>
          <p:nvPr/>
        </p:nvSpPr>
        <p:spPr>
          <a:xfrm>
            <a:off x="6867770" y="5724144"/>
            <a:ext cx="4756997" cy="566928"/>
          </a:xfrm>
          <a:prstGeom prst="roundRect">
            <a:avLst>
              <a:gd name="adj" fmla="val 6452"/>
            </a:avLst>
          </a:prstGeom>
          <a:solidFill>
            <a:srgbClr val="FDF0F0"/>
          </a:solidFill>
          <a:ln w="12700">
            <a:solidFill>
              <a:srgbClr val="333333"/>
            </a:solidFill>
            <a:prstDash val="solid"/>
          </a:ln>
        </p:spPr>
      </p:sp>
      <p:sp>
        <p:nvSpPr>
          <p:cNvPr id="27" name="Text 25"/>
          <p:cNvSpPr txBox="1"/>
          <p:nvPr/>
        </p:nvSpPr>
        <p:spPr>
          <a:xfrm>
            <a:off x="7087226" y="5724144"/>
            <a:ext cx="4318085" cy="566928"/>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Working prototype already built. </a:t>
            </a:r>
            <a:pPr indent="0" marL="0">
              <a:buNone/>
            </a:pPr>
            <a:r>
              <a:rPr lang="en-US" sz="1500" dirty="0">
                <a:solidFill>
                  <a:srgbClr val="4B5363"/>
                </a:solidFill>
                <a:latin typeface="Arial" pitchFamily="34" charset="0"/>
                <a:ea typeface="Arial" pitchFamily="34" charset="-122"/>
                <a:cs typeface="Arial" pitchFamily="34" charset="-120"/>
              </a:rPr>
              <a:t>You will see it in eight minutes.</a:t>
            </a:r>
            <a:endParaRPr lang="en-US" sz="1500" dirty="0"/>
          </a:p>
        </p:txBody>
      </p:sp>
      <p:sp>
        <p:nvSpPr>
          <p:cNvPr id="28" name="Text 26"/>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Four out of five roles go to someone we have not met.</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Internal job posting data, 2024 to 2026 — three years, company-wide.</a:t>
            </a:r>
            <a:endParaRPr lang="en-US" sz="1600" dirty="0"/>
          </a:p>
        </p:txBody>
      </p:sp>
      <p:sp>
        <p:nvSpPr>
          <p:cNvPr id="6" name="Shape 4"/>
          <p:cNvSpPr/>
          <p:nvPr/>
        </p:nvSpPr>
        <p:spPr>
          <a:xfrm>
            <a:off x="566928" y="1837944"/>
            <a:ext cx="3566160" cy="1554480"/>
          </a:xfrm>
          <a:prstGeom prst="roundRect">
            <a:avLst>
              <a:gd name="adj" fmla="val 2353"/>
            </a:avLst>
          </a:prstGeom>
          <a:solidFill>
            <a:srgbClr val="F6F2EA"/>
          </a:solidFill>
          <a:ln w="12700">
            <a:solidFill>
              <a:srgbClr val="333333"/>
            </a:solidFill>
            <a:prstDash val="solid"/>
          </a:ln>
        </p:spPr>
      </p:sp>
      <p:sp>
        <p:nvSpPr>
          <p:cNvPr id="7" name="Text 5"/>
          <p:cNvSpPr txBox="1"/>
          <p:nvPr/>
        </p:nvSpPr>
        <p:spPr>
          <a:xfrm>
            <a:off x="786384" y="1965960"/>
            <a:ext cx="3127248" cy="530352"/>
          </a:xfrm>
          <a:prstGeom prst="rect">
            <a:avLst/>
          </a:prstGeom>
          <a:noFill/>
          <a:ln/>
        </p:spPr>
        <p:txBody>
          <a:bodyPr wrap="square" lIns="0" tIns="0" rIns="0" bIns="0" rtlCol="0" anchor="ctr"/>
          <a:lstStyle/>
          <a:p>
            <a:pPr indent="0" marL="0">
              <a:buNone/>
            </a:pPr>
            <a:r>
              <a:rPr lang="en-US" sz="3400" b="1" dirty="0">
                <a:solidFill>
                  <a:srgbClr val="222834"/>
                </a:solidFill>
                <a:latin typeface="Arial" pitchFamily="34" charset="0"/>
                <a:ea typeface="Arial" pitchFamily="34" charset="-122"/>
                <a:cs typeface="Arial" pitchFamily="34" charset="-120"/>
              </a:rPr>
              <a:t>1,008</a:t>
            </a:r>
            <a:endParaRPr lang="en-US" sz="3400" dirty="0"/>
          </a:p>
        </p:txBody>
      </p:sp>
      <p:sp>
        <p:nvSpPr>
          <p:cNvPr id="8" name="Text 6"/>
          <p:cNvSpPr txBox="1"/>
          <p:nvPr/>
        </p:nvSpPr>
        <p:spPr>
          <a:xfrm>
            <a:off x="786384" y="2514600"/>
            <a:ext cx="3127248" cy="274320"/>
          </a:xfrm>
          <a:prstGeom prst="rect">
            <a:avLst/>
          </a:prstGeom>
          <a:noFill/>
          <a:ln/>
        </p:spPr>
        <p:txBody>
          <a:bodyPr wrap="square" lIns="0" tIns="0" rIns="0" bIns="0" rtlCol="0" anchor="t"/>
          <a:lstStyle/>
          <a:p>
            <a:pPr indent="0" marL="0">
              <a:buNone/>
            </a:pPr>
            <a:r>
              <a:rPr lang="en-US" sz="1450" b="1" dirty="0">
                <a:solidFill>
                  <a:srgbClr val="4B5363"/>
                </a:solidFill>
                <a:latin typeface="Arial" pitchFamily="34" charset="0"/>
                <a:ea typeface="Arial" pitchFamily="34" charset="-122"/>
                <a:cs typeface="Arial" pitchFamily="34" charset="-120"/>
              </a:rPr>
              <a:t>vacancies opened</a:t>
            </a:r>
            <a:endParaRPr lang="en-US" sz="1450" dirty="0"/>
          </a:p>
        </p:txBody>
      </p:sp>
      <p:sp>
        <p:nvSpPr>
          <p:cNvPr id="9" name="Shape 7"/>
          <p:cNvSpPr/>
          <p:nvPr/>
        </p:nvSpPr>
        <p:spPr>
          <a:xfrm>
            <a:off x="4389120" y="1965960"/>
            <a:ext cx="2560320" cy="1298448"/>
          </a:xfrm>
          <a:prstGeom prst="roundRect">
            <a:avLst>
              <a:gd name="adj" fmla="val 2817"/>
            </a:avLst>
          </a:prstGeom>
          <a:solidFill>
            <a:srgbClr val="E9E1D3"/>
          </a:solidFill>
          <a:ln w="12700">
            <a:solidFill>
              <a:srgbClr val="333333"/>
            </a:solidFill>
            <a:prstDash val="solid"/>
          </a:ln>
        </p:spPr>
      </p:sp>
      <p:sp>
        <p:nvSpPr>
          <p:cNvPr id="10" name="Text 8"/>
          <p:cNvSpPr txBox="1"/>
          <p:nvPr/>
        </p:nvSpPr>
        <p:spPr>
          <a:xfrm>
            <a:off x="4608576" y="2093976"/>
            <a:ext cx="2121408" cy="530352"/>
          </a:xfrm>
          <a:prstGeom prst="rect">
            <a:avLst/>
          </a:prstGeom>
          <a:noFill/>
          <a:ln/>
        </p:spPr>
        <p:txBody>
          <a:bodyPr wrap="square" lIns="0" tIns="0" rIns="0" bIns="0" rtlCol="0" anchor="ctr"/>
          <a:lstStyle/>
          <a:p>
            <a:pPr indent="0" marL="0">
              <a:buNone/>
            </a:pPr>
            <a:r>
              <a:rPr lang="en-US" sz="3400" b="1" dirty="0">
                <a:solidFill>
                  <a:srgbClr val="222834"/>
                </a:solidFill>
                <a:latin typeface="Arial" pitchFamily="34" charset="0"/>
                <a:ea typeface="Arial" pitchFamily="34" charset="-122"/>
                <a:cs typeface="Arial" pitchFamily="34" charset="-120"/>
              </a:rPr>
              <a:t>463</a:t>
            </a:r>
            <a:endParaRPr lang="en-US" sz="3400" dirty="0"/>
          </a:p>
        </p:txBody>
      </p:sp>
      <p:sp>
        <p:nvSpPr>
          <p:cNvPr id="11" name="Text 9"/>
          <p:cNvSpPr txBox="1"/>
          <p:nvPr/>
        </p:nvSpPr>
        <p:spPr>
          <a:xfrm>
            <a:off x="4608576" y="2642616"/>
            <a:ext cx="2121408" cy="274320"/>
          </a:xfrm>
          <a:prstGeom prst="rect">
            <a:avLst/>
          </a:prstGeom>
          <a:noFill/>
          <a:ln/>
        </p:spPr>
        <p:txBody>
          <a:bodyPr wrap="square" lIns="0" tIns="0" rIns="0" bIns="0" rtlCol="0" anchor="t"/>
          <a:lstStyle/>
          <a:p>
            <a:pPr indent="0" marL="0">
              <a:buNone/>
            </a:pPr>
            <a:r>
              <a:rPr lang="en-US" sz="1450" b="1" dirty="0">
                <a:solidFill>
                  <a:srgbClr val="4B5363"/>
                </a:solidFill>
                <a:latin typeface="Arial" pitchFamily="34" charset="0"/>
                <a:ea typeface="Arial" pitchFamily="34" charset="-122"/>
                <a:cs typeface="Arial" pitchFamily="34" charset="-120"/>
              </a:rPr>
              <a:t>internal applicants</a:t>
            </a:r>
            <a:endParaRPr lang="en-US" sz="1450" dirty="0"/>
          </a:p>
        </p:txBody>
      </p:sp>
      <p:sp>
        <p:nvSpPr>
          <p:cNvPr id="12" name="Shape 10"/>
          <p:cNvSpPr/>
          <p:nvPr/>
        </p:nvSpPr>
        <p:spPr>
          <a:xfrm>
            <a:off x="7205472" y="2093976"/>
            <a:ext cx="1645920" cy="1042416"/>
          </a:xfrm>
          <a:prstGeom prst="roundRect">
            <a:avLst>
              <a:gd name="adj" fmla="val 3509"/>
            </a:avLst>
          </a:prstGeom>
          <a:solidFill>
            <a:srgbClr val="C00000"/>
          </a:solidFill>
          <a:ln w="12700">
            <a:solidFill>
              <a:srgbClr val="333333"/>
            </a:solidFill>
            <a:prstDash val="solid"/>
          </a:ln>
        </p:spPr>
      </p:sp>
      <p:sp>
        <p:nvSpPr>
          <p:cNvPr id="13" name="Text 11"/>
          <p:cNvSpPr txBox="1"/>
          <p:nvPr/>
        </p:nvSpPr>
        <p:spPr>
          <a:xfrm>
            <a:off x="7424928" y="2221992"/>
            <a:ext cx="1207008" cy="530352"/>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170</a:t>
            </a:r>
            <a:endParaRPr lang="en-US" sz="3400" dirty="0"/>
          </a:p>
        </p:txBody>
      </p:sp>
      <p:sp>
        <p:nvSpPr>
          <p:cNvPr id="14" name="Text 12"/>
          <p:cNvSpPr txBox="1"/>
          <p:nvPr/>
        </p:nvSpPr>
        <p:spPr>
          <a:xfrm>
            <a:off x="7424928" y="2770632"/>
            <a:ext cx="1207008" cy="274320"/>
          </a:xfrm>
          <a:prstGeom prst="rect">
            <a:avLst/>
          </a:prstGeom>
          <a:noFill/>
          <a:ln/>
        </p:spPr>
        <p:txBody>
          <a:bodyPr wrap="square" lIns="0" tIns="0" rIns="0" bIns="0" rtlCol="0" anchor="t"/>
          <a:lstStyle/>
          <a:p>
            <a:pPr indent="0" marL="0">
              <a:buNone/>
            </a:pPr>
            <a:r>
              <a:rPr lang="en-US" sz="1450" b="1" dirty="0">
                <a:solidFill>
                  <a:srgbClr val="F6DADA"/>
                </a:solidFill>
                <a:latin typeface="Arial" pitchFamily="34" charset="0"/>
                <a:ea typeface="Arial" pitchFamily="34" charset="-122"/>
                <a:cs typeface="Arial" pitchFamily="34" charset="-120"/>
              </a:rPr>
              <a:t>internal hires</a:t>
            </a:r>
            <a:endParaRPr lang="en-US" sz="1450" dirty="0"/>
          </a:p>
        </p:txBody>
      </p:sp>
      <p:sp>
        <p:nvSpPr>
          <p:cNvPr id="15" name="Shape 13"/>
          <p:cNvSpPr/>
          <p:nvPr/>
        </p:nvSpPr>
        <p:spPr>
          <a:xfrm>
            <a:off x="9162288" y="2048256"/>
            <a:ext cx="45720" cy="1133856"/>
          </a:xfrm>
          <a:prstGeom prst="rect">
            <a:avLst/>
          </a:prstGeom>
          <a:solidFill>
            <a:srgbClr val="C00000"/>
          </a:solidFill>
          <a:ln w="12700">
            <a:solidFill>
              <a:srgbClr val="333333"/>
            </a:solidFill>
            <a:prstDash val="solid"/>
          </a:ln>
        </p:spPr>
      </p:sp>
      <p:sp>
        <p:nvSpPr>
          <p:cNvPr id="16" name="Text 14"/>
          <p:cNvSpPr txBox="1"/>
          <p:nvPr/>
        </p:nvSpPr>
        <p:spPr>
          <a:xfrm>
            <a:off x="9381744" y="2011680"/>
            <a:ext cx="2231136" cy="530352"/>
          </a:xfrm>
          <a:prstGeom prst="rect">
            <a:avLst/>
          </a:prstGeom>
          <a:noFill/>
          <a:ln/>
        </p:spPr>
        <p:txBody>
          <a:bodyPr wrap="square" lIns="0" tIns="0" rIns="0" bIns="0" rtlCol="0" anchor="ctr"/>
          <a:lstStyle/>
          <a:p>
            <a:pPr indent="0" marL="0">
              <a:buNone/>
            </a:pPr>
            <a:r>
              <a:rPr lang="en-US" sz="3800" b="1" dirty="0">
                <a:solidFill>
                  <a:srgbClr val="C00000"/>
                </a:solidFill>
                <a:latin typeface="Arial" pitchFamily="34" charset="0"/>
                <a:ea typeface="Arial" pitchFamily="34" charset="-122"/>
                <a:cs typeface="Arial" pitchFamily="34" charset="-120"/>
              </a:rPr>
              <a:t>17%</a:t>
            </a:r>
            <a:endParaRPr lang="en-US" sz="3800" dirty="0"/>
          </a:p>
        </p:txBody>
      </p:sp>
      <p:sp>
        <p:nvSpPr>
          <p:cNvPr id="17" name="Text 15"/>
          <p:cNvSpPr txBox="1"/>
          <p:nvPr/>
        </p:nvSpPr>
        <p:spPr>
          <a:xfrm>
            <a:off x="9381744" y="2560320"/>
            <a:ext cx="2231136" cy="256032"/>
          </a:xfrm>
          <a:prstGeom prst="rect">
            <a:avLst/>
          </a:prstGeom>
          <a:noFill/>
          <a:ln/>
        </p:spPr>
        <p:txBody>
          <a:bodyPr wrap="square" lIns="0" tIns="0" rIns="0" bIns="0" rtlCol="0" anchor="t"/>
          <a:lstStyle/>
          <a:p>
            <a:pPr indent="0" marL="0">
              <a:buNone/>
            </a:pPr>
            <a:r>
              <a:rPr lang="en-US" sz="1500" b="1" dirty="0">
                <a:solidFill>
                  <a:srgbClr val="4B5363"/>
                </a:solidFill>
                <a:latin typeface="Arial" pitchFamily="34" charset="0"/>
                <a:ea typeface="Arial" pitchFamily="34" charset="-122"/>
                <a:cs typeface="Arial" pitchFamily="34" charset="-120"/>
              </a:rPr>
              <a:t>internal fill rate</a:t>
            </a:r>
            <a:endParaRPr lang="en-US" sz="1500" dirty="0"/>
          </a:p>
        </p:txBody>
      </p:sp>
      <p:sp>
        <p:nvSpPr>
          <p:cNvPr id="18" name="Text 16"/>
          <p:cNvSpPr txBox="1"/>
          <p:nvPr/>
        </p:nvSpPr>
        <p:spPr>
          <a:xfrm>
            <a:off x="9381744" y="2834640"/>
            <a:ext cx="2231136" cy="256032"/>
          </a:xfrm>
          <a:prstGeom prst="rect">
            <a:avLst/>
          </a:prstGeom>
          <a:noFill/>
          <a:ln/>
        </p:spPr>
        <p:txBody>
          <a:bodyPr wrap="square" lIns="0" tIns="0" rIns="0" bIns="0" rtlCol="0" anchor="t"/>
          <a:lstStyle/>
          <a:p>
            <a:pPr indent="0" marL="0">
              <a:buNone/>
            </a:pPr>
            <a:r>
              <a:rPr lang="en-US" sz="1400" dirty="0">
                <a:solidFill>
                  <a:srgbClr val="858D9B"/>
                </a:solidFill>
                <a:latin typeface="Arial" pitchFamily="34" charset="0"/>
                <a:ea typeface="Arial" pitchFamily="34" charset="-122"/>
                <a:cs typeface="Arial" pitchFamily="34" charset="-120"/>
              </a:rPr>
              <a:t>the benchmark is 30%</a:t>
            </a:r>
            <a:endParaRPr lang="en-US" sz="1400" dirty="0"/>
          </a:p>
        </p:txBody>
      </p:sp>
      <p:sp>
        <p:nvSpPr>
          <p:cNvPr id="19" name="Shape 17"/>
          <p:cNvSpPr/>
          <p:nvPr/>
        </p:nvSpPr>
        <p:spPr>
          <a:xfrm>
            <a:off x="566928" y="3931920"/>
            <a:ext cx="11057839" cy="1956816"/>
          </a:xfrm>
          <a:prstGeom prst="roundRect">
            <a:avLst>
              <a:gd name="adj" fmla="val 1869"/>
            </a:avLst>
          </a:prstGeom>
          <a:solidFill>
            <a:srgbClr val="FDF0F0"/>
          </a:solidFill>
          <a:ln w="12700">
            <a:solidFill>
              <a:srgbClr val="333333"/>
            </a:solidFill>
            <a:prstDash val="solid"/>
          </a:ln>
        </p:spPr>
      </p:sp>
      <p:sp>
        <p:nvSpPr>
          <p:cNvPr id="20" name="Shape 18"/>
          <p:cNvSpPr/>
          <p:nvPr/>
        </p:nvSpPr>
        <p:spPr>
          <a:xfrm>
            <a:off x="566928" y="3931920"/>
            <a:ext cx="91440" cy="1956816"/>
          </a:xfrm>
          <a:prstGeom prst="rect">
            <a:avLst/>
          </a:prstGeom>
          <a:solidFill>
            <a:srgbClr val="C00000"/>
          </a:solidFill>
          <a:ln w="12700">
            <a:solidFill>
              <a:srgbClr val="333333"/>
            </a:solidFill>
            <a:prstDash val="solid"/>
          </a:ln>
        </p:spPr>
      </p:sp>
      <p:sp>
        <p:nvSpPr>
          <p:cNvPr id="21" name="Text 19"/>
          <p:cNvSpPr txBox="1"/>
          <p:nvPr/>
        </p:nvSpPr>
        <p:spPr>
          <a:xfrm>
            <a:off x="987552" y="4151376"/>
            <a:ext cx="5394960" cy="329184"/>
          </a:xfrm>
          <a:prstGeom prst="rect">
            <a:avLst/>
          </a:prstGeom>
          <a:noFill/>
          <a:ln/>
        </p:spPr>
        <p:txBody>
          <a:bodyPr wrap="square" lIns="0" tIns="0" rIns="0" bIns="0" rtlCol="0" anchor="ctr"/>
          <a:lstStyle/>
          <a:p>
            <a:pPr indent="0" marL="0">
              <a:buNone/>
            </a:pPr>
            <a:r>
              <a:rPr lang="en-US" sz="2000" b="1" dirty="0">
                <a:solidFill>
                  <a:srgbClr val="222834"/>
                </a:solidFill>
                <a:latin typeface="Arial" pitchFamily="34" charset="0"/>
                <a:ea typeface="Arial" pitchFamily="34" charset="-122"/>
                <a:cs typeface="Arial" pitchFamily="34" charset="-120"/>
              </a:rPr>
              <a:t>Then look at the people we turned down.</a:t>
            </a:r>
            <a:endParaRPr lang="en-US" sz="2000" dirty="0"/>
          </a:p>
        </p:txBody>
      </p:sp>
      <p:sp>
        <p:nvSpPr>
          <p:cNvPr id="22" name="Text 20"/>
          <p:cNvSpPr txBox="1"/>
          <p:nvPr/>
        </p:nvSpPr>
        <p:spPr>
          <a:xfrm>
            <a:off x="987552" y="4572000"/>
            <a:ext cx="5394960" cy="969264"/>
          </a:xfrm>
          <a:prstGeom prst="rect">
            <a:avLst/>
          </a:prstGeom>
          <a:noFill/>
          <a:ln/>
        </p:spPr>
        <p:txBody>
          <a:bodyPr wrap="square" lIns="0" tIns="0" rIns="0" bIns="0" rtlCol="0" anchor="t"/>
          <a:lstStyle/>
          <a:p>
            <a:pPr indent="0" marL="0">
              <a:lnSpc>
                <a:spcPts val="2300"/>
              </a:lnSpc>
              <a:buNone/>
            </a:pPr>
            <a:r>
              <a:rPr lang="en-US" sz="1600" dirty="0">
                <a:solidFill>
                  <a:srgbClr val="4B5363"/>
                </a:solidFill>
                <a:latin typeface="Arial" pitchFamily="34" charset="0"/>
                <a:ea typeface="Arial" pitchFamily="34" charset="-122"/>
                <a:cs typeface="Arial" pitchFamily="34" charset="-120"/>
              </a:rPr>
              <a:t>In 2025 we said no to 67 internal applicants. Today 38 are still here. We have already lost 29 of them.</a:t>
            </a:r>
            <a:endParaRPr lang="en-US" sz="1600" dirty="0"/>
          </a:p>
        </p:txBody>
      </p:sp>
      <p:sp>
        <p:nvSpPr>
          <p:cNvPr id="23" name="Text 21"/>
          <p:cNvSpPr txBox="1"/>
          <p:nvPr/>
        </p:nvSpPr>
        <p:spPr>
          <a:xfrm>
            <a:off x="6492240" y="4224528"/>
            <a:ext cx="1627632" cy="493776"/>
          </a:xfrm>
          <a:prstGeom prst="rect">
            <a:avLst/>
          </a:prstGeom>
          <a:noFill/>
          <a:ln/>
        </p:spPr>
        <p:txBody>
          <a:bodyPr wrap="square" lIns="0" tIns="0" rIns="0" bIns="0" rtlCol="0" anchor="ctr"/>
          <a:lstStyle/>
          <a:p>
            <a:pPr indent="0" marL="0">
              <a:buNone/>
            </a:pPr>
            <a:r>
              <a:rPr lang="en-US" sz="2900" b="1" dirty="0">
                <a:solidFill>
                  <a:srgbClr val="C00000"/>
                </a:solidFill>
                <a:latin typeface="Arial" pitchFamily="34" charset="0"/>
                <a:ea typeface="Arial" pitchFamily="34" charset="-122"/>
                <a:cs typeface="Arial" pitchFamily="34" charset="-120"/>
              </a:rPr>
              <a:t>43%</a:t>
            </a:r>
            <a:endParaRPr lang="en-US" sz="2900" dirty="0"/>
          </a:p>
        </p:txBody>
      </p:sp>
      <p:sp>
        <p:nvSpPr>
          <p:cNvPr id="24" name="Text 22"/>
          <p:cNvSpPr txBox="1"/>
          <p:nvPr/>
        </p:nvSpPr>
        <p:spPr>
          <a:xfrm>
            <a:off x="6492240" y="4754880"/>
            <a:ext cx="1627632" cy="69494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of that cohort has</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already left</a:t>
            </a:r>
            <a:endParaRPr lang="en-US" sz="1400" dirty="0"/>
          </a:p>
        </p:txBody>
      </p:sp>
      <p:sp>
        <p:nvSpPr>
          <p:cNvPr id="25" name="Shape 23"/>
          <p:cNvSpPr/>
          <p:nvPr/>
        </p:nvSpPr>
        <p:spPr>
          <a:xfrm>
            <a:off x="8065008" y="4261104"/>
            <a:ext cx="18288" cy="1060704"/>
          </a:xfrm>
          <a:prstGeom prst="rect">
            <a:avLst/>
          </a:prstGeom>
          <a:solidFill>
            <a:srgbClr val="E9E1D3"/>
          </a:solidFill>
          <a:ln w="12700">
            <a:solidFill>
              <a:srgbClr val="333333"/>
            </a:solidFill>
            <a:prstDash val="solid"/>
          </a:ln>
        </p:spPr>
      </p:sp>
      <p:sp>
        <p:nvSpPr>
          <p:cNvPr id="26" name="Text 24"/>
          <p:cNvSpPr txBox="1"/>
          <p:nvPr/>
        </p:nvSpPr>
        <p:spPr>
          <a:xfrm>
            <a:off x="8211312" y="4224528"/>
            <a:ext cx="1627632" cy="493776"/>
          </a:xfrm>
          <a:prstGeom prst="rect">
            <a:avLst/>
          </a:prstGeom>
          <a:noFill/>
          <a:ln/>
        </p:spPr>
        <p:txBody>
          <a:bodyPr wrap="square" lIns="0" tIns="0" rIns="0" bIns="0" rtlCol="0" anchor="ctr"/>
          <a:lstStyle/>
          <a:p>
            <a:pPr indent="0" marL="0">
              <a:buNone/>
            </a:pPr>
            <a:r>
              <a:rPr lang="en-US" sz="2900" b="1" dirty="0">
                <a:solidFill>
                  <a:srgbClr val="222834"/>
                </a:solidFill>
                <a:latin typeface="Arial" pitchFamily="34" charset="0"/>
                <a:ea typeface="Arial" pitchFamily="34" charset="-122"/>
                <a:cs typeface="Arial" pitchFamily="34" charset="-120"/>
              </a:rPr>
              <a:t>16</a:t>
            </a:r>
            <a:endParaRPr lang="en-US" sz="2900" dirty="0"/>
          </a:p>
        </p:txBody>
      </p:sp>
      <p:sp>
        <p:nvSpPr>
          <p:cNvPr id="27" name="Text 25"/>
          <p:cNvSpPr txBox="1"/>
          <p:nvPr/>
        </p:nvSpPr>
        <p:spPr>
          <a:xfrm>
            <a:off x="8211312" y="4754880"/>
            <a:ext cx="1627632" cy="69494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more than a 28%</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comparator predicts</a:t>
            </a:r>
            <a:endParaRPr lang="en-US" sz="1400" dirty="0"/>
          </a:p>
        </p:txBody>
      </p:sp>
      <p:sp>
        <p:nvSpPr>
          <p:cNvPr id="28" name="Text 26"/>
          <p:cNvSpPr txBox="1"/>
          <p:nvPr/>
        </p:nvSpPr>
        <p:spPr>
          <a:xfrm>
            <a:off x="9930384" y="4224528"/>
            <a:ext cx="1627632" cy="493776"/>
          </a:xfrm>
          <a:prstGeom prst="rect">
            <a:avLst/>
          </a:prstGeom>
          <a:noFill/>
          <a:ln/>
        </p:spPr>
        <p:txBody>
          <a:bodyPr wrap="square" lIns="0" tIns="0" rIns="0" bIns="0" rtlCol="0" anchor="ctr"/>
          <a:lstStyle/>
          <a:p>
            <a:pPr indent="0" marL="0">
              <a:buNone/>
            </a:pPr>
            <a:r>
              <a:rPr lang="en-US" sz="2900" b="1" dirty="0">
                <a:solidFill>
                  <a:srgbClr val="222834"/>
                </a:solidFill>
                <a:latin typeface="Arial" pitchFamily="34" charset="0"/>
                <a:ea typeface="Arial" pitchFamily="34" charset="-122"/>
                <a:cs typeface="Arial" pitchFamily="34" charset="-120"/>
              </a:rPr>
              <a:t>₱5.2M</a:t>
            </a:r>
            <a:endParaRPr lang="en-US" sz="2900" dirty="0"/>
          </a:p>
        </p:txBody>
      </p:sp>
      <p:sp>
        <p:nvSpPr>
          <p:cNvPr id="29" name="Text 27"/>
          <p:cNvSpPr txBox="1"/>
          <p:nvPr/>
        </p:nvSpPr>
        <p:spPr>
          <a:xfrm>
            <a:off x="9930384" y="4754880"/>
            <a:ext cx="1627632" cy="69494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replacement cost</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of that excess</a:t>
            </a:r>
            <a:endParaRPr lang="en-US" sz="1400" dirty="0"/>
          </a:p>
        </p:txBody>
      </p:sp>
      <p:sp>
        <p:nvSpPr>
          <p:cNvPr id="30" name="Text 28"/>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The 67 and the 38 are HRIS fact. The comparator attrition rate is not yet confirmed — see appendix. Source: HC Connect 2024–2026.</a:t>
            </a:r>
            <a:endParaRPr lang="en-US" sz="1400" dirty="0"/>
          </a:p>
        </p:txBody>
      </p:sp>
      <p:sp>
        <p:nvSpPr>
          <p:cNvPr id="31" name="Text 29"/>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WHY IT HAPPENS</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Three blind spots, none of which is a people problem.</a:t>
            </a:r>
            <a:endParaRPr lang="en-US" sz="2900" dirty="0"/>
          </a:p>
        </p:txBody>
      </p:sp>
      <p:sp>
        <p:nvSpPr>
          <p:cNvPr id="5" name="Shape 3"/>
          <p:cNvSpPr/>
          <p:nvPr/>
        </p:nvSpPr>
        <p:spPr>
          <a:xfrm>
            <a:off x="566928" y="1920240"/>
            <a:ext cx="3503066" cy="2615184"/>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6" name="Shape 4"/>
          <p:cNvSpPr/>
          <p:nvPr/>
        </p:nvSpPr>
        <p:spPr>
          <a:xfrm>
            <a:off x="566928" y="1920240"/>
            <a:ext cx="3503066" cy="68580"/>
          </a:xfrm>
          <a:prstGeom prst="rect">
            <a:avLst/>
          </a:prstGeom>
          <a:solidFill>
            <a:srgbClr val="C00000"/>
          </a:solidFill>
          <a:ln w="12700">
            <a:solidFill>
              <a:srgbClr val="333333"/>
            </a:solidFill>
            <a:prstDash val="solid"/>
          </a:ln>
        </p:spPr>
      </p:sp>
      <p:sp>
        <p:nvSpPr>
          <p:cNvPr id="7" name="Text 5"/>
          <p:cNvSpPr txBox="1"/>
          <p:nvPr/>
        </p:nvSpPr>
        <p:spPr>
          <a:xfrm>
            <a:off x="841248" y="2121408"/>
            <a:ext cx="914400" cy="402336"/>
          </a:xfrm>
          <a:prstGeom prst="rect">
            <a:avLst/>
          </a:prstGeom>
          <a:noFill/>
          <a:ln/>
        </p:spPr>
        <p:txBody>
          <a:bodyPr wrap="square" lIns="0" tIns="0" rIns="0" bIns="0" rtlCol="0" anchor="ctr"/>
          <a:lstStyle/>
          <a:p>
            <a:pPr indent="0" marL="0">
              <a:buNone/>
            </a:pPr>
            <a:r>
              <a:rPr lang="en-US" sz="2400" b="1" spc="100" kern="0" dirty="0">
                <a:solidFill>
                  <a:srgbClr val="C00000"/>
                </a:solidFill>
                <a:latin typeface="Arial" pitchFamily="34" charset="0"/>
                <a:ea typeface="Arial" pitchFamily="34" charset="-122"/>
                <a:cs typeface="Arial" pitchFamily="34" charset="-120"/>
              </a:rPr>
              <a:t>01</a:t>
            </a:r>
            <a:endParaRPr lang="en-US" sz="2400" dirty="0"/>
          </a:p>
        </p:txBody>
      </p:sp>
      <p:sp>
        <p:nvSpPr>
          <p:cNvPr id="8" name="Text 6"/>
          <p:cNvSpPr txBox="1"/>
          <p:nvPr/>
        </p:nvSpPr>
        <p:spPr>
          <a:xfrm>
            <a:off x="841248"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222834"/>
                </a:solidFill>
                <a:latin typeface="Arial" pitchFamily="34" charset="0"/>
                <a:ea typeface="Arial" pitchFamily="34" charset="-122"/>
                <a:cs typeface="Arial" pitchFamily="34" charset="-120"/>
              </a:rPr>
              <a:t>Employees cannot see it</a:t>
            </a:r>
            <a:endParaRPr lang="en-US" sz="1800" dirty="0"/>
          </a:p>
        </p:txBody>
      </p:sp>
      <p:sp>
        <p:nvSpPr>
          <p:cNvPr id="9" name="Text 7"/>
          <p:cNvSpPr txBox="1"/>
          <p:nvPr/>
        </p:nvSpPr>
        <p:spPr>
          <a:xfrm>
            <a:off x="841248"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Vacancies sit in a tool nobody browses. Gigs and immersions are arranged privately. You hear about the role after it is filled.</a:t>
            </a:r>
            <a:endParaRPr lang="en-US" sz="1500" dirty="0"/>
          </a:p>
        </p:txBody>
      </p:sp>
      <p:sp>
        <p:nvSpPr>
          <p:cNvPr id="10" name="Shape 8"/>
          <p:cNvSpPr/>
          <p:nvPr/>
        </p:nvSpPr>
        <p:spPr>
          <a:xfrm>
            <a:off x="4344314" y="1920240"/>
            <a:ext cx="3503066" cy="2615184"/>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1" name="Shape 9"/>
          <p:cNvSpPr/>
          <p:nvPr/>
        </p:nvSpPr>
        <p:spPr>
          <a:xfrm>
            <a:off x="4344314" y="1920240"/>
            <a:ext cx="3503066" cy="68580"/>
          </a:xfrm>
          <a:prstGeom prst="rect">
            <a:avLst/>
          </a:prstGeom>
          <a:solidFill>
            <a:srgbClr val="9E6B12"/>
          </a:solidFill>
          <a:ln w="12700">
            <a:solidFill>
              <a:srgbClr val="333333"/>
            </a:solidFill>
            <a:prstDash val="solid"/>
          </a:ln>
        </p:spPr>
      </p:sp>
      <p:sp>
        <p:nvSpPr>
          <p:cNvPr id="12" name="Text 10"/>
          <p:cNvSpPr txBox="1"/>
          <p:nvPr/>
        </p:nvSpPr>
        <p:spPr>
          <a:xfrm>
            <a:off x="4618634" y="2121408"/>
            <a:ext cx="914400" cy="402336"/>
          </a:xfrm>
          <a:prstGeom prst="rect">
            <a:avLst/>
          </a:prstGeom>
          <a:noFill/>
          <a:ln/>
        </p:spPr>
        <p:txBody>
          <a:bodyPr wrap="square" lIns="0" tIns="0" rIns="0" bIns="0" rtlCol="0" anchor="ctr"/>
          <a:lstStyle/>
          <a:p>
            <a:pPr indent="0" marL="0">
              <a:buNone/>
            </a:pPr>
            <a:r>
              <a:rPr lang="en-US" sz="2400" b="1" spc="100" kern="0" dirty="0">
                <a:solidFill>
                  <a:srgbClr val="9E6B12"/>
                </a:solidFill>
                <a:latin typeface="Arial" pitchFamily="34" charset="0"/>
                <a:ea typeface="Arial" pitchFamily="34" charset="-122"/>
                <a:cs typeface="Arial" pitchFamily="34" charset="-120"/>
              </a:rPr>
              <a:t>02</a:t>
            </a:r>
            <a:endParaRPr lang="en-US" sz="2400" dirty="0"/>
          </a:p>
        </p:txBody>
      </p:sp>
      <p:sp>
        <p:nvSpPr>
          <p:cNvPr id="13" name="Text 11"/>
          <p:cNvSpPr txBox="1"/>
          <p:nvPr/>
        </p:nvSpPr>
        <p:spPr>
          <a:xfrm>
            <a:off x="4618634"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222834"/>
                </a:solidFill>
                <a:latin typeface="Arial" pitchFamily="34" charset="0"/>
                <a:ea typeface="Arial" pitchFamily="34" charset="-122"/>
                <a:cs typeface="Arial" pitchFamily="34" charset="-120"/>
              </a:rPr>
              <a:t>The manager cannot find them</a:t>
            </a:r>
            <a:endParaRPr lang="en-US" sz="1800" dirty="0"/>
          </a:p>
        </p:txBody>
      </p:sp>
      <p:sp>
        <p:nvSpPr>
          <p:cNvPr id="14" name="Text 12"/>
          <p:cNvSpPr txBox="1"/>
          <p:nvPr/>
        </p:nvSpPr>
        <p:spPr>
          <a:xfrm>
            <a:off x="4618634"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There is no skills inventory. A hiring manager cannot ask "who inside can already do this?", so the default is to post externally.</a:t>
            </a:r>
            <a:endParaRPr lang="en-US" sz="1500" dirty="0"/>
          </a:p>
        </p:txBody>
      </p:sp>
      <p:sp>
        <p:nvSpPr>
          <p:cNvPr id="15" name="Shape 13"/>
          <p:cNvSpPr/>
          <p:nvPr/>
        </p:nvSpPr>
        <p:spPr>
          <a:xfrm>
            <a:off x="8121701" y="1920240"/>
            <a:ext cx="3503066" cy="2615184"/>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6" name="Shape 14"/>
          <p:cNvSpPr/>
          <p:nvPr/>
        </p:nvSpPr>
        <p:spPr>
          <a:xfrm>
            <a:off x="8121701" y="1920240"/>
            <a:ext cx="3503066" cy="68580"/>
          </a:xfrm>
          <a:prstGeom prst="rect">
            <a:avLst/>
          </a:prstGeom>
          <a:solidFill>
            <a:srgbClr val="0E7C66"/>
          </a:solidFill>
          <a:ln w="12700">
            <a:solidFill>
              <a:srgbClr val="333333"/>
            </a:solidFill>
            <a:prstDash val="solid"/>
          </a:ln>
        </p:spPr>
      </p:sp>
      <p:sp>
        <p:nvSpPr>
          <p:cNvPr id="17" name="Text 15"/>
          <p:cNvSpPr txBox="1"/>
          <p:nvPr/>
        </p:nvSpPr>
        <p:spPr>
          <a:xfrm>
            <a:off x="8396021" y="2121408"/>
            <a:ext cx="914400" cy="402336"/>
          </a:xfrm>
          <a:prstGeom prst="rect">
            <a:avLst/>
          </a:prstGeom>
          <a:noFill/>
          <a:ln/>
        </p:spPr>
        <p:txBody>
          <a:bodyPr wrap="square" lIns="0" tIns="0" rIns="0" bIns="0" rtlCol="0" anchor="ctr"/>
          <a:lstStyle/>
          <a:p>
            <a:pPr indent="0" marL="0">
              <a:buNone/>
            </a:pPr>
            <a:r>
              <a:rPr lang="en-US" sz="2400" b="1" spc="100" kern="0" dirty="0">
                <a:solidFill>
                  <a:srgbClr val="0E7C66"/>
                </a:solidFill>
                <a:latin typeface="Arial" pitchFamily="34" charset="0"/>
                <a:ea typeface="Arial" pitchFamily="34" charset="-122"/>
                <a:cs typeface="Arial" pitchFamily="34" charset="-120"/>
              </a:rPr>
              <a:t>03</a:t>
            </a:r>
            <a:endParaRPr lang="en-US" sz="2400" dirty="0"/>
          </a:p>
        </p:txBody>
      </p:sp>
      <p:sp>
        <p:nvSpPr>
          <p:cNvPr id="18" name="Text 16"/>
          <p:cNvSpPr txBox="1"/>
          <p:nvPr/>
        </p:nvSpPr>
        <p:spPr>
          <a:xfrm>
            <a:off x="8396021"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222834"/>
                </a:solidFill>
                <a:latin typeface="Arial" pitchFamily="34" charset="0"/>
                <a:ea typeface="Arial" pitchFamily="34" charset="-122"/>
                <a:cs typeface="Arial" pitchFamily="34" charset="-120"/>
              </a:rPr>
              <a:t>The record does not exist</a:t>
            </a:r>
            <a:endParaRPr lang="en-US" sz="1800" dirty="0"/>
          </a:p>
        </p:txBody>
      </p:sp>
      <p:sp>
        <p:nvSpPr>
          <p:cNvPr id="19" name="Text 17"/>
          <p:cNvSpPr txBox="1"/>
          <p:nvPr/>
        </p:nvSpPr>
        <p:spPr>
          <a:xfrm>
            <a:off x="8396021"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Skills live in CVs, IDPs and people's memories. Nothing is verified, nothing is current, none of it is searchable.</a:t>
            </a:r>
            <a:endParaRPr lang="en-US" sz="1500" dirty="0"/>
          </a:p>
        </p:txBody>
      </p:sp>
      <p:sp>
        <p:nvSpPr>
          <p:cNvPr id="20" name="Shape 18"/>
          <p:cNvSpPr/>
          <p:nvPr/>
        </p:nvSpPr>
        <p:spPr>
          <a:xfrm>
            <a:off x="566928" y="4791456"/>
            <a:ext cx="11057839" cy="1444752"/>
          </a:xfrm>
          <a:prstGeom prst="roundRect">
            <a:avLst>
              <a:gd name="adj" fmla="val 2532"/>
            </a:avLst>
          </a:prstGeom>
          <a:solidFill>
            <a:srgbClr val="F6F2EA"/>
          </a:solidFill>
          <a:ln w="12700">
            <a:solidFill>
              <a:srgbClr val="333333"/>
            </a:solidFill>
            <a:prstDash val="solid"/>
          </a:ln>
        </p:spPr>
      </p:sp>
      <p:sp>
        <p:nvSpPr>
          <p:cNvPr id="21" name="Text 19"/>
          <p:cNvSpPr txBox="1"/>
          <p:nvPr/>
        </p:nvSpPr>
        <p:spPr>
          <a:xfrm>
            <a:off x="932688" y="4992624"/>
            <a:ext cx="6634704" cy="621792"/>
          </a:xfrm>
          <a:prstGeom prst="rect">
            <a:avLst/>
          </a:prstGeom>
          <a:noFill/>
          <a:ln/>
        </p:spPr>
        <p:txBody>
          <a:bodyPr wrap="square" lIns="0" tIns="0" rIns="0" bIns="0" rtlCol="0" anchor="ctr"/>
          <a:lstStyle/>
          <a:p>
            <a:pPr indent="0" marL="0">
              <a:lnSpc>
                <a:spcPts val="2600"/>
              </a:lnSpc>
              <a:buNone/>
            </a:pPr>
            <a:r>
              <a:rPr lang="en-US" sz="1900" b="1" dirty="0">
                <a:solidFill>
                  <a:srgbClr val="222834"/>
                </a:solidFill>
                <a:latin typeface="Arial" pitchFamily="34" charset="0"/>
                <a:ea typeface="Arial" pitchFamily="34" charset="-122"/>
                <a:cs typeface="Arial" pitchFamily="34" charset="-120"/>
              </a:rPr>
              <a:t>The constraint is not that our people are unqualified. It is that the market inside Home Credit has no shelves.</a:t>
            </a:r>
            <a:endParaRPr lang="en-US" sz="1900" dirty="0"/>
          </a:p>
        </p:txBody>
      </p:sp>
      <p:sp>
        <p:nvSpPr>
          <p:cNvPr id="22" name="Text 20"/>
          <p:cNvSpPr txBox="1"/>
          <p:nvPr/>
        </p:nvSpPr>
        <p:spPr>
          <a:xfrm>
            <a:off x="932688" y="5614416"/>
            <a:ext cx="6634704" cy="548640"/>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463 applications in three years is not apathy. People say they believe they can grow here — they cannot find where.</a:t>
            </a:r>
            <a:endParaRPr lang="en-US" sz="1500" dirty="0"/>
          </a:p>
        </p:txBody>
      </p:sp>
      <p:sp>
        <p:nvSpPr>
          <p:cNvPr id="23" name="Shape 21"/>
          <p:cNvSpPr/>
          <p:nvPr/>
        </p:nvSpPr>
        <p:spPr>
          <a:xfrm>
            <a:off x="7865102" y="5047488"/>
            <a:ext cx="45720" cy="877824"/>
          </a:xfrm>
          <a:prstGeom prst="rect">
            <a:avLst/>
          </a:prstGeom>
          <a:solidFill>
            <a:srgbClr val="C00000"/>
          </a:solidFill>
          <a:ln w="12700">
            <a:solidFill>
              <a:srgbClr val="333333"/>
            </a:solidFill>
            <a:prstDash val="solid"/>
          </a:ln>
        </p:spPr>
      </p:sp>
      <p:sp>
        <p:nvSpPr>
          <p:cNvPr id="24" name="Text 22"/>
          <p:cNvSpPr txBox="1"/>
          <p:nvPr/>
        </p:nvSpPr>
        <p:spPr>
          <a:xfrm>
            <a:off x="8307415" y="5010912"/>
            <a:ext cx="3206773" cy="475488"/>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88%</a:t>
            </a:r>
            <a:endParaRPr lang="en-US" sz="3200" dirty="0"/>
          </a:p>
        </p:txBody>
      </p:sp>
      <p:sp>
        <p:nvSpPr>
          <p:cNvPr id="25" name="Text 23"/>
          <p:cNvSpPr txBox="1"/>
          <p:nvPr/>
        </p:nvSpPr>
        <p:spPr>
          <a:xfrm>
            <a:off x="8307415" y="5486400"/>
            <a:ext cx="3206773" cy="512064"/>
          </a:xfrm>
          <a:prstGeom prst="rect">
            <a:avLst/>
          </a:prstGeom>
          <a:noFill/>
          <a:ln/>
        </p:spPr>
        <p:txBody>
          <a:bodyPr wrap="square" lIns="0" tIns="0" rIns="0" bIns="0" rtlCol="0" anchor="t"/>
          <a:lstStyle/>
          <a:p>
            <a:pPr indent="0" marL="0">
              <a:lnSpc>
                <a:spcPts val="1800"/>
              </a:lnSpc>
              <a:buNone/>
            </a:pPr>
            <a:r>
              <a:rPr lang="en-US" sz="1400" dirty="0">
                <a:solidFill>
                  <a:srgbClr val="4B5363"/>
                </a:solidFill>
                <a:latin typeface="Arial" pitchFamily="34" charset="0"/>
                <a:ea typeface="Arial" pitchFamily="34" charset="-122"/>
                <a:cs typeface="Arial" pitchFamily="34" charset="-120"/>
              </a:rPr>
              <a:t>believe they can grow at Home Credit</a:t>
            </a:r>
            <a:endParaRPr lang="en-US" sz="1400" dirty="0"/>
          </a:p>
          <a:p>
            <a:pPr indent="0" marL="0">
              <a:lnSpc>
                <a:spcPts val="1800"/>
              </a:lnSpc>
              <a:buNone/>
            </a:pPr>
            <a:r>
              <a:rPr lang="en-US" sz="1400" dirty="0">
                <a:solidFill>
                  <a:srgbClr val="4B5363"/>
                </a:solidFill>
                <a:latin typeface="Arial" pitchFamily="34" charset="0"/>
                <a:ea typeface="Arial" pitchFamily="34" charset="-122"/>
                <a:cs typeface="Arial" pitchFamily="34" charset="-120"/>
              </a:rPr>
              <a:t>eNPS on growth opportunity</a:t>
            </a:r>
            <a:endParaRPr lang="en-US" sz="1400" dirty="0"/>
          </a:p>
        </p:txBody>
      </p:sp>
      <p:sp>
        <p:nvSpPr>
          <p:cNvPr id="26" name="Text 24"/>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SOLUTION</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One place. Every opportunity. Scored against you.</a:t>
            </a:r>
            <a:endParaRPr lang="en-US" sz="3300" dirty="0"/>
          </a:p>
        </p:txBody>
      </p:sp>
      <p:sp>
        <p:nvSpPr>
          <p:cNvPr id="5" name="Text 3"/>
          <p:cNvSpPr txBox="1"/>
          <p:nvPr/>
        </p:nvSpPr>
        <p:spPr>
          <a:xfrm>
            <a:off x="566928" y="1883664"/>
            <a:ext cx="5031317"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FOUR SHELVES</a:t>
            </a:r>
            <a:endParaRPr lang="en-US" sz="1400" dirty="0"/>
          </a:p>
        </p:txBody>
      </p:sp>
      <p:sp>
        <p:nvSpPr>
          <p:cNvPr id="6" name="Shape 4"/>
          <p:cNvSpPr/>
          <p:nvPr/>
        </p:nvSpPr>
        <p:spPr>
          <a:xfrm>
            <a:off x="566928" y="2304288"/>
            <a:ext cx="50292" cy="603504"/>
          </a:xfrm>
          <a:prstGeom prst="rect">
            <a:avLst/>
          </a:prstGeom>
          <a:solidFill>
            <a:srgbClr val="C00000"/>
          </a:solidFill>
          <a:ln w="12700">
            <a:solidFill>
              <a:srgbClr val="333333"/>
            </a:solidFill>
            <a:prstDash val="solid"/>
          </a:ln>
        </p:spPr>
      </p:sp>
      <p:sp>
        <p:nvSpPr>
          <p:cNvPr id="7" name="Text 5"/>
          <p:cNvSpPr txBox="1"/>
          <p:nvPr/>
        </p:nvSpPr>
        <p:spPr>
          <a:xfrm>
            <a:off x="804672" y="2267712"/>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Vacancies</a:t>
            </a:r>
            <a:endParaRPr lang="en-US" sz="1700" dirty="0"/>
          </a:p>
        </p:txBody>
      </p:sp>
      <p:sp>
        <p:nvSpPr>
          <p:cNvPr id="8" name="Text 6"/>
          <p:cNvSpPr txBox="1"/>
          <p:nvPr/>
        </p:nvSpPr>
        <p:spPr>
          <a:xfrm>
            <a:off x="804672" y="2560320"/>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Permanent internal roles, mirrored from HC Connect</a:t>
            </a:r>
            <a:endParaRPr lang="en-US" sz="1450" dirty="0"/>
          </a:p>
        </p:txBody>
      </p:sp>
      <p:sp>
        <p:nvSpPr>
          <p:cNvPr id="9" name="Shape 7"/>
          <p:cNvSpPr/>
          <p:nvPr/>
        </p:nvSpPr>
        <p:spPr>
          <a:xfrm>
            <a:off x="566928" y="3145536"/>
            <a:ext cx="50292" cy="603504"/>
          </a:xfrm>
          <a:prstGeom prst="rect">
            <a:avLst/>
          </a:prstGeom>
          <a:solidFill>
            <a:srgbClr val="9E6B12"/>
          </a:solidFill>
          <a:ln w="12700">
            <a:solidFill>
              <a:srgbClr val="333333"/>
            </a:solidFill>
            <a:prstDash val="solid"/>
          </a:ln>
        </p:spPr>
      </p:sp>
      <p:sp>
        <p:nvSpPr>
          <p:cNvPr id="10" name="Text 8"/>
          <p:cNvSpPr txBox="1"/>
          <p:nvPr/>
        </p:nvSpPr>
        <p:spPr>
          <a:xfrm>
            <a:off x="804672" y="3108960"/>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Gigs</a:t>
            </a:r>
            <a:endParaRPr lang="en-US" sz="1700" dirty="0"/>
          </a:p>
        </p:txBody>
      </p:sp>
      <p:sp>
        <p:nvSpPr>
          <p:cNvPr id="11" name="Text 9"/>
          <p:cNvSpPr txBox="1"/>
          <p:nvPr/>
        </p:nvSpPr>
        <p:spPr>
          <a:xfrm>
            <a:off x="804672" y="3401568"/>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Short projects, days to weeks, alongside the day job</a:t>
            </a:r>
            <a:endParaRPr lang="en-US" sz="1450" dirty="0"/>
          </a:p>
        </p:txBody>
      </p:sp>
      <p:sp>
        <p:nvSpPr>
          <p:cNvPr id="12" name="Shape 10"/>
          <p:cNvSpPr/>
          <p:nvPr/>
        </p:nvSpPr>
        <p:spPr>
          <a:xfrm>
            <a:off x="566928" y="3986784"/>
            <a:ext cx="50292" cy="603504"/>
          </a:xfrm>
          <a:prstGeom prst="rect">
            <a:avLst/>
          </a:prstGeom>
          <a:solidFill>
            <a:srgbClr val="0E7C66"/>
          </a:solidFill>
          <a:ln w="12700">
            <a:solidFill>
              <a:srgbClr val="333333"/>
            </a:solidFill>
            <a:prstDash val="solid"/>
          </a:ln>
        </p:spPr>
      </p:sp>
      <p:sp>
        <p:nvSpPr>
          <p:cNvPr id="13" name="Text 11"/>
          <p:cNvSpPr txBox="1"/>
          <p:nvPr/>
        </p:nvSpPr>
        <p:spPr>
          <a:xfrm>
            <a:off x="804672" y="3950208"/>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Job immersions</a:t>
            </a:r>
            <a:endParaRPr lang="en-US" sz="1700" dirty="0"/>
          </a:p>
        </p:txBody>
      </p:sp>
      <p:sp>
        <p:nvSpPr>
          <p:cNvPr id="14" name="Text 12"/>
          <p:cNvSpPr txBox="1"/>
          <p:nvPr/>
        </p:nvSpPr>
        <p:spPr>
          <a:xfrm>
            <a:off x="804672" y="4242816"/>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Three to nine months in another function</a:t>
            </a:r>
            <a:endParaRPr lang="en-US" sz="1450" dirty="0"/>
          </a:p>
        </p:txBody>
      </p:sp>
      <p:sp>
        <p:nvSpPr>
          <p:cNvPr id="15" name="Shape 13"/>
          <p:cNvSpPr/>
          <p:nvPr/>
        </p:nvSpPr>
        <p:spPr>
          <a:xfrm>
            <a:off x="566928" y="4828032"/>
            <a:ext cx="50292" cy="603504"/>
          </a:xfrm>
          <a:prstGeom prst="rect">
            <a:avLst/>
          </a:prstGeom>
          <a:solidFill>
            <a:srgbClr val="4A5468"/>
          </a:solidFill>
          <a:ln w="12700">
            <a:solidFill>
              <a:srgbClr val="333333"/>
            </a:solidFill>
            <a:prstDash val="solid"/>
          </a:ln>
        </p:spPr>
      </p:sp>
      <p:sp>
        <p:nvSpPr>
          <p:cNvPr id="16" name="Text 14"/>
          <p:cNvSpPr txBox="1"/>
          <p:nvPr/>
        </p:nvSpPr>
        <p:spPr>
          <a:xfrm>
            <a:off x="804672" y="4791456"/>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Service offers</a:t>
            </a:r>
            <a:endParaRPr lang="en-US" sz="1700" dirty="0"/>
          </a:p>
        </p:txBody>
      </p:sp>
      <p:sp>
        <p:nvSpPr>
          <p:cNvPr id="17" name="Text 15"/>
          <p:cNvSpPr txBox="1"/>
          <p:nvPr/>
        </p:nvSpPr>
        <p:spPr>
          <a:xfrm>
            <a:off x="804672" y="5084064"/>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An employee offering a skill to the business</a:t>
            </a:r>
            <a:endParaRPr lang="en-US" sz="1450" dirty="0"/>
          </a:p>
        </p:txBody>
      </p:sp>
      <p:sp>
        <p:nvSpPr>
          <p:cNvPr id="18" name="Shape 16"/>
          <p:cNvSpPr/>
          <p:nvPr/>
        </p:nvSpPr>
        <p:spPr>
          <a:xfrm>
            <a:off x="566928" y="5577840"/>
            <a:ext cx="5031317" cy="731520"/>
          </a:xfrm>
          <a:prstGeom prst="roundRect">
            <a:avLst>
              <a:gd name="adj" fmla="val 5000"/>
            </a:avLst>
          </a:prstGeom>
          <a:solidFill>
            <a:srgbClr val="F6F2EA"/>
          </a:solidFill>
          <a:ln w="12700">
            <a:solidFill>
              <a:srgbClr val="333333"/>
            </a:solidFill>
            <a:prstDash val="solid"/>
          </a:ln>
        </p:spPr>
      </p:sp>
      <p:sp>
        <p:nvSpPr>
          <p:cNvPr id="19" name="Text 17"/>
          <p:cNvSpPr txBox="1"/>
          <p:nvPr/>
        </p:nvSpPr>
        <p:spPr>
          <a:xfrm>
            <a:off x="804672" y="5577840"/>
            <a:ext cx="4555829" cy="731520"/>
          </a:xfrm>
          <a:prstGeom prst="rect">
            <a:avLst/>
          </a:prstGeom>
          <a:noFill/>
          <a:ln/>
        </p:spPr>
        <p:txBody>
          <a:bodyPr wrap="square" lIns="0" tIns="0" rIns="0" bIns="0" rtlCol="0" anchor="ctr"/>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Plus a skills passport. </a:t>
            </a:r>
            <a:pPr indent="0" marL="0">
              <a:lnSpc>
                <a:spcPts val="1900"/>
              </a:lnSpc>
              <a:buNone/>
            </a:pPr>
            <a:r>
              <a:rPr lang="en-US" sz="1450" dirty="0">
                <a:solidFill>
                  <a:srgbClr val="4B5363"/>
                </a:solidFill>
                <a:latin typeface="Arial" pitchFamily="34" charset="0"/>
                <a:ea typeface="Arial" pitchFamily="34" charset="-122"/>
                <a:cs typeface="Arial" pitchFamily="34" charset="-120"/>
              </a:rPr>
              <a:t>Seeded from MyDevelopment and LinkedIn, verified by delivery.</a:t>
            </a:r>
            <a:endParaRPr lang="en-US" sz="1450" dirty="0"/>
          </a:p>
        </p:txBody>
      </p:sp>
      <p:sp>
        <p:nvSpPr>
          <p:cNvPr id="20" name="Text 18"/>
          <p:cNvSpPr txBox="1"/>
          <p:nvPr/>
        </p:nvSpPr>
        <p:spPr>
          <a:xfrm>
            <a:off x="6018869" y="1883664"/>
            <a:ext cx="5605898"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EVERY POST IS SCORED AGAINST YOUR PROFILE</a:t>
            </a:r>
            <a:endParaRPr lang="en-US" sz="1400" dirty="0"/>
          </a:p>
        </p:txBody>
      </p:sp>
      <p:pic>
        <p:nvPicPr>
          <p:cNvPr id="21" name="Image 0" descr="preencoded.png">    </p:cNvPr>
          <p:cNvPicPr>
            <a:picLocks noChangeAspect="1"/>
          </p:cNvPicPr>
          <p:nvPr/>
        </p:nvPicPr>
        <p:blipFill>
          <a:blip r:embed="rId1"/>
          <a:stretch>
            <a:fillRect/>
          </a:stretch>
        </p:blipFill>
        <p:spPr>
          <a:xfrm>
            <a:off x="6018869" y="2267712"/>
            <a:ext cx="5605898" cy="3268239"/>
          </a:xfrm>
          <a:prstGeom prst="rect">
            <a:avLst/>
          </a:prstGeom>
          <a:effectLst>
            <a:outerShdw sx="100000" sy="100000" kx="0" ky="0" algn="bl" rotWithShape="0" blurRad="152400" dist="25400" dir="5400000">
              <a:srgbClr val="8A7A62">
                <a:alpha val="11000"/>
              </a:srgbClr>
            </a:outerShdw>
          </a:effectLst>
        </p:spPr>
      </p:pic>
      <p:sp>
        <p:nvSpPr>
          <p:cNvPr id="22" name="Text 19"/>
          <p:cNvSpPr txBox="1"/>
          <p:nvPr/>
        </p:nvSpPr>
        <p:spPr>
          <a:xfrm>
            <a:off x="6018869" y="5663967"/>
            <a:ext cx="5605898" cy="512064"/>
          </a:xfrm>
          <a:prstGeom prst="rect">
            <a:avLst/>
          </a:prstGeom>
          <a:noFill/>
          <a:ln/>
        </p:spPr>
        <p:txBody>
          <a:bodyPr wrap="square" lIns="0" tIns="0" rIns="0" bIns="0" rtlCol="0" anchor="t"/>
          <a:lstStyle/>
          <a:p>
            <a:pPr indent="0" marL="0">
              <a:lnSpc>
                <a:spcPts val="2000"/>
              </a:lnSpc>
              <a:buNone/>
            </a:pPr>
            <a:r>
              <a:rPr lang="en-US" sz="1500" dirty="0">
                <a:solidFill>
                  <a:srgbClr val="858D9B"/>
                </a:solidFill>
                <a:latin typeface="Arial" pitchFamily="34" charset="0"/>
                <a:ea typeface="Arial" pitchFamily="34" charset="-122"/>
                <a:cs typeface="Arial" pitchFamily="34" charset="-120"/>
              </a:rPr>
              <a:t>An AI model reads the post and your profile, returns a score, and says why. It never blocks an application.</a:t>
            </a:r>
            <a:endParaRPr lang="en-US" sz="1500" dirty="0"/>
          </a:p>
        </p:txBody>
      </p:sp>
      <p:sp>
        <p:nvSpPr>
          <p:cNvPr id="23" name="Text 20"/>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WHAT IS NEW HERE</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Four choices that make this more than a job board.</a:t>
            </a:r>
            <a:endParaRPr lang="en-US" sz="3300" dirty="0"/>
          </a:p>
        </p:txBody>
      </p:sp>
      <p:sp>
        <p:nvSpPr>
          <p:cNvPr id="5" name="Shape 3"/>
          <p:cNvSpPr/>
          <p:nvPr/>
        </p:nvSpPr>
        <p:spPr>
          <a:xfrm>
            <a:off x="566928" y="1975104"/>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6" name="Shape 4"/>
          <p:cNvSpPr/>
          <p:nvPr/>
        </p:nvSpPr>
        <p:spPr>
          <a:xfrm>
            <a:off x="566928" y="1975104"/>
            <a:ext cx="54864" cy="1572768"/>
          </a:xfrm>
          <a:prstGeom prst="rect">
            <a:avLst/>
          </a:prstGeom>
          <a:solidFill>
            <a:srgbClr val="C00000"/>
          </a:solidFill>
          <a:ln w="12700">
            <a:solidFill>
              <a:srgbClr val="333333"/>
            </a:solidFill>
            <a:prstDash val="solid"/>
          </a:ln>
        </p:spPr>
      </p:sp>
      <p:sp>
        <p:nvSpPr>
          <p:cNvPr id="7" name="Shape 5"/>
          <p:cNvSpPr/>
          <p:nvPr/>
        </p:nvSpPr>
        <p:spPr>
          <a:xfrm>
            <a:off x="841248" y="2212848"/>
            <a:ext cx="365760" cy="365760"/>
          </a:xfrm>
          <a:prstGeom prst="ellipse">
            <a:avLst/>
          </a:prstGeom>
          <a:solidFill>
            <a:srgbClr val="C00000"/>
          </a:solidFill>
          <a:ln w="12700">
            <a:solidFill>
              <a:srgbClr val="333333"/>
            </a:solidFill>
            <a:prstDash val="solid"/>
          </a:ln>
        </p:spPr>
      </p:sp>
      <p:sp>
        <p:nvSpPr>
          <p:cNvPr id="8" name="Text 6"/>
          <p:cNvSpPr txBox="1"/>
          <p:nvPr/>
        </p:nvSpPr>
        <p:spPr>
          <a:xfrm>
            <a:off x="841248" y="22128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371600" y="2176272"/>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A rejection has somewhere to go</a:t>
            </a:r>
            <a:endParaRPr lang="en-US" sz="1700" dirty="0"/>
          </a:p>
        </p:txBody>
      </p:sp>
      <p:sp>
        <p:nvSpPr>
          <p:cNvPr id="10" name="Text 8"/>
          <p:cNvSpPr txBox="1"/>
          <p:nvPr/>
        </p:nvSpPr>
        <p:spPr>
          <a:xfrm>
            <a:off x="1371600" y="2560320"/>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Every marketplace on the market is a board: one slot, one winner, everyone else leaves with nothing. Growth routes a "no" to a gig, an immersion or a service offer.</a:t>
            </a:r>
            <a:endParaRPr lang="en-US" sz="1450" dirty="0"/>
          </a:p>
        </p:txBody>
      </p:sp>
      <p:sp>
        <p:nvSpPr>
          <p:cNvPr id="11" name="Shape 9"/>
          <p:cNvSpPr/>
          <p:nvPr/>
        </p:nvSpPr>
        <p:spPr>
          <a:xfrm>
            <a:off x="6233008" y="1975104"/>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2" name="Shape 10"/>
          <p:cNvSpPr/>
          <p:nvPr/>
        </p:nvSpPr>
        <p:spPr>
          <a:xfrm>
            <a:off x="6233008" y="1975104"/>
            <a:ext cx="54864" cy="1572768"/>
          </a:xfrm>
          <a:prstGeom prst="rect">
            <a:avLst/>
          </a:prstGeom>
          <a:solidFill>
            <a:srgbClr val="0E7C66"/>
          </a:solidFill>
          <a:ln w="12700">
            <a:solidFill>
              <a:srgbClr val="333333"/>
            </a:solidFill>
            <a:prstDash val="solid"/>
          </a:ln>
        </p:spPr>
      </p:sp>
      <p:sp>
        <p:nvSpPr>
          <p:cNvPr id="13" name="Shape 11"/>
          <p:cNvSpPr/>
          <p:nvPr/>
        </p:nvSpPr>
        <p:spPr>
          <a:xfrm>
            <a:off x="6507328" y="2212848"/>
            <a:ext cx="365760" cy="365760"/>
          </a:xfrm>
          <a:prstGeom prst="ellipse">
            <a:avLst/>
          </a:prstGeom>
          <a:solidFill>
            <a:srgbClr val="0E7C66"/>
          </a:solidFill>
          <a:ln w="12700">
            <a:solidFill>
              <a:srgbClr val="333333"/>
            </a:solidFill>
            <a:prstDash val="solid"/>
          </a:ln>
        </p:spPr>
      </p:sp>
      <p:sp>
        <p:nvSpPr>
          <p:cNvPr id="14" name="Text 12"/>
          <p:cNvSpPr txBox="1"/>
          <p:nvPr/>
        </p:nvSpPr>
        <p:spPr>
          <a:xfrm>
            <a:off x="6507328" y="22128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7037680" y="2176272"/>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The AI explains itself, and never gates</a:t>
            </a:r>
            <a:endParaRPr lang="en-US" sz="1700" dirty="0"/>
          </a:p>
        </p:txBody>
      </p:sp>
      <p:sp>
        <p:nvSpPr>
          <p:cNvPr id="16" name="Text 14"/>
          <p:cNvSpPr txBox="1"/>
          <p:nvPr/>
        </p:nvSpPr>
        <p:spPr>
          <a:xfrm>
            <a:off x="7037680" y="2560320"/>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Each match shows its reasoning in plain language, and no score can block an application. An opaque ranking engine would have cost us trust in week one.</a:t>
            </a:r>
            <a:endParaRPr lang="en-US" sz="1450" dirty="0"/>
          </a:p>
        </p:txBody>
      </p:sp>
      <p:sp>
        <p:nvSpPr>
          <p:cNvPr id="17" name="Shape 15"/>
          <p:cNvSpPr/>
          <p:nvPr/>
        </p:nvSpPr>
        <p:spPr>
          <a:xfrm>
            <a:off x="566928" y="3694176"/>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8" name="Shape 16"/>
          <p:cNvSpPr/>
          <p:nvPr/>
        </p:nvSpPr>
        <p:spPr>
          <a:xfrm>
            <a:off x="566928" y="3694176"/>
            <a:ext cx="54864" cy="1572768"/>
          </a:xfrm>
          <a:prstGeom prst="rect">
            <a:avLst/>
          </a:prstGeom>
          <a:solidFill>
            <a:srgbClr val="9E6B12"/>
          </a:solidFill>
          <a:ln w="12700">
            <a:solidFill>
              <a:srgbClr val="333333"/>
            </a:solidFill>
            <a:prstDash val="solid"/>
          </a:ln>
        </p:spPr>
      </p:sp>
      <p:sp>
        <p:nvSpPr>
          <p:cNvPr id="19" name="Shape 17"/>
          <p:cNvSpPr/>
          <p:nvPr/>
        </p:nvSpPr>
        <p:spPr>
          <a:xfrm>
            <a:off x="841248" y="3931920"/>
            <a:ext cx="365760" cy="365760"/>
          </a:xfrm>
          <a:prstGeom prst="ellipse">
            <a:avLst/>
          </a:prstGeom>
          <a:solidFill>
            <a:srgbClr val="9E6B12"/>
          </a:solidFill>
          <a:ln w="12700">
            <a:solidFill>
              <a:srgbClr val="333333"/>
            </a:solidFill>
            <a:prstDash val="solid"/>
          </a:ln>
        </p:spPr>
      </p:sp>
      <p:sp>
        <p:nvSpPr>
          <p:cNvPr id="20" name="Text 18"/>
          <p:cNvSpPr txBox="1"/>
          <p:nvPr/>
        </p:nvSpPr>
        <p:spPr>
          <a:xfrm>
            <a:off x="841248" y="39319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txBox="1"/>
          <p:nvPr/>
        </p:nvSpPr>
        <p:spPr>
          <a:xfrm>
            <a:off x="1371600" y="3895344"/>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Skills carry provenance</a:t>
            </a:r>
            <a:endParaRPr lang="en-US" sz="1700" dirty="0"/>
          </a:p>
        </p:txBody>
      </p:sp>
      <p:sp>
        <p:nvSpPr>
          <p:cNvPr id="22" name="Text 20"/>
          <p:cNvSpPr txBox="1"/>
          <p:nvPr/>
        </p:nvSpPr>
        <p:spPr>
          <a:xfrm>
            <a:off x="1371600" y="4279392"/>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Verified by delivered work, uploaded by HR, or self-declared — and the rubric weights them differently. A claimed skill is never treated as a proven one.</a:t>
            </a:r>
            <a:endParaRPr lang="en-US" sz="1450" dirty="0"/>
          </a:p>
        </p:txBody>
      </p:sp>
      <p:sp>
        <p:nvSpPr>
          <p:cNvPr id="23" name="Shape 21"/>
          <p:cNvSpPr/>
          <p:nvPr/>
        </p:nvSpPr>
        <p:spPr>
          <a:xfrm>
            <a:off x="6233008" y="3694176"/>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24" name="Shape 22"/>
          <p:cNvSpPr/>
          <p:nvPr/>
        </p:nvSpPr>
        <p:spPr>
          <a:xfrm>
            <a:off x="6233008" y="3694176"/>
            <a:ext cx="54864" cy="1572768"/>
          </a:xfrm>
          <a:prstGeom prst="rect">
            <a:avLst/>
          </a:prstGeom>
          <a:solidFill>
            <a:srgbClr val="5A6473"/>
          </a:solidFill>
          <a:ln w="12700">
            <a:solidFill>
              <a:srgbClr val="333333"/>
            </a:solidFill>
            <a:prstDash val="solid"/>
          </a:ln>
        </p:spPr>
      </p:sp>
      <p:sp>
        <p:nvSpPr>
          <p:cNvPr id="25" name="Shape 23"/>
          <p:cNvSpPr/>
          <p:nvPr/>
        </p:nvSpPr>
        <p:spPr>
          <a:xfrm>
            <a:off x="6507328" y="3931920"/>
            <a:ext cx="365760" cy="365760"/>
          </a:xfrm>
          <a:prstGeom prst="ellipse">
            <a:avLst/>
          </a:prstGeom>
          <a:solidFill>
            <a:srgbClr val="5A6473"/>
          </a:solidFill>
          <a:ln w="12700">
            <a:solidFill>
              <a:srgbClr val="333333"/>
            </a:solidFill>
            <a:prstDash val="solid"/>
          </a:ln>
        </p:spPr>
      </p:sp>
      <p:sp>
        <p:nvSpPr>
          <p:cNvPr id="26" name="Text 24"/>
          <p:cNvSpPr txBox="1"/>
          <p:nvPr/>
        </p:nvSpPr>
        <p:spPr>
          <a:xfrm>
            <a:off x="6507328" y="39319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7" name="Text 25"/>
          <p:cNvSpPr txBox="1"/>
          <p:nvPr/>
        </p:nvSpPr>
        <p:spPr>
          <a:xfrm>
            <a:off x="7037680" y="3895344"/>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Built before it was bought</a:t>
            </a:r>
            <a:endParaRPr lang="en-US" sz="1700" dirty="0"/>
          </a:p>
        </p:txBody>
      </p:sp>
      <p:sp>
        <p:nvSpPr>
          <p:cNvPr id="28" name="Text 26"/>
          <p:cNvSpPr txBox="1"/>
          <p:nvPr/>
        </p:nvSpPr>
        <p:spPr>
          <a:xfrm>
            <a:off x="7037680" y="4279392"/>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working prototype exists today, made inside Organisational Effectiveness. We are asking you to fund a build you can use in this room, not a slide.</a:t>
            </a:r>
            <a:endParaRPr lang="en-US" sz="1450" dirty="0"/>
          </a:p>
        </p:txBody>
      </p:sp>
      <p:sp>
        <p:nvSpPr>
          <p:cNvPr id="29" name="Shape 27"/>
          <p:cNvSpPr/>
          <p:nvPr/>
        </p:nvSpPr>
        <p:spPr>
          <a:xfrm>
            <a:off x="566928" y="5376672"/>
            <a:ext cx="11057839" cy="914400"/>
          </a:xfrm>
          <a:prstGeom prst="roundRect">
            <a:avLst>
              <a:gd name="adj" fmla="val 4000"/>
            </a:avLst>
          </a:prstGeom>
          <a:solidFill>
            <a:srgbClr val="F6F2EA"/>
          </a:solidFill>
          <a:ln w="12700">
            <a:solidFill>
              <a:srgbClr val="333333"/>
            </a:solidFill>
            <a:prstDash val="solid"/>
          </a:ln>
        </p:spPr>
      </p:sp>
      <p:sp>
        <p:nvSpPr>
          <p:cNvPr id="30" name="Text 28"/>
          <p:cNvSpPr txBox="1"/>
          <p:nvPr/>
        </p:nvSpPr>
        <p:spPr>
          <a:xfrm>
            <a:off x="877824" y="5376672"/>
            <a:ext cx="10436047" cy="914400"/>
          </a:xfrm>
          <a:prstGeom prst="rect">
            <a:avLst/>
          </a:prstGeom>
          <a:noFill/>
          <a:ln/>
        </p:spPr>
        <p:txBody>
          <a:bodyPr wrap="square" lIns="0" tIns="0" rIns="0" bIns="0" rtlCol="0" anchor="ctr"/>
          <a:lstStyle/>
          <a:p>
            <a:pPr indent="0" marL="0">
              <a:lnSpc>
                <a:spcPts val="2100"/>
              </a:lnSpc>
              <a:buNone/>
            </a:pPr>
            <a:r>
              <a:rPr lang="en-US" sz="1500" b="1" dirty="0">
                <a:solidFill>
                  <a:srgbClr val="222834"/>
                </a:solidFill>
                <a:latin typeface="Arial" pitchFamily="34" charset="0"/>
                <a:ea typeface="Arial" pitchFamily="34" charset="-122"/>
                <a:cs typeface="Arial" pitchFamily="34" charset="-120"/>
              </a:rPr>
              <a:t>The first two are the ones that matter. </a:t>
            </a:r>
            <a:pPr indent="0" marL="0">
              <a:lnSpc>
                <a:spcPts val="2100"/>
              </a:lnSpc>
              <a:buNone/>
            </a:pPr>
            <a:r>
              <a:rPr lang="en-US" sz="1500" dirty="0">
                <a:solidFill>
                  <a:srgbClr val="4B5363"/>
                </a:solidFill>
                <a:latin typeface="Arial" pitchFamily="34" charset="0"/>
                <a:ea typeface="Arial" pitchFamily="34" charset="-122"/>
                <a:cs typeface="Arial" pitchFamily="34" charset="-120"/>
              </a:rPr>
              <a:t>A board raises applications and therefore raises rejections, and our data says rejection is what makes people leave.</a:t>
            </a:r>
            <a:endParaRPr lang="en-US" sz="1500" dirty="0"/>
          </a:p>
        </p:txBody>
      </p:sp>
      <p:sp>
        <p:nvSpPr>
          <p:cNvPr id="31" name="Text 29"/>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C00000"/>
          </a:solidFill>
          <a:ln w="12700">
            <a:solidFill>
              <a:srgbClr val="333333"/>
            </a:solidFill>
            <a:prstDash val="solid"/>
          </a:ln>
        </p:spPr>
      </p:sp>
      <p:sp>
        <p:nvSpPr>
          <p:cNvPr id="3" name="Text 1"/>
          <p:cNvSpPr txBox="1"/>
          <p:nvPr/>
        </p:nvSpPr>
        <p:spPr>
          <a:xfrm>
            <a:off x="1051560" y="1335024"/>
            <a:ext cx="7315200" cy="274320"/>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LIVE DEMONSTRATION</a:t>
            </a:r>
            <a:endParaRPr lang="en-US" sz="1400" dirty="0"/>
          </a:p>
        </p:txBody>
      </p:sp>
      <p:sp>
        <p:nvSpPr>
          <p:cNvPr id="4" name="Text 2"/>
          <p:cNvSpPr txBox="1"/>
          <p:nvPr/>
        </p:nvSpPr>
        <p:spPr>
          <a:xfrm>
            <a:off x="1051560" y="1755648"/>
            <a:ext cx="6400800" cy="1554480"/>
          </a:xfrm>
          <a:prstGeom prst="rect">
            <a:avLst/>
          </a:prstGeom>
          <a:noFill/>
          <a:ln/>
        </p:spPr>
        <p:txBody>
          <a:bodyPr wrap="square" lIns="0" tIns="0" rIns="0" bIns="0" rtlCol="0" anchor="t"/>
          <a:lstStyle/>
          <a:p>
            <a:pPr indent="0" marL="0">
              <a:lnSpc>
                <a:spcPts val="5000"/>
              </a:lnSpc>
              <a:buNone/>
            </a:pPr>
            <a:r>
              <a:rPr lang="en-US" sz="4000" b="1" dirty="0">
                <a:solidFill>
                  <a:srgbClr val="222834"/>
                </a:solidFill>
                <a:latin typeface="Arial" pitchFamily="34" charset="0"/>
                <a:ea typeface="Arial" pitchFamily="34" charset="-122"/>
                <a:cs typeface="Arial" pitchFamily="34" charset="-120"/>
              </a:rPr>
              <a:t>Let me show you</a:t>
            </a:r>
            <a:endParaRPr lang="en-US" sz="4000" dirty="0"/>
          </a:p>
          <a:p>
            <a:pPr indent="0" marL="0">
              <a:lnSpc>
                <a:spcPts val="5000"/>
              </a:lnSpc>
              <a:buNone/>
            </a:pPr>
            <a:r>
              <a:rPr lang="en-US" sz="4000" b="1" dirty="0">
                <a:solidFill>
                  <a:srgbClr val="222834"/>
                </a:solidFill>
                <a:latin typeface="Arial" pitchFamily="34" charset="0"/>
                <a:ea typeface="Arial" pitchFamily="34" charset="-122"/>
                <a:cs typeface="Arial" pitchFamily="34" charset="-120"/>
              </a:rPr>
              <a:t>the working product.</a:t>
            </a:r>
            <a:endParaRPr lang="en-US" sz="4000" dirty="0"/>
          </a:p>
        </p:txBody>
      </p:sp>
      <p:sp>
        <p:nvSpPr>
          <p:cNvPr id="5" name="Shape 3"/>
          <p:cNvSpPr/>
          <p:nvPr/>
        </p:nvSpPr>
        <p:spPr>
          <a:xfrm>
            <a:off x="1051560" y="3493008"/>
            <a:ext cx="1371600" cy="54864"/>
          </a:xfrm>
          <a:prstGeom prst="rect">
            <a:avLst/>
          </a:prstGeom>
          <a:solidFill>
            <a:srgbClr val="C00000"/>
          </a:solidFill>
          <a:ln w="12700">
            <a:solidFill>
              <a:srgbClr val="333333"/>
            </a:solidFill>
            <a:prstDash val="solid"/>
          </a:ln>
        </p:spPr>
      </p:sp>
      <p:sp>
        <p:nvSpPr>
          <p:cNvPr id="6" name="Shape 4"/>
          <p:cNvSpPr/>
          <p:nvPr/>
        </p:nvSpPr>
        <p:spPr>
          <a:xfrm>
            <a:off x="1051560" y="3803904"/>
            <a:ext cx="365760" cy="365760"/>
          </a:xfrm>
          <a:prstGeom prst="ellipse">
            <a:avLst/>
          </a:prstGeom>
          <a:solidFill>
            <a:srgbClr val="C00000"/>
          </a:solidFill>
          <a:ln w="12700">
            <a:solidFill>
              <a:srgbClr val="333333"/>
            </a:solidFill>
            <a:prstDash val="solid"/>
          </a:ln>
        </p:spPr>
      </p:sp>
      <p:sp>
        <p:nvSpPr>
          <p:cNvPr id="7" name="Text 5"/>
          <p:cNvSpPr txBox="1"/>
          <p:nvPr/>
        </p:nvSpPr>
        <p:spPr>
          <a:xfrm>
            <a:off x="1051560" y="38039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572768" y="3803904"/>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An employee finds a match they never would have seen</a:t>
            </a:r>
            <a:endParaRPr lang="en-US" sz="1600" dirty="0"/>
          </a:p>
        </p:txBody>
      </p:sp>
      <p:sp>
        <p:nvSpPr>
          <p:cNvPr id="9" name="Shape 7"/>
          <p:cNvSpPr/>
          <p:nvPr/>
        </p:nvSpPr>
        <p:spPr>
          <a:xfrm>
            <a:off x="1051560" y="4370832"/>
            <a:ext cx="365760" cy="365760"/>
          </a:xfrm>
          <a:prstGeom prst="ellipse">
            <a:avLst/>
          </a:prstGeom>
          <a:solidFill>
            <a:srgbClr val="C00000"/>
          </a:solidFill>
          <a:ln w="12700">
            <a:solidFill>
              <a:srgbClr val="333333"/>
            </a:solidFill>
            <a:prstDash val="solid"/>
          </a:ln>
        </p:spPr>
      </p:sp>
      <p:sp>
        <p:nvSpPr>
          <p:cNvPr id="10" name="Text 8"/>
          <p:cNvSpPr txBox="1"/>
          <p:nvPr/>
        </p:nvSpPr>
        <p:spPr>
          <a:xfrm>
            <a:off x="1051560" y="43708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1572768" y="4370832"/>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They add one skill — and the matches change in front of you</a:t>
            </a:r>
            <a:endParaRPr lang="en-US" sz="1600" dirty="0"/>
          </a:p>
        </p:txBody>
      </p:sp>
      <p:sp>
        <p:nvSpPr>
          <p:cNvPr id="12" name="Shape 10"/>
          <p:cNvSpPr/>
          <p:nvPr/>
        </p:nvSpPr>
        <p:spPr>
          <a:xfrm>
            <a:off x="1051560" y="4937760"/>
            <a:ext cx="365760" cy="365760"/>
          </a:xfrm>
          <a:prstGeom prst="ellipse">
            <a:avLst/>
          </a:prstGeom>
          <a:solidFill>
            <a:srgbClr val="C00000"/>
          </a:solidFill>
          <a:ln w="12700">
            <a:solidFill>
              <a:srgbClr val="333333"/>
            </a:solidFill>
            <a:prstDash val="solid"/>
          </a:ln>
        </p:spPr>
      </p:sp>
      <p:sp>
        <p:nvSpPr>
          <p:cNvPr id="13" name="Text 11"/>
          <p:cNvSpPr txBox="1"/>
          <p:nvPr/>
        </p:nvSpPr>
        <p:spPr>
          <a:xfrm>
            <a:off x="1051560" y="493776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txBox="1"/>
          <p:nvPr/>
        </p:nvSpPr>
        <p:spPr>
          <a:xfrm>
            <a:off x="1572768" y="4937760"/>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A manager posts a gig; HR approves it; it appears on the shelf</a:t>
            </a:r>
            <a:endParaRPr lang="en-US" sz="1600" dirty="0"/>
          </a:p>
        </p:txBody>
      </p:sp>
      <p:sp>
        <p:nvSpPr>
          <p:cNvPr id="15" name="Shape 13"/>
          <p:cNvSpPr/>
          <p:nvPr/>
        </p:nvSpPr>
        <p:spPr>
          <a:xfrm>
            <a:off x="1051560" y="5504688"/>
            <a:ext cx="365760" cy="365760"/>
          </a:xfrm>
          <a:prstGeom prst="ellipse">
            <a:avLst/>
          </a:prstGeom>
          <a:solidFill>
            <a:srgbClr val="C00000"/>
          </a:solidFill>
          <a:ln w="12700">
            <a:solidFill>
              <a:srgbClr val="333333"/>
            </a:solidFill>
            <a:prstDash val="solid"/>
          </a:ln>
        </p:spPr>
      </p:sp>
      <p:sp>
        <p:nvSpPr>
          <p:cNvPr id="16" name="Text 14"/>
          <p:cNvSpPr txBox="1"/>
          <p:nvPr/>
        </p:nvSpPr>
        <p:spPr>
          <a:xfrm>
            <a:off x="1051560" y="550468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7" name="Text 15"/>
          <p:cNvSpPr txBox="1"/>
          <p:nvPr/>
        </p:nvSpPr>
        <p:spPr>
          <a:xfrm>
            <a:off x="1572768" y="5504688"/>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Work is closed out — and lands on the employee profile</a:t>
            </a:r>
            <a:endParaRPr lang="en-US" sz="1600" dirty="0"/>
          </a:p>
        </p:txBody>
      </p:sp>
      <p:pic>
        <p:nvPicPr>
          <p:cNvPr id="18" name="Image 0" descr="preencoded.png">    </p:cNvPr>
          <p:cNvPicPr>
            <a:picLocks noChangeAspect="1"/>
          </p:cNvPicPr>
          <p:nvPr/>
        </p:nvPicPr>
        <p:blipFill>
          <a:blip r:embed="rId1"/>
          <a:stretch>
            <a:fillRect/>
          </a:stretch>
        </p:blipFill>
        <p:spPr>
          <a:xfrm>
            <a:off x="7589520" y="1298448"/>
            <a:ext cx="4023360" cy="3145536"/>
          </a:xfrm>
          <a:prstGeom prst="rect">
            <a:avLst/>
          </a:prstGeom>
          <a:effectLst>
            <a:outerShdw sx="100000" sy="100000" kx="0" ky="0" algn="bl" rotWithShape="0" blurRad="152400" dist="25400" dir="5400000">
              <a:srgbClr val="8A7A62">
                <a:alpha val="11000"/>
              </a:srgbClr>
            </a:outerShdw>
          </a:effectLst>
        </p:spPr>
      </p:pic>
      <p:sp>
        <p:nvSpPr>
          <p:cNvPr id="19" name="Text 16"/>
          <p:cNvSpPr txBox="1"/>
          <p:nvPr/>
        </p:nvSpPr>
        <p:spPr>
          <a:xfrm>
            <a:off x="7589520" y="4626864"/>
            <a:ext cx="4023360" cy="640080"/>
          </a:xfrm>
          <a:prstGeom prst="rect">
            <a:avLst/>
          </a:prstGeom>
          <a:noFill/>
          <a:ln/>
        </p:spPr>
        <p:txBody>
          <a:bodyPr wrap="square" lIns="0" tIns="0" rIns="0" bIns="0" rtlCol="0" anchor="t"/>
          <a:lstStyle/>
          <a:p>
            <a:pPr indent="0" marL="0">
              <a:lnSpc>
                <a:spcPts val="2000"/>
              </a:lnSpc>
              <a:buNone/>
            </a:pPr>
            <a:r>
              <a:rPr lang="en-US" sz="1500" dirty="0">
                <a:solidFill>
                  <a:srgbClr val="858D9B"/>
                </a:solidFill>
                <a:latin typeface="Arial" pitchFamily="34" charset="0"/>
                <a:ea typeface="Arial" pitchFamily="34" charset="-122"/>
                <a:cs typeface="Arial" pitchFamily="34" charset="-120"/>
              </a:rPr>
              <a:t>Built and running today. No vendor, no licence, no integration project.</a:t>
            </a:r>
            <a:endParaRPr lang="en-US" sz="1500" dirty="0"/>
          </a:p>
        </p:txBody>
      </p:sp>
      <p:sp>
        <p:nvSpPr>
          <p:cNvPr id="20" name="Text 17"/>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FINANCIAL CASE</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Staying at 17% costs us ₱4.0M every year.</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Per year, company-wide, at 336 vacancies a year. Not a three-year total. Net of the backfill each internal move creates.</a:t>
            </a:r>
            <a:endParaRPr lang="en-US" sz="1600" dirty="0"/>
          </a:p>
        </p:txBody>
      </p:sp>
      <p:sp>
        <p:nvSpPr>
          <p:cNvPr id="6" name="Shape 4"/>
          <p:cNvSpPr/>
          <p:nvPr/>
        </p:nvSpPr>
        <p:spPr>
          <a:xfrm>
            <a:off x="6812280" y="1755648"/>
            <a:ext cx="2514600" cy="3163824"/>
          </a:xfrm>
          <a:prstGeom prst="roundRect">
            <a:avLst>
              <a:gd name="adj" fmla="val 1455"/>
            </a:avLst>
          </a:prstGeom>
          <a:solidFill>
            <a:srgbClr val="FDF0F0"/>
          </a:solidFill>
          <a:ln w="12700">
            <a:solidFill>
              <a:srgbClr val="333333"/>
            </a:solidFill>
            <a:prstDash val="solid"/>
          </a:ln>
        </p:spPr>
      </p:sp>
      <p:sp>
        <p:nvSpPr>
          <p:cNvPr id="7" name="Text 5"/>
          <p:cNvSpPr txBox="1"/>
          <p:nvPr/>
        </p:nvSpPr>
        <p:spPr>
          <a:xfrm>
            <a:off x="4526280" y="1828800"/>
            <a:ext cx="2331720" cy="402336"/>
          </a:xfrm>
          <a:prstGeom prst="rect">
            <a:avLst/>
          </a:prstGeom>
          <a:noFill/>
          <a:ln/>
        </p:spPr>
        <p:txBody>
          <a:bodyPr wrap="square" lIns="0" tIns="0" rIns="0" bIns="0" rtlCol="0" anchor="ctr"/>
          <a:lstStyle/>
          <a:p>
            <a:pPr algn="ctr" indent="0" marL="0">
              <a:buNone/>
            </a:pPr>
            <a:r>
              <a:rPr lang="en-US" sz="2600" b="1" dirty="0">
                <a:solidFill>
                  <a:srgbClr val="858D9B"/>
                </a:solidFill>
                <a:latin typeface="Arial" pitchFamily="34" charset="0"/>
                <a:ea typeface="Arial" pitchFamily="34" charset="-122"/>
                <a:cs typeface="Arial" pitchFamily="34" charset="-120"/>
              </a:rPr>
              <a:t>17%</a:t>
            </a:r>
            <a:endParaRPr lang="en-US" sz="2600" dirty="0"/>
          </a:p>
        </p:txBody>
      </p:sp>
      <p:sp>
        <p:nvSpPr>
          <p:cNvPr id="8" name="Text 6"/>
          <p:cNvSpPr txBox="1"/>
          <p:nvPr/>
        </p:nvSpPr>
        <p:spPr>
          <a:xfrm>
            <a:off x="4526280" y="2249424"/>
            <a:ext cx="2331720" cy="237744"/>
          </a:xfrm>
          <a:prstGeom prst="rect">
            <a:avLst/>
          </a:prstGeom>
          <a:noFill/>
          <a:ln/>
        </p:spPr>
        <p:txBody>
          <a:bodyPr wrap="square" lIns="0" tIns="0" rIns="0" bIns="0" rtlCol="0" anchor="ctr"/>
          <a:lstStyle/>
          <a:p>
            <a:pPr algn="ctr" indent="0" marL="0">
              <a:buNone/>
            </a:pPr>
            <a:r>
              <a:rPr lang="en-US" sz="1400" dirty="0">
                <a:solidFill>
                  <a:srgbClr val="858D9B"/>
                </a:solidFill>
                <a:latin typeface="Arial" pitchFamily="34" charset="0"/>
                <a:ea typeface="Arial" pitchFamily="34" charset="-122"/>
                <a:cs typeface="Arial" pitchFamily="34" charset="-120"/>
              </a:rPr>
              <a:t>where we are</a:t>
            </a:r>
            <a:endParaRPr lang="en-US" sz="1400" dirty="0"/>
          </a:p>
        </p:txBody>
      </p:sp>
      <p:sp>
        <p:nvSpPr>
          <p:cNvPr id="9" name="Text 7"/>
          <p:cNvSpPr txBox="1"/>
          <p:nvPr/>
        </p:nvSpPr>
        <p:spPr>
          <a:xfrm>
            <a:off x="6903720" y="1828800"/>
            <a:ext cx="2331720" cy="402336"/>
          </a:xfrm>
          <a:prstGeom prst="rect">
            <a:avLst/>
          </a:prstGeom>
          <a:noFill/>
          <a:ln/>
        </p:spPr>
        <p:txBody>
          <a:bodyPr wrap="square" lIns="0" tIns="0" rIns="0" bIns="0" rtlCol="0" anchor="ctr"/>
          <a:lstStyle/>
          <a:p>
            <a:pPr algn="ctr" indent="0" marL="0">
              <a:buNone/>
            </a:pPr>
            <a:r>
              <a:rPr lang="en-US" sz="2600" b="1" dirty="0">
                <a:solidFill>
                  <a:srgbClr val="C00000"/>
                </a:solidFill>
                <a:latin typeface="Arial" pitchFamily="34" charset="0"/>
                <a:ea typeface="Arial" pitchFamily="34" charset="-122"/>
                <a:cs typeface="Arial" pitchFamily="34" charset="-120"/>
              </a:rPr>
              <a:t>30%</a:t>
            </a:r>
            <a:endParaRPr lang="en-US" sz="2600" dirty="0"/>
          </a:p>
        </p:txBody>
      </p:sp>
      <p:sp>
        <p:nvSpPr>
          <p:cNvPr id="10" name="Text 8"/>
          <p:cNvSpPr txBox="1"/>
          <p:nvPr/>
        </p:nvSpPr>
        <p:spPr>
          <a:xfrm>
            <a:off x="6903720" y="2249424"/>
            <a:ext cx="2331720" cy="237744"/>
          </a:xfrm>
          <a:prstGeom prst="rect">
            <a:avLst/>
          </a:prstGeom>
          <a:noFill/>
          <a:ln/>
        </p:spPr>
        <p:txBody>
          <a:bodyPr wrap="square" lIns="0" tIns="0" rIns="0" bIns="0" rtlCol="0" anchor="ctr"/>
          <a:lstStyle/>
          <a:p>
            <a:pPr algn="ctr" indent="0" marL="0">
              <a:buNone/>
            </a:pPr>
            <a:r>
              <a:rPr lang="en-US" sz="1400" dirty="0">
                <a:solidFill>
                  <a:srgbClr val="858D9B"/>
                </a:solidFill>
                <a:latin typeface="Arial" pitchFamily="34" charset="0"/>
                <a:ea typeface="Arial" pitchFamily="34" charset="-122"/>
                <a:cs typeface="Arial" pitchFamily="34" charset="-120"/>
              </a:rPr>
              <a:t>the benchmark</a:t>
            </a:r>
            <a:endParaRPr lang="en-US" sz="1400" dirty="0"/>
          </a:p>
        </p:txBody>
      </p:sp>
      <p:sp>
        <p:nvSpPr>
          <p:cNvPr id="11" name="Text 9"/>
          <p:cNvSpPr txBox="1"/>
          <p:nvPr/>
        </p:nvSpPr>
        <p:spPr>
          <a:xfrm>
            <a:off x="9281160" y="1828800"/>
            <a:ext cx="2331720" cy="402336"/>
          </a:xfrm>
          <a:prstGeom prst="rect">
            <a:avLst/>
          </a:prstGeom>
          <a:noFill/>
          <a:ln/>
        </p:spPr>
        <p:txBody>
          <a:bodyPr wrap="square" lIns="0" tIns="0" rIns="0" bIns="0" rtlCol="0" anchor="ctr"/>
          <a:lstStyle/>
          <a:p>
            <a:pPr algn="ctr" indent="0" marL="0">
              <a:buNone/>
            </a:pPr>
            <a:r>
              <a:rPr lang="en-US" sz="2600" b="1" dirty="0">
                <a:solidFill>
                  <a:srgbClr val="0E7C66"/>
                </a:solidFill>
                <a:latin typeface="Arial" pitchFamily="34" charset="0"/>
                <a:ea typeface="Arial" pitchFamily="34" charset="-122"/>
                <a:cs typeface="Arial" pitchFamily="34" charset="-120"/>
              </a:rPr>
              <a:t>50%</a:t>
            </a:r>
            <a:endParaRPr lang="en-US" sz="2600" dirty="0"/>
          </a:p>
        </p:txBody>
      </p:sp>
      <p:sp>
        <p:nvSpPr>
          <p:cNvPr id="12" name="Text 10"/>
          <p:cNvSpPr txBox="1"/>
          <p:nvPr/>
        </p:nvSpPr>
        <p:spPr>
          <a:xfrm>
            <a:off x="9281160" y="2249424"/>
            <a:ext cx="2331720" cy="237744"/>
          </a:xfrm>
          <a:prstGeom prst="rect">
            <a:avLst/>
          </a:prstGeom>
          <a:noFill/>
          <a:ln/>
        </p:spPr>
        <p:txBody>
          <a:bodyPr wrap="square" lIns="0" tIns="0" rIns="0" bIns="0" rtlCol="0" anchor="ctr"/>
          <a:lstStyle/>
          <a:p>
            <a:pPr algn="ctr" indent="0" marL="0">
              <a:buNone/>
            </a:pPr>
            <a:r>
              <a:rPr lang="en-US" sz="1400" dirty="0">
                <a:solidFill>
                  <a:srgbClr val="858D9B"/>
                </a:solidFill>
                <a:latin typeface="Arial" pitchFamily="34" charset="0"/>
                <a:ea typeface="Arial" pitchFamily="34" charset="-122"/>
                <a:cs typeface="Arial" pitchFamily="34" charset="-120"/>
              </a:rPr>
              <a:t>mature marketplaces</a:t>
            </a:r>
            <a:endParaRPr lang="en-US" sz="1400" dirty="0"/>
          </a:p>
        </p:txBody>
      </p:sp>
      <p:sp>
        <p:nvSpPr>
          <p:cNvPr id="13" name="Text 11"/>
          <p:cNvSpPr txBox="1"/>
          <p:nvPr/>
        </p:nvSpPr>
        <p:spPr>
          <a:xfrm>
            <a:off x="603504" y="2670048"/>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Internal fills, a year</a:t>
            </a:r>
            <a:endParaRPr lang="en-US" sz="1600" dirty="0"/>
          </a:p>
        </p:txBody>
      </p:sp>
      <p:sp>
        <p:nvSpPr>
          <p:cNvPr id="14" name="Text 12"/>
          <p:cNvSpPr txBox="1"/>
          <p:nvPr/>
        </p:nvSpPr>
        <p:spPr>
          <a:xfrm>
            <a:off x="4526280" y="2670048"/>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57</a:t>
            </a:r>
            <a:endParaRPr lang="en-US" sz="1700" dirty="0"/>
          </a:p>
        </p:txBody>
      </p:sp>
      <p:sp>
        <p:nvSpPr>
          <p:cNvPr id="15" name="Text 13"/>
          <p:cNvSpPr txBox="1"/>
          <p:nvPr/>
        </p:nvSpPr>
        <p:spPr>
          <a:xfrm>
            <a:off x="6903720" y="2670048"/>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101</a:t>
            </a:r>
            <a:endParaRPr lang="en-US" sz="1700" dirty="0"/>
          </a:p>
        </p:txBody>
      </p:sp>
      <p:sp>
        <p:nvSpPr>
          <p:cNvPr id="16" name="Text 14"/>
          <p:cNvSpPr txBox="1"/>
          <p:nvPr/>
        </p:nvSpPr>
        <p:spPr>
          <a:xfrm>
            <a:off x="9281160" y="2670048"/>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168</a:t>
            </a:r>
            <a:endParaRPr lang="en-US" sz="1700" dirty="0"/>
          </a:p>
        </p:txBody>
      </p:sp>
      <p:sp>
        <p:nvSpPr>
          <p:cNvPr id="17" name="Shape 15"/>
          <p:cNvSpPr/>
          <p:nvPr/>
        </p:nvSpPr>
        <p:spPr>
          <a:xfrm>
            <a:off x="566928" y="3200400"/>
            <a:ext cx="11057839" cy="0"/>
          </a:xfrm>
          <a:prstGeom prst="line">
            <a:avLst/>
          </a:prstGeom>
          <a:noFill/>
          <a:ln w="12700">
            <a:solidFill>
              <a:srgbClr val="E7E1D7"/>
            </a:solidFill>
            <a:prstDash val="solid"/>
          </a:ln>
        </p:spPr>
      </p:sp>
      <p:sp>
        <p:nvSpPr>
          <p:cNvPr id="18" name="Text 16"/>
          <p:cNvSpPr txBox="1"/>
          <p:nvPr/>
        </p:nvSpPr>
        <p:spPr>
          <a:xfrm>
            <a:off x="603504" y="3236976"/>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Hiring cost avoided, a year</a:t>
            </a:r>
            <a:endParaRPr lang="en-US" sz="1600" dirty="0"/>
          </a:p>
        </p:txBody>
      </p:sp>
      <p:sp>
        <p:nvSpPr>
          <p:cNvPr id="19" name="Text 17"/>
          <p:cNvSpPr txBox="1"/>
          <p:nvPr/>
        </p:nvSpPr>
        <p:spPr>
          <a:xfrm>
            <a:off x="4526280" y="3236976"/>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a:t>
            </a:r>
            <a:endParaRPr lang="en-US" sz="1700" dirty="0"/>
          </a:p>
        </p:txBody>
      </p:sp>
      <p:sp>
        <p:nvSpPr>
          <p:cNvPr id="20" name="Text 18"/>
          <p:cNvSpPr txBox="1"/>
          <p:nvPr/>
        </p:nvSpPr>
        <p:spPr>
          <a:xfrm>
            <a:off x="6903720" y="3236976"/>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₱0.35M</a:t>
            </a:r>
            <a:endParaRPr lang="en-US" sz="1700" dirty="0"/>
          </a:p>
        </p:txBody>
      </p:sp>
      <p:sp>
        <p:nvSpPr>
          <p:cNvPr id="21" name="Text 19"/>
          <p:cNvSpPr txBox="1"/>
          <p:nvPr/>
        </p:nvSpPr>
        <p:spPr>
          <a:xfrm>
            <a:off x="9281160" y="3236976"/>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₱0.88M</a:t>
            </a:r>
            <a:endParaRPr lang="en-US" sz="1700" dirty="0"/>
          </a:p>
        </p:txBody>
      </p:sp>
      <p:sp>
        <p:nvSpPr>
          <p:cNvPr id="22" name="Shape 20"/>
          <p:cNvSpPr/>
          <p:nvPr/>
        </p:nvSpPr>
        <p:spPr>
          <a:xfrm>
            <a:off x="566928" y="3767328"/>
            <a:ext cx="11057839" cy="0"/>
          </a:xfrm>
          <a:prstGeom prst="line">
            <a:avLst/>
          </a:prstGeom>
          <a:noFill/>
          <a:ln w="12700">
            <a:solidFill>
              <a:srgbClr val="E7E1D7"/>
            </a:solidFill>
            <a:prstDash val="solid"/>
          </a:ln>
        </p:spPr>
      </p:sp>
      <p:sp>
        <p:nvSpPr>
          <p:cNvPr id="23" name="Text 21"/>
          <p:cNvSpPr txBox="1"/>
          <p:nvPr/>
        </p:nvSpPr>
        <p:spPr>
          <a:xfrm>
            <a:off x="603504" y="3803904"/>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Vacancy days saved, a year</a:t>
            </a:r>
            <a:endParaRPr lang="en-US" sz="1600" dirty="0"/>
          </a:p>
        </p:txBody>
      </p:sp>
      <p:sp>
        <p:nvSpPr>
          <p:cNvPr id="24" name="Text 22"/>
          <p:cNvSpPr txBox="1"/>
          <p:nvPr/>
        </p:nvSpPr>
        <p:spPr>
          <a:xfrm>
            <a:off x="4526280" y="3803904"/>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a:t>
            </a:r>
            <a:endParaRPr lang="en-US" sz="1700" dirty="0"/>
          </a:p>
        </p:txBody>
      </p:sp>
      <p:sp>
        <p:nvSpPr>
          <p:cNvPr id="25" name="Text 23"/>
          <p:cNvSpPr txBox="1"/>
          <p:nvPr/>
        </p:nvSpPr>
        <p:spPr>
          <a:xfrm>
            <a:off x="6903720" y="3803904"/>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₱0.31M</a:t>
            </a:r>
            <a:endParaRPr lang="en-US" sz="1700" dirty="0"/>
          </a:p>
        </p:txBody>
      </p:sp>
      <p:sp>
        <p:nvSpPr>
          <p:cNvPr id="26" name="Text 24"/>
          <p:cNvSpPr txBox="1"/>
          <p:nvPr/>
        </p:nvSpPr>
        <p:spPr>
          <a:xfrm>
            <a:off x="9281160" y="3803904"/>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₱0.79M</a:t>
            </a:r>
            <a:endParaRPr lang="en-US" sz="1700" dirty="0"/>
          </a:p>
        </p:txBody>
      </p:sp>
      <p:sp>
        <p:nvSpPr>
          <p:cNvPr id="27" name="Shape 25"/>
          <p:cNvSpPr/>
          <p:nvPr/>
        </p:nvSpPr>
        <p:spPr>
          <a:xfrm>
            <a:off x="566928" y="4334256"/>
            <a:ext cx="11057839" cy="0"/>
          </a:xfrm>
          <a:prstGeom prst="line">
            <a:avLst/>
          </a:prstGeom>
          <a:noFill/>
          <a:ln w="12700">
            <a:solidFill>
              <a:srgbClr val="E7E1D7"/>
            </a:solidFill>
            <a:prstDash val="solid"/>
          </a:ln>
        </p:spPr>
      </p:sp>
      <p:sp>
        <p:nvSpPr>
          <p:cNvPr id="28" name="Text 26"/>
          <p:cNvSpPr txBox="1"/>
          <p:nvPr/>
        </p:nvSpPr>
        <p:spPr>
          <a:xfrm>
            <a:off x="603504" y="4370832"/>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Turnover avoided, a year</a:t>
            </a:r>
            <a:endParaRPr lang="en-US" sz="1600" dirty="0"/>
          </a:p>
        </p:txBody>
      </p:sp>
      <p:sp>
        <p:nvSpPr>
          <p:cNvPr id="29" name="Text 27"/>
          <p:cNvSpPr txBox="1"/>
          <p:nvPr/>
        </p:nvSpPr>
        <p:spPr>
          <a:xfrm>
            <a:off x="4526280" y="4370832"/>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a:t>
            </a:r>
            <a:endParaRPr lang="en-US" sz="1700" dirty="0"/>
          </a:p>
        </p:txBody>
      </p:sp>
      <p:sp>
        <p:nvSpPr>
          <p:cNvPr id="30" name="Text 28"/>
          <p:cNvSpPr txBox="1"/>
          <p:nvPr/>
        </p:nvSpPr>
        <p:spPr>
          <a:xfrm>
            <a:off x="6903720" y="4370832"/>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₱3.37M</a:t>
            </a:r>
            <a:endParaRPr lang="en-US" sz="1700" dirty="0"/>
          </a:p>
        </p:txBody>
      </p:sp>
      <p:sp>
        <p:nvSpPr>
          <p:cNvPr id="31" name="Text 29"/>
          <p:cNvSpPr txBox="1"/>
          <p:nvPr/>
        </p:nvSpPr>
        <p:spPr>
          <a:xfrm>
            <a:off x="9281160" y="4370832"/>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₱8.49M</a:t>
            </a:r>
            <a:endParaRPr lang="en-US" sz="1700" dirty="0"/>
          </a:p>
        </p:txBody>
      </p:sp>
      <p:sp>
        <p:nvSpPr>
          <p:cNvPr id="32" name="Shape 30"/>
          <p:cNvSpPr/>
          <p:nvPr/>
        </p:nvSpPr>
        <p:spPr>
          <a:xfrm>
            <a:off x="566928" y="4992624"/>
            <a:ext cx="11057839" cy="658368"/>
          </a:xfrm>
          <a:prstGeom prst="roundRect">
            <a:avLst>
              <a:gd name="adj" fmla="val 5556"/>
            </a:avLst>
          </a:prstGeom>
          <a:solidFill>
            <a:srgbClr val="C00000"/>
          </a:solidFill>
          <a:ln w="12700">
            <a:solidFill>
              <a:srgbClr val="333333"/>
            </a:solidFill>
            <a:prstDash val="solid"/>
          </a:ln>
        </p:spPr>
      </p:sp>
      <p:sp>
        <p:nvSpPr>
          <p:cNvPr id="33" name="Text 31"/>
          <p:cNvSpPr txBox="1"/>
          <p:nvPr/>
        </p:nvSpPr>
        <p:spPr>
          <a:xfrm>
            <a:off x="841248" y="4992624"/>
            <a:ext cx="3749040" cy="658368"/>
          </a:xfrm>
          <a:prstGeom prst="rect">
            <a:avLst/>
          </a:prstGeom>
          <a:noFill/>
          <a:ln/>
        </p:spPr>
        <p:txBody>
          <a:bodyPr wrap="square" lIns="0" tIns="0" rIns="0" bIns="0" rtlCol="0" anchor="ctr"/>
          <a:lstStyle/>
          <a:p>
            <a:pPr indent="0" marL="0">
              <a:buNone/>
            </a:pPr>
            <a:r>
              <a:rPr lang="en-US" sz="1500" b="1" spc="80" kern="0" dirty="0">
                <a:solidFill>
                  <a:srgbClr val="FFFFFF"/>
                </a:solidFill>
                <a:latin typeface="Arial" pitchFamily="34" charset="0"/>
                <a:ea typeface="Arial" pitchFamily="34" charset="-122"/>
                <a:cs typeface="Arial" pitchFamily="34" charset="-120"/>
              </a:rPr>
              <a:t>VALUE WE FORGO EVERY YEAR</a:t>
            </a:r>
            <a:endParaRPr lang="en-US" sz="1500" dirty="0"/>
          </a:p>
        </p:txBody>
      </p:sp>
      <p:sp>
        <p:nvSpPr>
          <p:cNvPr id="34" name="Text 32"/>
          <p:cNvSpPr txBox="1"/>
          <p:nvPr/>
        </p:nvSpPr>
        <p:spPr>
          <a:xfrm>
            <a:off x="4526280" y="4992624"/>
            <a:ext cx="2331720" cy="658368"/>
          </a:xfrm>
          <a:prstGeom prst="rect">
            <a:avLst/>
          </a:prstGeom>
          <a:noFill/>
          <a:ln/>
        </p:spPr>
        <p:txBody>
          <a:bodyPr wrap="square" lIns="0" tIns="0" rIns="0" bIns="0" rtlCol="0" anchor="ctr"/>
          <a:lstStyle/>
          <a:p>
            <a:pPr algn="ctr" indent="0" marL="0">
              <a:buNone/>
            </a:pPr>
            <a:r>
              <a:rPr lang="en-US" sz="1800" b="1" dirty="0">
                <a:solidFill>
                  <a:srgbClr val="F0C2C2"/>
                </a:solidFill>
                <a:latin typeface="Arial" pitchFamily="34" charset="0"/>
                <a:ea typeface="Arial" pitchFamily="34" charset="-122"/>
                <a:cs typeface="Arial" pitchFamily="34" charset="-120"/>
              </a:rPr>
              <a:t>baseline</a:t>
            </a:r>
            <a:endParaRPr lang="en-US" sz="1800" dirty="0"/>
          </a:p>
        </p:txBody>
      </p:sp>
      <p:sp>
        <p:nvSpPr>
          <p:cNvPr id="35" name="Text 33"/>
          <p:cNvSpPr txBox="1"/>
          <p:nvPr/>
        </p:nvSpPr>
        <p:spPr>
          <a:xfrm>
            <a:off x="6903720" y="4992624"/>
            <a:ext cx="2331720"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₱4.03M</a:t>
            </a:r>
            <a:endParaRPr lang="en-US" sz="2200" dirty="0"/>
          </a:p>
        </p:txBody>
      </p:sp>
      <p:sp>
        <p:nvSpPr>
          <p:cNvPr id="36" name="Text 34"/>
          <p:cNvSpPr txBox="1"/>
          <p:nvPr/>
        </p:nvSpPr>
        <p:spPr>
          <a:xfrm>
            <a:off x="9281160" y="4992624"/>
            <a:ext cx="2331720"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₱10.16M</a:t>
            </a:r>
            <a:endParaRPr lang="en-US" sz="2200" dirty="0"/>
          </a:p>
        </p:txBody>
      </p:sp>
      <p:sp>
        <p:nvSpPr>
          <p:cNvPr id="37" name="Shape 35"/>
          <p:cNvSpPr/>
          <p:nvPr/>
        </p:nvSpPr>
        <p:spPr>
          <a:xfrm>
            <a:off x="566928" y="5760720"/>
            <a:ext cx="11057839" cy="566928"/>
          </a:xfrm>
          <a:prstGeom prst="roundRect">
            <a:avLst>
              <a:gd name="adj" fmla="val 6452"/>
            </a:avLst>
          </a:prstGeom>
          <a:solidFill>
            <a:srgbClr val="F6F2EA"/>
          </a:solidFill>
          <a:ln w="12700">
            <a:solidFill>
              <a:srgbClr val="333333"/>
            </a:solidFill>
            <a:prstDash val="solid"/>
          </a:ln>
        </p:spPr>
      </p:sp>
      <p:sp>
        <p:nvSpPr>
          <p:cNvPr id="38" name="Text 36"/>
          <p:cNvSpPr txBox="1"/>
          <p:nvPr/>
        </p:nvSpPr>
        <p:spPr>
          <a:xfrm>
            <a:off x="841248" y="5760720"/>
            <a:ext cx="10509199" cy="566928"/>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One extra internal fill is worth ₱91,276.  </a:t>
            </a:r>
            <a:pPr indent="0" marL="0">
              <a:buNone/>
            </a:pPr>
            <a:r>
              <a:rPr lang="en-US" sz="1500" dirty="0">
                <a:solidFill>
                  <a:srgbClr val="4B5363"/>
                </a:solidFill>
                <a:latin typeface="Arial" pitchFamily="34" charset="0"/>
                <a:ea typeface="Arial" pitchFamily="34" charset="-122"/>
                <a:cs typeface="Arial" pitchFamily="34" charset="-120"/>
              </a:rPr>
              <a:t>₱15,017 of hiring cost and vacancy days after the backfill, plus ₱76,260 of turnover we do not pay. Five-sixths of it is retention, not speed.</a:t>
            </a:r>
            <a:endParaRPr lang="en-US" sz="1500" dirty="0"/>
          </a:p>
        </p:txBody>
      </p:sp>
      <p:sp>
        <p:nvSpPr>
          <p:cNvPr id="39" name="Text 37"/>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WHAT 30% ACTUALLY TAKES</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We cannot get there on today's applicant flow.</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Every figure on this slide is a yearly rate. 463 applications over three years produced 170 hires — a 37% success rate.</a:t>
            </a:r>
            <a:endParaRPr lang="en-US" sz="1600" dirty="0"/>
          </a:p>
        </p:txBody>
      </p:sp>
      <p:sp>
        <p:nvSpPr>
          <p:cNvPr id="6" name="Shape 4"/>
          <p:cNvSpPr/>
          <p:nvPr/>
        </p:nvSpPr>
        <p:spPr>
          <a:xfrm>
            <a:off x="1984248" y="2029968"/>
            <a:ext cx="876267" cy="566928"/>
          </a:xfrm>
          <a:prstGeom prst="roundRect">
            <a:avLst>
              <a:gd name="adj" fmla="val 4839"/>
            </a:avLst>
          </a:prstGeom>
          <a:solidFill>
            <a:srgbClr val="E9E1D3"/>
          </a:solidFill>
          <a:ln w="12700">
            <a:solidFill>
              <a:srgbClr val="333333"/>
            </a:solidFill>
            <a:prstDash val="solid"/>
          </a:ln>
        </p:spPr>
      </p:sp>
      <p:sp>
        <p:nvSpPr>
          <p:cNvPr id="7" name="Shape 5"/>
          <p:cNvSpPr/>
          <p:nvPr/>
        </p:nvSpPr>
        <p:spPr>
          <a:xfrm>
            <a:off x="1984248" y="2029968"/>
            <a:ext cx="45720" cy="566928"/>
          </a:xfrm>
          <a:prstGeom prst="rect">
            <a:avLst/>
          </a:prstGeom>
          <a:solidFill>
            <a:srgbClr val="858D9B"/>
          </a:solidFill>
          <a:ln w="12700">
            <a:solidFill>
              <a:srgbClr val="333333"/>
            </a:solidFill>
            <a:prstDash val="solid"/>
          </a:ln>
        </p:spPr>
      </p:sp>
      <p:sp>
        <p:nvSpPr>
          <p:cNvPr id="8" name="Text 6"/>
          <p:cNvSpPr txBox="1"/>
          <p:nvPr/>
        </p:nvSpPr>
        <p:spPr>
          <a:xfrm>
            <a:off x="566928" y="1993392"/>
            <a:ext cx="1298448" cy="640080"/>
          </a:xfrm>
          <a:prstGeom prst="rect">
            <a:avLst/>
          </a:prstGeom>
          <a:noFill/>
          <a:ln/>
        </p:spPr>
        <p:txBody>
          <a:bodyPr wrap="square" lIns="0" tIns="0" rIns="0" bIns="0" rtlCol="0" anchor="ctr"/>
          <a:lstStyle/>
          <a:p>
            <a:pPr algn="r" indent="0" marL="0">
              <a:buNone/>
            </a:pPr>
            <a:r>
              <a:rPr lang="en-US" sz="3000" b="1" dirty="0">
                <a:solidFill>
                  <a:srgbClr val="858D9B"/>
                </a:solidFill>
                <a:latin typeface="Arial" pitchFamily="34" charset="0"/>
                <a:ea typeface="Arial" pitchFamily="34" charset="-122"/>
                <a:cs typeface="Arial" pitchFamily="34" charset="-120"/>
              </a:rPr>
              <a:t>154</a:t>
            </a:r>
            <a:endParaRPr lang="en-US" sz="3000" dirty="0"/>
          </a:p>
        </p:txBody>
      </p:sp>
      <p:sp>
        <p:nvSpPr>
          <p:cNvPr id="9" name="Text 7"/>
          <p:cNvSpPr txBox="1"/>
          <p:nvPr/>
        </p:nvSpPr>
        <p:spPr>
          <a:xfrm>
            <a:off x="2924523" y="2029968"/>
            <a:ext cx="2011680" cy="566928"/>
          </a:xfrm>
          <a:prstGeom prst="rect">
            <a:avLst/>
          </a:prstGeom>
          <a:noFill/>
          <a:ln/>
        </p:spPr>
        <p:txBody>
          <a:bodyPr wrap="square" lIns="0" tIns="0" rIns="0" bIns="0" rtlCol="0" anchor="ctr"/>
          <a:lstStyle/>
          <a:p>
            <a:pPr indent="0" marL="0">
              <a:buNone/>
            </a:pPr>
            <a:r>
              <a:rPr lang="en-US" sz="1550" dirty="0">
                <a:solidFill>
                  <a:srgbClr val="4B5363"/>
                </a:solidFill>
                <a:latin typeface="Arial" pitchFamily="34" charset="0"/>
                <a:ea typeface="Arial" pitchFamily="34" charset="-122"/>
                <a:cs typeface="Arial" pitchFamily="34" charset="-120"/>
              </a:rPr>
              <a:t>a year today</a:t>
            </a:r>
            <a:endParaRPr lang="en-US" sz="1550" dirty="0"/>
          </a:p>
        </p:txBody>
      </p:sp>
      <p:sp>
        <p:nvSpPr>
          <p:cNvPr id="10" name="Shape 8"/>
          <p:cNvSpPr/>
          <p:nvPr/>
        </p:nvSpPr>
        <p:spPr>
          <a:xfrm>
            <a:off x="1984248" y="3035808"/>
            <a:ext cx="1564762" cy="566928"/>
          </a:xfrm>
          <a:prstGeom prst="roundRect">
            <a:avLst>
              <a:gd name="adj" fmla="val 4839"/>
            </a:avLst>
          </a:prstGeom>
          <a:solidFill>
            <a:srgbClr val="FDF0F0"/>
          </a:solidFill>
          <a:ln w="12700">
            <a:solidFill>
              <a:srgbClr val="333333"/>
            </a:solidFill>
            <a:prstDash val="solid"/>
          </a:ln>
        </p:spPr>
      </p:sp>
      <p:sp>
        <p:nvSpPr>
          <p:cNvPr id="11" name="Shape 9"/>
          <p:cNvSpPr/>
          <p:nvPr/>
        </p:nvSpPr>
        <p:spPr>
          <a:xfrm>
            <a:off x="1984248" y="3035808"/>
            <a:ext cx="45720" cy="566928"/>
          </a:xfrm>
          <a:prstGeom prst="rect">
            <a:avLst/>
          </a:prstGeom>
          <a:solidFill>
            <a:srgbClr val="C00000"/>
          </a:solidFill>
          <a:ln w="12700">
            <a:solidFill>
              <a:srgbClr val="333333"/>
            </a:solidFill>
            <a:prstDash val="solid"/>
          </a:ln>
        </p:spPr>
      </p:sp>
      <p:sp>
        <p:nvSpPr>
          <p:cNvPr id="12" name="Text 10"/>
          <p:cNvSpPr txBox="1"/>
          <p:nvPr/>
        </p:nvSpPr>
        <p:spPr>
          <a:xfrm>
            <a:off x="566928" y="2999232"/>
            <a:ext cx="1298448" cy="640080"/>
          </a:xfrm>
          <a:prstGeom prst="rect">
            <a:avLst/>
          </a:prstGeom>
          <a:noFill/>
          <a:ln/>
        </p:spPr>
        <p:txBody>
          <a:bodyPr wrap="square" lIns="0" tIns="0" rIns="0" bIns="0" rtlCol="0" anchor="ctr"/>
          <a:lstStyle/>
          <a:p>
            <a:pPr algn="r" indent="0" marL="0">
              <a:buNone/>
            </a:pPr>
            <a:r>
              <a:rPr lang="en-US" sz="3000" b="1" dirty="0">
                <a:solidFill>
                  <a:srgbClr val="C00000"/>
                </a:solidFill>
                <a:latin typeface="Arial" pitchFamily="34" charset="0"/>
                <a:ea typeface="Arial" pitchFamily="34" charset="-122"/>
                <a:cs typeface="Arial" pitchFamily="34" charset="-120"/>
              </a:rPr>
              <a:t>275</a:t>
            </a:r>
            <a:endParaRPr lang="en-US" sz="3000" dirty="0"/>
          </a:p>
        </p:txBody>
      </p:sp>
      <p:sp>
        <p:nvSpPr>
          <p:cNvPr id="13" name="Text 11"/>
          <p:cNvSpPr txBox="1"/>
          <p:nvPr/>
        </p:nvSpPr>
        <p:spPr>
          <a:xfrm>
            <a:off x="3613018" y="3035808"/>
            <a:ext cx="2011680" cy="566928"/>
          </a:xfrm>
          <a:prstGeom prst="rect">
            <a:avLst/>
          </a:prstGeom>
          <a:noFill/>
          <a:ln/>
        </p:spPr>
        <p:txBody>
          <a:bodyPr wrap="square" lIns="0" tIns="0" rIns="0" bIns="0" rtlCol="0" anchor="ctr"/>
          <a:lstStyle/>
          <a:p>
            <a:pPr indent="0" marL="0">
              <a:buNone/>
            </a:pPr>
            <a:r>
              <a:rPr lang="en-US" sz="1550" b="1" dirty="0">
                <a:solidFill>
                  <a:srgbClr val="222834"/>
                </a:solidFill>
                <a:latin typeface="Arial" pitchFamily="34" charset="0"/>
                <a:ea typeface="Arial" pitchFamily="34" charset="-122"/>
                <a:cs typeface="Arial" pitchFamily="34" charset="-120"/>
              </a:rPr>
              <a:t>a year for 30%</a:t>
            </a:r>
            <a:endParaRPr lang="en-US" sz="1550" dirty="0"/>
          </a:p>
        </p:txBody>
      </p:sp>
      <p:sp>
        <p:nvSpPr>
          <p:cNvPr id="14" name="Shape 12"/>
          <p:cNvSpPr/>
          <p:nvPr/>
        </p:nvSpPr>
        <p:spPr>
          <a:xfrm>
            <a:off x="1984248" y="4041648"/>
            <a:ext cx="2606040" cy="566928"/>
          </a:xfrm>
          <a:prstGeom prst="roundRect">
            <a:avLst>
              <a:gd name="adj" fmla="val 4839"/>
            </a:avLst>
          </a:prstGeom>
          <a:solidFill>
            <a:srgbClr val="E8F4F0"/>
          </a:solidFill>
          <a:ln w="12700">
            <a:solidFill>
              <a:srgbClr val="333333"/>
            </a:solidFill>
            <a:prstDash val="solid"/>
          </a:ln>
        </p:spPr>
      </p:sp>
      <p:sp>
        <p:nvSpPr>
          <p:cNvPr id="15" name="Shape 13"/>
          <p:cNvSpPr/>
          <p:nvPr/>
        </p:nvSpPr>
        <p:spPr>
          <a:xfrm>
            <a:off x="1984248" y="4041648"/>
            <a:ext cx="45720" cy="566928"/>
          </a:xfrm>
          <a:prstGeom prst="rect">
            <a:avLst/>
          </a:prstGeom>
          <a:solidFill>
            <a:srgbClr val="0E7C66"/>
          </a:solidFill>
          <a:ln w="12700">
            <a:solidFill>
              <a:srgbClr val="333333"/>
            </a:solidFill>
            <a:prstDash val="solid"/>
          </a:ln>
        </p:spPr>
      </p:sp>
      <p:sp>
        <p:nvSpPr>
          <p:cNvPr id="16" name="Text 14"/>
          <p:cNvSpPr txBox="1"/>
          <p:nvPr/>
        </p:nvSpPr>
        <p:spPr>
          <a:xfrm>
            <a:off x="566928" y="4005072"/>
            <a:ext cx="1298448" cy="640080"/>
          </a:xfrm>
          <a:prstGeom prst="rect">
            <a:avLst/>
          </a:prstGeom>
          <a:noFill/>
          <a:ln/>
        </p:spPr>
        <p:txBody>
          <a:bodyPr wrap="square" lIns="0" tIns="0" rIns="0" bIns="0" rtlCol="0" anchor="ctr"/>
          <a:lstStyle/>
          <a:p>
            <a:pPr algn="r" indent="0" marL="0">
              <a:buNone/>
            </a:pPr>
            <a:r>
              <a:rPr lang="en-US" sz="3000" b="1" dirty="0">
                <a:solidFill>
                  <a:srgbClr val="0E7C66"/>
                </a:solidFill>
                <a:latin typeface="Arial" pitchFamily="34" charset="0"/>
                <a:ea typeface="Arial" pitchFamily="34" charset="-122"/>
                <a:cs typeface="Arial" pitchFamily="34" charset="-120"/>
              </a:rPr>
              <a:t>458</a:t>
            </a:r>
            <a:endParaRPr lang="en-US" sz="3000" dirty="0"/>
          </a:p>
        </p:txBody>
      </p:sp>
      <p:sp>
        <p:nvSpPr>
          <p:cNvPr id="17" name="Text 15"/>
          <p:cNvSpPr txBox="1"/>
          <p:nvPr/>
        </p:nvSpPr>
        <p:spPr>
          <a:xfrm>
            <a:off x="4654296" y="4041648"/>
            <a:ext cx="2011680" cy="566928"/>
          </a:xfrm>
          <a:prstGeom prst="rect">
            <a:avLst/>
          </a:prstGeom>
          <a:noFill/>
          <a:ln/>
        </p:spPr>
        <p:txBody>
          <a:bodyPr wrap="square" lIns="0" tIns="0" rIns="0" bIns="0" rtlCol="0" anchor="ctr"/>
          <a:lstStyle/>
          <a:p>
            <a:pPr indent="0" marL="0">
              <a:buNone/>
            </a:pPr>
            <a:r>
              <a:rPr lang="en-US" sz="1550" b="1" dirty="0">
                <a:solidFill>
                  <a:srgbClr val="222834"/>
                </a:solidFill>
                <a:latin typeface="Arial" pitchFamily="34" charset="0"/>
                <a:ea typeface="Arial" pitchFamily="34" charset="-122"/>
                <a:cs typeface="Arial" pitchFamily="34" charset="-120"/>
              </a:rPr>
              <a:t>a year for 50%</a:t>
            </a:r>
            <a:endParaRPr lang="en-US" sz="1550" dirty="0"/>
          </a:p>
        </p:txBody>
      </p:sp>
      <p:sp>
        <p:nvSpPr>
          <p:cNvPr id="18" name="Text 16"/>
          <p:cNvSpPr txBox="1"/>
          <p:nvPr/>
        </p:nvSpPr>
        <p:spPr>
          <a:xfrm>
            <a:off x="566928" y="5029200"/>
            <a:ext cx="5750076" cy="786384"/>
          </a:xfrm>
          <a:prstGeom prst="rect">
            <a:avLst/>
          </a:prstGeom>
          <a:noFill/>
          <a:ln/>
        </p:spPr>
        <p:txBody>
          <a:bodyPr wrap="square" lIns="0" tIns="0" rIns="0" bIns="0" rtlCol="0" anchor="t"/>
          <a:lstStyle/>
          <a:p>
            <a:pPr indent="0" marL="0">
              <a:lnSpc>
                <a:spcPts val="2100"/>
              </a:lnSpc>
              <a:buNone/>
            </a:pPr>
            <a:r>
              <a:rPr lang="en-US" sz="1500" dirty="0">
                <a:solidFill>
                  <a:srgbClr val="4B5363"/>
                </a:solidFill>
                <a:latin typeface="Arial" pitchFamily="34" charset="0"/>
                <a:ea typeface="Arial" pitchFamily="34" charset="-122"/>
                <a:cs typeface="Arial" pitchFamily="34" charset="-120"/>
              </a:rPr>
              <a:t>Internal applications have to rise 1.8× to reach the benchmark, and 3× to reach 50%. That is the whole job: make the roles visible and make people worth matching.</a:t>
            </a:r>
            <a:endParaRPr lang="en-US" sz="1500" dirty="0"/>
          </a:p>
        </p:txBody>
      </p:sp>
      <p:sp>
        <p:nvSpPr>
          <p:cNvPr id="19" name="Shape 17"/>
          <p:cNvSpPr/>
          <p:nvPr/>
        </p:nvSpPr>
        <p:spPr>
          <a:xfrm>
            <a:off x="6701052" y="1901952"/>
            <a:ext cx="4923715" cy="3913632"/>
          </a:xfrm>
          <a:prstGeom prst="roundRect">
            <a:avLst>
              <a:gd name="adj" fmla="val 935"/>
            </a:avLst>
          </a:prstGeom>
          <a:solidFill>
            <a:srgbClr val="FBF2E0"/>
          </a:solidFill>
          <a:ln w="12700">
            <a:solidFill>
              <a:srgbClr val="333333"/>
            </a:solidFill>
            <a:prstDash val="solid"/>
          </a:ln>
        </p:spPr>
      </p:sp>
      <p:sp>
        <p:nvSpPr>
          <p:cNvPr id="20" name="Shape 18"/>
          <p:cNvSpPr/>
          <p:nvPr/>
        </p:nvSpPr>
        <p:spPr>
          <a:xfrm>
            <a:off x="6701052" y="1901952"/>
            <a:ext cx="4923715" cy="77724"/>
          </a:xfrm>
          <a:prstGeom prst="rect">
            <a:avLst/>
          </a:prstGeom>
          <a:solidFill>
            <a:srgbClr val="9E6B12"/>
          </a:solidFill>
          <a:ln w="12700">
            <a:solidFill>
              <a:srgbClr val="333333"/>
            </a:solidFill>
            <a:prstDash val="solid"/>
          </a:ln>
        </p:spPr>
      </p:sp>
      <p:sp>
        <p:nvSpPr>
          <p:cNvPr id="21" name="Text 19"/>
          <p:cNvSpPr txBox="1"/>
          <p:nvPr/>
        </p:nvSpPr>
        <p:spPr>
          <a:xfrm>
            <a:off x="7030236" y="2121408"/>
            <a:ext cx="4265347" cy="237744"/>
          </a:xfrm>
          <a:prstGeom prst="rect">
            <a:avLst/>
          </a:prstGeom>
          <a:noFill/>
          <a:ln/>
        </p:spPr>
        <p:txBody>
          <a:bodyPr wrap="square" lIns="0" tIns="0" rIns="0" bIns="0" rtlCol="0" anchor="ctr"/>
          <a:lstStyle/>
          <a:p>
            <a:pPr indent="0" marL="0">
              <a:buNone/>
            </a:pPr>
            <a:r>
              <a:rPr lang="en-US" sz="1400" b="1" spc="180" kern="0" dirty="0">
                <a:solidFill>
                  <a:srgbClr val="9E6B12"/>
                </a:solidFill>
                <a:latin typeface="Arial" pitchFamily="34" charset="0"/>
                <a:ea typeface="Arial" pitchFamily="34" charset="-122"/>
                <a:cs typeface="Arial" pitchFamily="34" charset="-120"/>
              </a:rPr>
              <a:t>AND HERE IS THE CATCH</a:t>
            </a:r>
            <a:endParaRPr lang="en-US" sz="1400" dirty="0"/>
          </a:p>
        </p:txBody>
      </p:sp>
      <p:sp>
        <p:nvSpPr>
          <p:cNvPr id="22" name="Text 20"/>
          <p:cNvSpPr txBox="1"/>
          <p:nvPr/>
        </p:nvSpPr>
        <p:spPr>
          <a:xfrm>
            <a:off x="7030236" y="2395728"/>
            <a:ext cx="4265347" cy="694944"/>
          </a:xfrm>
          <a:prstGeom prst="rect">
            <a:avLst/>
          </a:prstGeom>
          <a:noFill/>
          <a:ln/>
        </p:spPr>
        <p:txBody>
          <a:bodyPr wrap="square" lIns="0" tIns="0" rIns="0" bIns="0" rtlCol="0" anchor="t"/>
          <a:lstStyle/>
          <a:p>
            <a:pPr indent="0" marL="0">
              <a:lnSpc>
                <a:spcPts val="2800"/>
              </a:lnSpc>
              <a:buNone/>
            </a:pPr>
            <a:r>
              <a:rPr lang="en-US" sz="2200" b="1" dirty="0">
                <a:solidFill>
                  <a:srgbClr val="222834"/>
                </a:solidFill>
                <a:latin typeface="Arial" pitchFamily="34" charset="0"/>
                <a:ea typeface="Arial" pitchFamily="34" charset="-122"/>
                <a:cs typeface="Arial" pitchFamily="34" charset="-120"/>
              </a:rPr>
              <a:t>More applications means more rejections.</a:t>
            </a:r>
            <a:endParaRPr lang="en-US" sz="2200" dirty="0"/>
          </a:p>
        </p:txBody>
      </p:sp>
      <p:sp>
        <p:nvSpPr>
          <p:cNvPr id="23" name="Text 21"/>
          <p:cNvSpPr txBox="1"/>
          <p:nvPr/>
        </p:nvSpPr>
        <p:spPr>
          <a:xfrm>
            <a:off x="7030236" y="3182112"/>
            <a:ext cx="4265347" cy="78638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At a 30% fill rate we turn down 174 people a year instead of 98. On today's evidence, rejection is what makes them leave.</a:t>
            </a:r>
            <a:endParaRPr lang="en-US" sz="1550" dirty="0"/>
          </a:p>
        </p:txBody>
      </p:sp>
      <p:sp>
        <p:nvSpPr>
          <p:cNvPr id="24" name="Shape 22"/>
          <p:cNvSpPr/>
          <p:nvPr/>
        </p:nvSpPr>
        <p:spPr>
          <a:xfrm>
            <a:off x="7030236" y="4059936"/>
            <a:ext cx="4265347" cy="0"/>
          </a:xfrm>
          <a:prstGeom prst="line">
            <a:avLst/>
          </a:prstGeom>
          <a:noFill/>
          <a:ln w="12700">
            <a:solidFill>
              <a:srgbClr val="E9E1D3"/>
            </a:solidFill>
            <a:prstDash val="solid"/>
          </a:ln>
        </p:spPr>
      </p:sp>
      <p:sp>
        <p:nvSpPr>
          <p:cNvPr id="25" name="Text 23"/>
          <p:cNvSpPr txBox="1"/>
          <p:nvPr/>
        </p:nvSpPr>
        <p:spPr>
          <a:xfrm>
            <a:off x="7030236" y="4206240"/>
            <a:ext cx="4265347" cy="310896"/>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So it cannot only sell jobs.</a:t>
            </a:r>
            <a:endParaRPr lang="en-US" sz="1600" dirty="0"/>
          </a:p>
        </p:txBody>
      </p:sp>
      <p:sp>
        <p:nvSpPr>
          <p:cNvPr id="26" name="Text 24"/>
          <p:cNvSpPr txBox="1"/>
          <p:nvPr/>
        </p:nvSpPr>
        <p:spPr>
          <a:xfrm>
            <a:off x="7030236" y="4572000"/>
            <a:ext cx="4265347" cy="1115568"/>
          </a:xfrm>
          <a:prstGeom prst="rect">
            <a:avLst/>
          </a:prstGeom>
          <a:noFill/>
          <a:ln/>
        </p:spPr>
        <p:txBody>
          <a:bodyPr wrap="square" lIns="0" tIns="0" rIns="0" bIns="0" rtlCol="0" anchor="t"/>
          <a:lstStyle/>
          <a:p>
            <a:pPr indent="0" marL="0">
              <a:lnSpc>
                <a:spcPts val="2100"/>
              </a:lnSpc>
              <a:buNone/>
            </a:pPr>
            <a:r>
              <a:rPr lang="en-US" sz="1500" dirty="0">
                <a:solidFill>
                  <a:srgbClr val="4B5363"/>
                </a:solidFill>
                <a:latin typeface="Arial" pitchFamily="34" charset="0"/>
                <a:ea typeface="Arial" pitchFamily="34" charset="-122"/>
                <a:cs typeface="Arial" pitchFamily="34" charset="-120"/>
              </a:rPr>
              <a:t>A "no" routes to a gig, an immersion or a service offer instead of to the exit. That is why Growth has four shelves and not one.</a:t>
            </a:r>
            <a:endParaRPr lang="en-US" sz="1500" dirty="0"/>
          </a:p>
        </p:txBody>
      </p:sp>
      <p:sp>
        <p:nvSpPr>
          <p:cNvPr id="27" name="Text 2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BUILD OR BUY</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The two things we could buy instead, and what they are.</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Three-year planning bands at 1,113 seats. These are not quotes.</a:t>
            </a:r>
            <a:endParaRPr lang="en-US" sz="1600" dirty="0"/>
          </a:p>
        </p:txBody>
      </p:sp>
      <p:sp>
        <p:nvSpPr>
          <p:cNvPr id="6" name="Shape 4"/>
          <p:cNvSpPr/>
          <p:nvPr/>
        </p:nvSpPr>
        <p:spPr>
          <a:xfrm>
            <a:off x="566928" y="1956816"/>
            <a:ext cx="5391760" cy="2029968"/>
          </a:xfrm>
          <a:prstGeom prst="roundRect">
            <a:avLst>
              <a:gd name="adj" fmla="val 1802"/>
            </a:avLst>
          </a:prstGeom>
          <a:solidFill>
            <a:srgbClr val="F6F2EA"/>
          </a:solidFill>
          <a:ln w="12700">
            <a:solidFill>
              <a:srgbClr val="333333"/>
            </a:solidFill>
            <a:prstDash val="solid"/>
          </a:ln>
        </p:spPr>
      </p:sp>
      <p:sp>
        <p:nvSpPr>
          <p:cNvPr id="7" name="Text 5"/>
          <p:cNvSpPr txBox="1"/>
          <p:nvPr/>
        </p:nvSpPr>
        <p:spPr>
          <a:xfrm>
            <a:off x="841248" y="2121408"/>
            <a:ext cx="4843120"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CAREER AND MOBILITY TOOLS</a:t>
            </a:r>
            <a:endParaRPr lang="en-US" sz="1400" dirty="0"/>
          </a:p>
        </p:txBody>
      </p:sp>
      <p:sp>
        <p:nvSpPr>
          <p:cNvPr id="8" name="Text 6"/>
          <p:cNvSpPr txBox="1"/>
          <p:nvPr/>
        </p:nvSpPr>
        <p:spPr>
          <a:xfrm>
            <a:off x="841248" y="2395728"/>
            <a:ext cx="1920240" cy="457200"/>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₱10.7M</a:t>
            </a:r>
            <a:endParaRPr lang="en-US" sz="2800" dirty="0"/>
          </a:p>
        </p:txBody>
      </p:sp>
      <p:sp>
        <p:nvSpPr>
          <p:cNvPr id="9" name="Text 7"/>
          <p:cNvSpPr txBox="1"/>
          <p:nvPr/>
        </p:nvSpPr>
        <p:spPr>
          <a:xfrm>
            <a:off x="2798064" y="2432304"/>
            <a:ext cx="1737360" cy="384048"/>
          </a:xfrm>
          <a:prstGeom prst="rect">
            <a:avLst/>
          </a:prstGeom>
          <a:noFill/>
          <a:ln/>
        </p:spPr>
        <p:txBody>
          <a:bodyPr wrap="square" lIns="0" tIns="0" rIns="0" bIns="0" rtlCol="0" anchor="ctr"/>
          <a:lstStyle/>
          <a:p>
            <a:pPr indent="0" marL="0">
              <a:buNone/>
            </a:pPr>
            <a:r>
              <a:rPr lang="en-US" sz="1500" dirty="0">
                <a:solidFill>
                  <a:srgbClr val="858D9B"/>
                </a:solidFill>
                <a:latin typeface="Arial" pitchFamily="34" charset="0"/>
                <a:ea typeface="Arial" pitchFamily="34" charset="-122"/>
                <a:cs typeface="Arial" pitchFamily="34" charset="-120"/>
              </a:rPr>
              <a:t>US$175,000</a:t>
            </a:r>
            <a:endParaRPr lang="en-US" sz="1500" dirty="0"/>
          </a:p>
        </p:txBody>
      </p:sp>
      <p:sp>
        <p:nvSpPr>
          <p:cNvPr id="10" name="Text 8"/>
          <p:cNvSpPr txBox="1"/>
          <p:nvPr/>
        </p:nvSpPr>
        <p:spPr>
          <a:xfrm>
            <a:off x="841248" y="2889504"/>
            <a:ext cx="4843120" cy="256032"/>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Fuel50 · Gloat</a:t>
            </a:r>
            <a:endParaRPr lang="en-US" sz="1500" dirty="0"/>
          </a:p>
        </p:txBody>
      </p:sp>
      <p:sp>
        <p:nvSpPr>
          <p:cNvPr id="11" name="Text 9"/>
          <p:cNvSpPr txBox="1"/>
          <p:nvPr/>
        </p:nvSpPr>
        <p:spPr>
          <a:xfrm>
            <a:off x="841248" y="3182112"/>
            <a:ext cx="4843120" cy="69494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Opportunity marketplace and career pathing, as a point solution. At our seat count we would pay a vendor minimum, not a per-seat rate.</a:t>
            </a:r>
            <a:endParaRPr lang="en-US" sz="1450" dirty="0"/>
          </a:p>
        </p:txBody>
      </p:sp>
      <p:sp>
        <p:nvSpPr>
          <p:cNvPr id="12" name="Shape 10"/>
          <p:cNvSpPr/>
          <p:nvPr/>
        </p:nvSpPr>
        <p:spPr>
          <a:xfrm>
            <a:off x="6233008" y="1956816"/>
            <a:ext cx="5391760" cy="2029968"/>
          </a:xfrm>
          <a:prstGeom prst="roundRect">
            <a:avLst>
              <a:gd name="adj" fmla="val 1802"/>
            </a:avLst>
          </a:prstGeom>
          <a:solidFill>
            <a:srgbClr val="F6F2EA"/>
          </a:solidFill>
          <a:ln w="12700">
            <a:solidFill>
              <a:srgbClr val="333333"/>
            </a:solidFill>
            <a:prstDash val="solid"/>
          </a:ln>
        </p:spPr>
      </p:sp>
      <p:sp>
        <p:nvSpPr>
          <p:cNvPr id="13" name="Text 11"/>
          <p:cNvSpPr txBox="1"/>
          <p:nvPr/>
        </p:nvSpPr>
        <p:spPr>
          <a:xfrm>
            <a:off x="6507328" y="2121408"/>
            <a:ext cx="4843120"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TALENT INTELLIGENCE SUITES</a:t>
            </a:r>
            <a:endParaRPr lang="en-US" sz="1400" dirty="0"/>
          </a:p>
        </p:txBody>
      </p:sp>
      <p:sp>
        <p:nvSpPr>
          <p:cNvPr id="14" name="Text 12"/>
          <p:cNvSpPr txBox="1"/>
          <p:nvPr/>
        </p:nvSpPr>
        <p:spPr>
          <a:xfrm>
            <a:off x="6507328" y="2395728"/>
            <a:ext cx="1920240" cy="457200"/>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₱29.3M</a:t>
            </a:r>
            <a:endParaRPr lang="en-US" sz="2800" dirty="0"/>
          </a:p>
        </p:txBody>
      </p:sp>
      <p:sp>
        <p:nvSpPr>
          <p:cNvPr id="15" name="Text 13"/>
          <p:cNvSpPr txBox="1"/>
          <p:nvPr/>
        </p:nvSpPr>
        <p:spPr>
          <a:xfrm>
            <a:off x="8464144" y="2432304"/>
            <a:ext cx="1737360" cy="384048"/>
          </a:xfrm>
          <a:prstGeom prst="rect">
            <a:avLst/>
          </a:prstGeom>
          <a:noFill/>
          <a:ln/>
        </p:spPr>
        <p:txBody>
          <a:bodyPr wrap="square" lIns="0" tIns="0" rIns="0" bIns="0" rtlCol="0" anchor="ctr"/>
          <a:lstStyle/>
          <a:p>
            <a:pPr indent="0" marL="0">
              <a:buNone/>
            </a:pPr>
            <a:r>
              <a:rPr lang="en-US" sz="1500" dirty="0">
                <a:solidFill>
                  <a:srgbClr val="858D9B"/>
                </a:solidFill>
                <a:latin typeface="Arial" pitchFamily="34" charset="0"/>
                <a:ea typeface="Arial" pitchFamily="34" charset="-122"/>
                <a:cs typeface="Arial" pitchFamily="34" charset="-120"/>
              </a:rPr>
              <a:t>US$480,000</a:t>
            </a:r>
            <a:endParaRPr lang="en-US" sz="1500" dirty="0"/>
          </a:p>
        </p:txBody>
      </p:sp>
      <p:sp>
        <p:nvSpPr>
          <p:cNvPr id="16" name="Text 14"/>
          <p:cNvSpPr txBox="1"/>
          <p:nvPr/>
        </p:nvSpPr>
        <p:spPr>
          <a:xfrm>
            <a:off x="6507328" y="2889504"/>
            <a:ext cx="4843120" cy="256032"/>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Eightfold · Workday Talent Marketplace</a:t>
            </a:r>
            <a:endParaRPr lang="en-US" sz="1500" dirty="0"/>
          </a:p>
        </p:txBody>
      </p:sp>
      <p:sp>
        <p:nvSpPr>
          <p:cNvPr id="17" name="Text 15"/>
          <p:cNvSpPr txBox="1"/>
          <p:nvPr/>
        </p:nvSpPr>
        <p:spPr>
          <a:xfrm>
            <a:off x="6507328" y="3182112"/>
            <a:ext cx="4843120" cy="69494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skills-inference engine inside a wider HR suite, with implementation services and usually a multi-module commitment.</a:t>
            </a:r>
            <a:endParaRPr lang="en-US" sz="1450" dirty="0"/>
          </a:p>
        </p:txBody>
      </p:sp>
      <p:sp>
        <p:nvSpPr>
          <p:cNvPr id="18" name="Text 16"/>
          <p:cNvSpPr txBox="1"/>
          <p:nvPr/>
        </p:nvSpPr>
        <p:spPr>
          <a:xfrm>
            <a:off x="566928" y="4224528"/>
            <a:ext cx="5391760" cy="237744"/>
          </a:xfrm>
          <a:prstGeom prst="rect">
            <a:avLst/>
          </a:prstGeom>
          <a:noFill/>
          <a:ln/>
        </p:spPr>
        <p:txBody>
          <a:bodyPr wrap="square" lIns="0" tIns="0" rIns="0" bIns="0" rtlCol="0" anchor="ctr"/>
          <a:lstStyle/>
          <a:p>
            <a:pPr indent="0" marL="0">
              <a:buNone/>
            </a:pPr>
            <a:r>
              <a:rPr lang="en-US" sz="1400" b="1" spc="140" kern="0" dirty="0">
                <a:solidFill>
                  <a:srgbClr val="0E7C66"/>
                </a:solidFill>
                <a:latin typeface="Arial" pitchFamily="34" charset="0"/>
                <a:ea typeface="Arial" pitchFamily="34" charset="-122"/>
                <a:cs typeface="Arial" pitchFamily="34" charset="-120"/>
              </a:rPr>
              <a:t>WHAT BUYING WOULD GIVE US</a:t>
            </a:r>
            <a:endParaRPr lang="en-US" sz="1400" dirty="0"/>
          </a:p>
        </p:txBody>
      </p:sp>
      <p:sp>
        <p:nvSpPr>
          <p:cNvPr id="19" name="Text 17"/>
          <p:cNvSpPr txBox="1"/>
          <p:nvPr/>
        </p:nvSpPr>
        <p:spPr>
          <a:xfrm>
            <a:off x="6233008" y="4224528"/>
            <a:ext cx="5391760"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WHAT IT WOULD COST US BEYOND THE LICENCE</a:t>
            </a:r>
            <a:endParaRPr lang="en-US" sz="1400" dirty="0"/>
          </a:p>
        </p:txBody>
      </p:sp>
      <p:sp>
        <p:nvSpPr>
          <p:cNvPr id="20" name="Shape 18"/>
          <p:cNvSpPr/>
          <p:nvPr/>
        </p:nvSpPr>
        <p:spPr>
          <a:xfrm>
            <a:off x="566928" y="4553712"/>
            <a:ext cx="45720" cy="914400"/>
          </a:xfrm>
          <a:prstGeom prst="rect">
            <a:avLst/>
          </a:prstGeom>
          <a:solidFill>
            <a:srgbClr val="0E7C66"/>
          </a:solidFill>
          <a:ln w="12700">
            <a:solidFill>
              <a:srgbClr val="333333"/>
            </a:solidFill>
            <a:prstDash val="solid"/>
          </a:ln>
        </p:spPr>
      </p:sp>
      <p:sp>
        <p:nvSpPr>
          <p:cNvPr id="21" name="Text 19"/>
          <p:cNvSpPr txBox="1"/>
          <p:nvPr/>
        </p:nvSpPr>
        <p:spPr>
          <a:xfrm>
            <a:off x="786384" y="4517136"/>
            <a:ext cx="5117440" cy="98755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mature skills ontology we have not built, external benchmarking, a contractual support SLA, and a vendor roadmap. These are real and we do not have them.</a:t>
            </a:r>
            <a:endParaRPr lang="en-US" sz="1450" dirty="0"/>
          </a:p>
        </p:txBody>
      </p:sp>
      <p:sp>
        <p:nvSpPr>
          <p:cNvPr id="22" name="Shape 20"/>
          <p:cNvSpPr/>
          <p:nvPr/>
        </p:nvSpPr>
        <p:spPr>
          <a:xfrm>
            <a:off x="6233008" y="4553712"/>
            <a:ext cx="45720" cy="914400"/>
          </a:xfrm>
          <a:prstGeom prst="rect">
            <a:avLst/>
          </a:prstGeom>
          <a:solidFill>
            <a:srgbClr val="C00000"/>
          </a:solidFill>
          <a:ln w="12700">
            <a:solidFill>
              <a:srgbClr val="333333"/>
            </a:solidFill>
            <a:prstDash val="solid"/>
          </a:ln>
        </p:spPr>
      </p:sp>
      <p:sp>
        <p:nvSpPr>
          <p:cNvPr id="23" name="Text 21"/>
          <p:cNvSpPr txBox="1"/>
          <p:nvPr/>
        </p:nvSpPr>
        <p:spPr>
          <a:xfrm>
            <a:off x="6452464" y="4517136"/>
            <a:ext cx="5117440" cy="98755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Fit. No vendor ships job immersion under Policy 211_2021, service offers, or HC Connect and MyDevelopment wiring. Four to nine months to implement, and they own the skills data model.</a:t>
            </a:r>
            <a:endParaRPr lang="en-US" sz="1450" dirty="0"/>
          </a:p>
        </p:txBody>
      </p:sp>
      <p:sp>
        <p:nvSpPr>
          <p:cNvPr id="24" name="Shape 22"/>
          <p:cNvSpPr/>
          <p:nvPr/>
        </p:nvSpPr>
        <p:spPr>
          <a:xfrm>
            <a:off x="566928" y="5650992"/>
            <a:ext cx="11057839" cy="640080"/>
          </a:xfrm>
          <a:prstGeom prst="roundRect">
            <a:avLst>
              <a:gd name="adj" fmla="val 5714"/>
            </a:avLst>
          </a:prstGeom>
          <a:solidFill>
            <a:srgbClr val="FDF0F0"/>
          </a:solidFill>
          <a:ln w="12700">
            <a:solidFill>
              <a:srgbClr val="333333"/>
            </a:solidFill>
            <a:prstDash val="solid"/>
          </a:ln>
        </p:spPr>
      </p:sp>
      <p:sp>
        <p:nvSpPr>
          <p:cNvPr id="25" name="Text 23"/>
          <p:cNvSpPr txBox="1"/>
          <p:nvPr/>
        </p:nvSpPr>
        <p:spPr>
          <a:xfrm>
            <a:off x="877824" y="5650992"/>
            <a:ext cx="10436047" cy="640080"/>
          </a:xfrm>
          <a:prstGeom prst="rect">
            <a:avLst/>
          </a:prstGeom>
          <a:noFill/>
          <a:ln/>
        </p:spPr>
        <p:txBody>
          <a:bodyPr wrap="square" lIns="0" tIns="0" rIns="0" bIns="0" rtlCol="0" anchor="ctr"/>
          <a:lstStyle/>
          <a:p>
            <a:pPr indent="0" marL="0">
              <a:lnSpc>
                <a:spcPts val="2000"/>
              </a:lnSpc>
              <a:buNone/>
            </a:pPr>
            <a:r>
              <a:rPr lang="en-US" sz="1500" b="1" dirty="0">
                <a:solidFill>
                  <a:srgbClr val="C00000"/>
                </a:solidFill>
                <a:latin typeface="Arial" pitchFamily="34" charset="0"/>
                <a:ea typeface="Arial" pitchFamily="34" charset="-122"/>
                <a:cs typeface="Arial" pitchFamily="34" charset="-120"/>
              </a:rPr>
              <a:t>Build now, revisit buying at scale. </a:t>
            </a:r>
            <a:pPr indent="0" marL="0">
              <a:lnSpc>
                <a:spcPts val="2000"/>
              </a:lnSpc>
              <a:buNone/>
            </a:pPr>
            <a:r>
              <a:rPr lang="en-US" sz="1500" dirty="0">
                <a:solidFill>
                  <a:srgbClr val="4B5363"/>
                </a:solidFill>
                <a:latin typeface="Arial" pitchFamily="34" charset="0"/>
                <a:ea typeface="Arial" pitchFamily="34" charset="-122"/>
                <a:cs typeface="Arial" pitchFamily="34" charset="-120"/>
              </a:rPr>
              <a:t>₱2.05M proves demand at 1,113 seats, where vendor minimums make per-seat economics worst. If it works across 20,587 people, buying becomes a fair question — with real usage data behind the RFP.</a:t>
            </a:r>
            <a:endParaRPr lang="en-US" sz="1500" dirty="0"/>
          </a:p>
        </p:txBody>
      </p:sp>
      <p:sp>
        <p:nvSpPr>
          <p:cNvPr id="26" name="Text 24"/>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No vendor here publishes per-seat pricing. Bands derive from how enterprise HR SaaS is structured. ₱61 = US$1.</a:t>
            </a:r>
            <a:endParaRPr lang="en-US" sz="1400" dirty="0"/>
          </a:p>
        </p:txBody>
      </p:sp>
      <p:sp>
        <p:nvSpPr>
          <p:cNvPr id="27" name="Text 2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STRATEGIC ALIGNMENT</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Three of the eight priorities run on internal talent.</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We cannot buy a bench, tech capability and a performance culture all at once.</a:t>
            </a:r>
            <a:endParaRPr lang="en-US" sz="1600" dirty="0"/>
          </a:p>
        </p:txBody>
      </p:sp>
      <p:sp>
        <p:nvSpPr>
          <p:cNvPr id="6" name="Text 4"/>
          <p:cNvSpPr txBox="1"/>
          <p:nvPr/>
        </p:nvSpPr>
        <p:spPr>
          <a:xfrm>
            <a:off x="566928" y="1938528"/>
            <a:ext cx="4589003"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THE EIGHT PRIORITIES '27–'29</a:t>
            </a:r>
            <a:endParaRPr lang="en-US" sz="1400" dirty="0"/>
          </a:p>
        </p:txBody>
      </p:sp>
      <p:sp>
        <p:nvSpPr>
          <p:cNvPr id="7" name="Shape 5"/>
          <p:cNvSpPr/>
          <p:nvPr/>
        </p:nvSpPr>
        <p:spPr>
          <a:xfrm>
            <a:off x="566928" y="2267712"/>
            <a:ext cx="4589003" cy="429768"/>
          </a:xfrm>
          <a:prstGeom prst="roundRect">
            <a:avLst>
              <a:gd name="adj" fmla="val 8511"/>
            </a:avLst>
          </a:prstGeom>
          <a:solidFill>
            <a:srgbClr val="FDF0F0"/>
          </a:solidFill>
          <a:ln w="12700">
            <a:solidFill>
              <a:srgbClr val="F2D4D4"/>
            </a:solidFill>
            <a:prstDash val="solid"/>
          </a:ln>
        </p:spPr>
      </p:sp>
      <p:sp>
        <p:nvSpPr>
          <p:cNvPr id="8" name="Shape 6"/>
          <p:cNvSpPr/>
          <p:nvPr/>
        </p:nvSpPr>
        <p:spPr>
          <a:xfrm>
            <a:off x="566928" y="2304288"/>
            <a:ext cx="45720" cy="356616"/>
          </a:xfrm>
          <a:prstGeom prst="rect">
            <a:avLst/>
          </a:prstGeom>
          <a:solidFill>
            <a:srgbClr val="C00000"/>
          </a:solidFill>
          <a:ln w="12700">
            <a:solidFill>
              <a:srgbClr val="333333"/>
            </a:solidFill>
            <a:prstDash val="solid"/>
          </a:ln>
        </p:spPr>
      </p:sp>
      <p:sp>
        <p:nvSpPr>
          <p:cNvPr id="9" name="Text 7"/>
          <p:cNvSpPr txBox="1"/>
          <p:nvPr/>
        </p:nvSpPr>
        <p:spPr>
          <a:xfrm>
            <a:off x="768096" y="2295144"/>
            <a:ext cx="4204955" cy="210312"/>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People &amp; Culture</a:t>
            </a:r>
            <a:endParaRPr lang="en-US" sz="1500" dirty="0"/>
          </a:p>
        </p:txBody>
      </p:sp>
      <p:sp>
        <p:nvSpPr>
          <p:cNvPr id="10" name="Text 8"/>
          <p:cNvSpPr txBox="1"/>
          <p:nvPr/>
        </p:nvSpPr>
        <p:spPr>
          <a:xfrm>
            <a:off x="768096" y="2496312"/>
            <a:ext cx="4204955" cy="192024"/>
          </a:xfrm>
          <a:prstGeom prst="rect">
            <a:avLst/>
          </a:prstGeom>
          <a:noFill/>
          <a:ln/>
        </p:spPr>
        <p:txBody>
          <a:bodyPr wrap="square" lIns="0" tIns="0" rIns="0" bIns="0" rtlCol="0" anchor="ctr"/>
          <a:lstStyle/>
          <a:p>
            <a:pPr indent="0" marL="0">
              <a:buNone/>
            </a:pPr>
            <a:r>
              <a:rPr lang="en-US" sz="1400" dirty="0">
                <a:solidFill>
                  <a:srgbClr val="4B5363"/>
                </a:solidFill>
                <a:latin typeface="Arial" pitchFamily="34" charset="0"/>
                <a:ea typeface="Arial" pitchFamily="34" charset="-122"/>
                <a:cs typeface="Arial" pitchFamily="34" charset="-120"/>
              </a:rPr>
              <a:t>Capabilities · performance culture</a:t>
            </a:r>
            <a:endParaRPr lang="en-US" sz="1400" dirty="0"/>
          </a:p>
        </p:txBody>
      </p:sp>
      <p:sp>
        <p:nvSpPr>
          <p:cNvPr id="11" name="Shape 9"/>
          <p:cNvSpPr/>
          <p:nvPr/>
        </p:nvSpPr>
        <p:spPr>
          <a:xfrm>
            <a:off x="566928" y="2766060"/>
            <a:ext cx="4589003" cy="429768"/>
          </a:xfrm>
          <a:prstGeom prst="roundRect">
            <a:avLst>
              <a:gd name="adj" fmla="val 8511"/>
            </a:avLst>
          </a:prstGeom>
          <a:solidFill>
            <a:srgbClr val="FDF0F0"/>
          </a:solidFill>
          <a:ln w="12700">
            <a:solidFill>
              <a:srgbClr val="F2D4D4"/>
            </a:solidFill>
            <a:prstDash val="solid"/>
          </a:ln>
        </p:spPr>
      </p:sp>
      <p:sp>
        <p:nvSpPr>
          <p:cNvPr id="12" name="Shape 10"/>
          <p:cNvSpPr/>
          <p:nvPr/>
        </p:nvSpPr>
        <p:spPr>
          <a:xfrm>
            <a:off x="566928" y="2802636"/>
            <a:ext cx="45720" cy="356616"/>
          </a:xfrm>
          <a:prstGeom prst="rect">
            <a:avLst/>
          </a:prstGeom>
          <a:solidFill>
            <a:srgbClr val="C00000"/>
          </a:solidFill>
          <a:ln w="12700">
            <a:solidFill>
              <a:srgbClr val="333333"/>
            </a:solidFill>
            <a:prstDash val="solid"/>
          </a:ln>
        </p:spPr>
      </p:sp>
      <p:sp>
        <p:nvSpPr>
          <p:cNvPr id="13" name="Text 11"/>
          <p:cNvSpPr txBox="1"/>
          <p:nvPr/>
        </p:nvSpPr>
        <p:spPr>
          <a:xfrm>
            <a:off x="768096" y="2793492"/>
            <a:ext cx="4204955" cy="210312"/>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Deep Focus on Tech</a:t>
            </a:r>
            <a:endParaRPr lang="en-US" sz="1500" dirty="0"/>
          </a:p>
        </p:txBody>
      </p:sp>
      <p:sp>
        <p:nvSpPr>
          <p:cNvPr id="14" name="Text 12"/>
          <p:cNvSpPr txBox="1"/>
          <p:nvPr/>
        </p:nvSpPr>
        <p:spPr>
          <a:xfrm>
            <a:off x="768096" y="2994660"/>
            <a:ext cx="4204955" cy="192024"/>
          </a:xfrm>
          <a:prstGeom prst="rect">
            <a:avLst/>
          </a:prstGeom>
          <a:noFill/>
          <a:ln/>
        </p:spPr>
        <p:txBody>
          <a:bodyPr wrap="square" lIns="0" tIns="0" rIns="0" bIns="0" rtlCol="0" anchor="ctr"/>
          <a:lstStyle/>
          <a:p>
            <a:pPr indent="0" marL="0">
              <a:buNone/>
            </a:pPr>
            <a:r>
              <a:rPr lang="en-US" sz="1400" dirty="0">
                <a:solidFill>
                  <a:srgbClr val="4B5363"/>
                </a:solidFill>
                <a:latin typeface="Arial" pitchFamily="34" charset="0"/>
                <a:ea typeface="Arial" pitchFamily="34" charset="-122"/>
                <a:cs typeface="Arial" pitchFamily="34" charset="-120"/>
              </a:rPr>
              <a:t>Core platform · Unified Data</a:t>
            </a:r>
            <a:endParaRPr lang="en-US" sz="1400" dirty="0"/>
          </a:p>
        </p:txBody>
      </p:sp>
      <p:sp>
        <p:nvSpPr>
          <p:cNvPr id="15" name="Shape 13"/>
          <p:cNvSpPr/>
          <p:nvPr/>
        </p:nvSpPr>
        <p:spPr>
          <a:xfrm>
            <a:off x="566928" y="3264408"/>
            <a:ext cx="4589003" cy="429768"/>
          </a:xfrm>
          <a:prstGeom prst="roundRect">
            <a:avLst>
              <a:gd name="adj" fmla="val 8511"/>
            </a:avLst>
          </a:prstGeom>
          <a:solidFill>
            <a:srgbClr val="FDF0F0"/>
          </a:solidFill>
          <a:ln w="12700">
            <a:solidFill>
              <a:srgbClr val="F2D4D4"/>
            </a:solidFill>
            <a:prstDash val="solid"/>
          </a:ln>
        </p:spPr>
      </p:sp>
      <p:sp>
        <p:nvSpPr>
          <p:cNvPr id="16" name="Shape 14"/>
          <p:cNvSpPr/>
          <p:nvPr/>
        </p:nvSpPr>
        <p:spPr>
          <a:xfrm>
            <a:off x="566928" y="3300984"/>
            <a:ext cx="45720" cy="356616"/>
          </a:xfrm>
          <a:prstGeom prst="rect">
            <a:avLst/>
          </a:prstGeom>
          <a:solidFill>
            <a:srgbClr val="C00000"/>
          </a:solidFill>
          <a:ln w="12700">
            <a:solidFill>
              <a:srgbClr val="333333"/>
            </a:solidFill>
            <a:prstDash val="solid"/>
          </a:ln>
        </p:spPr>
      </p:sp>
      <p:sp>
        <p:nvSpPr>
          <p:cNvPr id="17" name="Text 15"/>
          <p:cNvSpPr txBox="1"/>
          <p:nvPr/>
        </p:nvSpPr>
        <p:spPr>
          <a:xfrm>
            <a:off x="768096" y="3291840"/>
            <a:ext cx="4204955" cy="210312"/>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Expand Horizons</a:t>
            </a:r>
            <a:endParaRPr lang="en-US" sz="1500" dirty="0"/>
          </a:p>
        </p:txBody>
      </p:sp>
      <p:sp>
        <p:nvSpPr>
          <p:cNvPr id="18" name="Text 16"/>
          <p:cNvSpPr txBox="1"/>
          <p:nvPr/>
        </p:nvSpPr>
        <p:spPr>
          <a:xfrm>
            <a:off x="768096" y="3493008"/>
            <a:ext cx="4204955" cy="192024"/>
          </a:xfrm>
          <a:prstGeom prst="rect">
            <a:avLst/>
          </a:prstGeom>
          <a:noFill/>
          <a:ln/>
        </p:spPr>
        <p:txBody>
          <a:bodyPr wrap="square" lIns="0" tIns="0" rIns="0" bIns="0" rtlCol="0" anchor="ctr"/>
          <a:lstStyle/>
          <a:p>
            <a:pPr indent="0" marL="0">
              <a:buNone/>
            </a:pPr>
            <a:r>
              <a:rPr lang="en-US" sz="1400" dirty="0">
                <a:solidFill>
                  <a:srgbClr val="4B5363"/>
                </a:solidFill>
                <a:latin typeface="Arial" pitchFamily="34" charset="0"/>
                <a:ea typeface="Arial" pitchFamily="34" charset="-122"/>
                <a:cs typeface="Arial" pitchFamily="34" charset="-120"/>
              </a:rPr>
              <a:t>MSME · secured loans · e-commerce</a:t>
            </a:r>
            <a:endParaRPr lang="en-US" sz="1400" dirty="0"/>
          </a:p>
        </p:txBody>
      </p:sp>
      <p:sp>
        <p:nvSpPr>
          <p:cNvPr id="19" name="Shape 17"/>
          <p:cNvSpPr/>
          <p:nvPr/>
        </p:nvSpPr>
        <p:spPr>
          <a:xfrm>
            <a:off x="566928" y="3762756"/>
            <a:ext cx="4589003" cy="429768"/>
          </a:xfrm>
          <a:prstGeom prst="roundRect">
            <a:avLst>
              <a:gd name="adj" fmla="val 8511"/>
            </a:avLst>
          </a:prstGeom>
          <a:solidFill>
            <a:srgbClr val="FCFAF6"/>
          </a:solidFill>
          <a:ln w="12700">
            <a:solidFill>
              <a:srgbClr val="E7E1D7"/>
            </a:solidFill>
            <a:prstDash val="solid"/>
          </a:ln>
        </p:spPr>
      </p:sp>
      <p:sp>
        <p:nvSpPr>
          <p:cNvPr id="20" name="Text 18"/>
          <p:cNvSpPr txBox="1"/>
          <p:nvPr/>
        </p:nvSpPr>
        <p:spPr>
          <a:xfrm>
            <a:off x="768096" y="3790188"/>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POS — defend position</a:t>
            </a:r>
            <a:endParaRPr lang="en-US" sz="1500" dirty="0"/>
          </a:p>
        </p:txBody>
      </p:sp>
      <p:sp>
        <p:nvSpPr>
          <p:cNvPr id="21" name="Text 19"/>
          <p:cNvSpPr txBox="1"/>
          <p:nvPr/>
        </p:nvSpPr>
        <p:spPr>
          <a:xfrm>
            <a:off x="768096" y="3991356"/>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Acquisition and retention channel</a:t>
            </a:r>
            <a:endParaRPr lang="en-US" sz="1400" dirty="0"/>
          </a:p>
        </p:txBody>
      </p:sp>
      <p:sp>
        <p:nvSpPr>
          <p:cNvPr id="22" name="Shape 20"/>
          <p:cNvSpPr/>
          <p:nvPr/>
        </p:nvSpPr>
        <p:spPr>
          <a:xfrm>
            <a:off x="566928" y="4261104"/>
            <a:ext cx="4589003" cy="429768"/>
          </a:xfrm>
          <a:prstGeom prst="roundRect">
            <a:avLst>
              <a:gd name="adj" fmla="val 8511"/>
            </a:avLst>
          </a:prstGeom>
          <a:solidFill>
            <a:srgbClr val="FCFAF6"/>
          </a:solidFill>
          <a:ln w="12700">
            <a:solidFill>
              <a:srgbClr val="E7E1D7"/>
            </a:solidFill>
            <a:prstDash val="solid"/>
          </a:ln>
        </p:spPr>
      </p:sp>
      <p:sp>
        <p:nvSpPr>
          <p:cNvPr id="23" name="Text 21"/>
          <p:cNvSpPr txBox="1"/>
          <p:nvPr/>
        </p:nvSpPr>
        <p:spPr>
          <a:xfrm>
            <a:off x="768096" y="4288536"/>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Cash Loan</a:t>
            </a:r>
            <a:endParaRPr lang="en-US" sz="1500" dirty="0"/>
          </a:p>
        </p:txBody>
      </p:sp>
      <p:sp>
        <p:nvSpPr>
          <p:cNvPr id="24" name="Text 22"/>
          <p:cNvSpPr txBox="1"/>
          <p:nvPr/>
        </p:nvSpPr>
        <p:spPr>
          <a:xfrm>
            <a:off x="768096" y="4489704"/>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Profitable, sustainable CLX</a:t>
            </a:r>
            <a:endParaRPr lang="en-US" sz="1400" dirty="0"/>
          </a:p>
        </p:txBody>
      </p:sp>
      <p:sp>
        <p:nvSpPr>
          <p:cNvPr id="25" name="Shape 23"/>
          <p:cNvSpPr/>
          <p:nvPr/>
        </p:nvSpPr>
        <p:spPr>
          <a:xfrm>
            <a:off x="566928" y="4759452"/>
            <a:ext cx="4589003" cy="429768"/>
          </a:xfrm>
          <a:prstGeom prst="roundRect">
            <a:avLst>
              <a:gd name="adj" fmla="val 8511"/>
            </a:avLst>
          </a:prstGeom>
          <a:solidFill>
            <a:srgbClr val="FCFAF6"/>
          </a:solidFill>
          <a:ln w="12700">
            <a:solidFill>
              <a:srgbClr val="E7E1D7"/>
            </a:solidFill>
            <a:prstDash val="solid"/>
          </a:ln>
        </p:spPr>
      </p:sp>
      <p:sp>
        <p:nvSpPr>
          <p:cNvPr id="26" name="Text 24"/>
          <p:cNvSpPr txBox="1"/>
          <p:nvPr/>
        </p:nvSpPr>
        <p:spPr>
          <a:xfrm>
            <a:off x="768096" y="4786884"/>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App-led lifecycle</a:t>
            </a:r>
            <a:endParaRPr lang="en-US" sz="1500" dirty="0"/>
          </a:p>
        </p:txBody>
      </p:sp>
      <p:sp>
        <p:nvSpPr>
          <p:cNvPr id="27" name="Text 25"/>
          <p:cNvSpPr txBox="1"/>
          <p:nvPr/>
        </p:nvSpPr>
        <p:spPr>
          <a:xfrm>
            <a:off x="768096" y="4988052"/>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Personalised engagement</a:t>
            </a:r>
            <a:endParaRPr lang="en-US" sz="1400" dirty="0"/>
          </a:p>
        </p:txBody>
      </p:sp>
      <p:sp>
        <p:nvSpPr>
          <p:cNvPr id="28" name="Shape 26"/>
          <p:cNvSpPr/>
          <p:nvPr/>
        </p:nvSpPr>
        <p:spPr>
          <a:xfrm>
            <a:off x="566928" y="5257800"/>
            <a:ext cx="4589003" cy="429768"/>
          </a:xfrm>
          <a:prstGeom prst="roundRect">
            <a:avLst>
              <a:gd name="adj" fmla="val 8511"/>
            </a:avLst>
          </a:prstGeom>
          <a:solidFill>
            <a:srgbClr val="FCFAF6"/>
          </a:solidFill>
          <a:ln w="12700">
            <a:solidFill>
              <a:srgbClr val="E7E1D7"/>
            </a:solidFill>
            <a:prstDash val="solid"/>
          </a:ln>
        </p:spPr>
      </p:sp>
      <p:sp>
        <p:nvSpPr>
          <p:cNvPr id="29" name="Text 27"/>
          <p:cNvSpPr txBox="1"/>
          <p:nvPr/>
        </p:nvSpPr>
        <p:spPr>
          <a:xfrm>
            <a:off x="768096" y="5285232"/>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Risk &amp; Collections</a:t>
            </a:r>
            <a:endParaRPr lang="en-US" sz="1500" dirty="0"/>
          </a:p>
        </p:txBody>
      </p:sp>
      <p:sp>
        <p:nvSpPr>
          <p:cNvPr id="30" name="Text 28"/>
          <p:cNvSpPr txBox="1"/>
          <p:nvPr/>
        </p:nvSpPr>
        <p:spPr>
          <a:xfrm>
            <a:off x="768096" y="5486400"/>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Scorecards · CE tools</a:t>
            </a:r>
            <a:endParaRPr lang="en-US" sz="1400" dirty="0"/>
          </a:p>
        </p:txBody>
      </p:sp>
      <p:sp>
        <p:nvSpPr>
          <p:cNvPr id="31" name="Shape 29"/>
          <p:cNvSpPr/>
          <p:nvPr/>
        </p:nvSpPr>
        <p:spPr>
          <a:xfrm>
            <a:off x="566928" y="5756148"/>
            <a:ext cx="4589003" cy="429768"/>
          </a:xfrm>
          <a:prstGeom prst="roundRect">
            <a:avLst>
              <a:gd name="adj" fmla="val 8511"/>
            </a:avLst>
          </a:prstGeom>
          <a:solidFill>
            <a:srgbClr val="FCFAF6"/>
          </a:solidFill>
          <a:ln w="12700">
            <a:solidFill>
              <a:srgbClr val="E7E1D7"/>
            </a:solidFill>
            <a:prstDash val="solid"/>
          </a:ln>
        </p:spPr>
      </p:sp>
      <p:sp>
        <p:nvSpPr>
          <p:cNvPr id="32" name="Text 30"/>
          <p:cNvSpPr txBox="1"/>
          <p:nvPr/>
        </p:nvSpPr>
        <p:spPr>
          <a:xfrm>
            <a:off x="768096" y="5783580"/>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Secure local funding</a:t>
            </a:r>
            <a:endParaRPr lang="en-US" sz="1500" dirty="0"/>
          </a:p>
        </p:txBody>
      </p:sp>
      <p:sp>
        <p:nvSpPr>
          <p:cNvPr id="33" name="Text 31"/>
          <p:cNvSpPr txBox="1"/>
          <p:nvPr/>
        </p:nvSpPr>
        <p:spPr>
          <a:xfrm>
            <a:off x="768096" y="5984748"/>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Diversify base · hold spreads</a:t>
            </a:r>
            <a:endParaRPr lang="en-US" sz="1400" dirty="0"/>
          </a:p>
        </p:txBody>
      </p:sp>
      <p:sp>
        <p:nvSpPr>
          <p:cNvPr id="34" name="Text 32"/>
          <p:cNvSpPr txBox="1"/>
          <p:nvPr/>
        </p:nvSpPr>
        <p:spPr>
          <a:xfrm>
            <a:off x="5539979" y="1938528"/>
            <a:ext cx="6084788"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WHAT GROWTH DELIVERS AGAINST THEM</a:t>
            </a:r>
            <a:endParaRPr lang="en-US" sz="1400" dirty="0"/>
          </a:p>
        </p:txBody>
      </p:sp>
      <p:sp>
        <p:nvSpPr>
          <p:cNvPr id="35" name="Shape 33"/>
          <p:cNvSpPr/>
          <p:nvPr/>
        </p:nvSpPr>
        <p:spPr>
          <a:xfrm>
            <a:off x="5539979" y="226771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36" name="Shape 34"/>
          <p:cNvSpPr/>
          <p:nvPr/>
        </p:nvSpPr>
        <p:spPr>
          <a:xfrm>
            <a:off x="5539979" y="2267712"/>
            <a:ext cx="50292" cy="914400"/>
          </a:xfrm>
          <a:prstGeom prst="rect">
            <a:avLst/>
          </a:prstGeom>
          <a:solidFill>
            <a:srgbClr val="C00000"/>
          </a:solidFill>
          <a:ln w="12700">
            <a:solidFill>
              <a:srgbClr val="333333"/>
            </a:solidFill>
            <a:prstDash val="solid"/>
          </a:ln>
        </p:spPr>
      </p:sp>
      <p:sp>
        <p:nvSpPr>
          <p:cNvPr id="37" name="Text 35"/>
          <p:cNvSpPr txBox="1"/>
          <p:nvPr/>
        </p:nvSpPr>
        <p:spPr>
          <a:xfrm>
            <a:off x="5796011" y="237744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Builds tech talent from the inside</a:t>
            </a:r>
            <a:endParaRPr lang="en-US" sz="1600" dirty="0"/>
          </a:p>
        </p:txBody>
      </p:sp>
      <p:sp>
        <p:nvSpPr>
          <p:cNvPr id="38" name="Text 36"/>
          <p:cNvSpPr txBox="1"/>
          <p:nvPr/>
        </p:nvSpPr>
        <p:spPr>
          <a:xfrm>
            <a:off x="5796011" y="267004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Gigs and immersions let Operations, Risk and HR people do real IT and analytics work before we pay a headhunter for it.</a:t>
            </a:r>
            <a:endParaRPr lang="en-US" sz="1450" dirty="0"/>
          </a:p>
        </p:txBody>
      </p:sp>
      <p:sp>
        <p:nvSpPr>
          <p:cNvPr id="39" name="Shape 37"/>
          <p:cNvSpPr/>
          <p:nvPr/>
        </p:nvSpPr>
        <p:spPr>
          <a:xfrm>
            <a:off x="5539979" y="327355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40" name="Shape 38"/>
          <p:cNvSpPr/>
          <p:nvPr/>
        </p:nvSpPr>
        <p:spPr>
          <a:xfrm>
            <a:off x="5539979" y="3273552"/>
            <a:ext cx="50292" cy="914400"/>
          </a:xfrm>
          <a:prstGeom prst="rect">
            <a:avLst/>
          </a:prstGeom>
          <a:solidFill>
            <a:srgbClr val="C00000"/>
          </a:solidFill>
          <a:ln w="12700">
            <a:solidFill>
              <a:srgbClr val="333333"/>
            </a:solidFill>
            <a:prstDash val="solid"/>
          </a:ln>
        </p:spPr>
      </p:sp>
      <p:sp>
        <p:nvSpPr>
          <p:cNvPr id="41" name="Text 39"/>
          <p:cNvSpPr txBox="1"/>
          <p:nvPr/>
        </p:nvSpPr>
        <p:spPr>
          <a:xfrm>
            <a:off x="5796011" y="338328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Strengthens the middle-management bench</a:t>
            </a:r>
            <a:endParaRPr lang="en-US" sz="1600" dirty="0"/>
          </a:p>
        </p:txBody>
      </p:sp>
      <p:sp>
        <p:nvSpPr>
          <p:cNvPr id="42" name="Text 40"/>
          <p:cNvSpPr txBox="1"/>
          <p:nvPr/>
        </p:nvSpPr>
        <p:spPr>
          <a:xfrm>
            <a:off x="5796011" y="367588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Band B pivots and Band C lateral moves become visible, matched and tracked — from people already on payroll.</a:t>
            </a:r>
            <a:endParaRPr lang="en-US" sz="1450" dirty="0"/>
          </a:p>
        </p:txBody>
      </p:sp>
      <p:sp>
        <p:nvSpPr>
          <p:cNvPr id="43" name="Shape 41"/>
          <p:cNvSpPr/>
          <p:nvPr/>
        </p:nvSpPr>
        <p:spPr>
          <a:xfrm>
            <a:off x="5539979" y="427939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44" name="Shape 42"/>
          <p:cNvSpPr/>
          <p:nvPr/>
        </p:nvSpPr>
        <p:spPr>
          <a:xfrm>
            <a:off x="5539979" y="4279392"/>
            <a:ext cx="50292" cy="914400"/>
          </a:xfrm>
          <a:prstGeom prst="rect">
            <a:avLst/>
          </a:prstGeom>
          <a:solidFill>
            <a:srgbClr val="C00000"/>
          </a:solidFill>
          <a:ln w="12700">
            <a:solidFill>
              <a:srgbClr val="333333"/>
            </a:solidFill>
            <a:prstDash val="solid"/>
          </a:ln>
        </p:spPr>
      </p:sp>
      <p:sp>
        <p:nvSpPr>
          <p:cNvPr id="45" name="Text 43"/>
          <p:cNvSpPr txBox="1"/>
          <p:nvPr/>
        </p:nvSpPr>
        <p:spPr>
          <a:xfrm>
            <a:off x="5796011" y="438912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Creates the people half of Unified Data</a:t>
            </a:r>
            <a:endParaRPr lang="en-US" sz="1600" dirty="0"/>
          </a:p>
        </p:txBody>
      </p:sp>
      <p:sp>
        <p:nvSpPr>
          <p:cNvPr id="46" name="Text 44"/>
          <p:cNvSpPr txBox="1"/>
          <p:nvPr/>
        </p:nvSpPr>
        <p:spPr>
          <a:xfrm>
            <a:off x="5796011" y="468172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live, verified skills inventory as a by-product. "Who can do X?" answered from data rather than memory.</a:t>
            </a:r>
            <a:endParaRPr lang="en-US" sz="1450" dirty="0"/>
          </a:p>
        </p:txBody>
      </p:sp>
      <p:sp>
        <p:nvSpPr>
          <p:cNvPr id="47" name="Shape 45"/>
          <p:cNvSpPr/>
          <p:nvPr/>
        </p:nvSpPr>
        <p:spPr>
          <a:xfrm>
            <a:off x="5539979" y="528523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48" name="Shape 46"/>
          <p:cNvSpPr/>
          <p:nvPr/>
        </p:nvSpPr>
        <p:spPr>
          <a:xfrm>
            <a:off x="5539979" y="5285232"/>
            <a:ext cx="50292" cy="914400"/>
          </a:xfrm>
          <a:prstGeom prst="rect">
            <a:avLst/>
          </a:prstGeom>
          <a:solidFill>
            <a:srgbClr val="C00000"/>
          </a:solidFill>
          <a:ln w="12700">
            <a:solidFill>
              <a:srgbClr val="333333"/>
            </a:solidFill>
            <a:prstDash val="solid"/>
          </a:ln>
        </p:spPr>
      </p:sp>
      <p:sp>
        <p:nvSpPr>
          <p:cNvPr id="49" name="Text 47"/>
          <p:cNvSpPr txBox="1"/>
          <p:nvPr/>
        </p:nvSpPr>
        <p:spPr>
          <a:xfrm>
            <a:off x="5796011" y="539496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Staffs new growth engines in days</a:t>
            </a:r>
            <a:endParaRPr lang="en-US" sz="1600" dirty="0"/>
          </a:p>
        </p:txBody>
      </p:sp>
      <p:sp>
        <p:nvSpPr>
          <p:cNvPr id="50" name="Text 48"/>
          <p:cNvSpPr txBox="1"/>
          <p:nvPr/>
        </p:nvSpPr>
        <p:spPr>
          <a:xfrm>
            <a:off x="5796011" y="568756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MSME, e-commerce and the app journey resourced from internal capacity instead of contractors.</a:t>
            </a:r>
            <a:endParaRPr lang="en-US" sz="1450" dirty="0"/>
          </a:p>
        </p:txBody>
      </p:sp>
      <p:sp>
        <p:nvSpPr>
          <p:cNvPr id="51" name="Text 49"/>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HCPH Strategic Priorities '27–'29, Go Wide Go Deep (draft) · HR Strategic Priorities · OneHR Operating Model.</a:t>
            </a:r>
            <a:endParaRPr lang="en-US" sz="1400" dirty="0"/>
          </a:p>
        </p:txBody>
      </p:sp>
      <p:sp>
        <p:nvSpPr>
          <p:cNvPr id="52" name="Text 50"/>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COST AND PAYBACK</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₱2.05M for the pilot. ₱5.26M for all 20,470.</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Three-year totals. The build is bought once, so the whole company costs 2.6× the pilot — not 18×.</a:t>
            </a:r>
            <a:endParaRPr lang="en-US" sz="1600" dirty="0"/>
          </a:p>
        </p:txBody>
      </p:sp>
      <p:sp>
        <p:nvSpPr>
          <p:cNvPr id="6" name="Text 4"/>
          <p:cNvSpPr txBox="1"/>
          <p:nvPr/>
        </p:nvSpPr>
        <p:spPr>
          <a:xfrm>
            <a:off x="566928" y="1847088"/>
            <a:ext cx="5860655" cy="237744"/>
          </a:xfrm>
          <a:prstGeom prst="rect">
            <a:avLst/>
          </a:prstGeom>
          <a:noFill/>
          <a:ln/>
        </p:spPr>
        <p:txBody>
          <a:bodyPr wrap="square" lIns="0" tIns="0" rIns="0" bIns="0" rtlCol="0" anchor="ctr"/>
          <a:lstStyle/>
          <a:p>
            <a:pPr indent="0" marL="0">
              <a:buNone/>
            </a:pPr>
            <a:r>
              <a:rPr lang="en-US" sz="1400" b="1" spc="160" kern="0" dirty="0">
                <a:solidFill>
                  <a:srgbClr val="C00000"/>
                </a:solidFill>
                <a:latin typeface="Arial" pitchFamily="34" charset="0"/>
                <a:ea typeface="Arial" pitchFamily="34" charset="-122"/>
                <a:cs typeface="Arial" pitchFamily="34" charset="-120"/>
              </a:rPr>
              <a:t>THREE-YEAR COST</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176272"/>
          <a:ext cx="5860655" cy="914400"/>
        </p:xfrm>
        <a:graphic>
          <a:graphicData uri="http://schemas.openxmlformats.org/drawingml/2006/table">
            <a:tbl>
              <a:tblPr/>
              <a:tblGrid>
                <a:gridCol w="2834640"/>
                <a:gridCol w="1481328"/>
                <a:gridCol w="1481328"/>
              </a:tblGrid>
              <a:tr h="310896">
                <a:tc>
                  <a:txBody>
                    <a:bodyPr/>
                    <a:lstStyle/>
                    <a:p>
                      <a:pPr indent="0" marL="0">
                        <a:buNone/>
                      </a:pP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858D9B"/>
                          </a:solidFill>
                          <a:latin typeface="Arial" pitchFamily="34" charset="0"/>
                          <a:ea typeface="Arial" pitchFamily="34" charset="-122"/>
                          <a:cs typeface="Arial" pitchFamily="34" charset="-120"/>
                        </a:rPr>
                        <a:t>Pilot · 1,113</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858D9B"/>
                          </a:solidFill>
                          <a:latin typeface="Arial" pitchFamily="34" charset="0"/>
                          <a:ea typeface="Arial" pitchFamily="34" charset="-122"/>
                          <a:cs typeface="Arial" pitchFamily="34" charset="-120"/>
                        </a:rPr>
                        <a:t>Full · 20,470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b="1" dirty="0">
                          <a:solidFill>
                            <a:srgbClr val="222834"/>
                          </a:solidFill>
                          <a:latin typeface="Arial" pitchFamily="34" charset="0"/>
                          <a:ea typeface="Arial" pitchFamily="34" charset="-122"/>
                          <a:cs typeface="Arial" pitchFamily="34" charset="-120"/>
                        </a:rPr>
                        <a:t>Build — bought once</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₱1,785,500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0E7C66"/>
                          </a:solidFill>
                          <a:latin typeface="Arial" pitchFamily="34" charset="0"/>
                          <a:ea typeface="Arial" pitchFamily="34" charset="-122"/>
                          <a:cs typeface="Arial" pitchFamily="34" charset="-120"/>
                        </a:rPr>
                        <a:t>₱1,785,500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dirty="0">
                          <a:solidFill>
                            <a:srgbClr val="4B5363"/>
                          </a:solidFill>
                          <a:latin typeface="Arial" pitchFamily="34" charset="0"/>
                          <a:ea typeface="Arial" pitchFamily="34" charset="-122"/>
                          <a:cs typeface="Arial" pitchFamily="34" charset="-120"/>
                        </a:rPr>
                        <a:t>AI matching (Claude), a year</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₱40,544</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₱745,674</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dirty="0">
                          <a:solidFill>
                            <a:srgbClr val="4B5363"/>
                          </a:solidFill>
                          <a:latin typeface="Arial" pitchFamily="34" charset="0"/>
                          <a:ea typeface="Arial" pitchFamily="34" charset="-122"/>
                          <a:cs typeface="Arial" pitchFamily="34" charset="-120"/>
                        </a:rPr>
                        <a:t>Email, a year</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₱15,987</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₱294,035</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dirty="0">
                          <a:solidFill>
                            <a:srgbClr val="4B5363"/>
                          </a:solidFill>
                          <a:latin typeface="Arial" pitchFamily="34" charset="0"/>
                          <a:ea typeface="Arial" pitchFamily="34" charset="-122"/>
                          <a:cs typeface="Arial" pitchFamily="34" charset="-120"/>
                        </a:rPr>
                        <a:t>Platform and monitoring, a year</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₱25,620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₱76,860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dirty="0">
                          <a:solidFill>
                            <a:srgbClr val="4B5363"/>
                          </a:solidFill>
                          <a:latin typeface="Arial" pitchFamily="34" charset="0"/>
                          <a:ea typeface="Arial" pitchFamily="34" charset="-122"/>
                          <a:cs typeface="Arial" pitchFamily="34" charset="-120"/>
                        </a:rPr>
                        <a:t>HR reconciliation, a year</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₱9,000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₱60,000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b="1" dirty="0">
                          <a:solidFill>
                            <a:srgbClr val="222834"/>
                          </a:solidFill>
                          <a:latin typeface="Arial" pitchFamily="34" charset="0"/>
                          <a:ea typeface="Arial" pitchFamily="34" charset="-122"/>
                          <a:cs typeface="Arial" pitchFamily="34" charset="-120"/>
                        </a:rPr>
                        <a:t>THREE-YEAR TOTAL</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4B5363"/>
                          </a:solidFill>
                          <a:latin typeface="Arial" pitchFamily="34" charset="0"/>
                          <a:ea typeface="Arial" pitchFamily="34" charset="-122"/>
                          <a:cs typeface="Arial" pitchFamily="34" charset="-120"/>
                        </a:rPr>
                        <a:t>₱2,049,954</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C00000"/>
                          </a:solidFill>
                          <a:latin typeface="Arial" pitchFamily="34" charset="0"/>
                          <a:ea typeface="Arial" pitchFamily="34" charset="-122"/>
                          <a:cs typeface="Arial" pitchFamily="34" charset="-120"/>
                        </a:rPr>
                        <a:t>₱5,255,207</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dirty="0">
                          <a:solidFill>
                            <a:srgbClr val="858D9B"/>
                          </a:solidFill>
                          <a:latin typeface="Arial" pitchFamily="34" charset="0"/>
                          <a:ea typeface="Arial" pitchFamily="34" charset="-122"/>
                          <a:cs typeface="Arial" pitchFamily="34" charset="-120"/>
                        </a:rPr>
                        <a:t>Per employee, a year</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858D9B"/>
                          </a:solidFill>
                          <a:latin typeface="Arial" pitchFamily="34" charset="0"/>
                          <a:ea typeface="Arial" pitchFamily="34" charset="-122"/>
                          <a:cs typeface="Arial" pitchFamily="34" charset="-120"/>
                        </a:rPr>
                        <a:t>₱614</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0E7C66"/>
                          </a:solidFill>
                          <a:latin typeface="Arial" pitchFamily="34" charset="0"/>
                          <a:ea typeface="Arial" pitchFamily="34" charset="-122"/>
                          <a:cs typeface="Arial" pitchFamily="34" charset="-120"/>
                        </a:rPr>
                        <a:t>₱86</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bl>
          </a:graphicData>
        </a:graphic>
      </p:graphicFrame>
      <p:sp>
        <p:nvSpPr>
          <p:cNvPr id="8" name="Shape 5"/>
          <p:cNvSpPr/>
          <p:nvPr/>
        </p:nvSpPr>
        <p:spPr>
          <a:xfrm>
            <a:off x="566928" y="4773168"/>
            <a:ext cx="5860655" cy="713232"/>
          </a:xfrm>
          <a:prstGeom prst="roundRect">
            <a:avLst>
              <a:gd name="adj" fmla="val 5128"/>
            </a:avLst>
          </a:prstGeom>
          <a:solidFill>
            <a:srgbClr val="F6F2EA"/>
          </a:solidFill>
          <a:ln w="12700">
            <a:solidFill>
              <a:srgbClr val="333333"/>
            </a:solidFill>
            <a:prstDash val="solid"/>
          </a:ln>
        </p:spPr>
      </p:sp>
      <p:sp>
        <p:nvSpPr>
          <p:cNvPr id="9" name="Text 6"/>
          <p:cNvSpPr txBox="1"/>
          <p:nvPr/>
        </p:nvSpPr>
        <p:spPr>
          <a:xfrm>
            <a:off x="822960" y="4773168"/>
            <a:ext cx="5348591" cy="713232"/>
          </a:xfrm>
          <a:prstGeom prst="rect">
            <a:avLst/>
          </a:prstGeom>
          <a:noFill/>
          <a:ln/>
        </p:spPr>
        <p:txBody>
          <a:bodyPr wrap="square" lIns="0" tIns="0" rIns="0" bIns="0" rtlCol="0" anchor="ctr"/>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₱55 per extra employee a year. </a:t>
            </a:r>
            <a:pPr indent="0" marL="0">
              <a:lnSpc>
                <a:spcPts val="1900"/>
              </a:lnSpc>
              <a:buNone/>
            </a:pPr>
            <a:r>
              <a:rPr lang="en-US" sz="1450" dirty="0">
                <a:solidFill>
                  <a:srgbClr val="4B5363"/>
                </a:solidFill>
                <a:latin typeface="Arial" pitchFamily="34" charset="0"/>
                <a:ea typeface="Arial" pitchFamily="34" charset="-122"/>
                <a:cs typeface="Arial" pitchFamily="34" charset="-120"/>
              </a:rPr>
              <a:t>Going from 1,113 to 20,470 adds ₱3.21M for 19,357 more people.</a:t>
            </a:r>
            <a:endParaRPr lang="en-US" sz="1450" dirty="0"/>
          </a:p>
        </p:txBody>
      </p:sp>
      <p:sp>
        <p:nvSpPr>
          <p:cNvPr id="10" name="Shape 7"/>
          <p:cNvSpPr/>
          <p:nvPr/>
        </p:nvSpPr>
        <p:spPr>
          <a:xfrm>
            <a:off x="566928" y="5577840"/>
            <a:ext cx="5860655" cy="548640"/>
          </a:xfrm>
          <a:prstGeom prst="roundRect">
            <a:avLst>
              <a:gd name="adj" fmla="val 6667"/>
            </a:avLst>
          </a:prstGeom>
          <a:solidFill>
            <a:srgbClr val="FBF2E0"/>
          </a:solidFill>
          <a:ln w="12700">
            <a:solidFill>
              <a:srgbClr val="333333"/>
            </a:solidFill>
            <a:prstDash val="solid"/>
          </a:ln>
        </p:spPr>
      </p:sp>
      <p:sp>
        <p:nvSpPr>
          <p:cNvPr id="11" name="Text 8"/>
          <p:cNvSpPr txBox="1"/>
          <p:nvPr/>
        </p:nvSpPr>
        <p:spPr>
          <a:xfrm>
            <a:off x="822960" y="5577840"/>
            <a:ext cx="5348591" cy="548640"/>
          </a:xfrm>
          <a:prstGeom prst="rect">
            <a:avLst/>
          </a:prstGeom>
          <a:noFill/>
          <a:ln/>
        </p:spPr>
        <p:txBody>
          <a:bodyPr wrap="square" lIns="0" tIns="0" rIns="0" bIns="0" rtlCol="0" anchor="ctr"/>
          <a:lstStyle/>
          <a:p>
            <a:pPr indent="0" marL="0">
              <a:buNone/>
            </a:pPr>
            <a:r>
              <a:rPr lang="en-US" sz="1450" b="1" dirty="0">
                <a:solidFill>
                  <a:srgbClr val="9E6B12"/>
                </a:solidFill>
                <a:latin typeface="Arial" pitchFamily="34" charset="0"/>
                <a:ea typeface="Arial" pitchFamily="34" charset="-122"/>
                <a:cs typeface="Arial" pitchFamily="34" charset="-120"/>
              </a:rPr>
              <a:t>Watch the AI line. </a:t>
            </a:r>
            <a:pPr indent="0" marL="0">
              <a:buNone/>
            </a:pPr>
            <a:r>
              <a:rPr lang="en-US" sz="1450" dirty="0">
                <a:solidFill>
                  <a:srgbClr val="4B5363"/>
                </a:solidFill>
                <a:latin typeface="Arial" pitchFamily="34" charset="0"/>
                <a:ea typeface="Arial" pitchFamily="34" charset="-122"/>
                <a:cs typeface="Arial" pitchFamily="34" charset="-120"/>
              </a:rPr>
              <a:t>63% of the full-org run, against 44% at the pilot.</a:t>
            </a:r>
            <a:endParaRPr lang="en-US" sz="1450" dirty="0"/>
          </a:p>
        </p:txBody>
      </p:sp>
      <p:sp>
        <p:nvSpPr>
          <p:cNvPr id="12" name="Text 9"/>
          <p:cNvSpPr txBox="1"/>
          <p:nvPr/>
        </p:nvSpPr>
        <p:spPr>
          <a:xfrm>
            <a:off x="6811631" y="1847088"/>
            <a:ext cx="4813136" cy="237744"/>
          </a:xfrm>
          <a:prstGeom prst="rect">
            <a:avLst/>
          </a:prstGeom>
          <a:noFill/>
          <a:ln/>
        </p:spPr>
        <p:txBody>
          <a:bodyPr wrap="square" lIns="0" tIns="0" rIns="0" bIns="0" rtlCol="0" anchor="ctr"/>
          <a:lstStyle/>
          <a:p>
            <a:pPr indent="0" marL="0">
              <a:buNone/>
            </a:pPr>
            <a:r>
              <a:rPr lang="en-US" sz="1400" b="1" spc="160" kern="0" dirty="0">
                <a:solidFill>
                  <a:srgbClr val="0E7C66"/>
                </a:solidFill>
                <a:latin typeface="Arial" pitchFamily="34" charset="0"/>
                <a:ea typeface="Arial" pitchFamily="34" charset="-122"/>
                <a:cs typeface="Arial" pitchFamily="34" charset="-120"/>
              </a:rPr>
              <a:t>WHAT COMES BACK</a:t>
            </a:r>
            <a:endParaRPr lang="en-US" sz="1400" dirty="0"/>
          </a:p>
        </p:txBody>
      </p:sp>
      <p:sp>
        <p:nvSpPr>
          <p:cNvPr id="13" name="Text 10"/>
          <p:cNvSpPr txBox="1"/>
          <p:nvPr/>
        </p:nvSpPr>
        <p:spPr>
          <a:xfrm>
            <a:off x="6811631" y="2194560"/>
            <a:ext cx="2435696" cy="438912"/>
          </a:xfrm>
          <a:prstGeom prst="rect">
            <a:avLst/>
          </a:prstGeom>
          <a:noFill/>
          <a:ln/>
        </p:spPr>
        <p:txBody>
          <a:bodyPr wrap="square" lIns="0" tIns="0" rIns="0" bIns="0" rtlCol="0" anchor="ctr"/>
          <a:lstStyle/>
          <a:p>
            <a:pPr indent="0" marL="0">
              <a:buNone/>
            </a:pPr>
            <a:endParaRPr lang="en-US" sz="1300" dirty="0"/>
          </a:p>
        </p:txBody>
      </p:sp>
      <p:sp>
        <p:nvSpPr>
          <p:cNvPr id="14" name="Text 11"/>
          <p:cNvSpPr txBox="1"/>
          <p:nvPr/>
        </p:nvSpPr>
        <p:spPr>
          <a:xfrm>
            <a:off x="9247327" y="2194560"/>
            <a:ext cx="1133856" cy="438912"/>
          </a:xfrm>
          <a:prstGeom prst="rect">
            <a:avLst/>
          </a:prstGeom>
          <a:noFill/>
          <a:ln/>
        </p:spPr>
        <p:txBody>
          <a:bodyPr wrap="square" lIns="0" tIns="0" rIns="0" bIns="0" rtlCol="0" anchor="ctr"/>
          <a:lstStyle/>
          <a:p>
            <a:pPr algn="r" indent="0" marL="0">
              <a:buNone/>
            </a:pPr>
            <a:r>
              <a:rPr lang="en-US" sz="1300" b="1" dirty="0">
                <a:solidFill>
                  <a:srgbClr val="858D9B"/>
                </a:solidFill>
                <a:latin typeface="Arial" pitchFamily="34" charset="0"/>
                <a:ea typeface="Arial" pitchFamily="34" charset="-122"/>
                <a:cs typeface="Arial" pitchFamily="34" charset="-120"/>
              </a:rPr>
              <a:t>PILOT</a:t>
            </a:r>
            <a:endParaRPr lang="en-US" sz="1300" dirty="0"/>
          </a:p>
        </p:txBody>
      </p:sp>
      <p:sp>
        <p:nvSpPr>
          <p:cNvPr id="15" name="Text 12"/>
          <p:cNvSpPr txBox="1"/>
          <p:nvPr/>
        </p:nvSpPr>
        <p:spPr>
          <a:xfrm>
            <a:off x="10436047" y="2194560"/>
            <a:ext cx="1133856" cy="438912"/>
          </a:xfrm>
          <a:prstGeom prst="rect">
            <a:avLst/>
          </a:prstGeom>
          <a:noFill/>
          <a:ln/>
        </p:spPr>
        <p:txBody>
          <a:bodyPr wrap="square" lIns="0" tIns="0" rIns="0" bIns="0" rtlCol="0" anchor="ctr"/>
          <a:lstStyle/>
          <a:p>
            <a:pPr algn="r" indent="0" marL="0">
              <a:buNone/>
            </a:pPr>
            <a:r>
              <a:rPr lang="en-US" sz="1300" b="1" dirty="0">
                <a:solidFill>
                  <a:srgbClr val="858D9B"/>
                </a:solidFill>
                <a:latin typeface="Arial" pitchFamily="34" charset="0"/>
                <a:ea typeface="Arial" pitchFamily="34" charset="-122"/>
                <a:cs typeface="Arial" pitchFamily="34" charset="-120"/>
              </a:rPr>
              <a:t>FULL</a:t>
            </a:r>
            <a:endParaRPr lang="en-US" sz="1300" dirty="0"/>
          </a:p>
        </p:txBody>
      </p:sp>
      <p:sp>
        <p:nvSpPr>
          <p:cNvPr id="16" name="Text 13"/>
          <p:cNvSpPr txBox="1"/>
          <p:nvPr/>
        </p:nvSpPr>
        <p:spPr>
          <a:xfrm>
            <a:off x="6811631" y="2706624"/>
            <a:ext cx="2435696" cy="438912"/>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Payback — expected</a:t>
            </a:r>
            <a:endParaRPr lang="en-US" sz="1500" dirty="0"/>
          </a:p>
        </p:txBody>
      </p:sp>
      <p:sp>
        <p:nvSpPr>
          <p:cNvPr id="17" name="Text 14"/>
          <p:cNvSpPr txBox="1"/>
          <p:nvPr/>
        </p:nvSpPr>
        <p:spPr>
          <a:xfrm>
            <a:off x="9247327" y="2706624"/>
            <a:ext cx="1133856" cy="438912"/>
          </a:xfrm>
          <a:prstGeom prst="rect">
            <a:avLst/>
          </a:prstGeom>
          <a:noFill/>
          <a:ln/>
        </p:spPr>
        <p:txBody>
          <a:bodyPr wrap="square" lIns="0" tIns="0" rIns="0" bIns="0" rtlCol="0" anchor="ctr"/>
          <a:lstStyle/>
          <a:p>
            <a:pPr algn="r" indent="0" marL="0">
              <a:buNone/>
            </a:pPr>
            <a:r>
              <a:rPr lang="en-US" sz="1900" b="1" dirty="0">
                <a:solidFill>
                  <a:srgbClr val="222834"/>
                </a:solidFill>
                <a:latin typeface="Arial" pitchFamily="34" charset="0"/>
                <a:ea typeface="Arial" pitchFamily="34" charset="-122"/>
                <a:cs typeface="Arial" pitchFamily="34" charset="-120"/>
              </a:rPr>
              <a:t>13 mo</a:t>
            </a:r>
            <a:endParaRPr lang="en-US" sz="1900" dirty="0"/>
          </a:p>
        </p:txBody>
      </p:sp>
      <p:sp>
        <p:nvSpPr>
          <p:cNvPr id="18" name="Text 15"/>
          <p:cNvSpPr txBox="1"/>
          <p:nvPr/>
        </p:nvSpPr>
        <p:spPr>
          <a:xfrm>
            <a:off x="10436047" y="2706624"/>
            <a:ext cx="1133856" cy="438912"/>
          </a:xfrm>
          <a:prstGeom prst="rect">
            <a:avLst/>
          </a:prstGeom>
          <a:noFill/>
          <a:ln/>
        </p:spPr>
        <p:txBody>
          <a:bodyPr wrap="square" lIns="0" tIns="0" rIns="0" bIns="0" rtlCol="0" anchor="ctr"/>
          <a:lstStyle/>
          <a:p>
            <a:pPr algn="r" indent="0" marL="0">
              <a:buNone/>
            </a:pPr>
            <a:r>
              <a:rPr lang="en-US" sz="1900" b="1" dirty="0">
                <a:solidFill>
                  <a:srgbClr val="0E7C66"/>
                </a:solidFill>
                <a:latin typeface="Arial" pitchFamily="34" charset="0"/>
                <a:ea typeface="Arial" pitchFamily="34" charset="-122"/>
                <a:cs typeface="Arial" pitchFamily="34" charset="-120"/>
              </a:rPr>
              <a:t>6 mo</a:t>
            </a:r>
            <a:endParaRPr lang="en-US" sz="1900" dirty="0"/>
          </a:p>
        </p:txBody>
      </p:sp>
      <p:sp>
        <p:nvSpPr>
          <p:cNvPr id="19" name="Shape 16"/>
          <p:cNvSpPr/>
          <p:nvPr/>
        </p:nvSpPr>
        <p:spPr>
          <a:xfrm>
            <a:off x="6811631" y="3163824"/>
            <a:ext cx="4813136" cy="0"/>
          </a:xfrm>
          <a:prstGeom prst="line">
            <a:avLst/>
          </a:prstGeom>
          <a:noFill/>
          <a:ln w="12700">
            <a:solidFill>
              <a:srgbClr val="E7E1D7"/>
            </a:solidFill>
            <a:prstDash val="solid"/>
          </a:ln>
        </p:spPr>
      </p:sp>
      <p:sp>
        <p:nvSpPr>
          <p:cNvPr id="20" name="Text 17"/>
          <p:cNvSpPr txBox="1"/>
          <p:nvPr/>
        </p:nvSpPr>
        <p:spPr>
          <a:xfrm>
            <a:off x="6811631" y="3218688"/>
            <a:ext cx="2435696" cy="438912"/>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Payback — floor</a:t>
            </a:r>
            <a:endParaRPr lang="en-US" sz="1500" dirty="0"/>
          </a:p>
        </p:txBody>
      </p:sp>
      <p:sp>
        <p:nvSpPr>
          <p:cNvPr id="21" name="Text 18"/>
          <p:cNvSpPr txBox="1"/>
          <p:nvPr/>
        </p:nvSpPr>
        <p:spPr>
          <a:xfrm>
            <a:off x="9247327" y="3218688"/>
            <a:ext cx="1133856" cy="438912"/>
          </a:xfrm>
          <a:prstGeom prst="rect">
            <a:avLst/>
          </a:prstGeom>
          <a:noFill/>
          <a:ln/>
        </p:spPr>
        <p:txBody>
          <a:bodyPr wrap="square" lIns="0" tIns="0" rIns="0" bIns="0" rtlCol="0" anchor="ctr"/>
          <a:lstStyle/>
          <a:p>
            <a:pPr algn="r" indent="0" marL="0">
              <a:buNone/>
            </a:pPr>
            <a:r>
              <a:rPr lang="en-US" sz="1900" b="1" dirty="0">
                <a:solidFill>
                  <a:srgbClr val="222834"/>
                </a:solidFill>
                <a:latin typeface="Arial" pitchFamily="34" charset="0"/>
                <a:ea typeface="Arial" pitchFamily="34" charset="-122"/>
                <a:cs typeface="Arial" pitchFamily="34" charset="-120"/>
              </a:rPr>
              <a:t>43 mo</a:t>
            </a:r>
            <a:endParaRPr lang="en-US" sz="1900" dirty="0"/>
          </a:p>
        </p:txBody>
      </p:sp>
      <p:sp>
        <p:nvSpPr>
          <p:cNvPr id="22" name="Text 19"/>
          <p:cNvSpPr txBox="1"/>
          <p:nvPr/>
        </p:nvSpPr>
        <p:spPr>
          <a:xfrm>
            <a:off x="10436047" y="3218688"/>
            <a:ext cx="1133856" cy="438912"/>
          </a:xfrm>
          <a:prstGeom prst="rect">
            <a:avLst/>
          </a:prstGeom>
          <a:noFill/>
          <a:ln/>
        </p:spPr>
        <p:txBody>
          <a:bodyPr wrap="square" lIns="0" tIns="0" rIns="0" bIns="0" rtlCol="0" anchor="ctr"/>
          <a:lstStyle/>
          <a:p>
            <a:pPr algn="r" indent="0" marL="0">
              <a:buNone/>
            </a:pPr>
            <a:r>
              <a:rPr lang="en-US" sz="1900" b="1" dirty="0">
                <a:solidFill>
                  <a:srgbClr val="0E7C66"/>
                </a:solidFill>
                <a:latin typeface="Arial" pitchFamily="34" charset="0"/>
                <a:ea typeface="Arial" pitchFamily="34" charset="-122"/>
                <a:cs typeface="Arial" pitchFamily="34" charset="-120"/>
              </a:rPr>
              <a:t>18 mo</a:t>
            </a:r>
            <a:endParaRPr lang="en-US" sz="1900" dirty="0"/>
          </a:p>
        </p:txBody>
      </p:sp>
      <p:sp>
        <p:nvSpPr>
          <p:cNvPr id="23" name="Shape 20"/>
          <p:cNvSpPr/>
          <p:nvPr/>
        </p:nvSpPr>
        <p:spPr>
          <a:xfrm>
            <a:off x="6811631" y="3675888"/>
            <a:ext cx="4813136" cy="0"/>
          </a:xfrm>
          <a:prstGeom prst="line">
            <a:avLst/>
          </a:prstGeom>
          <a:noFill/>
          <a:ln w="12700">
            <a:solidFill>
              <a:srgbClr val="E7E1D7"/>
            </a:solidFill>
            <a:prstDash val="solid"/>
          </a:ln>
        </p:spPr>
      </p:sp>
      <p:sp>
        <p:nvSpPr>
          <p:cNvPr id="24" name="Text 21"/>
          <p:cNvSpPr txBox="1"/>
          <p:nvPr/>
        </p:nvSpPr>
        <p:spPr>
          <a:xfrm>
            <a:off x="6811631" y="3730752"/>
            <a:ext cx="2435696" cy="438912"/>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Benefit–cost — expected</a:t>
            </a:r>
            <a:endParaRPr lang="en-US" sz="1500" dirty="0"/>
          </a:p>
        </p:txBody>
      </p:sp>
      <p:sp>
        <p:nvSpPr>
          <p:cNvPr id="25" name="Text 22"/>
          <p:cNvSpPr txBox="1"/>
          <p:nvPr/>
        </p:nvSpPr>
        <p:spPr>
          <a:xfrm>
            <a:off x="9247327" y="3730752"/>
            <a:ext cx="1133856" cy="438912"/>
          </a:xfrm>
          <a:prstGeom prst="rect">
            <a:avLst/>
          </a:prstGeom>
          <a:noFill/>
          <a:ln/>
        </p:spPr>
        <p:txBody>
          <a:bodyPr wrap="square" lIns="0" tIns="0" rIns="0" bIns="0" rtlCol="0" anchor="ctr"/>
          <a:lstStyle/>
          <a:p>
            <a:pPr algn="r" indent="0" marL="0">
              <a:buNone/>
            </a:pPr>
            <a:r>
              <a:rPr lang="en-US" sz="1900" b="1" dirty="0">
                <a:solidFill>
                  <a:srgbClr val="222834"/>
                </a:solidFill>
                <a:latin typeface="Arial" pitchFamily="34" charset="0"/>
                <a:ea typeface="Arial" pitchFamily="34" charset="-122"/>
                <a:cs typeface="Arial" pitchFamily="34" charset="-120"/>
              </a:rPr>
              <a:t>4.4</a:t>
            </a:r>
            <a:endParaRPr lang="en-US" sz="1900" dirty="0"/>
          </a:p>
        </p:txBody>
      </p:sp>
      <p:sp>
        <p:nvSpPr>
          <p:cNvPr id="26" name="Text 23"/>
          <p:cNvSpPr txBox="1"/>
          <p:nvPr/>
        </p:nvSpPr>
        <p:spPr>
          <a:xfrm>
            <a:off x="10436047" y="3730752"/>
            <a:ext cx="1133856" cy="438912"/>
          </a:xfrm>
          <a:prstGeom prst="rect">
            <a:avLst/>
          </a:prstGeom>
          <a:noFill/>
          <a:ln/>
        </p:spPr>
        <p:txBody>
          <a:bodyPr wrap="square" lIns="0" tIns="0" rIns="0" bIns="0" rtlCol="0" anchor="ctr"/>
          <a:lstStyle/>
          <a:p>
            <a:pPr algn="r" indent="0" marL="0">
              <a:buNone/>
            </a:pPr>
            <a:r>
              <a:rPr lang="en-US" sz="1900" b="1" dirty="0">
                <a:solidFill>
                  <a:srgbClr val="0E7C66"/>
                </a:solidFill>
                <a:latin typeface="Arial" pitchFamily="34" charset="0"/>
                <a:ea typeface="Arial" pitchFamily="34" charset="-122"/>
                <a:cs typeface="Arial" pitchFamily="34" charset="-120"/>
              </a:rPr>
              <a:t>9.7</a:t>
            </a:r>
            <a:endParaRPr lang="en-US" sz="1900" dirty="0"/>
          </a:p>
        </p:txBody>
      </p:sp>
      <p:sp>
        <p:nvSpPr>
          <p:cNvPr id="27" name="Shape 24"/>
          <p:cNvSpPr/>
          <p:nvPr/>
        </p:nvSpPr>
        <p:spPr>
          <a:xfrm>
            <a:off x="6811631" y="4187952"/>
            <a:ext cx="4813136" cy="0"/>
          </a:xfrm>
          <a:prstGeom prst="line">
            <a:avLst/>
          </a:prstGeom>
          <a:noFill/>
          <a:ln w="12700">
            <a:solidFill>
              <a:srgbClr val="E7E1D7"/>
            </a:solidFill>
            <a:prstDash val="solid"/>
          </a:ln>
        </p:spPr>
      </p:sp>
      <p:sp>
        <p:nvSpPr>
          <p:cNvPr id="28" name="Shape 25"/>
          <p:cNvSpPr/>
          <p:nvPr/>
        </p:nvSpPr>
        <p:spPr>
          <a:xfrm>
            <a:off x="6683615" y="4215384"/>
            <a:ext cx="5069168" cy="493776"/>
          </a:xfrm>
          <a:prstGeom prst="roundRect">
            <a:avLst>
              <a:gd name="adj" fmla="val 7407"/>
            </a:avLst>
          </a:prstGeom>
          <a:solidFill>
            <a:srgbClr val="FBF2E0"/>
          </a:solidFill>
          <a:ln w="12700">
            <a:solidFill>
              <a:srgbClr val="333333"/>
            </a:solidFill>
            <a:prstDash val="solid"/>
          </a:ln>
        </p:spPr>
      </p:sp>
      <p:sp>
        <p:nvSpPr>
          <p:cNvPr id="29" name="Text 26"/>
          <p:cNvSpPr txBox="1"/>
          <p:nvPr/>
        </p:nvSpPr>
        <p:spPr>
          <a:xfrm>
            <a:off x="6811631" y="4242816"/>
            <a:ext cx="2435696" cy="438912"/>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Benefit–cost — floor</a:t>
            </a:r>
            <a:endParaRPr lang="en-US" sz="1500" dirty="0"/>
          </a:p>
        </p:txBody>
      </p:sp>
      <p:sp>
        <p:nvSpPr>
          <p:cNvPr id="30" name="Text 27"/>
          <p:cNvSpPr txBox="1"/>
          <p:nvPr/>
        </p:nvSpPr>
        <p:spPr>
          <a:xfrm>
            <a:off x="9247327" y="4242816"/>
            <a:ext cx="1133856" cy="438912"/>
          </a:xfrm>
          <a:prstGeom prst="rect">
            <a:avLst/>
          </a:prstGeom>
          <a:noFill/>
          <a:ln/>
        </p:spPr>
        <p:txBody>
          <a:bodyPr wrap="square" lIns="0" tIns="0" rIns="0" bIns="0" rtlCol="0" anchor="ctr"/>
          <a:lstStyle/>
          <a:p>
            <a:pPr algn="r" indent="0" marL="0">
              <a:buNone/>
            </a:pPr>
            <a:r>
              <a:rPr lang="en-US" sz="1900" b="1" dirty="0">
                <a:solidFill>
                  <a:srgbClr val="9E6B12"/>
                </a:solidFill>
                <a:latin typeface="Arial" pitchFamily="34" charset="0"/>
                <a:ea typeface="Arial" pitchFamily="34" charset="-122"/>
                <a:cs typeface="Arial" pitchFamily="34" charset="-120"/>
              </a:rPr>
              <a:t>0.8</a:t>
            </a:r>
            <a:endParaRPr lang="en-US" sz="1900" dirty="0"/>
          </a:p>
        </p:txBody>
      </p:sp>
      <p:sp>
        <p:nvSpPr>
          <p:cNvPr id="31" name="Text 28"/>
          <p:cNvSpPr txBox="1"/>
          <p:nvPr/>
        </p:nvSpPr>
        <p:spPr>
          <a:xfrm>
            <a:off x="10436047" y="4242816"/>
            <a:ext cx="1133856" cy="438912"/>
          </a:xfrm>
          <a:prstGeom prst="rect">
            <a:avLst/>
          </a:prstGeom>
          <a:noFill/>
          <a:ln/>
        </p:spPr>
        <p:txBody>
          <a:bodyPr wrap="square" lIns="0" tIns="0" rIns="0" bIns="0" rtlCol="0" anchor="ctr"/>
          <a:lstStyle/>
          <a:p>
            <a:pPr algn="r" indent="0" marL="0">
              <a:buNone/>
            </a:pPr>
            <a:r>
              <a:rPr lang="en-US" sz="1900" b="1" dirty="0">
                <a:solidFill>
                  <a:srgbClr val="9E6B12"/>
                </a:solidFill>
                <a:latin typeface="Arial" pitchFamily="34" charset="0"/>
                <a:ea typeface="Arial" pitchFamily="34" charset="-122"/>
                <a:cs typeface="Arial" pitchFamily="34" charset="-120"/>
              </a:rPr>
              <a:t>1.8</a:t>
            </a:r>
            <a:endParaRPr lang="en-US" sz="1900" dirty="0"/>
          </a:p>
        </p:txBody>
      </p:sp>
      <p:sp>
        <p:nvSpPr>
          <p:cNvPr id="32" name="Shape 29"/>
          <p:cNvSpPr/>
          <p:nvPr/>
        </p:nvSpPr>
        <p:spPr>
          <a:xfrm>
            <a:off x="6811631" y="4773168"/>
            <a:ext cx="4813136" cy="713232"/>
          </a:xfrm>
          <a:prstGeom prst="roundRect">
            <a:avLst>
              <a:gd name="adj" fmla="val 5128"/>
            </a:avLst>
          </a:prstGeom>
          <a:solidFill>
            <a:srgbClr val="FFFFFF"/>
          </a:solidFill>
          <a:ln w="12700">
            <a:solidFill>
              <a:srgbClr val="333333"/>
            </a:solidFill>
            <a:prstDash val="solid"/>
          </a:ln>
        </p:spPr>
      </p:sp>
      <p:sp>
        <p:nvSpPr>
          <p:cNvPr id="33" name="Shape 30"/>
          <p:cNvSpPr/>
          <p:nvPr/>
        </p:nvSpPr>
        <p:spPr>
          <a:xfrm>
            <a:off x="6811631" y="4773168"/>
            <a:ext cx="4813136" cy="713232"/>
          </a:xfrm>
          <a:prstGeom prst="roundRect">
            <a:avLst>
              <a:gd name="adj" fmla="val 5128"/>
            </a:avLst>
          </a:prstGeom>
          <a:solidFill>
            <a:srgbClr val="FFFFFF"/>
          </a:solidFill>
          <a:ln w="12700">
            <a:solidFill>
              <a:srgbClr val="9E6B12"/>
            </a:solidFill>
            <a:prstDash val="solid"/>
          </a:ln>
        </p:spPr>
      </p:sp>
      <p:sp>
        <p:nvSpPr>
          <p:cNvPr id="34" name="Text 31"/>
          <p:cNvSpPr txBox="1"/>
          <p:nvPr/>
        </p:nvSpPr>
        <p:spPr>
          <a:xfrm>
            <a:off x="7049375" y="4773168"/>
            <a:ext cx="4337648" cy="713232"/>
          </a:xfrm>
          <a:prstGeom prst="rect">
            <a:avLst/>
          </a:prstGeom>
          <a:noFill/>
          <a:ln/>
        </p:spPr>
        <p:txBody>
          <a:bodyPr wrap="square" lIns="0" tIns="0" rIns="0" bIns="0" rtlCol="0" anchor="ctr"/>
          <a:lstStyle/>
          <a:p>
            <a:pPr indent="0" marL="0">
              <a:lnSpc>
                <a:spcPts val="1900"/>
              </a:lnSpc>
              <a:buNone/>
            </a:pPr>
            <a:r>
              <a:rPr lang="en-US" sz="1450" b="1" dirty="0">
                <a:solidFill>
                  <a:srgbClr val="9E6B12"/>
                </a:solidFill>
                <a:latin typeface="Arial" pitchFamily="34" charset="0"/>
                <a:ea typeface="Arial" pitchFamily="34" charset="-122"/>
                <a:cs typeface="Arial" pitchFamily="34" charset="-120"/>
              </a:rPr>
              <a:t>The pilot does not clear on measured benefit alone. </a:t>
            </a:r>
            <a:pPr indent="0" marL="0">
              <a:lnSpc>
                <a:spcPts val="1900"/>
              </a:lnSpc>
              <a:buNone/>
            </a:pPr>
            <a:r>
              <a:rPr lang="en-US" sz="1450" dirty="0">
                <a:solidFill>
                  <a:srgbClr val="4B5363"/>
                </a:solidFill>
                <a:latin typeface="Arial" pitchFamily="34" charset="0"/>
                <a:ea typeface="Arial" pitchFamily="34" charset="-122"/>
                <a:cs typeface="Arial" pitchFamily="34" charset="-120"/>
              </a:rPr>
              <a:t>BCR 0.8, NPV −₱0.42M. The rollout does, at 1.8.</a:t>
            </a:r>
            <a:endParaRPr lang="en-US" sz="1450" dirty="0"/>
          </a:p>
        </p:txBody>
      </p:sp>
      <p:sp>
        <p:nvSpPr>
          <p:cNvPr id="35" name="Shape 32"/>
          <p:cNvSpPr/>
          <p:nvPr/>
        </p:nvSpPr>
        <p:spPr>
          <a:xfrm>
            <a:off x="6811631" y="5577840"/>
            <a:ext cx="4813136" cy="548640"/>
          </a:xfrm>
          <a:prstGeom prst="roundRect">
            <a:avLst>
              <a:gd name="adj" fmla="val 6667"/>
            </a:avLst>
          </a:prstGeom>
          <a:solidFill>
            <a:srgbClr val="FDF0F0"/>
          </a:solidFill>
          <a:ln w="12700">
            <a:solidFill>
              <a:srgbClr val="333333"/>
            </a:solidFill>
            <a:prstDash val="solid"/>
          </a:ln>
        </p:spPr>
      </p:sp>
      <p:sp>
        <p:nvSpPr>
          <p:cNvPr id="36" name="Text 33"/>
          <p:cNvSpPr txBox="1"/>
          <p:nvPr/>
        </p:nvSpPr>
        <p:spPr>
          <a:xfrm>
            <a:off x="7049375" y="5577840"/>
            <a:ext cx="4337648" cy="548640"/>
          </a:xfrm>
          <a:prstGeom prst="rect">
            <a:avLst/>
          </a:prstGeom>
          <a:noFill/>
          <a:ln/>
        </p:spPr>
        <p:txBody>
          <a:bodyPr wrap="square" lIns="0" tIns="0" rIns="0" bIns="0" rtlCol="0" anchor="ctr"/>
          <a:lstStyle/>
          <a:p>
            <a:pPr indent="0" marL="0">
              <a:buNone/>
            </a:pPr>
            <a:r>
              <a:rPr lang="en-US" sz="1450" b="1" dirty="0">
                <a:solidFill>
                  <a:srgbClr val="C00000"/>
                </a:solidFill>
                <a:latin typeface="Arial" pitchFamily="34" charset="0"/>
                <a:ea typeface="Arial" pitchFamily="34" charset="-122"/>
                <a:cs typeface="Arial" pitchFamily="34" charset="-120"/>
              </a:rPr>
              <a:t>So the pilot is not the cheap option. It is the evidence.</a:t>
            </a:r>
            <a:endParaRPr lang="en-US" sz="1450" dirty="0"/>
          </a:p>
        </p:txBody>
      </p:sp>
      <p:sp>
        <p:nvSpPr>
          <p:cNvPr id="37" name="Text 34"/>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Build costed by IT in man-hours, excluding AI. ₱61 = US$1, 10% discount. Benefit starts month 4, ramped to 40% through year 1.</a:t>
            </a:r>
            <a:endParaRPr lang="en-US" sz="1400" dirty="0"/>
          </a:p>
        </p:txBody>
      </p:sp>
      <p:sp>
        <p:nvSpPr>
          <p:cNvPr id="38" name="Text 3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HOW IT RUNS</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Where the data comes from, and where it stops.</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No new system of record. Growth reads from what we already run, and writes back one field.</a:t>
            </a:r>
            <a:endParaRPr lang="en-US" sz="1600" dirty="0"/>
          </a:p>
        </p:txBody>
      </p:sp>
      <p:sp>
        <p:nvSpPr>
          <p:cNvPr id="6" name="Shape 4"/>
          <p:cNvSpPr/>
          <p:nvPr/>
        </p:nvSpPr>
        <p:spPr>
          <a:xfrm>
            <a:off x="566928" y="1883664"/>
            <a:ext cx="2613584" cy="3401568"/>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7" name="Shape 5"/>
          <p:cNvSpPr/>
          <p:nvPr/>
        </p:nvSpPr>
        <p:spPr>
          <a:xfrm>
            <a:off x="566928" y="1883664"/>
            <a:ext cx="2613584" cy="68580"/>
          </a:xfrm>
          <a:prstGeom prst="rect">
            <a:avLst/>
          </a:prstGeom>
          <a:solidFill>
            <a:srgbClr val="C00000"/>
          </a:solidFill>
          <a:ln w="12700">
            <a:solidFill>
              <a:srgbClr val="333333"/>
            </a:solidFill>
            <a:prstDash val="solid"/>
          </a:ln>
        </p:spPr>
      </p:sp>
      <p:sp>
        <p:nvSpPr>
          <p:cNvPr id="8" name="Text 6"/>
          <p:cNvSpPr txBox="1"/>
          <p:nvPr/>
        </p:nvSpPr>
        <p:spPr>
          <a:xfrm>
            <a:off x="786384" y="2048256"/>
            <a:ext cx="2174672" cy="237744"/>
          </a:xfrm>
          <a:prstGeom prst="rect">
            <a:avLst/>
          </a:prstGeom>
          <a:noFill/>
          <a:ln/>
        </p:spPr>
        <p:txBody>
          <a:bodyPr wrap="square" lIns="0" tIns="0" rIns="0" bIns="0" rtlCol="0" anchor="ctr"/>
          <a:lstStyle/>
          <a:p>
            <a:pPr indent="0" marL="0">
              <a:buNone/>
            </a:pPr>
            <a:r>
              <a:rPr lang="en-US" sz="1400" b="1" spc="160" kern="0" dirty="0">
                <a:solidFill>
                  <a:srgbClr val="C00000"/>
                </a:solidFill>
                <a:latin typeface="Arial" pitchFamily="34" charset="0"/>
                <a:ea typeface="Arial" pitchFamily="34" charset="-122"/>
                <a:cs typeface="Arial" pitchFamily="34" charset="-120"/>
              </a:rPr>
              <a:t>SOURCES</a:t>
            </a:r>
            <a:endParaRPr lang="en-US" sz="1400" dirty="0"/>
          </a:p>
        </p:txBody>
      </p:sp>
      <p:sp>
        <p:nvSpPr>
          <p:cNvPr id="9" name="Text 7"/>
          <p:cNvSpPr txBox="1"/>
          <p:nvPr/>
        </p:nvSpPr>
        <p:spPr>
          <a:xfrm>
            <a:off x="786384" y="2395728"/>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HRIS</a:t>
            </a:r>
            <a:endParaRPr lang="en-US" sz="1450" dirty="0"/>
          </a:p>
        </p:txBody>
      </p:sp>
      <p:sp>
        <p:nvSpPr>
          <p:cNvPr id="10" name="Text 8"/>
          <p:cNvSpPr txBox="1"/>
          <p:nvPr/>
        </p:nvSpPr>
        <p:spPr>
          <a:xfrm>
            <a:off x="786384" y="2615184"/>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Band, function, manager. Nightly.</a:t>
            </a:r>
            <a:endParaRPr lang="en-US" sz="1400" dirty="0"/>
          </a:p>
        </p:txBody>
      </p:sp>
      <p:sp>
        <p:nvSpPr>
          <p:cNvPr id="11" name="Text 9"/>
          <p:cNvSpPr txBox="1"/>
          <p:nvPr/>
        </p:nvSpPr>
        <p:spPr>
          <a:xfrm>
            <a:off x="786384" y="3090672"/>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MyDevelopment</a:t>
            </a:r>
            <a:endParaRPr lang="en-US" sz="1450" dirty="0"/>
          </a:p>
        </p:txBody>
      </p:sp>
      <p:sp>
        <p:nvSpPr>
          <p:cNvPr id="12" name="Text 10"/>
          <p:cNvSpPr txBox="1"/>
          <p:nvPr/>
        </p:nvSpPr>
        <p:spPr>
          <a:xfrm>
            <a:off x="786384" y="3310128"/>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Learning and LinkedIn seed skills.</a:t>
            </a:r>
            <a:endParaRPr lang="en-US" sz="1400" dirty="0"/>
          </a:p>
        </p:txBody>
      </p:sp>
      <p:sp>
        <p:nvSpPr>
          <p:cNvPr id="13" name="Text 11"/>
          <p:cNvSpPr txBox="1"/>
          <p:nvPr/>
        </p:nvSpPr>
        <p:spPr>
          <a:xfrm>
            <a:off x="786384" y="3785616"/>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HC Connect</a:t>
            </a:r>
            <a:endParaRPr lang="en-US" sz="1450" dirty="0"/>
          </a:p>
        </p:txBody>
      </p:sp>
      <p:sp>
        <p:nvSpPr>
          <p:cNvPr id="14" name="Text 12"/>
          <p:cNvSpPr txBox="1"/>
          <p:nvPr/>
        </p:nvSpPr>
        <p:spPr>
          <a:xfrm>
            <a:off x="786384" y="4005072"/>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Open vacancies onto the shelf.</a:t>
            </a:r>
            <a:endParaRPr lang="en-US" sz="1400" dirty="0"/>
          </a:p>
        </p:txBody>
      </p:sp>
      <p:sp>
        <p:nvSpPr>
          <p:cNvPr id="15" name="Text 13"/>
          <p:cNvSpPr txBox="1"/>
          <p:nvPr/>
        </p:nvSpPr>
        <p:spPr>
          <a:xfrm>
            <a:off x="786384" y="4480560"/>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People</a:t>
            </a:r>
            <a:endParaRPr lang="en-US" sz="1450" dirty="0"/>
          </a:p>
        </p:txBody>
      </p:sp>
      <p:sp>
        <p:nvSpPr>
          <p:cNvPr id="16" name="Text 14"/>
          <p:cNvSpPr txBox="1"/>
          <p:nvPr/>
        </p:nvSpPr>
        <p:spPr>
          <a:xfrm>
            <a:off x="786384" y="4700016"/>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Employees correct. Managers post.</a:t>
            </a:r>
            <a:endParaRPr lang="en-US" sz="1400" dirty="0"/>
          </a:p>
        </p:txBody>
      </p:sp>
      <p:sp>
        <p:nvSpPr>
          <p:cNvPr id="17" name="Text 15"/>
          <p:cNvSpPr txBox="1"/>
          <p:nvPr/>
        </p:nvSpPr>
        <p:spPr>
          <a:xfrm>
            <a:off x="3198800" y="3401568"/>
            <a:ext cx="164592" cy="365760"/>
          </a:xfrm>
          <a:prstGeom prst="rect">
            <a:avLst/>
          </a:prstGeom>
          <a:noFill/>
          <a:ln/>
        </p:spPr>
        <p:txBody>
          <a:bodyPr wrap="square" lIns="0" tIns="0" rIns="0" bIns="0" rtlCol="0" anchor="ctr"/>
          <a:lstStyle/>
          <a:p>
            <a:pPr algn="ctr" indent="0" marL="0">
              <a:buNone/>
            </a:pPr>
            <a:r>
              <a:rPr lang="en-US" sz="2600" b="1" dirty="0">
                <a:solidFill>
                  <a:srgbClr val="C4BCAE"/>
                </a:solidFill>
                <a:latin typeface="Arial" pitchFamily="34" charset="0"/>
                <a:ea typeface="Arial" pitchFamily="34" charset="-122"/>
                <a:cs typeface="Arial" pitchFamily="34" charset="-120"/>
              </a:rPr>
              <a:t>›</a:t>
            </a:r>
            <a:endParaRPr lang="en-US" sz="2600" dirty="0"/>
          </a:p>
        </p:txBody>
      </p:sp>
      <p:sp>
        <p:nvSpPr>
          <p:cNvPr id="18" name="Shape 16"/>
          <p:cNvSpPr/>
          <p:nvPr/>
        </p:nvSpPr>
        <p:spPr>
          <a:xfrm>
            <a:off x="3381680" y="1883664"/>
            <a:ext cx="2613584" cy="3401568"/>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9" name="Shape 17"/>
          <p:cNvSpPr/>
          <p:nvPr/>
        </p:nvSpPr>
        <p:spPr>
          <a:xfrm>
            <a:off x="3381680" y="1883664"/>
            <a:ext cx="2613584" cy="68580"/>
          </a:xfrm>
          <a:prstGeom prst="rect">
            <a:avLst/>
          </a:prstGeom>
          <a:solidFill>
            <a:srgbClr val="5A6473"/>
          </a:solidFill>
          <a:ln w="12700">
            <a:solidFill>
              <a:srgbClr val="333333"/>
            </a:solidFill>
            <a:prstDash val="solid"/>
          </a:ln>
        </p:spPr>
      </p:sp>
      <p:sp>
        <p:nvSpPr>
          <p:cNvPr id="20" name="Text 18"/>
          <p:cNvSpPr txBox="1"/>
          <p:nvPr/>
        </p:nvSpPr>
        <p:spPr>
          <a:xfrm>
            <a:off x="3601136" y="2048256"/>
            <a:ext cx="2174672" cy="237744"/>
          </a:xfrm>
          <a:prstGeom prst="rect">
            <a:avLst/>
          </a:prstGeom>
          <a:noFill/>
          <a:ln/>
        </p:spPr>
        <p:txBody>
          <a:bodyPr wrap="square" lIns="0" tIns="0" rIns="0" bIns="0" rtlCol="0" anchor="ctr"/>
          <a:lstStyle/>
          <a:p>
            <a:pPr indent="0" marL="0">
              <a:buNone/>
            </a:pPr>
            <a:r>
              <a:rPr lang="en-US" sz="1400" b="1" spc="160" kern="0" dirty="0">
                <a:solidFill>
                  <a:srgbClr val="5A6473"/>
                </a:solidFill>
                <a:latin typeface="Arial" pitchFamily="34" charset="0"/>
                <a:ea typeface="Arial" pitchFamily="34" charset="-122"/>
                <a:cs typeface="Arial" pitchFamily="34" charset="-120"/>
              </a:rPr>
              <a:t>STORE</a:t>
            </a:r>
            <a:endParaRPr lang="en-US" sz="1400" dirty="0"/>
          </a:p>
        </p:txBody>
      </p:sp>
      <p:sp>
        <p:nvSpPr>
          <p:cNvPr id="21" name="Text 19"/>
          <p:cNvSpPr txBox="1"/>
          <p:nvPr/>
        </p:nvSpPr>
        <p:spPr>
          <a:xfrm>
            <a:off x="3601136" y="2395728"/>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Supabase Postgres</a:t>
            </a:r>
            <a:endParaRPr lang="en-US" sz="1450" dirty="0"/>
          </a:p>
        </p:txBody>
      </p:sp>
      <p:sp>
        <p:nvSpPr>
          <p:cNvPr id="22" name="Text 20"/>
          <p:cNvSpPr txBox="1"/>
          <p:nvPr/>
        </p:nvSpPr>
        <p:spPr>
          <a:xfrm>
            <a:off x="3601136" y="2615184"/>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Encrypted in transit and at rest.</a:t>
            </a:r>
            <a:endParaRPr lang="en-US" sz="1400" dirty="0"/>
          </a:p>
        </p:txBody>
      </p:sp>
      <p:sp>
        <p:nvSpPr>
          <p:cNvPr id="23" name="Text 21"/>
          <p:cNvSpPr txBox="1"/>
          <p:nvPr/>
        </p:nvSpPr>
        <p:spPr>
          <a:xfrm>
            <a:off x="3601136" y="3090672"/>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Row-level security</a:t>
            </a:r>
            <a:endParaRPr lang="en-US" sz="1450" dirty="0"/>
          </a:p>
        </p:txBody>
      </p:sp>
      <p:sp>
        <p:nvSpPr>
          <p:cNvPr id="24" name="Text 22"/>
          <p:cNvSpPr txBox="1"/>
          <p:nvPr/>
        </p:nvSpPr>
        <p:spPr>
          <a:xfrm>
            <a:off x="3601136" y="3310128"/>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You see yours. A manager sees theirs.</a:t>
            </a:r>
            <a:endParaRPr lang="en-US" sz="1400" dirty="0"/>
          </a:p>
        </p:txBody>
      </p:sp>
      <p:sp>
        <p:nvSpPr>
          <p:cNvPr id="25" name="Text 23"/>
          <p:cNvSpPr txBox="1"/>
          <p:nvPr/>
        </p:nvSpPr>
        <p:spPr>
          <a:xfrm>
            <a:off x="3601136" y="3785616"/>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SSO via Azure AD</a:t>
            </a:r>
            <a:endParaRPr lang="en-US" sz="1450" dirty="0"/>
          </a:p>
        </p:txBody>
      </p:sp>
      <p:sp>
        <p:nvSpPr>
          <p:cNvPr id="26" name="Text 24"/>
          <p:cNvSpPr txBox="1"/>
          <p:nvPr/>
        </p:nvSpPr>
        <p:spPr>
          <a:xfrm>
            <a:off x="3601136" y="4005072"/>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No separate password or leaver process.</a:t>
            </a:r>
            <a:endParaRPr lang="en-US" sz="1400" dirty="0"/>
          </a:p>
        </p:txBody>
      </p:sp>
      <p:sp>
        <p:nvSpPr>
          <p:cNvPr id="27" name="Text 25"/>
          <p:cNvSpPr txBox="1"/>
          <p:nvPr/>
        </p:nvSpPr>
        <p:spPr>
          <a:xfrm>
            <a:off x="3601136" y="4480560"/>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Retention</a:t>
            </a:r>
            <a:endParaRPr lang="en-US" sz="1450" dirty="0"/>
          </a:p>
        </p:txBody>
      </p:sp>
      <p:sp>
        <p:nvSpPr>
          <p:cNvPr id="28" name="Text 26"/>
          <p:cNvSpPr txBox="1"/>
          <p:nvPr/>
        </p:nvSpPr>
        <p:spPr>
          <a:xfrm>
            <a:off x="3601136" y="4700016"/>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Profile +12 months. Log 24 months.</a:t>
            </a:r>
            <a:endParaRPr lang="en-US" sz="1400" dirty="0"/>
          </a:p>
        </p:txBody>
      </p:sp>
      <p:sp>
        <p:nvSpPr>
          <p:cNvPr id="29" name="Text 27"/>
          <p:cNvSpPr txBox="1"/>
          <p:nvPr/>
        </p:nvSpPr>
        <p:spPr>
          <a:xfrm>
            <a:off x="6013552" y="3401568"/>
            <a:ext cx="164592" cy="365760"/>
          </a:xfrm>
          <a:prstGeom prst="rect">
            <a:avLst/>
          </a:prstGeom>
          <a:noFill/>
          <a:ln/>
        </p:spPr>
        <p:txBody>
          <a:bodyPr wrap="square" lIns="0" tIns="0" rIns="0" bIns="0" rtlCol="0" anchor="ctr"/>
          <a:lstStyle/>
          <a:p>
            <a:pPr algn="ctr" indent="0" marL="0">
              <a:buNone/>
            </a:pPr>
            <a:r>
              <a:rPr lang="en-US" sz="2600" b="1" dirty="0">
                <a:solidFill>
                  <a:srgbClr val="C4BCAE"/>
                </a:solidFill>
                <a:latin typeface="Arial" pitchFamily="34" charset="0"/>
                <a:ea typeface="Arial" pitchFamily="34" charset="-122"/>
                <a:cs typeface="Arial" pitchFamily="34" charset="-120"/>
              </a:rPr>
              <a:t>›</a:t>
            </a:r>
            <a:endParaRPr lang="en-US" sz="2600" dirty="0"/>
          </a:p>
        </p:txBody>
      </p:sp>
      <p:sp>
        <p:nvSpPr>
          <p:cNvPr id="30" name="Shape 28"/>
          <p:cNvSpPr/>
          <p:nvPr/>
        </p:nvSpPr>
        <p:spPr>
          <a:xfrm>
            <a:off x="6196432" y="1883664"/>
            <a:ext cx="2613584" cy="3401568"/>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31" name="Shape 29"/>
          <p:cNvSpPr/>
          <p:nvPr/>
        </p:nvSpPr>
        <p:spPr>
          <a:xfrm>
            <a:off x="6196432" y="1883664"/>
            <a:ext cx="2613584" cy="68580"/>
          </a:xfrm>
          <a:prstGeom prst="rect">
            <a:avLst/>
          </a:prstGeom>
          <a:solidFill>
            <a:srgbClr val="9E6B12"/>
          </a:solidFill>
          <a:ln w="12700">
            <a:solidFill>
              <a:srgbClr val="333333"/>
            </a:solidFill>
            <a:prstDash val="solid"/>
          </a:ln>
        </p:spPr>
      </p:sp>
      <p:sp>
        <p:nvSpPr>
          <p:cNvPr id="32" name="Text 30"/>
          <p:cNvSpPr txBox="1"/>
          <p:nvPr/>
        </p:nvSpPr>
        <p:spPr>
          <a:xfrm>
            <a:off x="6415888" y="2048256"/>
            <a:ext cx="2174672" cy="237744"/>
          </a:xfrm>
          <a:prstGeom prst="rect">
            <a:avLst/>
          </a:prstGeom>
          <a:noFill/>
          <a:ln/>
        </p:spPr>
        <p:txBody>
          <a:bodyPr wrap="square" lIns="0" tIns="0" rIns="0" bIns="0" rtlCol="0" anchor="ctr"/>
          <a:lstStyle/>
          <a:p>
            <a:pPr indent="0" marL="0">
              <a:buNone/>
            </a:pPr>
            <a:r>
              <a:rPr lang="en-US" sz="1400" b="1" spc="160" kern="0" dirty="0">
                <a:solidFill>
                  <a:srgbClr val="9E6B12"/>
                </a:solidFill>
                <a:latin typeface="Arial" pitchFamily="34" charset="0"/>
                <a:ea typeface="Arial" pitchFamily="34" charset="-122"/>
                <a:cs typeface="Arial" pitchFamily="34" charset="-120"/>
              </a:rPr>
              <a:t>MATCH</a:t>
            </a:r>
            <a:endParaRPr lang="en-US" sz="1400" dirty="0"/>
          </a:p>
        </p:txBody>
      </p:sp>
      <p:sp>
        <p:nvSpPr>
          <p:cNvPr id="33" name="Text 31"/>
          <p:cNvSpPr txBox="1"/>
          <p:nvPr/>
        </p:nvSpPr>
        <p:spPr>
          <a:xfrm>
            <a:off x="6415888" y="2395728"/>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Claude scores fit</a:t>
            </a:r>
            <a:endParaRPr lang="en-US" sz="1450" dirty="0"/>
          </a:p>
        </p:txBody>
      </p:sp>
      <p:sp>
        <p:nvSpPr>
          <p:cNvPr id="34" name="Text 32"/>
          <p:cNvSpPr txBox="1"/>
          <p:nvPr/>
        </p:nvSpPr>
        <p:spPr>
          <a:xfrm>
            <a:off x="6415888" y="2615184"/>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A score, plus its reasoning in words.</a:t>
            </a:r>
            <a:endParaRPr lang="en-US" sz="1400" dirty="0"/>
          </a:p>
        </p:txBody>
      </p:sp>
      <p:sp>
        <p:nvSpPr>
          <p:cNvPr id="35" name="Text 33"/>
          <p:cNvSpPr txBox="1"/>
          <p:nvPr/>
        </p:nvSpPr>
        <p:spPr>
          <a:xfrm>
            <a:off x="6415888" y="3090672"/>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Batch, on change</a:t>
            </a:r>
            <a:endParaRPr lang="en-US" sz="1450" dirty="0"/>
          </a:p>
        </p:txBody>
      </p:sp>
      <p:sp>
        <p:nvSpPr>
          <p:cNvPr id="36" name="Text 34"/>
          <p:cNvSpPr txBox="1"/>
          <p:nvPr/>
        </p:nvSpPr>
        <p:spPr>
          <a:xfrm>
            <a:off x="6415888" y="3310128"/>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Not per page view. The cost control.</a:t>
            </a:r>
            <a:endParaRPr lang="en-US" sz="1400" dirty="0"/>
          </a:p>
        </p:txBody>
      </p:sp>
      <p:sp>
        <p:nvSpPr>
          <p:cNvPr id="37" name="Text 35"/>
          <p:cNvSpPr txBox="1"/>
          <p:nvPr/>
        </p:nvSpPr>
        <p:spPr>
          <a:xfrm>
            <a:off x="6415888" y="3785616"/>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Four factors</a:t>
            </a:r>
            <a:endParaRPr lang="en-US" sz="1450" dirty="0"/>
          </a:p>
        </p:txBody>
      </p:sp>
      <p:sp>
        <p:nvSpPr>
          <p:cNvPr id="38" name="Text 36"/>
          <p:cNvSpPr txBox="1"/>
          <p:nvPr/>
        </p:nvSpPr>
        <p:spPr>
          <a:xfrm>
            <a:off x="6415888" y="4005072"/>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Verified 50 · claimed 20 · rest 30.</a:t>
            </a:r>
            <a:endParaRPr lang="en-US" sz="1400" dirty="0"/>
          </a:p>
        </p:txBody>
      </p:sp>
      <p:sp>
        <p:nvSpPr>
          <p:cNvPr id="39" name="Text 37"/>
          <p:cNvSpPr txBox="1"/>
          <p:nvPr/>
        </p:nvSpPr>
        <p:spPr>
          <a:xfrm>
            <a:off x="6415888" y="4480560"/>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What we send</a:t>
            </a:r>
            <a:endParaRPr lang="en-US" sz="1450" dirty="0"/>
          </a:p>
        </p:txBody>
      </p:sp>
      <p:sp>
        <p:nvSpPr>
          <p:cNvPr id="40" name="Text 38"/>
          <p:cNvSpPr txBox="1"/>
          <p:nvPr/>
        </p:nvSpPr>
        <p:spPr>
          <a:xfrm>
            <a:off x="6415888" y="4700016"/>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Skills and role text. No name or ID.</a:t>
            </a:r>
            <a:endParaRPr lang="en-US" sz="1400" dirty="0"/>
          </a:p>
        </p:txBody>
      </p:sp>
      <p:sp>
        <p:nvSpPr>
          <p:cNvPr id="41" name="Text 39"/>
          <p:cNvSpPr txBox="1"/>
          <p:nvPr/>
        </p:nvSpPr>
        <p:spPr>
          <a:xfrm>
            <a:off x="8828303" y="3401568"/>
            <a:ext cx="164592" cy="365760"/>
          </a:xfrm>
          <a:prstGeom prst="rect">
            <a:avLst/>
          </a:prstGeom>
          <a:noFill/>
          <a:ln/>
        </p:spPr>
        <p:txBody>
          <a:bodyPr wrap="square" lIns="0" tIns="0" rIns="0" bIns="0" rtlCol="0" anchor="ctr"/>
          <a:lstStyle/>
          <a:p>
            <a:pPr algn="ctr" indent="0" marL="0">
              <a:buNone/>
            </a:pPr>
            <a:r>
              <a:rPr lang="en-US" sz="2600" b="1" dirty="0">
                <a:solidFill>
                  <a:srgbClr val="C4BCAE"/>
                </a:solidFill>
                <a:latin typeface="Arial" pitchFamily="34" charset="0"/>
                <a:ea typeface="Arial" pitchFamily="34" charset="-122"/>
                <a:cs typeface="Arial" pitchFamily="34" charset="-120"/>
              </a:rPr>
              <a:t>›</a:t>
            </a:r>
            <a:endParaRPr lang="en-US" sz="2600" dirty="0"/>
          </a:p>
        </p:txBody>
      </p:sp>
      <p:sp>
        <p:nvSpPr>
          <p:cNvPr id="42" name="Shape 40"/>
          <p:cNvSpPr/>
          <p:nvPr/>
        </p:nvSpPr>
        <p:spPr>
          <a:xfrm>
            <a:off x="9011183" y="1883664"/>
            <a:ext cx="2613584" cy="3401568"/>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43" name="Shape 41"/>
          <p:cNvSpPr/>
          <p:nvPr/>
        </p:nvSpPr>
        <p:spPr>
          <a:xfrm>
            <a:off x="9011183" y="1883664"/>
            <a:ext cx="2613584" cy="68580"/>
          </a:xfrm>
          <a:prstGeom prst="rect">
            <a:avLst/>
          </a:prstGeom>
          <a:solidFill>
            <a:srgbClr val="0E7C66"/>
          </a:solidFill>
          <a:ln w="12700">
            <a:solidFill>
              <a:srgbClr val="333333"/>
            </a:solidFill>
            <a:prstDash val="solid"/>
          </a:ln>
        </p:spPr>
      </p:sp>
      <p:sp>
        <p:nvSpPr>
          <p:cNvPr id="44" name="Text 42"/>
          <p:cNvSpPr txBox="1"/>
          <p:nvPr/>
        </p:nvSpPr>
        <p:spPr>
          <a:xfrm>
            <a:off x="9230639" y="2048256"/>
            <a:ext cx="2174672" cy="237744"/>
          </a:xfrm>
          <a:prstGeom prst="rect">
            <a:avLst/>
          </a:prstGeom>
          <a:noFill/>
          <a:ln/>
        </p:spPr>
        <p:txBody>
          <a:bodyPr wrap="square" lIns="0" tIns="0" rIns="0" bIns="0" rtlCol="0" anchor="ctr"/>
          <a:lstStyle/>
          <a:p>
            <a:pPr indent="0" marL="0">
              <a:buNone/>
            </a:pPr>
            <a:r>
              <a:rPr lang="en-US" sz="1400" b="1" spc="160" kern="0" dirty="0">
                <a:solidFill>
                  <a:srgbClr val="0E7C66"/>
                </a:solidFill>
                <a:latin typeface="Arial" pitchFamily="34" charset="0"/>
                <a:ea typeface="Arial" pitchFamily="34" charset="-122"/>
                <a:cs typeface="Arial" pitchFamily="34" charset="-120"/>
              </a:rPr>
              <a:t>SURFACES</a:t>
            </a:r>
            <a:endParaRPr lang="en-US" sz="1400" dirty="0"/>
          </a:p>
        </p:txBody>
      </p:sp>
      <p:sp>
        <p:nvSpPr>
          <p:cNvPr id="45" name="Text 43"/>
          <p:cNvSpPr txBox="1"/>
          <p:nvPr/>
        </p:nvSpPr>
        <p:spPr>
          <a:xfrm>
            <a:off x="9230639" y="2395728"/>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My Matches</a:t>
            </a:r>
            <a:endParaRPr lang="en-US" sz="1450" dirty="0"/>
          </a:p>
        </p:txBody>
      </p:sp>
      <p:sp>
        <p:nvSpPr>
          <p:cNvPr id="46" name="Text 44"/>
          <p:cNvSpPr txBox="1"/>
          <p:nvPr/>
        </p:nvSpPr>
        <p:spPr>
          <a:xfrm>
            <a:off x="9230639" y="2615184"/>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Everything at 80% and above.</a:t>
            </a:r>
            <a:endParaRPr lang="en-US" sz="1400" dirty="0"/>
          </a:p>
        </p:txBody>
      </p:sp>
      <p:sp>
        <p:nvSpPr>
          <p:cNvPr id="47" name="Text 45"/>
          <p:cNvSpPr txBox="1"/>
          <p:nvPr/>
        </p:nvSpPr>
        <p:spPr>
          <a:xfrm>
            <a:off x="9230639" y="3090672"/>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Quarterly email</a:t>
            </a:r>
            <a:endParaRPr lang="en-US" sz="1450" dirty="0"/>
          </a:p>
        </p:txBody>
      </p:sp>
      <p:sp>
        <p:nvSpPr>
          <p:cNvPr id="48" name="Text 46"/>
          <p:cNvSpPr txBox="1"/>
          <p:nvPr/>
        </p:nvSpPr>
        <p:spPr>
          <a:xfrm>
            <a:off x="9230639" y="3310128"/>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Three best matches. One click.</a:t>
            </a:r>
            <a:endParaRPr lang="en-US" sz="1400" dirty="0"/>
          </a:p>
        </p:txBody>
      </p:sp>
      <p:sp>
        <p:nvSpPr>
          <p:cNvPr id="49" name="Text 47"/>
          <p:cNvSpPr txBox="1"/>
          <p:nvPr/>
        </p:nvSpPr>
        <p:spPr>
          <a:xfrm>
            <a:off x="9230639" y="3785616"/>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Manager shortlist</a:t>
            </a:r>
            <a:endParaRPr lang="en-US" sz="1450" dirty="0"/>
          </a:p>
        </p:txBody>
      </p:sp>
      <p:sp>
        <p:nvSpPr>
          <p:cNvPr id="50" name="Text 48"/>
          <p:cNvSpPr txBox="1"/>
          <p:nvPr/>
        </p:nvSpPr>
        <p:spPr>
          <a:xfrm>
            <a:off x="9230639" y="4005072"/>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Their own applicants, with evidence.</a:t>
            </a:r>
            <a:endParaRPr lang="en-US" sz="1400" dirty="0"/>
          </a:p>
        </p:txBody>
      </p:sp>
      <p:sp>
        <p:nvSpPr>
          <p:cNvPr id="51" name="Text 49"/>
          <p:cNvSpPr txBox="1"/>
          <p:nvPr/>
        </p:nvSpPr>
        <p:spPr>
          <a:xfrm>
            <a:off x="9230639" y="4480560"/>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Skills inventory</a:t>
            </a:r>
            <a:endParaRPr lang="en-US" sz="1450" dirty="0"/>
          </a:p>
        </p:txBody>
      </p:sp>
      <p:sp>
        <p:nvSpPr>
          <p:cNvPr id="52" name="Text 50"/>
          <p:cNvSpPr txBox="1"/>
          <p:nvPr/>
        </p:nvSpPr>
        <p:spPr>
          <a:xfrm>
            <a:off x="9230639" y="4700016"/>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The planning asset, kept current.</a:t>
            </a:r>
            <a:endParaRPr lang="en-US" sz="1400" dirty="0"/>
          </a:p>
        </p:txBody>
      </p:sp>
      <p:sp>
        <p:nvSpPr>
          <p:cNvPr id="53" name="Shape 51"/>
          <p:cNvSpPr/>
          <p:nvPr/>
        </p:nvSpPr>
        <p:spPr>
          <a:xfrm>
            <a:off x="566928" y="5376672"/>
            <a:ext cx="11057839" cy="914400"/>
          </a:xfrm>
          <a:prstGeom prst="roundRect">
            <a:avLst>
              <a:gd name="adj" fmla="val 4000"/>
            </a:avLst>
          </a:prstGeom>
          <a:solidFill>
            <a:srgbClr val="F6F2EA"/>
          </a:solidFill>
          <a:ln w="12700">
            <a:solidFill>
              <a:srgbClr val="333333"/>
            </a:solidFill>
            <a:prstDash val="solid"/>
          </a:ln>
        </p:spPr>
      </p:sp>
      <p:sp>
        <p:nvSpPr>
          <p:cNvPr id="54" name="Text 52"/>
          <p:cNvSpPr txBox="1"/>
          <p:nvPr/>
        </p:nvSpPr>
        <p:spPr>
          <a:xfrm>
            <a:off x="841248" y="5522976"/>
            <a:ext cx="1463040" cy="237744"/>
          </a:xfrm>
          <a:prstGeom prst="rect">
            <a:avLst/>
          </a:prstGeom>
          <a:noFill/>
          <a:ln/>
        </p:spPr>
        <p:txBody>
          <a:bodyPr wrap="square" lIns="0" tIns="0" rIns="0" bIns="0" rtlCol="0" anchor="ctr"/>
          <a:lstStyle/>
          <a:p>
            <a:pPr indent="0" marL="0">
              <a:buNone/>
            </a:pPr>
            <a:r>
              <a:rPr lang="en-US" sz="1400" b="1" spc="160" kern="0" dirty="0">
                <a:solidFill>
                  <a:srgbClr val="C00000"/>
                </a:solidFill>
                <a:latin typeface="Arial" pitchFamily="34" charset="0"/>
                <a:ea typeface="Arial" pitchFamily="34" charset="-122"/>
                <a:cs typeface="Arial" pitchFamily="34" charset="-120"/>
              </a:rPr>
              <a:t>GOVERNANCE</a:t>
            </a:r>
            <a:endParaRPr lang="en-US" sz="1400" dirty="0"/>
          </a:p>
        </p:txBody>
      </p:sp>
      <p:sp>
        <p:nvSpPr>
          <p:cNvPr id="55" name="Shape 53"/>
          <p:cNvSpPr/>
          <p:nvPr/>
        </p:nvSpPr>
        <p:spPr>
          <a:xfrm>
            <a:off x="2395728" y="5541264"/>
            <a:ext cx="36576" cy="530352"/>
          </a:xfrm>
          <a:prstGeom prst="rect">
            <a:avLst/>
          </a:prstGeom>
          <a:solidFill>
            <a:srgbClr val="0E7C66"/>
          </a:solidFill>
          <a:ln w="12700">
            <a:solidFill>
              <a:srgbClr val="333333"/>
            </a:solidFill>
            <a:prstDash val="solid"/>
          </a:ln>
        </p:spPr>
      </p:sp>
      <p:sp>
        <p:nvSpPr>
          <p:cNvPr id="56" name="Text 54"/>
          <p:cNvSpPr txBox="1"/>
          <p:nvPr/>
        </p:nvSpPr>
        <p:spPr>
          <a:xfrm>
            <a:off x="2542032" y="5504688"/>
            <a:ext cx="1645920" cy="603504"/>
          </a:xfrm>
          <a:prstGeom prst="rect">
            <a:avLst/>
          </a:prstGeom>
          <a:noFill/>
          <a:ln/>
        </p:spPr>
        <p:txBody>
          <a:bodyPr wrap="square" lIns="0" tIns="0" rIns="0" bIns="0" rtlCol="0" anchor="ctr"/>
          <a:lstStyle/>
          <a:p>
            <a:pPr indent="0" marL="0">
              <a:lnSpc>
                <a:spcPts val="1700"/>
              </a:lnSpc>
              <a:buNone/>
            </a:pPr>
            <a:r>
              <a:rPr lang="en-US" sz="1400" dirty="0">
                <a:solidFill>
                  <a:srgbClr val="4B5363"/>
                </a:solidFill>
                <a:latin typeface="Arial" pitchFamily="34" charset="0"/>
                <a:ea typeface="Arial" pitchFamily="34" charset="-122"/>
                <a:cs typeface="Arial" pitchFamily="34" charset="-120"/>
              </a:rPr>
              <a:t>DPIA signed before build starts</a:t>
            </a:r>
            <a:endParaRPr lang="en-US" sz="1400" dirty="0"/>
          </a:p>
        </p:txBody>
      </p:sp>
      <p:sp>
        <p:nvSpPr>
          <p:cNvPr id="57" name="Shape 55"/>
          <p:cNvSpPr/>
          <p:nvPr/>
        </p:nvSpPr>
        <p:spPr>
          <a:xfrm>
            <a:off x="4242816" y="5541264"/>
            <a:ext cx="36576" cy="530352"/>
          </a:xfrm>
          <a:prstGeom prst="rect">
            <a:avLst/>
          </a:prstGeom>
          <a:solidFill>
            <a:srgbClr val="0E7C66"/>
          </a:solidFill>
          <a:ln w="12700">
            <a:solidFill>
              <a:srgbClr val="333333"/>
            </a:solidFill>
            <a:prstDash val="solid"/>
          </a:ln>
        </p:spPr>
      </p:sp>
      <p:sp>
        <p:nvSpPr>
          <p:cNvPr id="58" name="Text 56"/>
          <p:cNvSpPr txBox="1"/>
          <p:nvPr/>
        </p:nvSpPr>
        <p:spPr>
          <a:xfrm>
            <a:off x="4389120" y="5504688"/>
            <a:ext cx="1645920" cy="603504"/>
          </a:xfrm>
          <a:prstGeom prst="rect">
            <a:avLst/>
          </a:prstGeom>
          <a:noFill/>
          <a:ln/>
        </p:spPr>
        <p:txBody>
          <a:bodyPr wrap="square" lIns="0" tIns="0" rIns="0" bIns="0" rtlCol="0" anchor="ctr"/>
          <a:lstStyle/>
          <a:p>
            <a:pPr indent="0" marL="0">
              <a:lnSpc>
                <a:spcPts val="1700"/>
              </a:lnSpc>
              <a:buNone/>
            </a:pPr>
            <a:r>
              <a:rPr lang="en-US" sz="1400" dirty="0">
                <a:solidFill>
                  <a:srgbClr val="4B5363"/>
                </a:solidFill>
                <a:latin typeface="Arial" pitchFamily="34" charset="0"/>
                <a:ea typeface="Arial" pitchFamily="34" charset="-122"/>
                <a:cs typeface="Arial" pitchFamily="34" charset="-120"/>
              </a:rPr>
              <a:t>Immersions governed by Policy 211_2021</a:t>
            </a:r>
            <a:endParaRPr lang="en-US" sz="1400" dirty="0"/>
          </a:p>
        </p:txBody>
      </p:sp>
      <p:sp>
        <p:nvSpPr>
          <p:cNvPr id="59" name="Shape 57"/>
          <p:cNvSpPr/>
          <p:nvPr/>
        </p:nvSpPr>
        <p:spPr>
          <a:xfrm>
            <a:off x="6089904" y="5541264"/>
            <a:ext cx="36576" cy="530352"/>
          </a:xfrm>
          <a:prstGeom prst="rect">
            <a:avLst/>
          </a:prstGeom>
          <a:solidFill>
            <a:srgbClr val="0E7C66"/>
          </a:solidFill>
          <a:ln w="12700">
            <a:solidFill>
              <a:srgbClr val="333333"/>
            </a:solidFill>
            <a:prstDash val="solid"/>
          </a:ln>
        </p:spPr>
      </p:sp>
      <p:sp>
        <p:nvSpPr>
          <p:cNvPr id="60" name="Text 58"/>
          <p:cNvSpPr txBox="1"/>
          <p:nvPr/>
        </p:nvSpPr>
        <p:spPr>
          <a:xfrm>
            <a:off x="6236208" y="5504688"/>
            <a:ext cx="1645920" cy="603504"/>
          </a:xfrm>
          <a:prstGeom prst="rect">
            <a:avLst/>
          </a:prstGeom>
          <a:noFill/>
          <a:ln/>
        </p:spPr>
        <p:txBody>
          <a:bodyPr wrap="square" lIns="0" tIns="0" rIns="0" bIns="0" rtlCol="0" anchor="ctr"/>
          <a:lstStyle/>
          <a:p>
            <a:pPr indent="0" marL="0">
              <a:lnSpc>
                <a:spcPts val="1700"/>
              </a:lnSpc>
              <a:buNone/>
            </a:pPr>
            <a:r>
              <a:rPr lang="en-US" sz="1400" dirty="0">
                <a:solidFill>
                  <a:srgbClr val="4B5363"/>
                </a:solidFill>
                <a:latin typeface="Arial" pitchFamily="34" charset="0"/>
                <a:ea typeface="Arial" pitchFamily="34" charset="-122"/>
                <a:cs typeface="Arial" pitchFamily="34" charset="-120"/>
              </a:rPr>
              <a:t>HR approves every post before it goes live</a:t>
            </a:r>
            <a:endParaRPr lang="en-US" sz="1400" dirty="0"/>
          </a:p>
        </p:txBody>
      </p:sp>
      <p:sp>
        <p:nvSpPr>
          <p:cNvPr id="61" name="Shape 59"/>
          <p:cNvSpPr/>
          <p:nvPr/>
        </p:nvSpPr>
        <p:spPr>
          <a:xfrm>
            <a:off x="7936992" y="5541264"/>
            <a:ext cx="36576" cy="530352"/>
          </a:xfrm>
          <a:prstGeom prst="rect">
            <a:avLst/>
          </a:prstGeom>
          <a:solidFill>
            <a:srgbClr val="0E7C66"/>
          </a:solidFill>
          <a:ln w="12700">
            <a:solidFill>
              <a:srgbClr val="333333"/>
            </a:solidFill>
            <a:prstDash val="solid"/>
          </a:ln>
        </p:spPr>
      </p:sp>
      <p:sp>
        <p:nvSpPr>
          <p:cNvPr id="62" name="Text 60"/>
          <p:cNvSpPr txBox="1"/>
          <p:nvPr/>
        </p:nvSpPr>
        <p:spPr>
          <a:xfrm>
            <a:off x="8083296" y="5504688"/>
            <a:ext cx="1645920" cy="603504"/>
          </a:xfrm>
          <a:prstGeom prst="rect">
            <a:avLst/>
          </a:prstGeom>
          <a:noFill/>
          <a:ln/>
        </p:spPr>
        <p:txBody>
          <a:bodyPr wrap="square" lIns="0" tIns="0" rIns="0" bIns="0" rtlCol="0" anchor="ctr"/>
          <a:lstStyle/>
          <a:p>
            <a:pPr indent="0" marL="0">
              <a:lnSpc>
                <a:spcPts val="1700"/>
              </a:lnSpc>
              <a:buNone/>
            </a:pPr>
            <a:r>
              <a:rPr lang="en-US" sz="1400" dirty="0">
                <a:solidFill>
                  <a:srgbClr val="4B5363"/>
                </a:solidFill>
                <a:latin typeface="Arial" pitchFamily="34" charset="0"/>
                <a:ea typeface="Arial" pitchFamily="34" charset="-122"/>
                <a:cs typeface="Arial" pitchFamily="34" charset="-120"/>
              </a:rPr>
              <a:t>The model never gates an application</a:t>
            </a:r>
            <a:endParaRPr lang="en-US" sz="1400" dirty="0"/>
          </a:p>
        </p:txBody>
      </p:sp>
      <p:sp>
        <p:nvSpPr>
          <p:cNvPr id="63" name="Shape 61"/>
          <p:cNvSpPr/>
          <p:nvPr/>
        </p:nvSpPr>
        <p:spPr>
          <a:xfrm>
            <a:off x="9784080" y="5541264"/>
            <a:ext cx="36576" cy="530352"/>
          </a:xfrm>
          <a:prstGeom prst="rect">
            <a:avLst/>
          </a:prstGeom>
          <a:solidFill>
            <a:srgbClr val="0E7C66"/>
          </a:solidFill>
          <a:ln w="12700">
            <a:solidFill>
              <a:srgbClr val="333333"/>
            </a:solidFill>
            <a:prstDash val="solid"/>
          </a:ln>
        </p:spPr>
      </p:sp>
      <p:sp>
        <p:nvSpPr>
          <p:cNvPr id="64" name="Text 62"/>
          <p:cNvSpPr txBox="1"/>
          <p:nvPr/>
        </p:nvSpPr>
        <p:spPr>
          <a:xfrm>
            <a:off x="9930384" y="5504688"/>
            <a:ext cx="1645920" cy="603504"/>
          </a:xfrm>
          <a:prstGeom prst="rect">
            <a:avLst/>
          </a:prstGeom>
          <a:noFill/>
          <a:ln/>
        </p:spPr>
        <p:txBody>
          <a:bodyPr wrap="square" lIns="0" tIns="0" rIns="0" bIns="0" rtlCol="0" anchor="ctr"/>
          <a:lstStyle/>
          <a:p>
            <a:pPr indent="0" marL="0">
              <a:lnSpc>
                <a:spcPts val="1700"/>
              </a:lnSpc>
              <a:buNone/>
            </a:pPr>
            <a:r>
              <a:rPr lang="en-US" sz="1400" dirty="0">
                <a:solidFill>
                  <a:srgbClr val="4B5363"/>
                </a:solidFill>
                <a:latin typeface="Arial" pitchFamily="34" charset="0"/>
                <a:ea typeface="Arial" pitchFamily="34" charset="-122"/>
                <a:cs typeface="Arial" pitchFamily="34" charset="-120"/>
              </a:rPr>
              <a:t>Audit trail on every match</a:t>
            </a:r>
            <a:endParaRPr lang="en-US" sz="1400" dirty="0"/>
          </a:p>
        </p:txBody>
      </p:sp>
      <p:sp>
        <p:nvSpPr>
          <p:cNvPr id="65" name="Text 63"/>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ADOPTION</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An empty marketplace dies in week one.</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So we stock the shelves and seed the profiles before anyone is invited in.</a:t>
            </a:r>
            <a:endParaRPr lang="en-US" sz="1600" dirty="0"/>
          </a:p>
        </p:txBody>
      </p:sp>
      <p:sp>
        <p:nvSpPr>
          <p:cNvPr id="6" name="Text 4"/>
          <p:cNvSpPr txBox="1"/>
          <p:nvPr/>
        </p:nvSpPr>
        <p:spPr>
          <a:xfrm>
            <a:off x="566928" y="2103120"/>
            <a:ext cx="5373472"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BEFORE LAUNCH — 90 DAYS</a:t>
            </a:r>
            <a:endParaRPr lang="en-US" sz="1400" dirty="0"/>
          </a:p>
        </p:txBody>
      </p:sp>
      <p:sp>
        <p:nvSpPr>
          <p:cNvPr id="7" name="Shape 5"/>
          <p:cNvSpPr/>
          <p:nvPr/>
        </p:nvSpPr>
        <p:spPr>
          <a:xfrm>
            <a:off x="566928" y="2505456"/>
            <a:ext cx="365760" cy="365760"/>
          </a:xfrm>
          <a:prstGeom prst="ellipse">
            <a:avLst/>
          </a:prstGeom>
          <a:solidFill>
            <a:srgbClr val="C00000"/>
          </a:solidFill>
          <a:ln w="12700">
            <a:solidFill>
              <a:srgbClr val="333333"/>
            </a:solidFill>
            <a:prstDash val="solid"/>
          </a:ln>
        </p:spPr>
      </p:sp>
      <p:sp>
        <p:nvSpPr>
          <p:cNvPr id="8" name="Text 6"/>
          <p:cNvSpPr txBox="1"/>
          <p:nvPr/>
        </p:nvSpPr>
        <p:spPr>
          <a:xfrm>
            <a:off x="566928" y="25054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097280" y="2487168"/>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Seed the shelves</a:t>
            </a:r>
            <a:endParaRPr lang="en-US" sz="1700" dirty="0"/>
          </a:p>
        </p:txBody>
      </p:sp>
      <p:sp>
        <p:nvSpPr>
          <p:cNvPr id="10" name="Text 8"/>
          <p:cNvSpPr txBox="1"/>
          <p:nvPr/>
        </p:nvSpPr>
        <p:spPr>
          <a:xfrm>
            <a:off x="1097280" y="2816352"/>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25 opportunities live before anyone is invited in, each committed by a named manager.</a:t>
            </a:r>
            <a:endParaRPr lang="en-US" sz="1500" dirty="0"/>
          </a:p>
        </p:txBody>
      </p:sp>
      <p:sp>
        <p:nvSpPr>
          <p:cNvPr id="11" name="Shape 9"/>
          <p:cNvSpPr/>
          <p:nvPr/>
        </p:nvSpPr>
        <p:spPr>
          <a:xfrm>
            <a:off x="566928" y="3657600"/>
            <a:ext cx="365760" cy="365760"/>
          </a:xfrm>
          <a:prstGeom prst="ellipse">
            <a:avLst/>
          </a:prstGeom>
          <a:solidFill>
            <a:srgbClr val="C00000"/>
          </a:solidFill>
          <a:ln w="12700">
            <a:solidFill>
              <a:srgbClr val="333333"/>
            </a:solidFill>
            <a:prstDash val="solid"/>
          </a:ln>
        </p:spPr>
      </p:sp>
      <p:sp>
        <p:nvSpPr>
          <p:cNvPr id="12" name="Text 10"/>
          <p:cNvSpPr txBox="1"/>
          <p:nvPr/>
        </p:nvSpPr>
        <p:spPr>
          <a:xfrm>
            <a:off x="566928" y="36576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1097280" y="3639312"/>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Seed the skills</a:t>
            </a:r>
            <a:endParaRPr lang="en-US" sz="1700" dirty="0"/>
          </a:p>
        </p:txBody>
      </p:sp>
      <p:sp>
        <p:nvSpPr>
          <p:cNvPr id="14" name="Text 12"/>
          <p:cNvSpPr txBox="1"/>
          <p:nvPr/>
        </p:nvSpPr>
        <p:spPr>
          <a:xfrm>
            <a:off x="1097280" y="3968496"/>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Pre-filled from MyDevelopment and LinkedIn. People correct a draft, not fill a blank page.</a:t>
            </a:r>
            <a:endParaRPr lang="en-US" sz="1500" dirty="0"/>
          </a:p>
        </p:txBody>
      </p:sp>
      <p:sp>
        <p:nvSpPr>
          <p:cNvPr id="15" name="Shape 13"/>
          <p:cNvSpPr/>
          <p:nvPr/>
        </p:nvSpPr>
        <p:spPr>
          <a:xfrm>
            <a:off x="566928" y="4809744"/>
            <a:ext cx="365760" cy="365760"/>
          </a:xfrm>
          <a:prstGeom prst="ellipse">
            <a:avLst/>
          </a:prstGeom>
          <a:solidFill>
            <a:srgbClr val="C00000"/>
          </a:solidFill>
          <a:ln w="12700">
            <a:solidFill>
              <a:srgbClr val="333333"/>
            </a:solidFill>
            <a:prstDash val="solid"/>
          </a:ln>
        </p:spPr>
      </p:sp>
      <p:sp>
        <p:nvSpPr>
          <p:cNvPr id="16" name="Text 14"/>
          <p:cNvSpPr txBox="1"/>
          <p:nvPr/>
        </p:nvSpPr>
        <p:spPr>
          <a:xfrm>
            <a:off x="566928" y="48097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1097280" y="4791456"/>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Recruit six champions</a:t>
            </a:r>
            <a:endParaRPr lang="en-US" sz="1700" dirty="0"/>
          </a:p>
        </p:txBody>
      </p:sp>
      <p:sp>
        <p:nvSpPr>
          <p:cNvPr id="18" name="Text 16"/>
          <p:cNvSpPr txBox="1"/>
          <p:nvPr/>
        </p:nvSpPr>
        <p:spPr>
          <a:xfrm>
            <a:off x="1097280" y="5120640"/>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Managers who post and hire early. "Talent Exporter" recognition to ExCo.</a:t>
            </a:r>
            <a:endParaRPr lang="en-US" sz="1500" dirty="0"/>
          </a:p>
        </p:txBody>
      </p:sp>
      <p:sp>
        <p:nvSpPr>
          <p:cNvPr id="19" name="Text 17"/>
          <p:cNvSpPr txBox="1"/>
          <p:nvPr/>
        </p:nvSpPr>
        <p:spPr>
          <a:xfrm>
            <a:off x="6251296" y="2103120"/>
            <a:ext cx="5373472" cy="237744"/>
          </a:xfrm>
          <a:prstGeom prst="rect">
            <a:avLst/>
          </a:prstGeom>
          <a:noFill/>
          <a:ln/>
        </p:spPr>
        <p:txBody>
          <a:bodyPr wrap="square" lIns="0" tIns="0" rIns="0" bIns="0" rtlCol="0" anchor="ctr"/>
          <a:lstStyle/>
          <a:p>
            <a:pPr indent="0" marL="0">
              <a:buNone/>
            </a:pPr>
            <a:r>
              <a:rPr lang="en-US" sz="1400" b="1" spc="180" kern="0" dirty="0">
                <a:solidFill>
                  <a:srgbClr val="0E7C66"/>
                </a:solidFill>
                <a:latin typeface="Arial" pitchFamily="34" charset="0"/>
                <a:ea typeface="Arial" pitchFamily="34" charset="-122"/>
                <a:cs typeface="Arial" pitchFamily="34" charset="-120"/>
              </a:rPr>
              <a:t>AT LAUNCH AND AFTER</a:t>
            </a:r>
            <a:endParaRPr lang="en-US" sz="1400" dirty="0"/>
          </a:p>
        </p:txBody>
      </p:sp>
      <p:sp>
        <p:nvSpPr>
          <p:cNvPr id="20" name="Shape 18"/>
          <p:cNvSpPr/>
          <p:nvPr/>
        </p:nvSpPr>
        <p:spPr>
          <a:xfrm>
            <a:off x="6251296" y="2505456"/>
            <a:ext cx="365760" cy="365760"/>
          </a:xfrm>
          <a:prstGeom prst="ellipse">
            <a:avLst/>
          </a:prstGeom>
          <a:solidFill>
            <a:srgbClr val="0E7C66"/>
          </a:solidFill>
          <a:ln w="12700">
            <a:solidFill>
              <a:srgbClr val="333333"/>
            </a:solidFill>
            <a:prstDash val="solid"/>
          </a:ln>
        </p:spPr>
      </p:sp>
      <p:sp>
        <p:nvSpPr>
          <p:cNvPr id="21" name="Text 19"/>
          <p:cNvSpPr txBox="1"/>
          <p:nvPr/>
        </p:nvSpPr>
        <p:spPr>
          <a:xfrm>
            <a:off x="6251296" y="25054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2" name="Text 20"/>
          <p:cNvSpPr txBox="1"/>
          <p:nvPr/>
        </p:nvSpPr>
        <p:spPr>
          <a:xfrm>
            <a:off x="6781648" y="2487168"/>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Launch comms</a:t>
            </a:r>
            <a:endParaRPr lang="en-US" sz="1700" dirty="0"/>
          </a:p>
        </p:txBody>
      </p:sp>
      <p:sp>
        <p:nvSpPr>
          <p:cNvPr id="23" name="Text 21"/>
          <p:cNvSpPr txBox="1"/>
          <p:nvPr/>
        </p:nvSpPr>
        <p:spPr>
          <a:xfrm>
            <a:off x="6781648" y="2816352"/>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Town hall demo, a film of one real internal move, and the CEO posting the first opportunity.</a:t>
            </a:r>
            <a:endParaRPr lang="en-US" sz="1500" dirty="0"/>
          </a:p>
        </p:txBody>
      </p:sp>
      <p:sp>
        <p:nvSpPr>
          <p:cNvPr id="24" name="Shape 22"/>
          <p:cNvSpPr/>
          <p:nvPr/>
        </p:nvSpPr>
        <p:spPr>
          <a:xfrm>
            <a:off x="6251296" y="3657600"/>
            <a:ext cx="365760" cy="365760"/>
          </a:xfrm>
          <a:prstGeom prst="ellipse">
            <a:avLst/>
          </a:prstGeom>
          <a:solidFill>
            <a:srgbClr val="0E7C66"/>
          </a:solidFill>
          <a:ln w="12700">
            <a:solidFill>
              <a:srgbClr val="333333"/>
            </a:solidFill>
            <a:prstDash val="solid"/>
          </a:ln>
        </p:spPr>
      </p:sp>
      <p:sp>
        <p:nvSpPr>
          <p:cNvPr id="25" name="Text 23"/>
          <p:cNvSpPr txBox="1"/>
          <p:nvPr/>
        </p:nvSpPr>
        <p:spPr>
          <a:xfrm>
            <a:off x="6251296" y="36576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6" name="Text 24"/>
          <p:cNvSpPr txBox="1"/>
          <p:nvPr/>
        </p:nvSpPr>
        <p:spPr>
          <a:xfrm>
            <a:off x="6781648" y="3639312"/>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Quarterly top-match email</a:t>
            </a:r>
            <a:endParaRPr lang="en-US" sz="1700" dirty="0"/>
          </a:p>
        </p:txBody>
      </p:sp>
      <p:sp>
        <p:nvSpPr>
          <p:cNvPr id="27" name="Text 25"/>
          <p:cNvSpPr txBox="1"/>
          <p:nvPr/>
        </p:nvSpPr>
        <p:spPr>
          <a:xfrm>
            <a:off x="6781648" y="3968496"/>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Your three best matches, by name, one click to apply. This is what doubles applications.</a:t>
            </a:r>
            <a:endParaRPr lang="en-US" sz="1500" dirty="0"/>
          </a:p>
        </p:txBody>
      </p:sp>
      <p:sp>
        <p:nvSpPr>
          <p:cNvPr id="28" name="Shape 26"/>
          <p:cNvSpPr/>
          <p:nvPr/>
        </p:nvSpPr>
        <p:spPr>
          <a:xfrm>
            <a:off x="6251296" y="4809744"/>
            <a:ext cx="365760" cy="365760"/>
          </a:xfrm>
          <a:prstGeom prst="ellipse">
            <a:avLst/>
          </a:prstGeom>
          <a:solidFill>
            <a:srgbClr val="0E7C66"/>
          </a:solidFill>
          <a:ln w="12700">
            <a:solidFill>
              <a:srgbClr val="333333"/>
            </a:solidFill>
            <a:prstDash val="solid"/>
          </a:ln>
        </p:spPr>
      </p:sp>
      <p:sp>
        <p:nvSpPr>
          <p:cNvPr id="29" name="Text 27"/>
          <p:cNvSpPr txBox="1"/>
          <p:nvPr/>
        </p:nvSpPr>
        <p:spPr>
          <a:xfrm>
            <a:off x="6251296" y="48097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0" name="Text 28"/>
          <p:cNvSpPr txBox="1"/>
          <p:nvPr/>
        </p:nvSpPr>
        <p:spPr>
          <a:xfrm>
            <a:off x="6781648" y="4791456"/>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Measure it properly</a:t>
            </a:r>
            <a:endParaRPr lang="en-US" sz="1700" dirty="0"/>
          </a:p>
        </p:txBody>
      </p:sp>
      <p:sp>
        <p:nvSpPr>
          <p:cNvPr id="31" name="Text 29"/>
          <p:cNvSpPr txBox="1"/>
          <p:nvPr/>
        </p:nvSpPr>
        <p:spPr>
          <a:xfrm>
            <a:off x="6781648" y="5120640"/>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Hold back half of requisitions from promotion for a quarter. That settles the retention claim.</a:t>
            </a:r>
            <a:endParaRPr lang="en-US" sz="1500" dirty="0"/>
          </a:p>
        </p:txBody>
      </p:sp>
      <p:sp>
        <p:nvSpPr>
          <p:cNvPr id="32" name="Shape 30"/>
          <p:cNvSpPr/>
          <p:nvPr/>
        </p:nvSpPr>
        <p:spPr>
          <a:xfrm>
            <a:off x="566928" y="5779008"/>
            <a:ext cx="11057839" cy="548640"/>
          </a:xfrm>
          <a:prstGeom prst="roundRect">
            <a:avLst>
              <a:gd name="adj" fmla="val 6667"/>
            </a:avLst>
          </a:prstGeom>
          <a:solidFill>
            <a:srgbClr val="F6F2EA"/>
          </a:solidFill>
          <a:ln w="12700">
            <a:solidFill>
              <a:srgbClr val="333333"/>
            </a:solidFill>
            <a:prstDash val="solid"/>
          </a:ln>
        </p:spPr>
      </p:sp>
      <p:sp>
        <p:nvSpPr>
          <p:cNvPr id="33" name="Text 31"/>
          <p:cNvSpPr txBox="1"/>
          <p:nvPr/>
        </p:nvSpPr>
        <p:spPr>
          <a:xfrm>
            <a:off x="841248" y="5779008"/>
            <a:ext cx="10509199" cy="548640"/>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Year-one target:  </a:t>
            </a:r>
            <a:pPr indent="0" marL="0">
              <a:buNone/>
            </a:pPr>
            <a:r>
              <a:rPr lang="en-US" sz="1500" dirty="0">
                <a:solidFill>
                  <a:srgbClr val="4B5363"/>
                </a:solidFill>
                <a:latin typeface="Arial" pitchFamily="34" charset="0"/>
                <a:ea typeface="Arial" pitchFamily="34" charset="-122"/>
                <a:cs typeface="Arial" pitchFamily="34" charset="-120"/>
              </a:rPr>
              <a:t>275 internal applications · 60% of the pilot with a populated profile · 25 opportunities live at any time.</a:t>
            </a:r>
            <a:endParaRPr lang="en-US" sz="1500" dirty="0"/>
          </a:p>
        </p:txBody>
      </p:sp>
      <p:sp>
        <p:nvSpPr>
          <p:cNvPr id="34" name="Text 32"/>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237744" cy="6858000"/>
          </a:xfrm>
          <a:prstGeom prst="rect">
            <a:avLst/>
          </a:prstGeom>
          <a:solidFill>
            <a:srgbClr val="C00000"/>
          </a:solidFill>
          <a:ln w="12700">
            <a:solidFill>
              <a:srgbClr val="333333"/>
            </a:solidFill>
            <a:prstDash val="solid"/>
          </a:ln>
        </p:spPr>
      </p:sp>
      <p:sp>
        <p:nvSpPr>
          <p:cNvPr id="3" name="Text 1"/>
          <p:cNvSpPr txBox="1"/>
          <p:nvPr/>
        </p:nvSpPr>
        <p:spPr>
          <a:xfrm>
            <a:off x="1051560" y="841248"/>
            <a:ext cx="7315200" cy="274320"/>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ASK</a:t>
            </a:r>
            <a:endParaRPr lang="en-US" sz="1400" dirty="0"/>
          </a:p>
        </p:txBody>
      </p:sp>
      <p:sp>
        <p:nvSpPr>
          <p:cNvPr id="4" name="Text 2"/>
          <p:cNvSpPr txBox="1"/>
          <p:nvPr/>
        </p:nvSpPr>
        <p:spPr>
          <a:xfrm>
            <a:off x="1051560" y="1207008"/>
            <a:ext cx="8229600" cy="658368"/>
          </a:xfrm>
          <a:prstGeom prst="rect">
            <a:avLst/>
          </a:prstGeom>
          <a:noFill/>
          <a:ln/>
        </p:spPr>
        <p:txBody>
          <a:bodyPr wrap="square" lIns="0" tIns="0" rIns="0" bIns="0" rtlCol="0" anchor="ctr"/>
          <a:lstStyle/>
          <a:p>
            <a:pPr indent="0" marL="0">
              <a:buNone/>
            </a:pPr>
            <a:r>
              <a:rPr lang="en-US" sz="3800" b="1" dirty="0">
                <a:solidFill>
                  <a:srgbClr val="222834"/>
                </a:solidFill>
                <a:latin typeface="Arial" pitchFamily="34" charset="0"/>
                <a:ea typeface="Arial" pitchFamily="34" charset="-122"/>
                <a:cs typeface="Arial" pitchFamily="34" charset="-120"/>
              </a:rPr>
              <a:t>Three decisions.</a:t>
            </a:r>
            <a:endParaRPr lang="en-US" sz="3800" dirty="0"/>
          </a:p>
        </p:txBody>
      </p:sp>
      <p:sp>
        <p:nvSpPr>
          <p:cNvPr id="5" name="Shape 3"/>
          <p:cNvSpPr/>
          <p:nvPr/>
        </p:nvSpPr>
        <p:spPr>
          <a:xfrm>
            <a:off x="1051560" y="2231136"/>
            <a:ext cx="365760" cy="365760"/>
          </a:xfrm>
          <a:prstGeom prst="ellipse">
            <a:avLst/>
          </a:prstGeom>
          <a:solidFill>
            <a:srgbClr val="C00000"/>
          </a:solidFill>
          <a:ln w="12700">
            <a:solidFill>
              <a:srgbClr val="333333"/>
            </a:solidFill>
            <a:prstDash val="solid"/>
          </a:ln>
        </p:spPr>
      </p:sp>
      <p:sp>
        <p:nvSpPr>
          <p:cNvPr id="6" name="Text 4"/>
          <p:cNvSpPr txBox="1"/>
          <p:nvPr/>
        </p:nvSpPr>
        <p:spPr>
          <a:xfrm>
            <a:off x="1051560" y="223113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627632" y="2139696"/>
            <a:ext cx="4754880"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Approve the build</a:t>
            </a:r>
            <a:endParaRPr lang="en-US" sz="2100" dirty="0"/>
          </a:p>
        </p:txBody>
      </p:sp>
      <p:sp>
        <p:nvSpPr>
          <p:cNvPr id="8" name="Text 6"/>
          <p:cNvSpPr txBox="1"/>
          <p:nvPr/>
        </p:nvSpPr>
        <p:spPr>
          <a:xfrm>
            <a:off x="1627632" y="2523744"/>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₱1.54M in year one, ₱2.05M over three. Pilot goes live in IT, HR and Operations — 1,113 people.</a:t>
            </a:r>
            <a:endParaRPr lang="en-US" sz="1550" dirty="0"/>
          </a:p>
        </p:txBody>
      </p:sp>
      <p:sp>
        <p:nvSpPr>
          <p:cNvPr id="9" name="Shape 7"/>
          <p:cNvSpPr/>
          <p:nvPr/>
        </p:nvSpPr>
        <p:spPr>
          <a:xfrm>
            <a:off x="8796528" y="2176272"/>
            <a:ext cx="877824" cy="329184"/>
          </a:xfrm>
          <a:prstGeom prst="roundRect">
            <a:avLst>
              <a:gd name="adj" fmla="val 50000"/>
            </a:avLst>
          </a:prstGeom>
          <a:solidFill>
            <a:srgbClr val="F6F2EA"/>
          </a:solidFill>
          <a:ln w="12700">
            <a:solidFill>
              <a:srgbClr val="E9E1D3"/>
            </a:solidFill>
            <a:prstDash val="solid"/>
          </a:ln>
        </p:spPr>
      </p:sp>
      <p:sp>
        <p:nvSpPr>
          <p:cNvPr id="10" name="Text 8"/>
          <p:cNvSpPr txBox="1"/>
          <p:nvPr/>
        </p:nvSpPr>
        <p:spPr>
          <a:xfrm>
            <a:off x="8796528" y="2176272"/>
            <a:ext cx="877824" cy="329184"/>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CFO</a:t>
            </a:r>
            <a:endParaRPr lang="en-US" sz="1400" dirty="0"/>
          </a:p>
        </p:txBody>
      </p:sp>
      <p:sp>
        <p:nvSpPr>
          <p:cNvPr id="11" name="Shape 9"/>
          <p:cNvSpPr/>
          <p:nvPr/>
        </p:nvSpPr>
        <p:spPr>
          <a:xfrm>
            <a:off x="1051560" y="3255264"/>
            <a:ext cx="8622792" cy="0"/>
          </a:xfrm>
          <a:prstGeom prst="line">
            <a:avLst/>
          </a:prstGeom>
          <a:noFill/>
          <a:ln w="12700">
            <a:solidFill>
              <a:srgbClr val="E9E1D3"/>
            </a:solidFill>
            <a:prstDash val="solid"/>
          </a:ln>
        </p:spPr>
      </p:sp>
      <p:sp>
        <p:nvSpPr>
          <p:cNvPr id="12" name="Shape 10"/>
          <p:cNvSpPr/>
          <p:nvPr/>
        </p:nvSpPr>
        <p:spPr>
          <a:xfrm>
            <a:off x="1051560" y="3456432"/>
            <a:ext cx="365760" cy="365760"/>
          </a:xfrm>
          <a:prstGeom prst="ellipse">
            <a:avLst/>
          </a:prstGeom>
          <a:solidFill>
            <a:srgbClr val="C00000"/>
          </a:solidFill>
          <a:ln w="12700">
            <a:solidFill>
              <a:srgbClr val="333333"/>
            </a:solidFill>
            <a:prstDash val="solid"/>
          </a:ln>
        </p:spPr>
      </p:sp>
      <p:sp>
        <p:nvSpPr>
          <p:cNvPr id="13" name="Text 11"/>
          <p:cNvSpPr txBox="1"/>
          <p:nvPr/>
        </p:nvSpPr>
        <p:spPr>
          <a:xfrm>
            <a:off x="1051560" y="34564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txBox="1"/>
          <p:nvPr/>
        </p:nvSpPr>
        <p:spPr>
          <a:xfrm>
            <a:off x="1627632" y="3364992"/>
            <a:ext cx="4754880"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Commit the source field</a:t>
            </a:r>
            <a:endParaRPr lang="en-US" sz="2100" dirty="0"/>
          </a:p>
        </p:txBody>
      </p:sp>
      <p:sp>
        <p:nvSpPr>
          <p:cNvPr id="15" name="Text 13"/>
          <p:cNvSpPr txBox="1"/>
          <p:nvPr/>
        </p:nvSpPr>
        <p:spPr>
          <a:xfrm>
            <a:off x="1627632" y="3749040"/>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Recruitment adds a "Growth Marketplace" value to HC Connect. A form change, free, and without it no attributed hire can be proved.</a:t>
            </a:r>
            <a:endParaRPr lang="en-US" sz="1550" dirty="0"/>
          </a:p>
        </p:txBody>
      </p:sp>
      <p:sp>
        <p:nvSpPr>
          <p:cNvPr id="16" name="Shape 14"/>
          <p:cNvSpPr/>
          <p:nvPr/>
        </p:nvSpPr>
        <p:spPr>
          <a:xfrm>
            <a:off x="8796528" y="3401568"/>
            <a:ext cx="877824" cy="329184"/>
          </a:xfrm>
          <a:prstGeom prst="roundRect">
            <a:avLst>
              <a:gd name="adj" fmla="val 50000"/>
            </a:avLst>
          </a:prstGeom>
          <a:solidFill>
            <a:srgbClr val="F6F2EA"/>
          </a:solidFill>
          <a:ln w="12700">
            <a:solidFill>
              <a:srgbClr val="E9E1D3"/>
            </a:solidFill>
            <a:prstDash val="solid"/>
          </a:ln>
        </p:spPr>
      </p:sp>
      <p:sp>
        <p:nvSpPr>
          <p:cNvPr id="17" name="Text 15"/>
          <p:cNvSpPr txBox="1"/>
          <p:nvPr/>
        </p:nvSpPr>
        <p:spPr>
          <a:xfrm>
            <a:off x="8796528" y="3401568"/>
            <a:ext cx="877824" cy="329184"/>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CPO</a:t>
            </a:r>
            <a:endParaRPr lang="en-US" sz="1400" dirty="0"/>
          </a:p>
        </p:txBody>
      </p:sp>
      <p:sp>
        <p:nvSpPr>
          <p:cNvPr id="18" name="Shape 16"/>
          <p:cNvSpPr/>
          <p:nvPr/>
        </p:nvSpPr>
        <p:spPr>
          <a:xfrm>
            <a:off x="1051560" y="4480560"/>
            <a:ext cx="8622792" cy="0"/>
          </a:xfrm>
          <a:prstGeom prst="line">
            <a:avLst/>
          </a:prstGeom>
          <a:noFill/>
          <a:ln w="12700">
            <a:solidFill>
              <a:srgbClr val="E9E1D3"/>
            </a:solidFill>
            <a:prstDash val="solid"/>
          </a:ln>
        </p:spPr>
      </p:sp>
      <p:sp>
        <p:nvSpPr>
          <p:cNvPr id="19" name="Shape 17"/>
          <p:cNvSpPr/>
          <p:nvPr/>
        </p:nvSpPr>
        <p:spPr>
          <a:xfrm>
            <a:off x="1051560" y="4681728"/>
            <a:ext cx="365760" cy="365760"/>
          </a:xfrm>
          <a:prstGeom prst="ellipse">
            <a:avLst/>
          </a:prstGeom>
          <a:solidFill>
            <a:srgbClr val="C00000"/>
          </a:solidFill>
          <a:ln w="12700">
            <a:solidFill>
              <a:srgbClr val="333333"/>
            </a:solidFill>
            <a:prstDash val="solid"/>
          </a:ln>
        </p:spPr>
      </p:sp>
      <p:sp>
        <p:nvSpPr>
          <p:cNvPr id="20" name="Text 18"/>
          <p:cNvSpPr txBox="1"/>
          <p:nvPr/>
        </p:nvSpPr>
        <p:spPr>
          <a:xfrm>
            <a:off x="1051560" y="468172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txBox="1"/>
          <p:nvPr/>
        </p:nvSpPr>
        <p:spPr>
          <a:xfrm>
            <a:off x="1627632" y="4590288"/>
            <a:ext cx="4754880"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Name the six champion managers</a:t>
            </a:r>
            <a:endParaRPr lang="en-US" sz="2100" dirty="0"/>
          </a:p>
        </p:txBody>
      </p:sp>
      <p:sp>
        <p:nvSpPr>
          <p:cNvPr id="22" name="Text 20"/>
          <p:cNvSpPr txBox="1"/>
          <p:nvPr/>
        </p:nvSpPr>
        <p:spPr>
          <a:xfrm>
            <a:off x="1627632" y="4974336"/>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Six leaders who commit to posting a gig or an immersion before launch. Without stock on the shelves, nothing else here works.</a:t>
            </a:r>
            <a:endParaRPr lang="en-US" sz="1550" dirty="0"/>
          </a:p>
        </p:txBody>
      </p:sp>
      <p:sp>
        <p:nvSpPr>
          <p:cNvPr id="23" name="Shape 21"/>
          <p:cNvSpPr/>
          <p:nvPr/>
        </p:nvSpPr>
        <p:spPr>
          <a:xfrm>
            <a:off x="8796528" y="4626864"/>
            <a:ext cx="877824" cy="329184"/>
          </a:xfrm>
          <a:prstGeom prst="roundRect">
            <a:avLst>
              <a:gd name="adj" fmla="val 50000"/>
            </a:avLst>
          </a:prstGeom>
          <a:solidFill>
            <a:srgbClr val="F6F2EA"/>
          </a:solidFill>
          <a:ln w="12700">
            <a:solidFill>
              <a:srgbClr val="E9E1D3"/>
            </a:solidFill>
            <a:prstDash val="solid"/>
          </a:ln>
        </p:spPr>
      </p:sp>
      <p:sp>
        <p:nvSpPr>
          <p:cNvPr id="24" name="Text 22"/>
          <p:cNvSpPr txBox="1"/>
          <p:nvPr/>
        </p:nvSpPr>
        <p:spPr>
          <a:xfrm>
            <a:off x="8796528" y="4626864"/>
            <a:ext cx="877824" cy="329184"/>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ExCo</a:t>
            </a:r>
            <a:endParaRPr lang="en-US" sz="1400" dirty="0"/>
          </a:p>
        </p:txBody>
      </p:sp>
      <p:sp>
        <p:nvSpPr>
          <p:cNvPr id="25" name="Shape 23"/>
          <p:cNvSpPr/>
          <p:nvPr/>
        </p:nvSpPr>
        <p:spPr>
          <a:xfrm>
            <a:off x="1051560" y="5870448"/>
            <a:ext cx="1371600" cy="54864"/>
          </a:xfrm>
          <a:prstGeom prst="rect">
            <a:avLst/>
          </a:prstGeom>
          <a:solidFill>
            <a:srgbClr val="C00000"/>
          </a:solidFill>
          <a:ln w="12700">
            <a:solidFill>
              <a:srgbClr val="333333"/>
            </a:solidFill>
            <a:prstDash val="solid"/>
          </a:ln>
        </p:spPr>
      </p:sp>
      <p:sp>
        <p:nvSpPr>
          <p:cNvPr id="26" name="Text 24"/>
          <p:cNvSpPr txBox="1"/>
          <p:nvPr/>
        </p:nvSpPr>
        <p:spPr>
          <a:xfrm>
            <a:off x="1051560" y="6053328"/>
            <a:ext cx="10424160" cy="402336"/>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We are paying to find people we may already employ. ₱614 per employee a year stops that.</a:t>
            </a:r>
            <a:endParaRPr lang="en-US" sz="1700" dirty="0"/>
          </a:p>
        </p:txBody>
      </p:sp>
      <p:sp>
        <p:nvSpPr>
          <p:cNvPr id="27" name="Text 2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What one internal fill is worth, net of the backfill.</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The hiring-cost saving is smaller than it looks, and this is why.</a:t>
            </a:r>
            <a:endParaRPr lang="en-US" sz="1600" dirty="0"/>
          </a:p>
        </p:txBody>
      </p:sp>
      <p:sp>
        <p:nvSpPr>
          <p:cNvPr id="6" name="Text 4"/>
          <p:cNvSpPr txBox="1"/>
          <p:nvPr/>
        </p:nvSpPr>
        <p:spPr>
          <a:xfrm>
            <a:off x="566928" y="1920240"/>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We do not pay TA to hire a Band C from outside</a:t>
            </a:r>
            <a:endParaRPr lang="en-US" sz="1500" dirty="0"/>
          </a:p>
        </p:txBody>
      </p:sp>
      <p:sp>
        <p:nvSpPr>
          <p:cNvPr id="7" name="Text 5"/>
          <p:cNvSpPr txBox="1"/>
          <p:nvPr/>
        </p:nvSpPr>
        <p:spPr>
          <a:xfrm>
            <a:off x="5241414" y="1920240"/>
            <a:ext cx="1463040" cy="512064"/>
          </a:xfrm>
          <a:prstGeom prst="rect">
            <a:avLst/>
          </a:prstGeom>
          <a:noFill/>
          <a:ln/>
        </p:spPr>
        <p:txBody>
          <a:bodyPr wrap="square" lIns="0" tIns="0" rIns="0" bIns="0" rtlCol="0" anchor="ctr"/>
          <a:lstStyle/>
          <a:p>
            <a:pPr algn="r" indent="0" marL="0">
              <a:buNone/>
            </a:pPr>
            <a:r>
              <a:rPr lang="en-US" sz="1600" b="1" dirty="0">
                <a:solidFill>
                  <a:srgbClr val="0E7C66"/>
                </a:solidFill>
                <a:latin typeface="Arial" pitchFamily="34" charset="0"/>
                <a:ea typeface="Arial" pitchFamily="34" charset="-122"/>
                <a:cs typeface="Arial" pitchFamily="34" charset="-120"/>
              </a:rPr>
              <a:t>+₱35,367</a:t>
            </a:r>
            <a:endParaRPr lang="en-US" sz="1600" dirty="0"/>
          </a:p>
        </p:txBody>
      </p:sp>
      <p:sp>
        <p:nvSpPr>
          <p:cNvPr id="8" name="Shape 6"/>
          <p:cNvSpPr/>
          <p:nvPr/>
        </p:nvSpPr>
        <p:spPr>
          <a:xfrm>
            <a:off x="566928" y="2450592"/>
            <a:ext cx="6192390" cy="0"/>
          </a:xfrm>
          <a:prstGeom prst="line">
            <a:avLst/>
          </a:prstGeom>
          <a:noFill/>
          <a:ln w="12700">
            <a:solidFill>
              <a:srgbClr val="E7E1D7"/>
            </a:solidFill>
            <a:prstDash val="solid"/>
          </a:ln>
        </p:spPr>
      </p:sp>
      <p:sp>
        <p:nvSpPr>
          <p:cNvPr id="9" name="Text 7"/>
          <p:cNvSpPr txBox="1"/>
          <p:nvPr/>
        </p:nvSpPr>
        <p:spPr>
          <a:xfrm>
            <a:off x="566928" y="2523744"/>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But HR and TA still run the internal process</a:t>
            </a:r>
            <a:endParaRPr lang="en-US" sz="1500" dirty="0"/>
          </a:p>
        </p:txBody>
      </p:sp>
      <p:sp>
        <p:nvSpPr>
          <p:cNvPr id="10" name="Text 8"/>
          <p:cNvSpPr txBox="1"/>
          <p:nvPr/>
        </p:nvSpPr>
        <p:spPr>
          <a:xfrm>
            <a:off x="5241414" y="2523744"/>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−₱3,378</a:t>
            </a:r>
            <a:endParaRPr lang="en-US" sz="1600" dirty="0"/>
          </a:p>
        </p:txBody>
      </p:sp>
      <p:sp>
        <p:nvSpPr>
          <p:cNvPr id="11" name="Shape 9"/>
          <p:cNvSpPr/>
          <p:nvPr/>
        </p:nvSpPr>
        <p:spPr>
          <a:xfrm>
            <a:off x="566928" y="3054096"/>
            <a:ext cx="6192390" cy="0"/>
          </a:xfrm>
          <a:prstGeom prst="line">
            <a:avLst/>
          </a:prstGeom>
          <a:noFill/>
          <a:ln w="12700">
            <a:solidFill>
              <a:srgbClr val="E7E1D7"/>
            </a:solidFill>
            <a:prstDash val="solid"/>
          </a:ln>
        </p:spPr>
      </p:sp>
      <p:sp>
        <p:nvSpPr>
          <p:cNvPr id="12" name="Text 10"/>
          <p:cNvSpPr txBox="1"/>
          <p:nvPr/>
        </p:nvSpPr>
        <p:spPr>
          <a:xfrm>
            <a:off x="566928" y="3127248"/>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And the Band B seat they vacate is hired externally</a:t>
            </a:r>
            <a:endParaRPr lang="en-US" sz="1500" dirty="0"/>
          </a:p>
        </p:txBody>
      </p:sp>
      <p:sp>
        <p:nvSpPr>
          <p:cNvPr id="13" name="Text 11"/>
          <p:cNvSpPr txBox="1"/>
          <p:nvPr/>
        </p:nvSpPr>
        <p:spPr>
          <a:xfrm>
            <a:off x="5241414" y="3127248"/>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−₱6,977</a:t>
            </a:r>
            <a:endParaRPr lang="en-US" sz="1600" dirty="0"/>
          </a:p>
        </p:txBody>
      </p:sp>
      <p:sp>
        <p:nvSpPr>
          <p:cNvPr id="14" name="Shape 12"/>
          <p:cNvSpPr/>
          <p:nvPr/>
        </p:nvSpPr>
        <p:spPr>
          <a:xfrm>
            <a:off x="566928" y="3657600"/>
            <a:ext cx="6192390" cy="0"/>
          </a:xfrm>
          <a:prstGeom prst="line">
            <a:avLst/>
          </a:prstGeom>
          <a:noFill/>
          <a:ln w="12700">
            <a:solidFill>
              <a:srgbClr val="E7E1D7"/>
            </a:solidFill>
            <a:prstDash val="solid"/>
          </a:ln>
        </p:spPr>
      </p:sp>
      <p:sp>
        <p:nvSpPr>
          <p:cNvPr id="15" name="Text 13"/>
          <p:cNvSpPr txBox="1"/>
          <p:nvPr/>
        </p:nvSpPr>
        <p:spPr>
          <a:xfrm>
            <a:off x="566928" y="3730752"/>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Band C seat filled in 23 days, not 43 — output kept</a:t>
            </a:r>
            <a:endParaRPr lang="en-US" sz="1500" dirty="0"/>
          </a:p>
        </p:txBody>
      </p:sp>
      <p:sp>
        <p:nvSpPr>
          <p:cNvPr id="16" name="Text 14"/>
          <p:cNvSpPr txBox="1"/>
          <p:nvPr/>
        </p:nvSpPr>
        <p:spPr>
          <a:xfrm>
            <a:off x="5241414" y="3730752"/>
            <a:ext cx="1463040" cy="512064"/>
          </a:xfrm>
          <a:prstGeom prst="rect">
            <a:avLst/>
          </a:prstGeom>
          <a:noFill/>
          <a:ln/>
        </p:spPr>
        <p:txBody>
          <a:bodyPr wrap="square" lIns="0" tIns="0" rIns="0" bIns="0" rtlCol="0" anchor="ctr"/>
          <a:lstStyle/>
          <a:p>
            <a:pPr algn="r" indent="0" marL="0">
              <a:buNone/>
            </a:pPr>
            <a:r>
              <a:rPr lang="en-US" sz="1600" b="1" dirty="0">
                <a:solidFill>
                  <a:srgbClr val="0E7C66"/>
                </a:solidFill>
                <a:latin typeface="Arial" pitchFamily="34" charset="0"/>
                <a:ea typeface="Arial" pitchFamily="34" charset="-122"/>
                <a:cs typeface="Arial" pitchFamily="34" charset="-120"/>
              </a:rPr>
              <a:t>+₱85,681</a:t>
            </a:r>
            <a:endParaRPr lang="en-US" sz="1600" dirty="0"/>
          </a:p>
        </p:txBody>
      </p:sp>
      <p:sp>
        <p:nvSpPr>
          <p:cNvPr id="17" name="Shape 15"/>
          <p:cNvSpPr/>
          <p:nvPr/>
        </p:nvSpPr>
        <p:spPr>
          <a:xfrm>
            <a:off x="566928" y="4261104"/>
            <a:ext cx="6192390" cy="0"/>
          </a:xfrm>
          <a:prstGeom prst="line">
            <a:avLst/>
          </a:prstGeom>
          <a:noFill/>
          <a:ln w="12700">
            <a:solidFill>
              <a:srgbClr val="E7E1D7"/>
            </a:solidFill>
            <a:prstDash val="solid"/>
          </a:ln>
        </p:spPr>
      </p:sp>
      <p:sp>
        <p:nvSpPr>
          <p:cNvPr id="18" name="Text 16"/>
          <p:cNvSpPr txBox="1"/>
          <p:nvPr/>
        </p:nvSpPr>
        <p:spPr>
          <a:xfrm>
            <a:off x="566928" y="4334256"/>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The Band B seat is now empty for 43 days</a:t>
            </a:r>
            <a:endParaRPr lang="en-US" sz="1500" dirty="0"/>
          </a:p>
        </p:txBody>
      </p:sp>
      <p:sp>
        <p:nvSpPr>
          <p:cNvPr id="19" name="Text 17"/>
          <p:cNvSpPr txBox="1"/>
          <p:nvPr/>
        </p:nvSpPr>
        <p:spPr>
          <a:xfrm>
            <a:off x="5241414" y="4334256"/>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−₱72,109</a:t>
            </a:r>
            <a:endParaRPr lang="en-US" sz="1600" dirty="0"/>
          </a:p>
        </p:txBody>
      </p:sp>
      <p:sp>
        <p:nvSpPr>
          <p:cNvPr id="20" name="Shape 18"/>
          <p:cNvSpPr/>
          <p:nvPr/>
        </p:nvSpPr>
        <p:spPr>
          <a:xfrm>
            <a:off x="566928" y="4864608"/>
            <a:ext cx="6192390" cy="0"/>
          </a:xfrm>
          <a:prstGeom prst="line">
            <a:avLst/>
          </a:prstGeom>
          <a:noFill/>
          <a:ln w="12700">
            <a:solidFill>
              <a:srgbClr val="E7E1D7"/>
            </a:solidFill>
            <a:prstDash val="solid"/>
          </a:ln>
        </p:spPr>
      </p:sp>
      <p:sp>
        <p:nvSpPr>
          <p:cNvPr id="21" name="Shape 19"/>
          <p:cNvSpPr/>
          <p:nvPr/>
        </p:nvSpPr>
        <p:spPr>
          <a:xfrm>
            <a:off x="566928" y="5010912"/>
            <a:ext cx="6192390" cy="676656"/>
          </a:xfrm>
          <a:prstGeom prst="roundRect">
            <a:avLst>
              <a:gd name="adj" fmla="val 5405"/>
            </a:avLst>
          </a:prstGeom>
          <a:solidFill>
            <a:srgbClr val="C00000"/>
          </a:solidFill>
          <a:ln w="12700">
            <a:solidFill>
              <a:srgbClr val="333333"/>
            </a:solidFill>
            <a:prstDash val="solid"/>
          </a:ln>
        </p:spPr>
      </p:sp>
      <p:sp>
        <p:nvSpPr>
          <p:cNvPr id="22" name="Text 20"/>
          <p:cNvSpPr txBox="1"/>
          <p:nvPr/>
        </p:nvSpPr>
        <p:spPr>
          <a:xfrm>
            <a:off x="822960" y="5010912"/>
            <a:ext cx="4272150" cy="676656"/>
          </a:xfrm>
          <a:prstGeom prst="rect">
            <a:avLst/>
          </a:prstGeom>
          <a:noFill/>
          <a:ln/>
        </p:spPr>
        <p:txBody>
          <a:bodyPr wrap="square" lIns="0" tIns="0" rIns="0" bIns="0" rtlCol="0" anchor="ctr"/>
          <a:lstStyle/>
          <a:p>
            <a:pPr indent="0" marL="0">
              <a:buNone/>
            </a:pPr>
            <a:r>
              <a:rPr lang="en-US" sz="1500" b="1" spc="60" kern="0" dirty="0">
                <a:solidFill>
                  <a:srgbClr val="FFFFFF"/>
                </a:solidFill>
                <a:latin typeface="Arial" pitchFamily="34" charset="0"/>
                <a:ea typeface="Arial" pitchFamily="34" charset="-122"/>
                <a:cs typeface="Arial" pitchFamily="34" charset="-120"/>
              </a:rPr>
              <a:t>NET VALUE, ONE BAND C INTERNAL FILL</a:t>
            </a:r>
            <a:endParaRPr lang="en-US" sz="1500" dirty="0"/>
          </a:p>
        </p:txBody>
      </p:sp>
      <p:sp>
        <p:nvSpPr>
          <p:cNvPr id="23" name="Text 21"/>
          <p:cNvSpPr txBox="1"/>
          <p:nvPr/>
        </p:nvSpPr>
        <p:spPr>
          <a:xfrm>
            <a:off x="4875654" y="5010912"/>
            <a:ext cx="1645920" cy="676656"/>
          </a:xfrm>
          <a:prstGeom prst="rect">
            <a:avLst/>
          </a:prstGeom>
          <a:noFill/>
          <a:ln/>
        </p:spPr>
        <p:txBody>
          <a:bodyPr wrap="square" lIns="0" tIns="0" rIns="0" bIns="0" rtlCol="0" anchor="ctr"/>
          <a:lstStyle/>
          <a:p>
            <a:pPr algn="r" indent="0" marL="0">
              <a:buNone/>
            </a:pPr>
            <a:r>
              <a:rPr lang="en-US" sz="2200" b="1" dirty="0">
                <a:solidFill>
                  <a:srgbClr val="FFFFFF"/>
                </a:solidFill>
                <a:latin typeface="Arial" pitchFamily="34" charset="0"/>
                <a:ea typeface="Arial" pitchFamily="34" charset="-122"/>
                <a:cs typeface="Arial" pitchFamily="34" charset="-120"/>
              </a:rPr>
              <a:t>₱38,584</a:t>
            </a:r>
            <a:endParaRPr lang="en-US" sz="2200" dirty="0"/>
          </a:p>
        </p:txBody>
      </p:sp>
      <p:sp>
        <p:nvSpPr>
          <p:cNvPr id="24" name="Text 22"/>
          <p:cNvSpPr txBox="1"/>
          <p:nvPr/>
        </p:nvSpPr>
        <p:spPr>
          <a:xfrm>
            <a:off x="7125078" y="1847088"/>
            <a:ext cx="4499689"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BLENDED ON THE 2024–2026 HIRING MIX</a:t>
            </a:r>
            <a:endParaRPr lang="en-US" sz="1400" dirty="0"/>
          </a:p>
        </p:txBody>
      </p:sp>
      <p:sp>
        <p:nvSpPr>
          <p:cNvPr id="25" name="Text 23"/>
          <p:cNvSpPr txBox="1"/>
          <p:nvPr/>
        </p:nvSpPr>
        <p:spPr>
          <a:xfrm>
            <a:off x="7125078" y="2231136"/>
            <a:ext cx="1799876" cy="457200"/>
          </a:xfrm>
          <a:prstGeom prst="rect">
            <a:avLst/>
          </a:prstGeom>
          <a:noFill/>
          <a:ln/>
        </p:spPr>
        <p:txBody>
          <a:bodyPr wrap="square" lIns="0" tIns="0" rIns="0" bIns="0" rtlCol="0" anchor="ctr"/>
          <a:lstStyle/>
          <a:p>
            <a:pPr indent="0" marL="0">
              <a:buNone/>
            </a:pPr>
            <a:r>
              <a:rPr lang="en-US" sz="1500" dirty="0">
                <a:solidFill>
                  <a:srgbClr val="222834"/>
                </a:solidFill>
                <a:latin typeface="Arial" pitchFamily="34" charset="0"/>
                <a:ea typeface="Arial" pitchFamily="34" charset="-122"/>
                <a:cs typeface="Arial" pitchFamily="34" charset="-120"/>
              </a:rPr>
              <a:t>Band B fills</a:t>
            </a:r>
            <a:endParaRPr lang="en-US" sz="1500" dirty="0"/>
          </a:p>
        </p:txBody>
      </p:sp>
      <p:sp>
        <p:nvSpPr>
          <p:cNvPr id="26" name="Text 24"/>
          <p:cNvSpPr txBox="1"/>
          <p:nvPr/>
        </p:nvSpPr>
        <p:spPr>
          <a:xfrm>
            <a:off x="8834960" y="2231136"/>
            <a:ext cx="1259913" cy="457200"/>
          </a:xfrm>
          <a:prstGeom prst="rect">
            <a:avLst/>
          </a:prstGeom>
          <a:noFill/>
          <a:ln/>
        </p:spPr>
        <p:txBody>
          <a:bodyPr wrap="square" lIns="0" tIns="0" rIns="0" bIns="0" rtlCol="0" anchor="ctr"/>
          <a:lstStyle/>
          <a:p>
            <a:pPr indent="0" marL="0">
              <a:buNone/>
            </a:pPr>
            <a:r>
              <a:rPr lang="en-US" sz="1450" dirty="0">
                <a:solidFill>
                  <a:srgbClr val="858D9B"/>
                </a:solidFill>
                <a:latin typeface="Arial" pitchFamily="34" charset="0"/>
                <a:ea typeface="Arial" pitchFamily="34" charset="-122"/>
                <a:cs typeface="Arial" pitchFamily="34" charset="-120"/>
              </a:rPr>
              <a:t>539 over 3 yrs</a:t>
            </a:r>
            <a:endParaRPr lang="en-US" sz="1450" dirty="0"/>
          </a:p>
        </p:txBody>
      </p:sp>
      <p:sp>
        <p:nvSpPr>
          <p:cNvPr id="27" name="Text 25"/>
          <p:cNvSpPr txBox="1"/>
          <p:nvPr/>
        </p:nvSpPr>
        <p:spPr>
          <a:xfrm>
            <a:off x="9644904" y="2231136"/>
            <a:ext cx="1889869" cy="457200"/>
          </a:xfrm>
          <a:prstGeom prst="rect">
            <a:avLst/>
          </a:prstGeom>
          <a:noFill/>
          <a:ln/>
        </p:spPr>
        <p:txBody>
          <a:bodyPr wrap="square" lIns="0" tIns="0" rIns="0" bIns="0" rtlCol="0" anchor="ctr"/>
          <a:lstStyle/>
          <a:p>
            <a:pPr algn="r" indent="0" marL="0">
              <a:buNone/>
            </a:pPr>
            <a:r>
              <a:rPr lang="en-US" sz="1500" b="1" dirty="0">
                <a:solidFill>
                  <a:srgbClr val="4B5363"/>
                </a:solidFill>
                <a:latin typeface="Arial" pitchFamily="34" charset="0"/>
                <a:ea typeface="Arial" pitchFamily="34" charset="-122"/>
                <a:cs typeface="Arial" pitchFamily="34" charset="-120"/>
              </a:rPr>
              <a:t>₱1,943 each</a:t>
            </a:r>
            <a:endParaRPr lang="en-US" sz="1500" dirty="0"/>
          </a:p>
        </p:txBody>
      </p:sp>
      <p:sp>
        <p:nvSpPr>
          <p:cNvPr id="28" name="Text 26"/>
          <p:cNvSpPr txBox="1"/>
          <p:nvPr/>
        </p:nvSpPr>
        <p:spPr>
          <a:xfrm>
            <a:off x="7125078" y="2871216"/>
            <a:ext cx="1799876" cy="457200"/>
          </a:xfrm>
          <a:prstGeom prst="rect">
            <a:avLst/>
          </a:prstGeom>
          <a:noFill/>
          <a:ln/>
        </p:spPr>
        <p:txBody>
          <a:bodyPr wrap="square" lIns="0" tIns="0" rIns="0" bIns="0" rtlCol="0" anchor="ctr"/>
          <a:lstStyle/>
          <a:p>
            <a:pPr indent="0" marL="0">
              <a:buNone/>
            </a:pPr>
            <a:r>
              <a:rPr lang="en-US" sz="1500" dirty="0">
                <a:solidFill>
                  <a:srgbClr val="222834"/>
                </a:solidFill>
                <a:latin typeface="Arial" pitchFamily="34" charset="0"/>
                <a:ea typeface="Arial" pitchFamily="34" charset="-122"/>
                <a:cs typeface="Arial" pitchFamily="34" charset="-120"/>
              </a:rPr>
              <a:t>Band C fills</a:t>
            </a:r>
            <a:endParaRPr lang="en-US" sz="1500" dirty="0"/>
          </a:p>
        </p:txBody>
      </p:sp>
      <p:sp>
        <p:nvSpPr>
          <p:cNvPr id="29" name="Text 27"/>
          <p:cNvSpPr txBox="1"/>
          <p:nvPr/>
        </p:nvSpPr>
        <p:spPr>
          <a:xfrm>
            <a:off x="8834960" y="2871216"/>
            <a:ext cx="1259913" cy="457200"/>
          </a:xfrm>
          <a:prstGeom prst="rect">
            <a:avLst/>
          </a:prstGeom>
          <a:noFill/>
          <a:ln/>
        </p:spPr>
        <p:txBody>
          <a:bodyPr wrap="square" lIns="0" tIns="0" rIns="0" bIns="0" rtlCol="0" anchor="ctr"/>
          <a:lstStyle/>
          <a:p>
            <a:pPr indent="0" marL="0">
              <a:buNone/>
            </a:pPr>
            <a:r>
              <a:rPr lang="en-US" sz="1450" dirty="0">
                <a:solidFill>
                  <a:srgbClr val="858D9B"/>
                </a:solidFill>
                <a:latin typeface="Arial" pitchFamily="34" charset="0"/>
                <a:ea typeface="Arial" pitchFamily="34" charset="-122"/>
                <a:cs typeface="Arial" pitchFamily="34" charset="-120"/>
              </a:rPr>
              <a:t>299 over 3 yrs</a:t>
            </a:r>
            <a:endParaRPr lang="en-US" sz="1450" dirty="0"/>
          </a:p>
        </p:txBody>
      </p:sp>
      <p:sp>
        <p:nvSpPr>
          <p:cNvPr id="30" name="Text 28"/>
          <p:cNvSpPr txBox="1"/>
          <p:nvPr/>
        </p:nvSpPr>
        <p:spPr>
          <a:xfrm>
            <a:off x="9644904" y="2871216"/>
            <a:ext cx="1889869" cy="457200"/>
          </a:xfrm>
          <a:prstGeom prst="rect">
            <a:avLst/>
          </a:prstGeom>
          <a:noFill/>
          <a:ln/>
        </p:spPr>
        <p:txBody>
          <a:bodyPr wrap="square" lIns="0" tIns="0" rIns="0" bIns="0" rtlCol="0" anchor="ctr"/>
          <a:lstStyle/>
          <a:p>
            <a:pPr algn="r" indent="0" marL="0">
              <a:buNone/>
            </a:pPr>
            <a:r>
              <a:rPr lang="en-US" sz="1500" b="1" dirty="0">
                <a:solidFill>
                  <a:srgbClr val="4B5363"/>
                </a:solidFill>
                <a:latin typeface="Arial" pitchFamily="34" charset="0"/>
                <a:ea typeface="Arial" pitchFamily="34" charset="-122"/>
                <a:cs typeface="Arial" pitchFamily="34" charset="-120"/>
              </a:rPr>
              <a:t>₱38,584 each</a:t>
            </a:r>
            <a:endParaRPr lang="en-US" sz="1500" dirty="0"/>
          </a:p>
        </p:txBody>
      </p:sp>
      <p:sp>
        <p:nvSpPr>
          <p:cNvPr id="31" name="Shape 29"/>
          <p:cNvSpPr/>
          <p:nvPr/>
        </p:nvSpPr>
        <p:spPr>
          <a:xfrm>
            <a:off x="6960486" y="3456432"/>
            <a:ext cx="4865449" cy="566928"/>
          </a:xfrm>
          <a:prstGeom prst="roundRect">
            <a:avLst>
              <a:gd name="adj" fmla="val 6452"/>
            </a:avLst>
          </a:prstGeom>
          <a:solidFill>
            <a:srgbClr val="F6F2EA"/>
          </a:solidFill>
          <a:ln w="12700">
            <a:solidFill>
              <a:srgbClr val="333333"/>
            </a:solidFill>
            <a:prstDash val="solid"/>
          </a:ln>
        </p:spPr>
      </p:sp>
      <p:sp>
        <p:nvSpPr>
          <p:cNvPr id="32" name="Text 30"/>
          <p:cNvSpPr txBox="1"/>
          <p:nvPr/>
        </p:nvSpPr>
        <p:spPr>
          <a:xfrm>
            <a:off x="7125078" y="3511296"/>
            <a:ext cx="1799876" cy="457200"/>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Blended</a:t>
            </a:r>
            <a:endParaRPr lang="en-US" sz="1500" dirty="0"/>
          </a:p>
        </p:txBody>
      </p:sp>
      <p:sp>
        <p:nvSpPr>
          <p:cNvPr id="33" name="Text 31"/>
          <p:cNvSpPr txBox="1"/>
          <p:nvPr/>
        </p:nvSpPr>
        <p:spPr>
          <a:xfrm>
            <a:off x="8834960" y="3511296"/>
            <a:ext cx="1259913" cy="457200"/>
          </a:xfrm>
          <a:prstGeom prst="rect">
            <a:avLst/>
          </a:prstGeom>
          <a:noFill/>
          <a:ln/>
        </p:spPr>
        <p:txBody>
          <a:bodyPr wrap="square" lIns="0" tIns="0" rIns="0" bIns="0" rtlCol="0" anchor="ctr"/>
          <a:lstStyle/>
          <a:p>
            <a:pPr indent="0" marL="0">
              <a:buNone/>
            </a:pPr>
            <a:r>
              <a:rPr lang="en-US" sz="1450" dirty="0">
                <a:solidFill>
                  <a:srgbClr val="858D9B"/>
                </a:solidFill>
                <a:latin typeface="Arial" pitchFamily="34" charset="0"/>
                <a:ea typeface="Arial" pitchFamily="34" charset="-122"/>
                <a:cs typeface="Arial" pitchFamily="34" charset="-120"/>
              </a:rPr>
              <a:t>838 over 3 yrs</a:t>
            </a:r>
            <a:endParaRPr lang="en-US" sz="1450" dirty="0"/>
          </a:p>
        </p:txBody>
      </p:sp>
      <p:sp>
        <p:nvSpPr>
          <p:cNvPr id="34" name="Text 32"/>
          <p:cNvSpPr txBox="1"/>
          <p:nvPr/>
        </p:nvSpPr>
        <p:spPr>
          <a:xfrm>
            <a:off x="9644904" y="3511296"/>
            <a:ext cx="1889869" cy="457200"/>
          </a:xfrm>
          <a:prstGeom prst="rect">
            <a:avLst/>
          </a:prstGeom>
          <a:noFill/>
          <a:ln/>
        </p:spPr>
        <p:txBody>
          <a:bodyPr wrap="square" lIns="0" tIns="0" rIns="0" bIns="0" rtlCol="0" anchor="ctr"/>
          <a:lstStyle/>
          <a:p>
            <a:pPr algn="r" indent="0" marL="0">
              <a:buNone/>
            </a:pPr>
            <a:r>
              <a:rPr lang="en-US" sz="1500" b="1" dirty="0">
                <a:solidFill>
                  <a:srgbClr val="C00000"/>
                </a:solidFill>
                <a:latin typeface="Arial" pitchFamily="34" charset="0"/>
                <a:ea typeface="Arial" pitchFamily="34" charset="-122"/>
                <a:cs typeface="Arial" pitchFamily="34" charset="-120"/>
              </a:rPr>
              <a:t>₱15,017 each</a:t>
            </a:r>
            <a:endParaRPr lang="en-US" sz="1500" dirty="0"/>
          </a:p>
        </p:txBody>
      </p:sp>
      <p:sp>
        <p:nvSpPr>
          <p:cNvPr id="35" name="Shape 33"/>
          <p:cNvSpPr/>
          <p:nvPr/>
        </p:nvSpPr>
        <p:spPr>
          <a:xfrm>
            <a:off x="7125078" y="4224528"/>
            <a:ext cx="4499689" cy="0"/>
          </a:xfrm>
          <a:prstGeom prst="line">
            <a:avLst/>
          </a:prstGeom>
          <a:noFill/>
          <a:ln w="12700">
            <a:solidFill>
              <a:srgbClr val="E7E1D7"/>
            </a:solidFill>
            <a:prstDash val="solid"/>
          </a:ln>
        </p:spPr>
      </p:sp>
      <p:sp>
        <p:nvSpPr>
          <p:cNvPr id="36" name="Text 34"/>
          <p:cNvSpPr txBox="1"/>
          <p:nvPr/>
        </p:nvSpPr>
        <p:spPr>
          <a:xfrm>
            <a:off x="7125078" y="4352544"/>
            <a:ext cx="4499689" cy="274320"/>
          </a:xfrm>
          <a:prstGeom prst="rect">
            <a:avLst/>
          </a:prstGeom>
          <a:noFill/>
          <a:ln/>
        </p:spPr>
        <p:txBody>
          <a:bodyPr wrap="square" lIns="0" tIns="0" rIns="0" bIns="0" rtlCol="0" anchor="t"/>
          <a:lstStyle/>
          <a:p>
            <a:pPr indent="0" marL="0">
              <a:buNone/>
            </a:pPr>
            <a:r>
              <a:rPr lang="en-US" sz="1500" b="1" dirty="0">
                <a:solidFill>
                  <a:srgbClr val="222834"/>
                </a:solidFill>
                <a:latin typeface="Arial" pitchFamily="34" charset="0"/>
                <a:ea typeface="Arial" pitchFamily="34" charset="-122"/>
                <a:cs typeface="Arial" pitchFamily="34" charset="-120"/>
              </a:rPr>
              <a:t>Plus turnover we avoid</a:t>
            </a:r>
            <a:endParaRPr lang="en-US" sz="1500" dirty="0"/>
          </a:p>
        </p:txBody>
      </p:sp>
      <p:sp>
        <p:nvSpPr>
          <p:cNvPr id="37" name="Text 35"/>
          <p:cNvSpPr txBox="1"/>
          <p:nvPr/>
        </p:nvSpPr>
        <p:spPr>
          <a:xfrm>
            <a:off x="7125078" y="4645152"/>
            <a:ext cx="4499689" cy="731520"/>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15 points of excess attrition × ₱508,397 replacement cost = ₱76,260 for every person who gets the move.</a:t>
            </a:r>
            <a:endParaRPr lang="en-US" sz="1450" dirty="0"/>
          </a:p>
        </p:txBody>
      </p:sp>
      <p:sp>
        <p:nvSpPr>
          <p:cNvPr id="38" name="Shape 36"/>
          <p:cNvSpPr/>
          <p:nvPr/>
        </p:nvSpPr>
        <p:spPr>
          <a:xfrm>
            <a:off x="6978774" y="5413248"/>
            <a:ext cx="4682569" cy="658368"/>
          </a:xfrm>
          <a:prstGeom prst="roundRect">
            <a:avLst>
              <a:gd name="adj" fmla="val 5556"/>
            </a:avLst>
          </a:prstGeom>
          <a:solidFill>
            <a:srgbClr val="FDF0F0"/>
          </a:solidFill>
          <a:ln w="12700">
            <a:solidFill>
              <a:srgbClr val="333333"/>
            </a:solidFill>
            <a:prstDash val="solid"/>
          </a:ln>
        </p:spPr>
      </p:sp>
      <p:sp>
        <p:nvSpPr>
          <p:cNvPr id="39" name="Text 37"/>
          <p:cNvSpPr txBox="1"/>
          <p:nvPr/>
        </p:nvSpPr>
        <p:spPr>
          <a:xfrm>
            <a:off x="7125078" y="5413248"/>
            <a:ext cx="4499689" cy="658368"/>
          </a:xfrm>
          <a:prstGeom prst="rect">
            <a:avLst/>
          </a:prstGeom>
          <a:noFill/>
          <a:ln/>
        </p:spPr>
        <p:txBody>
          <a:bodyPr wrap="square" lIns="0" tIns="0" rIns="0" bIns="0" rtlCol="0" anchor="ctr"/>
          <a:lstStyle/>
          <a:p>
            <a:pPr indent="0" marL="0">
              <a:buNone/>
            </a:pPr>
            <a:r>
              <a:rPr lang="en-US" sz="2000" b="1" dirty="0">
                <a:solidFill>
                  <a:srgbClr val="C00000"/>
                </a:solidFill>
                <a:latin typeface="Arial" pitchFamily="34" charset="0"/>
                <a:ea typeface="Arial" pitchFamily="34" charset="-122"/>
                <a:cs typeface="Arial" pitchFamily="34" charset="-120"/>
              </a:rPr>
              <a:t>₱91,276  </a:t>
            </a:r>
            <a:pPr indent="0" marL="0">
              <a:buNone/>
            </a:pPr>
            <a:r>
              <a:rPr lang="en-US" sz="1450" dirty="0">
                <a:solidFill>
                  <a:srgbClr val="4B5363"/>
                </a:solidFill>
                <a:latin typeface="Arial" pitchFamily="34" charset="0"/>
                <a:ea typeface="Arial" pitchFamily="34" charset="-122"/>
                <a:cs typeface="Arial" pitchFamily="34" charset="-120"/>
              </a:rPr>
              <a:t>total, per extra internal fill</a:t>
            </a:r>
            <a:endParaRPr lang="en-US" sz="2000" dirty="0"/>
          </a:p>
        </p:txBody>
      </p:sp>
      <p:sp>
        <p:nvSpPr>
          <p:cNvPr id="40" name="Text 38"/>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The turnover line, and the number HR still owes us.</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The largest line in the case. Measured, derived and assumed, kept apart.</a:t>
            </a:r>
            <a:endParaRPr lang="en-US" sz="1600" dirty="0"/>
          </a:p>
        </p:txBody>
      </p:sp>
      <p:sp>
        <p:nvSpPr>
          <p:cNvPr id="6" name="Text 4"/>
          <p:cNvSpPr txBox="1"/>
          <p:nvPr/>
        </p:nvSpPr>
        <p:spPr>
          <a:xfrm>
            <a:off x="566928" y="1938528"/>
            <a:ext cx="5197184"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WHAT ₱508,397 IS</a:t>
            </a:r>
            <a:endParaRPr lang="en-US" sz="1400" dirty="0"/>
          </a:p>
        </p:txBody>
      </p:sp>
      <p:sp>
        <p:nvSpPr>
          <p:cNvPr id="7" name="Text 5"/>
          <p:cNvSpPr txBox="1"/>
          <p:nvPr/>
        </p:nvSpPr>
        <p:spPr>
          <a:xfrm>
            <a:off x="566928" y="2304288"/>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Band B average monthly basic</a:t>
            </a:r>
            <a:endParaRPr lang="en-US" sz="1450" dirty="0"/>
          </a:p>
        </p:txBody>
      </p:sp>
      <p:sp>
        <p:nvSpPr>
          <p:cNvPr id="8" name="Text 6"/>
          <p:cNvSpPr txBox="1"/>
          <p:nvPr/>
        </p:nvSpPr>
        <p:spPr>
          <a:xfrm>
            <a:off x="3368384" y="2304288"/>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₱36,333.85</a:t>
            </a:r>
            <a:endParaRPr lang="en-US" sz="1550" dirty="0"/>
          </a:p>
        </p:txBody>
      </p:sp>
      <p:sp>
        <p:nvSpPr>
          <p:cNvPr id="9" name="Text 7"/>
          <p:cNvSpPr txBox="1"/>
          <p:nvPr/>
        </p:nvSpPr>
        <p:spPr>
          <a:xfrm>
            <a:off x="4703408" y="2304288"/>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Payroll</a:t>
            </a:r>
            <a:endParaRPr lang="en-US" sz="1400" dirty="0"/>
          </a:p>
        </p:txBody>
      </p:sp>
      <p:sp>
        <p:nvSpPr>
          <p:cNvPr id="10" name="Shape 8"/>
          <p:cNvSpPr/>
          <p:nvPr/>
        </p:nvSpPr>
        <p:spPr>
          <a:xfrm>
            <a:off x="566928" y="2798064"/>
            <a:ext cx="5197184" cy="0"/>
          </a:xfrm>
          <a:prstGeom prst="line">
            <a:avLst/>
          </a:prstGeom>
          <a:noFill/>
          <a:ln w="12700">
            <a:solidFill>
              <a:srgbClr val="E7E1D7"/>
            </a:solidFill>
            <a:prstDash val="solid"/>
          </a:ln>
        </p:spPr>
      </p:sp>
      <p:sp>
        <p:nvSpPr>
          <p:cNvPr id="11" name="Text 9"/>
          <p:cNvSpPr txBox="1"/>
          <p:nvPr/>
        </p:nvSpPr>
        <p:spPr>
          <a:xfrm>
            <a:off x="566928" y="2871216"/>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Band C average monthly basic</a:t>
            </a:r>
            <a:endParaRPr lang="en-US" sz="1450" dirty="0"/>
          </a:p>
        </p:txBody>
      </p:sp>
      <p:sp>
        <p:nvSpPr>
          <p:cNvPr id="12" name="Text 10"/>
          <p:cNvSpPr txBox="1"/>
          <p:nvPr/>
        </p:nvSpPr>
        <p:spPr>
          <a:xfrm>
            <a:off x="3368384" y="2871216"/>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₱92,821.09</a:t>
            </a:r>
            <a:endParaRPr lang="en-US" sz="1550" dirty="0"/>
          </a:p>
        </p:txBody>
      </p:sp>
      <p:sp>
        <p:nvSpPr>
          <p:cNvPr id="13" name="Text 11"/>
          <p:cNvSpPr txBox="1"/>
          <p:nvPr/>
        </p:nvSpPr>
        <p:spPr>
          <a:xfrm>
            <a:off x="4703408" y="2871216"/>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Payroll</a:t>
            </a:r>
            <a:endParaRPr lang="en-US" sz="1400" dirty="0"/>
          </a:p>
        </p:txBody>
      </p:sp>
      <p:sp>
        <p:nvSpPr>
          <p:cNvPr id="14" name="Shape 12"/>
          <p:cNvSpPr/>
          <p:nvPr/>
        </p:nvSpPr>
        <p:spPr>
          <a:xfrm>
            <a:off x="566928" y="3364992"/>
            <a:ext cx="5197184" cy="0"/>
          </a:xfrm>
          <a:prstGeom prst="line">
            <a:avLst/>
          </a:prstGeom>
          <a:noFill/>
          <a:ln w="12700">
            <a:solidFill>
              <a:srgbClr val="E7E1D7"/>
            </a:solidFill>
            <a:prstDash val="solid"/>
          </a:ln>
        </p:spPr>
      </p:sp>
      <p:sp>
        <p:nvSpPr>
          <p:cNvPr id="15" name="Text 13"/>
          <p:cNvSpPr txBox="1"/>
          <p:nvPr/>
        </p:nvSpPr>
        <p:spPr>
          <a:xfrm>
            <a:off x="566928" y="3438144"/>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Blended on 539 B / 299 C hires</a:t>
            </a:r>
            <a:endParaRPr lang="en-US" sz="1450" dirty="0"/>
          </a:p>
        </p:txBody>
      </p:sp>
      <p:sp>
        <p:nvSpPr>
          <p:cNvPr id="16" name="Text 14"/>
          <p:cNvSpPr txBox="1"/>
          <p:nvPr/>
        </p:nvSpPr>
        <p:spPr>
          <a:xfrm>
            <a:off x="3368384" y="3438144"/>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₱56,488.60</a:t>
            </a:r>
            <a:endParaRPr lang="en-US" sz="1550" dirty="0"/>
          </a:p>
        </p:txBody>
      </p:sp>
      <p:sp>
        <p:nvSpPr>
          <p:cNvPr id="17" name="Text 15"/>
          <p:cNvSpPr txBox="1"/>
          <p:nvPr/>
        </p:nvSpPr>
        <p:spPr>
          <a:xfrm>
            <a:off x="4703408" y="3438144"/>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3-yr mix</a:t>
            </a:r>
            <a:endParaRPr lang="en-US" sz="1400" dirty="0"/>
          </a:p>
        </p:txBody>
      </p:sp>
      <p:sp>
        <p:nvSpPr>
          <p:cNvPr id="18" name="Shape 16"/>
          <p:cNvSpPr/>
          <p:nvPr/>
        </p:nvSpPr>
        <p:spPr>
          <a:xfrm>
            <a:off x="566928" y="3931920"/>
            <a:ext cx="5197184" cy="0"/>
          </a:xfrm>
          <a:prstGeom prst="line">
            <a:avLst/>
          </a:prstGeom>
          <a:noFill/>
          <a:ln w="12700">
            <a:solidFill>
              <a:srgbClr val="E7E1D7"/>
            </a:solidFill>
            <a:prstDash val="solid"/>
          </a:ln>
        </p:spPr>
      </p:sp>
      <p:sp>
        <p:nvSpPr>
          <p:cNvPr id="19" name="Text 17"/>
          <p:cNvSpPr txBox="1"/>
          <p:nvPr/>
        </p:nvSpPr>
        <p:spPr>
          <a:xfrm>
            <a:off x="566928" y="4005072"/>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Annualised ×12, basic only</a:t>
            </a:r>
            <a:endParaRPr lang="en-US" sz="1450" dirty="0"/>
          </a:p>
        </p:txBody>
      </p:sp>
      <p:sp>
        <p:nvSpPr>
          <p:cNvPr id="20" name="Text 18"/>
          <p:cNvSpPr txBox="1"/>
          <p:nvPr/>
        </p:nvSpPr>
        <p:spPr>
          <a:xfrm>
            <a:off x="3368384" y="4005072"/>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₱677,863</a:t>
            </a:r>
            <a:endParaRPr lang="en-US" sz="1550" dirty="0"/>
          </a:p>
        </p:txBody>
      </p:sp>
      <p:sp>
        <p:nvSpPr>
          <p:cNvPr id="21" name="Text 19"/>
          <p:cNvSpPr txBox="1"/>
          <p:nvPr/>
        </p:nvSpPr>
        <p:spPr>
          <a:xfrm>
            <a:off x="4703408" y="4005072"/>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 year</a:t>
            </a:r>
            <a:endParaRPr lang="en-US" sz="1400" dirty="0"/>
          </a:p>
        </p:txBody>
      </p:sp>
      <p:sp>
        <p:nvSpPr>
          <p:cNvPr id="22" name="Shape 20"/>
          <p:cNvSpPr/>
          <p:nvPr/>
        </p:nvSpPr>
        <p:spPr>
          <a:xfrm>
            <a:off x="566928" y="4498848"/>
            <a:ext cx="5197184" cy="0"/>
          </a:xfrm>
          <a:prstGeom prst="line">
            <a:avLst/>
          </a:prstGeom>
          <a:noFill/>
          <a:ln w="12700">
            <a:solidFill>
              <a:srgbClr val="E7E1D7"/>
            </a:solidFill>
            <a:prstDash val="solid"/>
          </a:ln>
        </p:spPr>
      </p:sp>
      <p:sp>
        <p:nvSpPr>
          <p:cNvPr id="23" name="Shape 21"/>
          <p:cNvSpPr/>
          <p:nvPr/>
        </p:nvSpPr>
        <p:spPr>
          <a:xfrm>
            <a:off x="438912" y="4526280"/>
            <a:ext cx="5453216" cy="566928"/>
          </a:xfrm>
          <a:prstGeom prst="roundRect">
            <a:avLst>
              <a:gd name="adj" fmla="val 6452"/>
            </a:avLst>
          </a:prstGeom>
          <a:solidFill>
            <a:srgbClr val="FDF0F0"/>
          </a:solidFill>
          <a:ln w="12700">
            <a:solidFill>
              <a:srgbClr val="333333"/>
            </a:solidFill>
            <a:prstDash val="solid"/>
          </a:ln>
        </p:spPr>
      </p:sp>
      <p:sp>
        <p:nvSpPr>
          <p:cNvPr id="24" name="Text 22"/>
          <p:cNvSpPr txBox="1"/>
          <p:nvPr/>
        </p:nvSpPr>
        <p:spPr>
          <a:xfrm>
            <a:off x="566928" y="4572000"/>
            <a:ext cx="2819744" cy="475488"/>
          </a:xfrm>
          <a:prstGeom prst="rect">
            <a:avLst/>
          </a:prstGeom>
          <a:noFill/>
          <a:ln/>
        </p:spPr>
        <p:txBody>
          <a:bodyPr wrap="square" lIns="0" tIns="0" rIns="0" bIns="0" rtlCol="0" anchor="ctr"/>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Replacement at 75% of that</a:t>
            </a:r>
            <a:endParaRPr lang="en-US" sz="1450" dirty="0"/>
          </a:p>
        </p:txBody>
      </p:sp>
      <p:sp>
        <p:nvSpPr>
          <p:cNvPr id="25" name="Text 23"/>
          <p:cNvSpPr txBox="1"/>
          <p:nvPr/>
        </p:nvSpPr>
        <p:spPr>
          <a:xfrm>
            <a:off x="3368384" y="4572000"/>
            <a:ext cx="1280160" cy="475488"/>
          </a:xfrm>
          <a:prstGeom prst="rect">
            <a:avLst/>
          </a:prstGeom>
          <a:noFill/>
          <a:ln/>
        </p:spPr>
        <p:txBody>
          <a:bodyPr wrap="square" lIns="0" tIns="0" rIns="0" bIns="0" rtlCol="0" anchor="ctr"/>
          <a:lstStyle/>
          <a:p>
            <a:pPr algn="r" indent="0" marL="0">
              <a:buNone/>
            </a:pPr>
            <a:r>
              <a:rPr lang="en-US" sz="1550" b="1" dirty="0">
                <a:solidFill>
                  <a:srgbClr val="C00000"/>
                </a:solidFill>
                <a:latin typeface="Arial" pitchFamily="34" charset="0"/>
                <a:ea typeface="Arial" pitchFamily="34" charset="-122"/>
                <a:cs typeface="Arial" pitchFamily="34" charset="-120"/>
              </a:rPr>
              <a:t>₱508,397</a:t>
            </a:r>
            <a:endParaRPr lang="en-US" sz="1550" dirty="0"/>
          </a:p>
        </p:txBody>
      </p:sp>
      <p:sp>
        <p:nvSpPr>
          <p:cNvPr id="26" name="Text 24"/>
          <p:cNvSpPr txBox="1"/>
          <p:nvPr/>
        </p:nvSpPr>
        <p:spPr>
          <a:xfrm>
            <a:off x="4703408" y="4572000"/>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assumed</a:t>
            </a:r>
            <a:endParaRPr lang="en-US" sz="1400" dirty="0"/>
          </a:p>
        </p:txBody>
      </p:sp>
      <p:sp>
        <p:nvSpPr>
          <p:cNvPr id="27" name="Shape 25"/>
          <p:cNvSpPr/>
          <p:nvPr/>
        </p:nvSpPr>
        <p:spPr>
          <a:xfrm>
            <a:off x="566928" y="5285232"/>
            <a:ext cx="5197184" cy="1005840"/>
          </a:xfrm>
          <a:prstGeom prst="roundRect">
            <a:avLst>
              <a:gd name="adj" fmla="val 3636"/>
            </a:avLst>
          </a:prstGeom>
          <a:solidFill>
            <a:srgbClr val="F6F2EA"/>
          </a:solidFill>
          <a:ln w="12700">
            <a:solidFill>
              <a:srgbClr val="333333"/>
            </a:solidFill>
            <a:prstDash val="solid"/>
          </a:ln>
        </p:spPr>
      </p:sp>
      <p:sp>
        <p:nvSpPr>
          <p:cNvPr id="28" name="Text 26"/>
          <p:cNvSpPr txBox="1"/>
          <p:nvPr/>
        </p:nvSpPr>
        <p:spPr>
          <a:xfrm>
            <a:off x="822960" y="5285232"/>
            <a:ext cx="4685120" cy="1005840"/>
          </a:xfrm>
          <a:prstGeom prst="rect">
            <a:avLst/>
          </a:prstGeom>
          <a:noFill/>
          <a:ln/>
        </p:spPr>
        <p:txBody>
          <a:bodyPr wrap="square" lIns="0" tIns="0" rIns="0" bIns="0" rtlCol="0" anchor="ctr"/>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The 75% is not a Home Credit figure. </a:t>
            </a:r>
            <a:pPr indent="0" marL="0">
              <a:lnSpc>
                <a:spcPts val="1900"/>
              </a:lnSpc>
              <a:buNone/>
            </a:pPr>
            <a:r>
              <a:rPr lang="en-US" sz="1450" dirty="0">
                <a:solidFill>
                  <a:srgbClr val="4B5363"/>
                </a:solidFill>
                <a:latin typeface="Arial" pitchFamily="34" charset="0"/>
                <a:ea typeface="Arial" pitchFamily="34" charset="-122"/>
                <a:cs typeface="Arial" pitchFamily="34" charset="-120"/>
              </a:rPr>
              <a:t>Published ranges run 50–200% of salary by level. 75% of basic is at the low end, and basic excludes the 13th month.</a:t>
            </a:r>
            <a:endParaRPr lang="en-US" sz="1450" dirty="0"/>
          </a:p>
        </p:txBody>
      </p:sp>
      <p:sp>
        <p:nvSpPr>
          <p:cNvPr id="29" name="Text 27"/>
          <p:cNvSpPr txBox="1"/>
          <p:nvPr/>
        </p:nvSpPr>
        <p:spPr>
          <a:xfrm>
            <a:off x="6148160" y="1938528"/>
            <a:ext cx="5476607" cy="237744"/>
          </a:xfrm>
          <a:prstGeom prst="rect">
            <a:avLst/>
          </a:prstGeom>
          <a:noFill/>
          <a:ln/>
        </p:spPr>
        <p:txBody>
          <a:bodyPr wrap="square" lIns="0" tIns="0" rIns="0" bIns="0" rtlCol="0" anchor="ctr"/>
          <a:lstStyle/>
          <a:p>
            <a:pPr indent="0" marL="0">
              <a:buNone/>
            </a:pPr>
            <a:r>
              <a:rPr lang="en-US" sz="1400" b="1" spc="140" kern="0" dirty="0">
                <a:solidFill>
                  <a:srgbClr val="9E6B12"/>
                </a:solidFill>
                <a:latin typeface="Arial" pitchFamily="34" charset="0"/>
                <a:ea typeface="Arial" pitchFamily="34" charset="-122"/>
                <a:cs typeface="Arial" pitchFamily="34" charset="-120"/>
              </a:rPr>
              <a:t>THE COMPARATOR WE DO NOT YET HAVE</a:t>
            </a:r>
            <a:endParaRPr lang="en-US" sz="1400" dirty="0"/>
          </a:p>
        </p:txBody>
      </p:sp>
      <p:sp>
        <p:nvSpPr>
          <p:cNvPr id="30" name="Text 28"/>
          <p:cNvSpPr txBox="1"/>
          <p:nvPr/>
        </p:nvSpPr>
        <p:spPr>
          <a:xfrm>
            <a:off x="6148160" y="2267712"/>
            <a:ext cx="5476607" cy="78638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43% of the 2025 turned-down cohort has left. Against what? Earlier drafts used 19%, which traced to a placeholder tile in the v1 prototype, not to Payroll. It is withdrawn.</a:t>
            </a:r>
            <a:endParaRPr lang="en-US" sz="1450" dirty="0"/>
          </a:p>
        </p:txBody>
      </p:sp>
      <p:sp>
        <p:nvSpPr>
          <p:cNvPr id="31" name="Text 29"/>
          <p:cNvSpPr txBox="1"/>
          <p:nvPr/>
        </p:nvSpPr>
        <p:spPr>
          <a:xfrm>
            <a:off x="6148160" y="3108960"/>
            <a:ext cx="5476607" cy="548640"/>
          </a:xfrm>
          <a:prstGeom prst="rect">
            <a:avLst/>
          </a:prstGeom>
          <a:noFill/>
          <a:ln/>
        </p:spPr>
        <p:txBody>
          <a:bodyPr wrap="square" lIns="0" tIns="0" rIns="0" bIns="0" rtlCol="0" anchor="t"/>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THE ASK: band B and C non-mass attrition, 2025. Not the company rate — mass operations would drag it up.</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48160" y="3840480"/>
          <a:ext cx="5476607" cy="914400"/>
        </p:xfrm>
        <a:graphic>
          <a:graphicData uri="http://schemas.openxmlformats.org/drawingml/2006/table">
            <a:tbl>
              <a:tblPr/>
              <a:tblGrid>
                <a:gridCol w="1591056"/>
                <a:gridCol w="868680"/>
                <a:gridCol w="1243584"/>
                <a:gridCol w="731520"/>
                <a:gridCol w="841248"/>
              </a:tblGrid>
              <a:tr h="274320">
                <a:tc>
                  <a:txBody>
                    <a:bodyPr/>
                    <a:lstStyle/>
                    <a:p>
                      <a:pPr indent="0" marL="0">
                        <a:buNone/>
                      </a:pPr>
                      <a:r>
                        <a:rPr lang="en-US" sz="1400" b="1" dirty="0">
                          <a:solidFill>
                            <a:srgbClr val="858D9B"/>
                          </a:solidFill>
                          <a:latin typeface="Arial" pitchFamily="34" charset="0"/>
                          <a:ea typeface="Arial" pitchFamily="34" charset="-122"/>
                          <a:cs typeface="Arial" pitchFamily="34" charset="-120"/>
                        </a:rPr>
                        <a:t>comparator</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excess</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per fill</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floor</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exp.</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23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₱133,390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1.2</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4.7</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18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₱107,970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4.5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b="1" dirty="0">
                          <a:solidFill>
                            <a:srgbClr val="222834"/>
                          </a:solidFill>
                          <a:latin typeface="Arial" pitchFamily="34" charset="0"/>
                          <a:ea typeface="Arial" pitchFamily="34" charset="-122"/>
                          <a:cs typeface="Arial" pitchFamily="34" charset="-120"/>
                        </a:rPr>
                        <a:t>28%  modelled</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4B5363"/>
                          </a:solidFill>
                          <a:latin typeface="Arial" pitchFamily="34" charset="0"/>
                          <a:ea typeface="Arial" pitchFamily="34" charset="-122"/>
                          <a:cs typeface="Arial" pitchFamily="34" charset="-120"/>
                        </a:rPr>
                        <a:t>15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4B5363"/>
                          </a:solidFill>
                          <a:latin typeface="Arial" pitchFamily="34" charset="0"/>
                          <a:ea typeface="Arial" pitchFamily="34" charset="-122"/>
                          <a:cs typeface="Arial" pitchFamily="34" charset="-120"/>
                        </a:rPr>
                        <a:t>₱92,718</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0.9</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0E7C66"/>
                          </a:solidFill>
                          <a:latin typeface="Arial" pitchFamily="34" charset="0"/>
                          <a:ea typeface="Arial" pitchFamily="34" charset="-122"/>
                          <a:cs typeface="Arial" pitchFamily="34" charset="-120"/>
                        </a:rPr>
                        <a:t>4.4</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13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₱82,550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0.8</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4.3</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35%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8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₱57,130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0.5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4.0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bl>
          </a:graphicData>
        </a:graphic>
      </p:graphicFrame>
      <p:sp>
        <p:nvSpPr>
          <p:cNvPr id="33" name="Text 30"/>
          <p:cNvSpPr txBox="1"/>
          <p:nvPr/>
        </p:nvSpPr>
        <p:spPr>
          <a:xfrm>
            <a:off x="6148160" y="5650992"/>
            <a:ext cx="5476607" cy="548640"/>
          </a:xfrm>
          <a:prstGeom prst="rect">
            <a:avLst/>
          </a:prstGeom>
          <a:noFill/>
          <a:ln/>
        </p:spPr>
        <p:txBody>
          <a:bodyPr wrap="square" lIns="0" tIns="0" rIns="0" bIns="0" rtlCol="0" anchor="t"/>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Even at a 35% comparator the expected case clears 4.0. The pilot floor never clears — that is the real finding.</a:t>
            </a:r>
            <a:endParaRPr lang="en-US" sz="1450" dirty="0"/>
          </a:p>
        </p:txBody>
      </p:sp>
      <p:sp>
        <p:nvSpPr>
          <p:cNvPr id="34" name="Text 31"/>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Every number, and where it came from.</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Anything marked as a planning assumption has not been measured and should be challenged.</a:t>
            </a:r>
            <a:endParaRPr lang="en-US" sz="1600" dirty="0"/>
          </a:p>
        </p:txBody>
      </p:sp>
      <p:sp>
        <p:nvSpPr>
          <p:cNvPr id="6" name="Shape 4"/>
          <p:cNvSpPr/>
          <p:nvPr/>
        </p:nvSpPr>
        <p:spPr>
          <a:xfrm>
            <a:off x="566928" y="1828800"/>
            <a:ext cx="5373472" cy="4261104"/>
          </a:xfrm>
          <a:prstGeom prst="roundRect">
            <a:avLst>
              <a:gd name="adj" fmla="val 858"/>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7" name="Shape 5"/>
          <p:cNvSpPr/>
          <p:nvPr/>
        </p:nvSpPr>
        <p:spPr>
          <a:xfrm>
            <a:off x="566928" y="1828800"/>
            <a:ext cx="5373472" cy="68580"/>
          </a:xfrm>
          <a:prstGeom prst="rect">
            <a:avLst/>
          </a:prstGeom>
          <a:solidFill>
            <a:srgbClr val="C00000"/>
          </a:solidFill>
          <a:ln w="12700">
            <a:solidFill>
              <a:srgbClr val="333333"/>
            </a:solidFill>
            <a:prstDash val="solid"/>
          </a:ln>
        </p:spPr>
      </p:sp>
      <p:sp>
        <p:nvSpPr>
          <p:cNvPr id="8" name="Text 6"/>
          <p:cNvSpPr txBox="1"/>
          <p:nvPr/>
        </p:nvSpPr>
        <p:spPr>
          <a:xfrm>
            <a:off x="841248" y="2029968"/>
            <a:ext cx="482483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MEASURED — HOME CREDIT DATA</a:t>
            </a:r>
            <a:endParaRPr lang="en-US" sz="1400" dirty="0"/>
          </a:p>
        </p:txBody>
      </p:sp>
      <p:sp>
        <p:nvSpPr>
          <p:cNvPr id="9" name="Text 7"/>
          <p:cNvSpPr txBox="1"/>
          <p:nvPr/>
        </p:nvSpPr>
        <p:spPr>
          <a:xfrm>
            <a:off x="841248" y="2359152"/>
            <a:ext cx="4824832" cy="3602736"/>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Internal job posting, 2024–2026: 1,008 vacancies, 463 internal applicants, 170 accepted. Internal fill rate 17%.</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2025 turned-down cohort: 67 applicants, 38 still employed as of September 2026 — 43% of the cohort has left.</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TA cost per hire, 2025: ₱5,140 band M, ₱6,977 band B, ₱35,367 band C. HR/TA cost per hire ₱3,378, incurred on internal fills too.</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2025 external hires: 186 band B, 103 band C — the only band-level split we hold, scaled onto 838 external hires over 2024–2026.</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Payroll average monthly basic, September 2026: ₱15,144 band M, ₱36,334 band B, ₱92,821 band C.</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Build: ₱1,785,500, costed by IT in man-hours, excluding AI.</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HRIS headcount: 1,113 in the pilot scope.</a:t>
            </a:r>
            <a:endParaRPr lang="en-US" sz="1400" dirty="0"/>
          </a:p>
        </p:txBody>
      </p:sp>
      <p:sp>
        <p:nvSpPr>
          <p:cNvPr id="10" name="Shape 8"/>
          <p:cNvSpPr/>
          <p:nvPr/>
        </p:nvSpPr>
        <p:spPr>
          <a:xfrm>
            <a:off x="6251296" y="1828800"/>
            <a:ext cx="5373472" cy="4261104"/>
          </a:xfrm>
          <a:prstGeom prst="roundRect">
            <a:avLst>
              <a:gd name="adj" fmla="val 858"/>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1" name="Shape 9"/>
          <p:cNvSpPr/>
          <p:nvPr/>
        </p:nvSpPr>
        <p:spPr>
          <a:xfrm>
            <a:off x="6251296" y="1828800"/>
            <a:ext cx="5373472" cy="68580"/>
          </a:xfrm>
          <a:prstGeom prst="rect">
            <a:avLst/>
          </a:prstGeom>
          <a:solidFill>
            <a:srgbClr val="9E6B12"/>
          </a:solidFill>
          <a:ln w="12700">
            <a:solidFill>
              <a:srgbClr val="333333"/>
            </a:solidFill>
            <a:prstDash val="solid"/>
          </a:ln>
        </p:spPr>
      </p:sp>
      <p:sp>
        <p:nvSpPr>
          <p:cNvPr id="12" name="Text 10"/>
          <p:cNvSpPr txBox="1"/>
          <p:nvPr/>
        </p:nvSpPr>
        <p:spPr>
          <a:xfrm>
            <a:off x="6525616" y="2029968"/>
            <a:ext cx="4824832" cy="237744"/>
          </a:xfrm>
          <a:prstGeom prst="rect">
            <a:avLst/>
          </a:prstGeom>
          <a:noFill/>
          <a:ln/>
        </p:spPr>
        <p:txBody>
          <a:bodyPr wrap="square" lIns="0" tIns="0" rIns="0" bIns="0" rtlCol="0" anchor="ctr"/>
          <a:lstStyle/>
          <a:p>
            <a:pPr indent="0" marL="0">
              <a:buNone/>
            </a:pPr>
            <a:r>
              <a:rPr lang="en-US" sz="1400" b="1" spc="140" kern="0" dirty="0">
                <a:solidFill>
                  <a:srgbClr val="9E6B12"/>
                </a:solidFill>
                <a:latin typeface="Arial" pitchFamily="34" charset="0"/>
                <a:ea typeface="Arial" pitchFamily="34" charset="-122"/>
                <a:cs typeface="Arial" pitchFamily="34" charset="-120"/>
              </a:rPr>
              <a:t>MODELLED — AND HOW HARD</a:t>
            </a:r>
            <a:endParaRPr lang="en-US" sz="1400" dirty="0"/>
          </a:p>
        </p:txBody>
      </p:sp>
      <p:sp>
        <p:nvSpPr>
          <p:cNvPr id="13" name="Text 11"/>
          <p:cNvSpPr txBox="1"/>
          <p:nvPr/>
        </p:nvSpPr>
        <p:spPr>
          <a:xfrm>
            <a:off x="6525616" y="2359152"/>
            <a:ext cx="4824832" cy="3602736"/>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Salaries annualised ×12, basic only — 13th month and contributions excluded.</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Replacement at 75% of annual basic = ₱508,397 blended band B/C.</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Comparator attrition NOT confirmed. The 19% in earlier drafts is withdrawn. Modelled at 15 points.</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Days to fill: 43 external, 23 internal — 20 days saved. Backfill assumed one band down, hired externally, and idle for the full 43.</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336 vacancies a year company-wide; 60 internal requisitions a year in the pilot (BRD).</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Shelf retention: 174 participants a year at a 3-point lift, cut from 13 observed in v1.</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Vendor band is an RFP planning range, not a quote. ₱61 = US$1, 10% discount.</a:t>
            </a:r>
            <a:endParaRPr lang="en-US" sz="1400" dirty="0"/>
          </a:p>
        </p:txBody>
      </p:sp>
      <p:sp>
        <p:nvSpPr>
          <p:cNvPr id="14" name="Text 12"/>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Working model: exec-model.py · Full CBA: V2_CBA.md · Internal — do not distribute outside the organization.</a:t>
            </a:r>
            <a:endParaRPr lang="en-US" sz="1400" dirty="0"/>
          </a:p>
        </p:txBody>
      </p:sp>
      <p:sp>
        <p:nvSpPr>
          <p:cNvPr id="15" name="Text 13"/>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What could go wrong, and what we have done about it.</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The two gates are free — both are decisions, not budget.</a:t>
            </a:r>
            <a:endParaRPr lang="en-US" sz="1600" dirty="0"/>
          </a:p>
        </p:txBody>
      </p:sp>
      <p:sp>
        <p:nvSpPr>
          <p:cNvPr id="6" name="Text 4"/>
          <p:cNvSpPr txBox="1"/>
          <p:nvPr/>
        </p:nvSpPr>
        <p:spPr>
          <a:xfrm>
            <a:off x="585216" y="1975104"/>
            <a:ext cx="3017520" cy="219456"/>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RISK</a:t>
            </a:r>
            <a:endParaRPr lang="en-US" sz="1400" dirty="0"/>
          </a:p>
        </p:txBody>
      </p:sp>
      <p:sp>
        <p:nvSpPr>
          <p:cNvPr id="7" name="Text 5"/>
          <p:cNvSpPr txBox="1"/>
          <p:nvPr/>
        </p:nvSpPr>
        <p:spPr>
          <a:xfrm>
            <a:off x="4480560" y="1975104"/>
            <a:ext cx="3017520" cy="219456"/>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IMPACT</a:t>
            </a:r>
            <a:endParaRPr lang="en-US" sz="1400" dirty="0"/>
          </a:p>
        </p:txBody>
      </p:sp>
      <p:sp>
        <p:nvSpPr>
          <p:cNvPr id="8" name="Text 6"/>
          <p:cNvSpPr txBox="1"/>
          <p:nvPr/>
        </p:nvSpPr>
        <p:spPr>
          <a:xfrm>
            <a:off x="7863840" y="1975104"/>
            <a:ext cx="3657600" cy="219456"/>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WHAT WE HAVE DONE</a:t>
            </a:r>
            <a:endParaRPr lang="en-US" sz="1400" dirty="0"/>
          </a:p>
        </p:txBody>
      </p:sp>
      <p:sp>
        <p:nvSpPr>
          <p:cNvPr id="9" name="Shape 7"/>
          <p:cNvSpPr/>
          <p:nvPr/>
        </p:nvSpPr>
        <p:spPr>
          <a:xfrm>
            <a:off x="566928" y="2487168"/>
            <a:ext cx="676656" cy="274320"/>
          </a:xfrm>
          <a:prstGeom prst="roundRect">
            <a:avLst>
              <a:gd name="adj" fmla="val 50000"/>
            </a:avLst>
          </a:prstGeom>
          <a:solidFill>
            <a:srgbClr val="FDF0F0"/>
          </a:solidFill>
          <a:ln w="12700">
            <a:solidFill>
              <a:srgbClr val="333333"/>
            </a:solidFill>
            <a:prstDash val="solid"/>
          </a:ln>
        </p:spPr>
      </p:sp>
      <p:sp>
        <p:nvSpPr>
          <p:cNvPr id="10" name="Text 8"/>
          <p:cNvSpPr txBox="1"/>
          <p:nvPr/>
        </p:nvSpPr>
        <p:spPr>
          <a:xfrm>
            <a:off x="566928" y="2487168"/>
            <a:ext cx="676656" cy="274320"/>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GATE</a:t>
            </a:r>
            <a:endParaRPr lang="en-US" sz="1400" dirty="0"/>
          </a:p>
        </p:txBody>
      </p:sp>
      <p:sp>
        <p:nvSpPr>
          <p:cNvPr id="11" name="Text 9"/>
          <p:cNvSpPr txBox="1"/>
          <p:nvPr/>
        </p:nvSpPr>
        <p:spPr>
          <a:xfrm>
            <a:off x="1371600" y="2304288"/>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Managers do not post</a:t>
            </a:r>
            <a:endParaRPr lang="en-US" sz="1550" dirty="0"/>
          </a:p>
        </p:txBody>
      </p:sp>
      <p:sp>
        <p:nvSpPr>
          <p:cNvPr id="12" name="Text 10"/>
          <p:cNvSpPr txBox="1"/>
          <p:nvPr/>
        </p:nvSpPr>
        <p:spPr>
          <a:xfrm>
            <a:off x="4480560" y="2304288"/>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Empty shelves, and the marketplace dies in week one.</a:t>
            </a:r>
            <a:endParaRPr lang="en-US" sz="1450" dirty="0"/>
          </a:p>
        </p:txBody>
      </p:sp>
      <p:sp>
        <p:nvSpPr>
          <p:cNvPr id="13" name="Text 11"/>
          <p:cNvSpPr txBox="1"/>
          <p:nvPr/>
        </p:nvSpPr>
        <p:spPr>
          <a:xfrm>
            <a:off x="7863840" y="2304288"/>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Twenty-five opportunities committed before launch. Six named champions. "Talent Exporter" recognition to ExCo.</a:t>
            </a:r>
            <a:endParaRPr lang="en-US" sz="1450" dirty="0"/>
          </a:p>
        </p:txBody>
      </p:sp>
      <p:sp>
        <p:nvSpPr>
          <p:cNvPr id="14" name="Shape 12"/>
          <p:cNvSpPr/>
          <p:nvPr/>
        </p:nvSpPr>
        <p:spPr>
          <a:xfrm>
            <a:off x="566928" y="3017520"/>
            <a:ext cx="11057839" cy="0"/>
          </a:xfrm>
          <a:prstGeom prst="line">
            <a:avLst/>
          </a:prstGeom>
          <a:noFill/>
          <a:ln w="12700">
            <a:solidFill>
              <a:srgbClr val="E7E1D7"/>
            </a:solidFill>
            <a:prstDash val="solid"/>
          </a:ln>
        </p:spPr>
      </p:sp>
      <p:sp>
        <p:nvSpPr>
          <p:cNvPr id="15" name="Shape 13"/>
          <p:cNvSpPr/>
          <p:nvPr/>
        </p:nvSpPr>
        <p:spPr>
          <a:xfrm>
            <a:off x="566928" y="3273552"/>
            <a:ext cx="676656" cy="274320"/>
          </a:xfrm>
          <a:prstGeom prst="roundRect">
            <a:avLst>
              <a:gd name="adj" fmla="val 50000"/>
            </a:avLst>
          </a:prstGeom>
          <a:solidFill>
            <a:srgbClr val="FDF0F0"/>
          </a:solidFill>
          <a:ln w="12700">
            <a:solidFill>
              <a:srgbClr val="333333"/>
            </a:solidFill>
            <a:prstDash val="solid"/>
          </a:ln>
        </p:spPr>
      </p:sp>
      <p:sp>
        <p:nvSpPr>
          <p:cNvPr id="16" name="Text 14"/>
          <p:cNvSpPr txBox="1"/>
          <p:nvPr/>
        </p:nvSpPr>
        <p:spPr>
          <a:xfrm>
            <a:off x="566928" y="3273552"/>
            <a:ext cx="676656" cy="274320"/>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GATE</a:t>
            </a:r>
            <a:endParaRPr lang="en-US" sz="1400" dirty="0"/>
          </a:p>
        </p:txBody>
      </p:sp>
      <p:sp>
        <p:nvSpPr>
          <p:cNvPr id="17" name="Text 15"/>
          <p:cNvSpPr txBox="1"/>
          <p:nvPr/>
        </p:nvSpPr>
        <p:spPr>
          <a:xfrm>
            <a:off x="1371600" y="3090672"/>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Recruitment declines the source field</a:t>
            </a:r>
            <a:endParaRPr lang="en-US" sz="1550" dirty="0"/>
          </a:p>
        </p:txBody>
      </p:sp>
      <p:sp>
        <p:nvSpPr>
          <p:cNvPr id="18" name="Text 16"/>
          <p:cNvSpPr txBox="1"/>
          <p:nvPr/>
        </p:nvSpPr>
        <p:spPr>
          <a:xfrm>
            <a:off x="4480560" y="3090672"/>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No attributed hire can be proved. We come back in a year with anecdotes.</a:t>
            </a:r>
            <a:endParaRPr lang="en-US" sz="1450" dirty="0"/>
          </a:p>
        </p:txBody>
      </p:sp>
      <p:sp>
        <p:nvSpPr>
          <p:cNvPr id="19" name="Text 17"/>
          <p:cNvSpPr txBox="1"/>
          <p:nvPr/>
        </p:nvSpPr>
        <p:spPr>
          <a:xfrm>
            <a:off x="7863840" y="3090672"/>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Secure it before the build starts. It is a form configuration, not an integration.</a:t>
            </a:r>
            <a:endParaRPr lang="en-US" sz="1450" dirty="0"/>
          </a:p>
        </p:txBody>
      </p:sp>
      <p:sp>
        <p:nvSpPr>
          <p:cNvPr id="20" name="Shape 18"/>
          <p:cNvSpPr/>
          <p:nvPr/>
        </p:nvSpPr>
        <p:spPr>
          <a:xfrm>
            <a:off x="566928" y="3803904"/>
            <a:ext cx="11057839" cy="0"/>
          </a:xfrm>
          <a:prstGeom prst="line">
            <a:avLst/>
          </a:prstGeom>
          <a:noFill/>
          <a:ln w="12700">
            <a:solidFill>
              <a:srgbClr val="E7E1D7"/>
            </a:solidFill>
            <a:prstDash val="solid"/>
          </a:ln>
        </p:spPr>
      </p:sp>
      <p:sp>
        <p:nvSpPr>
          <p:cNvPr id="21" name="Shape 19"/>
          <p:cNvSpPr/>
          <p:nvPr/>
        </p:nvSpPr>
        <p:spPr>
          <a:xfrm>
            <a:off x="566928" y="4059936"/>
            <a:ext cx="676656" cy="274320"/>
          </a:xfrm>
          <a:prstGeom prst="roundRect">
            <a:avLst>
              <a:gd name="adj" fmla="val 50000"/>
            </a:avLst>
          </a:prstGeom>
          <a:solidFill>
            <a:srgbClr val="FBF2E0"/>
          </a:solidFill>
          <a:ln w="12700">
            <a:solidFill>
              <a:srgbClr val="333333"/>
            </a:solidFill>
            <a:prstDash val="solid"/>
          </a:ln>
        </p:spPr>
      </p:sp>
      <p:sp>
        <p:nvSpPr>
          <p:cNvPr id="22" name="Text 20"/>
          <p:cNvSpPr txBox="1"/>
          <p:nvPr/>
        </p:nvSpPr>
        <p:spPr>
          <a:xfrm>
            <a:off x="566928" y="4059936"/>
            <a:ext cx="676656" cy="274320"/>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HIGH</a:t>
            </a:r>
            <a:endParaRPr lang="en-US" sz="1400" dirty="0"/>
          </a:p>
        </p:txBody>
      </p:sp>
      <p:sp>
        <p:nvSpPr>
          <p:cNvPr id="23" name="Text 21"/>
          <p:cNvSpPr txBox="1"/>
          <p:nvPr/>
        </p:nvSpPr>
        <p:spPr>
          <a:xfrm>
            <a:off x="1371600" y="3877056"/>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Employees arrive to an empty profile</a:t>
            </a:r>
            <a:endParaRPr lang="en-US" sz="1550" dirty="0"/>
          </a:p>
        </p:txBody>
      </p:sp>
      <p:sp>
        <p:nvSpPr>
          <p:cNvPr id="24" name="Text 22"/>
          <p:cNvSpPr txBox="1"/>
          <p:nvPr/>
        </p:nvSpPr>
        <p:spPr>
          <a:xfrm>
            <a:off x="4480560" y="3877056"/>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No skills on file means no matches, an empty board, and no second visit.</a:t>
            </a:r>
            <a:endParaRPr lang="en-US" sz="1450" dirty="0"/>
          </a:p>
        </p:txBody>
      </p:sp>
      <p:sp>
        <p:nvSpPr>
          <p:cNvPr id="25" name="Text 23"/>
          <p:cNvSpPr txBox="1"/>
          <p:nvPr/>
        </p:nvSpPr>
        <p:spPr>
          <a:xfrm>
            <a:off x="7863840" y="3877056"/>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Pre-load from MyDevelopment and LinkedIn. Correcting a draft beats authoring one.</a:t>
            </a:r>
            <a:endParaRPr lang="en-US" sz="1450" dirty="0"/>
          </a:p>
        </p:txBody>
      </p:sp>
      <p:sp>
        <p:nvSpPr>
          <p:cNvPr id="26" name="Shape 24"/>
          <p:cNvSpPr/>
          <p:nvPr/>
        </p:nvSpPr>
        <p:spPr>
          <a:xfrm>
            <a:off x="566928" y="4590288"/>
            <a:ext cx="11057839" cy="0"/>
          </a:xfrm>
          <a:prstGeom prst="line">
            <a:avLst/>
          </a:prstGeom>
          <a:noFill/>
          <a:ln w="12700">
            <a:solidFill>
              <a:srgbClr val="E7E1D7"/>
            </a:solidFill>
            <a:prstDash val="solid"/>
          </a:ln>
        </p:spPr>
      </p:sp>
      <p:sp>
        <p:nvSpPr>
          <p:cNvPr id="27" name="Shape 25"/>
          <p:cNvSpPr/>
          <p:nvPr/>
        </p:nvSpPr>
        <p:spPr>
          <a:xfrm>
            <a:off x="566928" y="4846320"/>
            <a:ext cx="676656" cy="274320"/>
          </a:xfrm>
          <a:prstGeom prst="roundRect">
            <a:avLst>
              <a:gd name="adj" fmla="val 50000"/>
            </a:avLst>
          </a:prstGeom>
          <a:solidFill>
            <a:srgbClr val="FBF2E0"/>
          </a:solidFill>
          <a:ln w="12700">
            <a:solidFill>
              <a:srgbClr val="333333"/>
            </a:solidFill>
            <a:prstDash val="solid"/>
          </a:ln>
        </p:spPr>
      </p:sp>
      <p:sp>
        <p:nvSpPr>
          <p:cNvPr id="28" name="Text 26"/>
          <p:cNvSpPr txBox="1"/>
          <p:nvPr/>
        </p:nvSpPr>
        <p:spPr>
          <a:xfrm>
            <a:off x="566928" y="4846320"/>
            <a:ext cx="676656" cy="274320"/>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HIGH</a:t>
            </a:r>
            <a:endParaRPr lang="en-US" sz="1400" dirty="0"/>
          </a:p>
        </p:txBody>
      </p:sp>
      <p:sp>
        <p:nvSpPr>
          <p:cNvPr id="29" name="Text 27"/>
          <p:cNvSpPr txBox="1"/>
          <p:nvPr/>
        </p:nvSpPr>
        <p:spPr>
          <a:xfrm>
            <a:off x="1371600" y="4663440"/>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The retention lift is smaller than modelled</a:t>
            </a:r>
            <a:endParaRPr lang="en-US" sz="1550" dirty="0"/>
          </a:p>
        </p:txBody>
      </p:sp>
      <p:sp>
        <p:nvSpPr>
          <p:cNvPr id="30" name="Text 28"/>
          <p:cNvSpPr txBox="1"/>
          <p:nvPr/>
        </p:nvSpPr>
        <p:spPr>
          <a:xfrm>
            <a:off x="4480560" y="4663440"/>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The benefit case thins. At zero it falls back to the measured floor.</a:t>
            </a:r>
            <a:endParaRPr lang="en-US" sz="1450" dirty="0"/>
          </a:p>
        </p:txBody>
      </p:sp>
      <p:sp>
        <p:nvSpPr>
          <p:cNvPr id="31" name="Text 29"/>
          <p:cNvSpPr txBox="1"/>
          <p:nvPr/>
        </p:nvSpPr>
        <p:spPr>
          <a:xfrm>
            <a:off x="7863840" y="4663440"/>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Already halved from what the data shows. The year-one holdout settles it either way.</a:t>
            </a:r>
            <a:endParaRPr lang="en-US" sz="1450" dirty="0"/>
          </a:p>
        </p:txBody>
      </p:sp>
      <p:sp>
        <p:nvSpPr>
          <p:cNvPr id="32" name="Shape 30"/>
          <p:cNvSpPr/>
          <p:nvPr/>
        </p:nvSpPr>
        <p:spPr>
          <a:xfrm>
            <a:off x="566928" y="5376672"/>
            <a:ext cx="11057839" cy="0"/>
          </a:xfrm>
          <a:prstGeom prst="line">
            <a:avLst/>
          </a:prstGeom>
          <a:noFill/>
          <a:ln w="12700">
            <a:solidFill>
              <a:srgbClr val="E7E1D7"/>
            </a:solidFill>
            <a:prstDash val="solid"/>
          </a:ln>
        </p:spPr>
      </p:sp>
      <p:sp>
        <p:nvSpPr>
          <p:cNvPr id="33" name="Shape 31"/>
          <p:cNvSpPr/>
          <p:nvPr/>
        </p:nvSpPr>
        <p:spPr>
          <a:xfrm>
            <a:off x="566928" y="5632704"/>
            <a:ext cx="676656" cy="274320"/>
          </a:xfrm>
          <a:prstGeom prst="roundRect">
            <a:avLst>
              <a:gd name="adj" fmla="val 50000"/>
            </a:avLst>
          </a:prstGeom>
          <a:solidFill>
            <a:srgbClr val="ECEAE5"/>
          </a:solidFill>
          <a:ln w="12700">
            <a:solidFill>
              <a:srgbClr val="333333"/>
            </a:solidFill>
            <a:prstDash val="solid"/>
          </a:ln>
        </p:spPr>
      </p:sp>
      <p:sp>
        <p:nvSpPr>
          <p:cNvPr id="34" name="Text 32"/>
          <p:cNvSpPr txBox="1"/>
          <p:nvPr/>
        </p:nvSpPr>
        <p:spPr>
          <a:xfrm>
            <a:off x="566928" y="5632704"/>
            <a:ext cx="676656" cy="274320"/>
          </a:xfrm>
          <a:prstGeom prst="rect">
            <a:avLst/>
          </a:prstGeom>
          <a:noFill/>
          <a:ln/>
        </p:spPr>
        <p:txBody>
          <a:bodyPr wrap="square" lIns="0" tIns="0" rIns="0" bIns="0" rtlCol="0" anchor="ctr"/>
          <a:lstStyle/>
          <a:p>
            <a:pPr algn="ctr" indent="0" marL="0">
              <a:buNone/>
            </a:pPr>
            <a:r>
              <a:rPr lang="en-US" sz="1400" b="1" dirty="0">
                <a:solidFill>
                  <a:srgbClr val="858D9B"/>
                </a:solidFill>
                <a:latin typeface="Arial" pitchFamily="34" charset="0"/>
                <a:ea typeface="Arial" pitchFamily="34" charset="-122"/>
                <a:cs typeface="Arial" pitchFamily="34" charset="-120"/>
              </a:rPr>
              <a:t>MED</a:t>
            </a:r>
            <a:endParaRPr lang="en-US" sz="1400" dirty="0"/>
          </a:p>
        </p:txBody>
      </p:sp>
      <p:sp>
        <p:nvSpPr>
          <p:cNvPr id="35" name="Text 33"/>
          <p:cNvSpPr txBox="1"/>
          <p:nvPr/>
        </p:nvSpPr>
        <p:spPr>
          <a:xfrm>
            <a:off x="1371600" y="5449824"/>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Build overruns</a:t>
            </a:r>
            <a:endParaRPr lang="en-US" sz="1550" dirty="0"/>
          </a:p>
        </p:txBody>
      </p:sp>
      <p:sp>
        <p:nvSpPr>
          <p:cNvPr id="36" name="Text 34"/>
          <p:cNvSpPr txBox="1"/>
          <p:nvPr/>
        </p:nvSpPr>
        <p:spPr>
          <a:xfrm>
            <a:off x="4480560" y="5449824"/>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Three-year cost rises toward ₱2.9M; ratio falls to about 3.2.</a:t>
            </a:r>
            <a:endParaRPr lang="en-US" sz="1450" dirty="0"/>
          </a:p>
        </p:txBody>
      </p:sp>
      <p:sp>
        <p:nvSpPr>
          <p:cNvPr id="37" name="Text 35"/>
          <p:cNvSpPr txBox="1"/>
          <p:nvPr/>
        </p:nvSpPr>
        <p:spPr>
          <a:xfrm>
            <a:off x="7863840" y="5449824"/>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Still clears, and still far under the vendor bands.</a:t>
            </a:r>
            <a:endParaRPr lang="en-US" sz="1450" dirty="0"/>
          </a:p>
        </p:txBody>
      </p:sp>
      <p:sp>
        <p:nvSpPr>
          <p:cNvPr id="38" name="Text 36"/>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Home Credit Philippines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Growth — a talent marketplace for Home Credit PH</dc:title>
  <dc:subject>PptxGenJS Presentation</dc:subject>
  <dc:creator>Ruffa Gayla Gonzales</dc:creator>
  <cp:lastModifiedBy>Ruffa Gayla Gonzales</cp:lastModifiedBy>
  <cp:revision>1</cp:revision>
  <dcterms:created xsi:type="dcterms:W3CDTF">2026-09-16T16:39:21Z</dcterms:created>
  <dcterms:modified xsi:type="dcterms:W3CDTF">2026-09-16T16:39:21Z</dcterms:modified>
</cp:coreProperties>
</file>