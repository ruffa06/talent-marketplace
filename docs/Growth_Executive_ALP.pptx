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Fifteen minutes: roughly seven on the deck, eight in the product. I will show you the problem, show you the thing working, then show you the money.
One sentence up front: we fill 17% of our roles from the inside, the benchmark is 30%, and the gap is costing us about 5.3 million pesos a year. Growth closes it for 2.05 million over three years, which is 614 pesos per employee per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case on one slide. Everything after it is evidence.
The 17% is ours: 170 accepted out of 1,008 vacancies posted between 2024 and 2026. The 30% is the published market benchmark for internal fill; mature marketplaces run 40-50%.
The 67/38 number is the one I would hold onto. It is not modelled, it is a headcount we can check in the HRIS: 67 people raised their hand in 2025, we told them no, and 29 of them have since left. That is 43% versus a company average of 19%.
If asked "is this causal" — no, not proven. It is an association, and the exposure window runs longer than a year so the true excess is smaller than 24 points. I model it at 15. The holdout in the adoption plan is how we settle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funnel left to right and it looks like a selection problem. It is not.
463 applications across three years, from a company of 20,587 people. That is the real number: fewer than eight internal applications a week, company-wide. People are not being rejected in droves — they are not applying, because they cannot see the roles.
The bottom band is the part that should worry us. 67 people put their hand up in 2025 and we said no. 29 have left. At a 19% company average we would have expected 13. So 16 people left who probably would not have, and at a blended Band B/C replacement cost of 508,194 pesos that is 8.3 million pesos of avoidable replacement spend, concentrated entirely in people who had already told us they wanted to stay and grow.
If asked: yes, some of those 29 would have left anyway, and yes, the window is longer than twelve months. That is exactly why I discount the effect by half everywhere in the financials.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to twenty seconds. It is the bridge between the problem and the product.
The point to land: every one of these three is a systems gap, not a talent gap or a manager-attitude gap. That matters because it means the fix is buildable rather than cultural, and buildable things have costs and timelines you can approve.
If a panel member pushes on manager hoarding — it is real, and it is on the risk slide. But hoarding cannot explain 463 applications; you cannot hoard a role nobody applied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Thirty seconds, then straight into the demo.
The four shelves matter because a vacancy is a once-a-year event but a gig is a once-a-month one. If the only thing on the marketplace is permanent roles, most people have no reason to come back, and the people we turn down leave with nothing. The gigs, immersions and service offers are the second door — and they are the answer to the 67/38 problem.
On the AI: it is Claude, called in batch when a post goes live. It scores against verified skills, self-declared skills, stated aspiration and track record. The reasoning is shown on every card, and a low score never stops anyone applying. That was a deliberate design decision — an opaque gate would have killed trust in week one.
Cost of the AI is 40,544 pesos a year at 1,113 people. It is on the cost slide and it is not inside IT's 1,785,500 build figure.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Eight minutes. Four beats, in this order, and do not improvise beyond them.
1. Sign in as Taylor Swift. Go to My Matches. Point out that the matches are 80% and above, and read one "why this score" line out loud. The panel needs to hear that the machine explains itself.
2. Go to My Profile and add a skill. Come back to My Matches. New opportunities appear. This is the single most persuasive twenty seconds in the demo — the marketplace is live, not a mockup.
3. Switch role to a manager. Post a gig. Switch to HR admin, approve it. Switch back to employee, and it is on the shelf with an applicant count. This proves the full loop, including governance.
4. Close out a completed immersion with a rating, then open the employee profile and show it recorded there. That is how a skill becomes verified rather than claimed.
If the demo fails: the screenshots in the appendix cover beats 1 and 3. Do not spend more than thirty seconds troubleshooting.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the CFO will test. Three things to say before being asked.
FIRST — the hiring-cost row is small on purpose. A Band C hire costs 35,367 pesos through TA. Of that, 3,378 is HR and TA cost per hire which we still pay on an internal move, so it is not a saving. And filling a Band C role internally creates a Band B vacancy we then hire for externally at 6,977. Net of both, one Band C internal fill saves 25,012 pesos of hiring cost, not 35,367. I have netted the backfill everywhere.
SECOND — vacancy days. 58 days to fill externally versus 21 internally. 37 days saved on the senior role at its own day rate, minus 58 days on the backfilled seat at its lower day rate. That nets to 61,247 on a Band C move. It is lost output, not cash.
THIRD — turnover is the biggest line and it rests on the measured 67/38 cohort, discounted from 24 points of excess attrition to 15, and priced at 75% of blended Band B/C annual basic, which is 508,194.
If challenged that 5.3 million is too small to matter: agreed, on its own. The point is that we capture it for 614 pesos per employee per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exists because "let us get to 30%" is the kind of target that gets approved and then quietly missed. The arithmetic says why.
463 applications produced 170 hires over three years — a 37% success rate. If that rate holds, 30% of 336 vacancies means 101 internal hires a year, which needs 275 applications, up from 154. Nearly double.
The catch is genuine and I would rather raise it than have it raised at me. Doubling applications while holding the success rate means rejecting 174 people a year instead of 98. Our own data says a rejected internal applicant leaves at 43%. Scale that naively and we would be building a machine that generates attrition.
The four shelves are the mitigation. A vacancy is zero-sum — one slot, one winner. A gig is not. An immersion is not. A service offer is not. Those absorb the people a vacancy turns away, and they are the reason the retention benefit in the model is defensible rather than wishful.
This is the answer if anyone asks what is actually innovative here versus a job 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numbers to hold: 2.05 million over three years, 614 pesos per employee per year, twelve-month payback.
On the two ratios. 4.6 is the expected case and it includes retention across the 174 people a year who take a gig, an immersion or a service offer — that stream is a judgement, discounted from a 13-point observed gap in the v1 data to 3 points. 1.1 is the floor: it counts only the extra internal fills and the turnover we can measure on the 67/38 cohort, and nothing else. I am showing both deliberately. The honest position is that this clears on measured benefits alone, and clears comfortably once the shelves work.
On the build: 1,785,500 is IT's own man-hour costing, not my estimate. It excludes AI, which is why Claude sits on its own line at 40,544 a year. Our earlier bottom-up planning estimate was 873,000 — IT's number is higher and I am using theirs.
On buying: nobody in that vendor set publishes per-seat pricing, so treat the band as an RFP planning range. At 1,113 seats the binding constraint is their minimum contract value, not the rate. The break-even framing survives even if the band is wrong by half.
Excluded from the cost, and material: 0.2 to 0.3 FTE of internal ownership from year two. At 0.25 FTE the three-year cost is about 3.4 million and the expected ratio falls to roughly 2.8.
Break-even is 17 extra internal fills across the three years — about six a year, against roughly 60 internal requisitions a year in the pilot.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Forty seconds. Do not read the right column — the panel can read.
The line that matters is the one at the bottom. Every skills-inventory project this company has attempted has died because nobody maintains the data. Growth solves the maintenance problem by making the data the thing that gets you matched. The inventory is a by-product of people pursuing their own interest, which is the only kind of data that stays current.
If the Chief AI Officer asks where AI actually sits: it reads job posts and profiles and produces an explained score. It is not making selection decisions, it is not ranking people against each other, and it does not gate applications. That was a design constraint from the start, and it is what keeps this inside policy.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failure mode for every internal marketplace is the same: it launches, it is empty, people look once and never return. So the first three items all happen before anyone is invited in.
On seeding skills — this is why MyDevelopment and LinkedIn matter. A blank profile is a dead profile. If we pre-fill from records we already hold and ask the employee to correct rather than author, completion goes from a twenty-minute chore to a two-minute one. Data protection position: LinkedIn data is employee-supplied and opt-in, and the DPIA covers it.
On the quarterly email — this is the mechanism that does the heavy lifting on the previous slide. We need applications to go from 154 to 275 a year. A quarterly note saying "here are your three best matches, by name" is the cheapest way to get there. It costs 15,987 pesos a year, it is on the cost slide, and it is the line I would defend last if the budget were cut.
On measurement — the holdout is not optional. It is what turns the retention number from an argument into a finding, and it is what I would want to bring back to this room in twelve months.
Further comms detail if asked: the launch film features one real internal mover telling their own story; a monthly "new on the shelves" digest; and a standing item in the ExCo pack showing posts, applications and fills by function — visibility of who is NOT posting is what moves managers.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three asks and then stop talking. Do not summarise.
The second ask is the one people underestimate. Without a "Growth Marketplace" source value in HC Connect, every internal hire that came through the marketplace is invisible in our own data and gets attributed to the recruitment tool. It costs nothing and it is the difference between coming back here in a year with evidence and coming back with anecdotes. Get it agreed before the build starts, not after.
The third ask is the one that determines whether this works. Six managers, each committing one gig or one immersion before launch. If nobody in this room will name them, the honest answer is that the organisation is not ready and we should not spend the 1.78 million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to turn to when someone says the hiring-cost saving looks small.
It is small, and that is the honest answer. Internal mobility does not eliminate a hire — it moves the hire one band down the chain, where it is cheaper and faster but not free. Most business cases for talent marketplaces quietly skip this. Ours does not.
The earlier draft of this business case used a 350,000-peso avoided agency fee per internal fill. I retired it: it was cited to the v1 paper, that paper does not contain it, and it conflicts with TA's own 2025 cost-per-hire file. Everything here now comes from that file and from Payroll.
Where the value genuinely is: the 158,510 of output we keep by filling a Band C role in 21 days instead of 58, and the 76,229 of replacement cost we do not pay because the person stayed.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present this. It is here so that any number challenged from the floor can be answered by turning to one slide.
The division is deliberate: the left column is data we hold and can re-pull, the right column is judgement. If a panel member wants to argue, point them at the right column — that is where the argument is, and I have already taken the conservative side of every item in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of these are gates rather than risks: manager supply and the source field. Both are decisions this room can make today, both cost nothing, and the project should not start without them. Saying that out loud is what makes the rest of the risk table credible.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2437"/>
        </a:solidFill>
      </p:bgPr>
    </p:bg>
    <p:spTree>
      <p:nvGrpSpPr>
        <p:cNvPr id="1" name=""/>
        <p:cNvGrpSpPr/>
        <p:nvPr/>
      </p:nvGrpSpPr>
      <p:grpSpPr>
        <a:xfrm>
          <a:off x="0" y="0"/>
          <a:ext cx="0" cy="0"/>
          <a:chOff x="0" y="0"/>
          <a:chExt cx="0" cy="0"/>
        </a:xfrm>
      </p:grpSpPr>
      <p:sp>
        <p:nvSpPr>
          <p:cNvPr id="2" name="Shape 0"/>
          <p:cNvSpPr/>
          <p:nvPr/>
        </p:nvSpPr>
        <p:spPr>
          <a:xfrm>
            <a:off x="0" y="0"/>
            <a:ext cx="237744" cy="6858000"/>
          </a:xfrm>
          <a:prstGeom prst="rect">
            <a:avLst/>
          </a:prstGeom>
          <a:solidFill>
            <a:srgbClr val="C00000"/>
          </a:solidFill>
          <a:ln w="12700">
            <a:solidFill>
              <a:srgbClr val="333333"/>
            </a:solidFill>
            <a:prstDash val="solid"/>
          </a:ln>
        </p:spPr>
      </p:sp>
      <p:pic>
        <p:nvPicPr>
          <p:cNvPr id="3" name="Image 0" descr="preencoded.png">    </p:cNvPr>
          <p:cNvPicPr>
            <a:picLocks noChangeAspect="1"/>
          </p:cNvPicPr>
          <p:nvPr/>
        </p:nvPicPr>
        <p:blipFill>
          <a:blip r:embed="rId1"/>
          <a:stretch>
            <a:fillRect/>
          </a:stretch>
        </p:blipFill>
        <p:spPr>
          <a:xfrm>
            <a:off x="1051560" y="1188720"/>
            <a:ext cx="749808" cy="749808"/>
          </a:xfrm>
          <a:prstGeom prst="rect">
            <a:avLst/>
          </a:prstGeom>
        </p:spPr>
      </p:pic>
      <p:sp>
        <p:nvSpPr>
          <p:cNvPr id="4" name="Text 1"/>
          <p:cNvSpPr txBox="1"/>
          <p:nvPr/>
        </p:nvSpPr>
        <p:spPr>
          <a:xfrm>
            <a:off x="1051560" y="2103120"/>
            <a:ext cx="8229600" cy="960120"/>
          </a:xfrm>
          <a:prstGeom prst="rect">
            <a:avLst/>
          </a:prstGeom>
          <a:noFill/>
          <a:ln/>
        </p:spPr>
        <p:txBody>
          <a:bodyPr wrap="square" lIns="0" tIns="0" rIns="0" bIns="0" rtlCol="0" anchor="ctr"/>
          <a:lstStyle/>
          <a:p>
            <a:pPr indent="0" marL="0">
              <a:buNone/>
            </a:pPr>
            <a:r>
              <a:rPr lang="en-US" sz="6200" b="1" dirty="0">
                <a:solidFill>
                  <a:srgbClr val="FFFFFF"/>
                </a:solidFill>
                <a:latin typeface="Arial" pitchFamily="34" charset="0"/>
                <a:ea typeface="Arial" pitchFamily="34" charset="-122"/>
                <a:cs typeface="Arial" pitchFamily="34" charset="-120"/>
              </a:rPr>
              <a:t>Growth</a:t>
            </a:r>
            <a:endParaRPr lang="en-US" sz="6200" dirty="0"/>
          </a:p>
        </p:txBody>
      </p:sp>
      <p:sp>
        <p:nvSpPr>
          <p:cNvPr id="5" name="Text 2"/>
          <p:cNvSpPr txBox="1"/>
          <p:nvPr/>
        </p:nvSpPr>
        <p:spPr>
          <a:xfrm>
            <a:off x="1051560" y="3072384"/>
            <a:ext cx="8595360" cy="384048"/>
          </a:xfrm>
          <a:prstGeom prst="rect">
            <a:avLst/>
          </a:prstGeom>
          <a:noFill/>
          <a:ln/>
        </p:spPr>
        <p:txBody>
          <a:bodyPr wrap="square" lIns="0" tIns="0" rIns="0" bIns="0" rtlCol="0" anchor="ctr"/>
          <a:lstStyle/>
          <a:p>
            <a:pPr indent="0" marL="0">
              <a:buNone/>
            </a:pPr>
            <a:r>
              <a:rPr lang="en-US" sz="2000" dirty="0">
                <a:solidFill>
                  <a:srgbClr val="D8CFC2"/>
                </a:solidFill>
                <a:latin typeface="Arial" pitchFamily="34" charset="0"/>
                <a:ea typeface="Arial" pitchFamily="34" charset="-122"/>
                <a:cs typeface="Arial" pitchFamily="34" charset="-120"/>
              </a:rPr>
              <a:t>An internal talent marketplace for Home Credit Philippines</a:t>
            </a:r>
            <a:endParaRPr lang="en-US" sz="2000" dirty="0"/>
          </a:p>
        </p:txBody>
      </p:sp>
      <p:sp>
        <p:nvSpPr>
          <p:cNvPr id="6" name="Shape 3"/>
          <p:cNvSpPr/>
          <p:nvPr/>
        </p:nvSpPr>
        <p:spPr>
          <a:xfrm>
            <a:off x="1051560" y="3657600"/>
            <a:ext cx="1371600" cy="54864"/>
          </a:xfrm>
          <a:prstGeom prst="rect">
            <a:avLst/>
          </a:prstGeom>
          <a:solidFill>
            <a:srgbClr val="E11D26"/>
          </a:solidFill>
          <a:ln w="12700">
            <a:solidFill>
              <a:srgbClr val="333333"/>
            </a:solidFill>
            <a:prstDash val="solid"/>
          </a:ln>
        </p:spPr>
      </p:sp>
      <p:sp>
        <p:nvSpPr>
          <p:cNvPr id="7" name="Text 4"/>
          <p:cNvSpPr txBox="1"/>
          <p:nvPr/>
        </p:nvSpPr>
        <p:spPr>
          <a:xfrm>
            <a:off x="1051560" y="3913632"/>
            <a:ext cx="10241280" cy="310896"/>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Action Learning Project</a:t>
            </a:r>
            <a:pPr indent="0" marL="0">
              <a:buNone/>
            </a:pPr>
            <a:r>
              <a:rPr lang="en-US" sz="1600" dirty="0">
                <a:solidFill>
                  <a:srgbClr val="A79C8C"/>
                </a:solidFill>
                <a:latin typeface="Arial" pitchFamily="34" charset="0"/>
                <a:ea typeface="Arial" pitchFamily="34" charset="-122"/>
                <a:cs typeface="Arial" pitchFamily="34" charset="-120"/>
              </a:rPr>
              <a:t>   ·   Ruffa Gayla Gonzales, Organisational Effectiveness   ·   September 2026</a:t>
            </a:r>
            <a:endParaRPr lang="en-US" sz="1600" dirty="0"/>
          </a:p>
        </p:txBody>
      </p:sp>
      <p:sp>
        <p:nvSpPr>
          <p:cNvPr id="8" name="Shape 5"/>
          <p:cNvSpPr/>
          <p:nvPr/>
        </p:nvSpPr>
        <p:spPr>
          <a:xfrm>
            <a:off x="1051560" y="4828032"/>
            <a:ext cx="1965960" cy="0"/>
          </a:xfrm>
          <a:prstGeom prst="line">
            <a:avLst/>
          </a:prstGeom>
          <a:noFill/>
          <a:ln w="12700">
            <a:solidFill>
              <a:srgbClr val="3E4757"/>
            </a:solidFill>
            <a:prstDash val="solid"/>
          </a:ln>
        </p:spPr>
      </p:sp>
      <p:sp>
        <p:nvSpPr>
          <p:cNvPr id="9" name="Text 6"/>
          <p:cNvSpPr txBox="1"/>
          <p:nvPr/>
        </p:nvSpPr>
        <p:spPr>
          <a:xfrm>
            <a:off x="1051560" y="4919472"/>
            <a:ext cx="2011680" cy="420624"/>
          </a:xfrm>
          <a:prstGeom prst="rect">
            <a:avLst/>
          </a:prstGeom>
          <a:noFill/>
          <a:ln/>
        </p:spPr>
        <p:txBody>
          <a:bodyPr wrap="square" lIns="0" tIns="0" rIns="0" bIns="0" rtlCol="0" anchor="ctr"/>
          <a:lstStyle/>
          <a:p>
            <a:pPr indent="0" marL="0">
              <a:buNone/>
            </a:pPr>
            <a:r>
              <a:rPr lang="en-US" sz="2800" b="1" dirty="0">
                <a:solidFill>
                  <a:srgbClr val="E11D26"/>
                </a:solidFill>
                <a:latin typeface="Arial" pitchFamily="34" charset="0"/>
                <a:ea typeface="Arial" pitchFamily="34" charset="-122"/>
                <a:cs typeface="Arial" pitchFamily="34" charset="-120"/>
              </a:rPr>
              <a:t>17%</a:t>
            </a:r>
            <a:endParaRPr lang="en-US" sz="2800" dirty="0"/>
          </a:p>
        </p:txBody>
      </p:sp>
      <p:sp>
        <p:nvSpPr>
          <p:cNvPr id="10" name="Text 7"/>
          <p:cNvSpPr txBox="1"/>
          <p:nvPr/>
        </p:nvSpPr>
        <p:spPr>
          <a:xfrm>
            <a:off x="1051560" y="5358384"/>
            <a:ext cx="2011680" cy="512064"/>
          </a:xfrm>
          <a:prstGeom prst="rect">
            <a:avLst/>
          </a:prstGeom>
          <a:noFill/>
          <a:ln/>
        </p:spPr>
        <p:txBody>
          <a:bodyPr wrap="square" lIns="0" tIns="0" rIns="0" bIns="0" rtlCol="0" anchor="t"/>
          <a:lstStyle/>
          <a:p>
            <a:pPr indent="0" marL="0">
              <a:lnSpc>
                <a:spcPts val="1700"/>
              </a:lnSpc>
              <a:buNone/>
            </a:pPr>
            <a:r>
              <a:rPr lang="en-US" sz="1400" dirty="0">
                <a:solidFill>
                  <a:srgbClr val="9A9080"/>
                </a:solidFill>
                <a:latin typeface="Arial" pitchFamily="34" charset="0"/>
                <a:ea typeface="Arial" pitchFamily="34" charset="-122"/>
                <a:cs typeface="Arial" pitchFamily="34" charset="-120"/>
              </a:rPr>
              <a:t>of roles filled</a:t>
            </a:r>
            <a:endParaRPr lang="en-US" sz="1400" dirty="0"/>
          </a:p>
          <a:p>
            <a:pPr indent="0" marL="0">
              <a:lnSpc>
                <a:spcPts val="1700"/>
              </a:lnSpc>
              <a:buNone/>
            </a:pPr>
            <a:r>
              <a:rPr lang="en-US" sz="1400" dirty="0">
                <a:solidFill>
                  <a:srgbClr val="9A9080"/>
                </a:solidFill>
                <a:latin typeface="Arial" pitchFamily="34" charset="0"/>
                <a:ea typeface="Arial" pitchFamily="34" charset="-122"/>
                <a:cs typeface="Arial" pitchFamily="34" charset="-120"/>
              </a:rPr>
              <a:t>from inside</a:t>
            </a:r>
            <a:endParaRPr lang="en-US" sz="1400" dirty="0"/>
          </a:p>
        </p:txBody>
      </p:sp>
      <p:sp>
        <p:nvSpPr>
          <p:cNvPr id="11" name="Shape 8"/>
          <p:cNvSpPr/>
          <p:nvPr/>
        </p:nvSpPr>
        <p:spPr>
          <a:xfrm>
            <a:off x="3383280" y="4828032"/>
            <a:ext cx="1965960" cy="0"/>
          </a:xfrm>
          <a:prstGeom prst="line">
            <a:avLst/>
          </a:prstGeom>
          <a:noFill/>
          <a:ln w="12700">
            <a:solidFill>
              <a:srgbClr val="3E4757"/>
            </a:solidFill>
            <a:prstDash val="solid"/>
          </a:ln>
        </p:spPr>
      </p:sp>
      <p:sp>
        <p:nvSpPr>
          <p:cNvPr id="12" name="Text 9"/>
          <p:cNvSpPr txBox="1"/>
          <p:nvPr/>
        </p:nvSpPr>
        <p:spPr>
          <a:xfrm>
            <a:off x="3383280" y="4919472"/>
            <a:ext cx="2011680" cy="420624"/>
          </a:xfrm>
          <a:prstGeom prst="rect">
            <a:avLst/>
          </a:prstGeom>
          <a:noFill/>
          <a:ln/>
        </p:spPr>
        <p:txBody>
          <a:bodyPr wrap="square" lIns="0" tIns="0" rIns="0" bIns="0" rtlCol="0" anchor="ctr"/>
          <a:lstStyle/>
          <a:p>
            <a:pPr indent="0" marL="0">
              <a:buNone/>
            </a:pPr>
            <a:r>
              <a:rPr lang="en-US" sz="2800" b="1" dirty="0">
                <a:solidFill>
                  <a:srgbClr val="FFFFFF"/>
                </a:solidFill>
                <a:latin typeface="Arial" pitchFamily="34" charset="0"/>
                <a:ea typeface="Arial" pitchFamily="34" charset="-122"/>
                <a:cs typeface="Arial" pitchFamily="34" charset="-120"/>
              </a:rPr>
              <a:t>₱5.3M</a:t>
            </a:r>
            <a:endParaRPr lang="en-US" sz="2800" dirty="0"/>
          </a:p>
        </p:txBody>
      </p:sp>
      <p:sp>
        <p:nvSpPr>
          <p:cNvPr id="13" name="Text 10"/>
          <p:cNvSpPr txBox="1"/>
          <p:nvPr/>
        </p:nvSpPr>
        <p:spPr>
          <a:xfrm>
            <a:off x="3383280" y="5358384"/>
            <a:ext cx="2011680" cy="512064"/>
          </a:xfrm>
          <a:prstGeom prst="rect">
            <a:avLst/>
          </a:prstGeom>
          <a:noFill/>
          <a:ln/>
        </p:spPr>
        <p:txBody>
          <a:bodyPr wrap="square" lIns="0" tIns="0" rIns="0" bIns="0" rtlCol="0" anchor="t"/>
          <a:lstStyle/>
          <a:p>
            <a:pPr indent="0" marL="0">
              <a:lnSpc>
                <a:spcPts val="1700"/>
              </a:lnSpc>
              <a:buNone/>
            </a:pPr>
            <a:r>
              <a:rPr lang="en-US" sz="1400" dirty="0">
                <a:solidFill>
                  <a:srgbClr val="9A9080"/>
                </a:solidFill>
                <a:latin typeface="Arial" pitchFamily="34" charset="0"/>
                <a:ea typeface="Arial" pitchFamily="34" charset="-122"/>
                <a:cs typeface="Arial" pitchFamily="34" charset="-120"/>
              </a:rPr>
              <a:t>a year that</a:t>
            </a:r>
            <a:endParaRPr lang="en-US" sz="1400" dirty="0"/>
          </a:p>
          <a:p>
            <a:pPr indent="0" marL="0">
              <a:lnSpc>
                <a:spcPts val="1700"/>
              </a:lnSpc>
              <a:buNone/>
            </a:pPr>
            <a:r>
              <a:rPr lang="en-US" sz="1400" dirty="0">
                <a:solidFill>
                  <a:srgbClr val="9A9080"/>
                </a:solidFill>
                <a:latin typeface="Arial" pitchFamily="34" charset="0"/>
                <a:ea typeface="Arial" pitchFamily="34" charset="-122"/>
                <a:cs typeface="Arial" pitchFamily="34" charset="-120"/>
              </a:rPr>
              <a:t>costs us</a:t>
            </a:r>
            <a:endParaRPr lang="en-US" sz="1400" dirty="0"/>
          </a:p>
        </p:txBody>
      </p:sp>
      <p:sp>
        <p:nvSpPr>
          <p:cNvPr id="14" name="Shape 11"/>
          <p:cNvSpPr/>
          <p:nvPr/>
        </p:nvSpPr>
        <p:spPr>
          <a:xfrm>
            <a:off x="5715000" y="4828032"/>
            <a:ext cx="1965960" cy="0"/>
          </a:xfrm>
          <a:prstGeom prst="line">
            <a:avLst/>
          </a:prstGeom>
          <a:noFill/>
          <a:ln w="12700">
            <a:solidFill>
              <a:srgbClr val="3E4757"/>
            </a:solidFill>
            <a:prstDash val="solid"/>
          </a:ln>
        </p:spPr>
      </p:sp>
      <p:sp>
        <p:nvSpPr>
          <p:cNvPr id="15" name="Text 12"/>
          <p:cNvSpPr txBox="1"/>
          <p:nvPr/>
        </p:nvSpPr>
        <p:spPr>
          <a:xfrm>
            <a:off x="5715000" y="4919472"/>
            <a:ext cx="2011680" cy="420624"/>
          </a:xfrm>
          <a:prstGeom prst="rect">
            <a:avLst/>
          </a:prstGeom>
          <a:noFill/>
          <a:ln/>
        </p:spPr>
        <p:txBody>
          <a:bodyPr wrap="square" lIns="0" tIns="0" rIns="0" bIns="0" rtlCol="0" anchor="ctr"/>
          <a:lstStyle/>
          <a:p>
            <a:pPr indent="0" marL="0">
              <a:buNone/>
            </a:pPr>
            <a:r>
              <a:rPr lang="en-US" sz="2800" b="1" dirty="0">
                <a:solidFill>
                  <a:srgbClr val="FFFFFF"/>
                </a:solidFill>
                <a:latin typeface="Arial" pitchFamily="34" charset="0"/>
                <a:ea typeface="Arial" pitchFamily="34" charset="-122"/>
                <a:cs typeface="Arial" pitchFamily="34" charset="-120"/>
              </a:rPr>
              <a:t>₱2.05M</a:t>
            </a:r>
            <a:endParaRPr lang="en-US" sz="2800" dirty="0"/>
          </a:p>
        </p:txBody>
      </p:sp>
      <p:sp>
        <p:nvSpPr>
          <p:cNvPr id="16" name="Text 13"/>
          <p:cNvSpPr txBox="1"/>
          <p:nvPr/>
        </p:nvSpPr>
        <p:spPr>
          <a:xfrm>
            <a:off x="5715000" y="5358384"/>
            <a:ext cx="2011680" cy="512064"/>
          </a:xfrm>
          <a:prstGeom prst="rect">
            <a:avLst/>
          </a:prstGeom>
          <a:noFill/>
          <a:ln/>
        </p:spPr>
        <p:txBody>
          <a:bodyPr wrap="square" lIns="0" tIns="0" rIns="0" bIns="0" rtlCol="0" anchor="t"/>
          <a:lstStyle/>
          <a:p>
            <a:pPr indent="0" marL="0">
              <a:lnSpc>
                <a:spcPts val="1700"/>
              </a:lnSpc>
              <a:buNone/>
            </a:pPr>
            <a:r>
              <a:rPr lang="en-US" sz="1400" dirty="0">
                <a:solidFill>
                  <a:srgbClr val="9A9080"/>
                </a:solidFill>
                <a:latin typeface="Arial" pitchFamily="34" charset="0"/>
                <a:ea typeface="Arial" pitchFamily="34" charset="-122"/>
                <a:cs typeface="Arial" pitchFamily="34" charset="-120"/>
              </a:rPr>
              <a:t>to build and run</a:t>
            </a:r>
            <a:endParaRPr lang="en-US" sz="1400" dirty="0"/>
          </a:p>
          <a:p>
            <a:pPr indent="0" marL="0">
              <a:lnSpc>
                <a:spcPts val="1700"/>
              </a:lnSpc>
              <a:buNone/>
            </a:pPr>
            <a:r>
              <a:rPr lang="en-US" sz="1400" dirty="0">
                <a:solidFill>
                  <a:srgbClr val="9A9080"/>
                </a:solidFill>
                <a:latin typeface="Arial" pitchFamily="34" charset="0"/>
                <a:ea typeface="Arial" pitchFamily="34" charset="-122"/>
                <a:cs typeface="Arial" pitchFamily="34" charset="-120"/>
              </a:rPr>
              <a:t>for three years</a:t>
            </a:r>
            <a:endParaRPr lang="en-US" sz="1400" dirty="0"/>
          </a:p>
        </p:txBody>
      </p:sp>
      <p:sp>
        <p:nvSpPr>
          <p:cNvPr id="17" name="Shape 14"/>
          <p:cNvSpPr/>
          <p:nvPr/>
        </p:nvSpPr>
        <p:spPr>
          <a:xfrm>
            <a:off x="8046720" y="4828032"/>
            <a:ext cx="1965960" cy="0"/>
          </a:xfrm>
          <a:prstGeom prst="line">
            <a:avLst/>
          </a:prstGeom>
          <a:noFill/>
          <a:ln w="12700">
            <a:solidFill>
              <a:srgbClr val="3E4757"/>
            </a:solidFill>
            <a:prstDash val="solid"/>
          </a:ln>
        </p:spPr>
      </p:sp>
      <p:sp>
        <p:nvSpPr>
          <p:cNvPr id="18" name="Text 15"/>
          <p:cNvSpPr txBox="1"/>
          <p:nvPr/>
        </p:nvSpPr>
        <p:spPr>
          <a:xfrm>
            <a:off x="8046720" y="4919472"/>
            <a:ext cx="2011680" cy="420624"/>
          </a:xfrm>
          <a:prstGeom prst="rect">
            <a:avLst/>
          </a:prstGeom>
          <a:noFill/>
          <a:ln/>
        </p:spPr>
        <p:txBody>
          <a:bodyPr wrap="square" lIns="0" tIns="0" rIns="0" bIns="0" rtlCol="0" anchor="ctr"/>
          <a:lstStyle/>
          <a:p>
            <a:pPr indent="0" marL="0">
              <a:buNone/>
            </a:pPr>
            <a:r>
              <a:rPr lang="en-US" sz="2800" b="1" dirty="0">
                <a:solidFill>
                  <a:srgbClr val="FFFFFF"/>
                </a:solidFill>
                <a:latin typeface="Arial" pitchFamily="34" charset="0"/>
                <a:ea typeface="Arial" pitchFamily="34" charset="-122"/>
                <a:cs typeface="Arial" pitchFamily="34" charset="-120"/>
              </a:rPr>
              <a:t>12 mo</a:t>
            </a:r>
            <a:endParaRPr lang="en-US" sz="2800" dirty="0"/>
          </a:p>
        </p:txBody>
      </p:sp>
      <p:sp>
        <p:nvSpPr>
          <p:cNvPr id="19" name="Text 16"/>
          <p:cNvSpPr txBox="1"/>
          <p:nvPr/>
        </p:nvSpPr>
        <p:spPr>
          <a:xfrm>
            <a:off x="8046720" y="5358384"/>
            <a:ext cx="2011680" cy="512064"/>
          </a:xfrm>
          <a:prstGeom prst="rect">
            <a:avLst/>
          </a:prstGeom>
          <a:noFill/>
          <a:ln/>
        </p:spPr>
        <p:txBody>
          <a:bodyPr wrap="square" lIns="0" tIns="0" rIns="0" bIns="0" rtlCol="0" anchor="t"/>
          <a:lstStyle/>
          <a:p>
            <a:pPr indent="0" marL="0">
              <a:lnSpc>
                <a:spcPts val="1700"/>
              </a:lnSpc>
              <a:buNone/>
            </a:pPr>
            <a:r>
              <a:rPr lang="en-US" sz="1400" dirty="0">
                <a:solidFill>
                  <a:srgbClr val="9A9080"/>
                </a:solidFill>
                <a:latin typeface="Arial" pitchFamily="34" charset="0"/>
                <a:ea typeface="Arial" pitchFamily="34" charset="-122"/>
                <a:cs typeface="Arial" pitchFamily="34" charset="-120"/>
              </a:rPr>
              <a:t>to pay for</a:t>
            </a:r>
            <a:endParaRPr lang="en-US" sz="1400" dirty="0"/>
          </a:p>
          <a:p>
            <a:pPr indent="0" marL="0">
              <a:lnSpc>
                <a:spcPts val="1700"/>
              </a:lnSpc>
              <a:buNone/>
            </a:pPr>
            <a:r>
              <a:rPr lang="en-US" sz="1400" dirty="0">
                <a:solidFill>
                  <a:srgbClr val="9A9080"/>
                </a:solidFill>
                <a:latin typeface="Arial" pitchFamily="34" charset="0"/>
                <a:ea typeface="Arial" pitchFamily="34" charset="-122"/>
                <a:cs typeface="Arial" pitchFamily="34" charset="-120"/>
              </a:rPr>
              <a:t>itself</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20624"/>
            <a:ext cx="420624" cy="68580"/>
          </a:xfrm>
          <a:prstGeom prst="rect">
            <a:avLst/>
          </a:prstGeom>
          <a:solidFill>
            <a:srgbClr val="C00000"/>
          </a:solidFill>
          <a:ln w="12700">
            <a:solidFill>
              <a:srgbClr val="333333"/>
            </a:solidFill>
            <a:prstDash val="solid"/>
          </a:ln>
        </p:spPr>
      </p:sp>
      <p:sp>
        <p:nvSpPr>
          <p:cNvPr id="3" name="Text 1"/>
          <p:cNvSpPr txBox="1"/>
          <p:nvPr/>
        </p:nvSpPr>
        <p:spPr>
          <a:xfrm>
            <a:off x="1115568" y="338328"/>
            <a:ext cx="10509199" cy="237744"/>
          </a:xfrm>
          <a:prstGeom prst="rect">
            <a:avLst/>
          </a:prstGeom>
          <a:noFill/>
          <a:ln/>
        </p:spPr>
        <p:txBody>
          <a:bodyPr wrap="square" lIns="0" tIns="0" rIns="0" bIns="0" rtlCol="0" anchor="ctr"/>
          <a:lstStyle/>
          <a:p>
            <a:pPr indent="0" marL="0">
              <a:buNone/>
            </a:pPr>
            <a:r>
              <a:rPr lang="en-US" sz="1400" b="1" spc="240" kern="0" dirty="0">
                <a:solidFill>
                  <a:srgbClr val="C00000"/>
                </a:solidFill>
                <a:latin typeface="Arial" pitchFamily="34" charset="0"/>
                <a:ea typeface="Arial" pitchFamily="34" charset="-122"/>
                <a:cs typeface="Arial" pitchFamily="34" charset="-120"/>
              </a:rPr>
              <a:t>EXECUTIVE SUMMARY</a:t>
            </a:r>
            <a:endParaRPr lang="en-US" sz="1400" dirty="0"/>
          </a:p>
        </p:txBody>
      </p:sp>
      <p:sp>
        <p:nvSpPr>
          <p:cNvPr id="4" name="Text 2"/>
          <p:cNvSpPr txBox="1"/>
          <p:nvPr/>
        </p:nvSpPr>
        <p:spPr>
          <a:xfrm>
            <a:off x="566928" y="694944"/>
            <a:ext cx="11057839" cy="566928"/>
          </a:xfrm>
          <a:prstGeom prst="rect">
            <a:avLst/>
          </a:prstGeom>
          <a:noFill/>
          <a:ln/>
        </p:spPr>
        <p:txBody>
          <a:bodyPr wrap="square" lIns="0" tIns="0" rIns="0" bIns="0" rtlCol="0" anchor="t"/>
          <a:lstStyle/>
          <a:p>
            <a:pPr indent="0" marL="0">
              <a:buNone/>
            </a:pPr>
            <a:r>
              <a:rPr lang="en-US" sz="2900" b="1" dirty="0">
                <a:solidFill>
                  <a:srgbClr val="141821"/>
                </a:solidFill>
                <a:latin typeface="Arial" pitchFamily="34" charset="0"/>
                <a:ea typeface="Arial" pitchFamily="34" charset="-122"/>
                <a:cs typeface="Arial" pitchFamily="34" charset="-120"/>
              </a:rPr>
              <a:t>We are buying from outside what we already have inside.</a:t>
            </a:r>
            <a:endParaRPr lang="en-US" sz="2900" dirty="0"/>
          </a:p>
        </p:txBody>
      </p:sp>
      <p:sp>
        <p:nvSpPr>
          <p:cNvPr id="5" name="Shape 3"/>
          <p:cNvSpPr/>
          <p:nvPr/>
        </p:nvSpPr>
        <p:spPr>
          <a:xfrm>
            <a:off x="566928" y="1700784"/>
            <a:ext cx="6026522" cy="4590288"/>
          </a:xfrm>
          <a:prstGeom prst="roundRect">
            <a:avLst>
              <a:gd name="adj" fmla="val 797"/>
            </a:avLst>
          </a:prstGeom>
          <a:solidFill>
            <a:srgbClr val="F7F4EF"/>
          </a:solidFill>
          <a:ln w="12700">
            <a:solidFill>
              <a:srgbClr val="333333"/>
            </a:solidFill>
            <a:prstDash val="solid"/>
          </a:ln>
        </p:spPr>
      </p:sp>
      <p:sp>
        <p:nvSpPr>
          <p:cNvPr id="6" name="Text 4"/>
          <p:cNvSpPr txBox="1"/>
          <p:nvPr/>
        </p:nvSpPr>
        <p:spPr>
          <a:xfrm>
            <a:off x="877824" y="1883664"/>
            <a:ext cx="5404730" cy="237744"/>
          </a:xfrm>
          <a:prstGeom prst="rect">
            <a:avLst/>
          </a:prstGeom>
          <a:noFill/>
          <a:ln/>
        </p:spPr>
        <p:txBody>
          <a:bodyPr wrap="square" lIns="0" tIns="0" rIns="0" bIns="0" rtlCol="0" anchor="ctr"/>
          <a:lstStyle/>
          <a:p>
            <a:pPr indent="0" marL="0">
              <a:buNone/>
            </a:pPr>
            <a:r>
              <a:rPr lang="en-US" sz="1400" b="1" spc="180" kern="0" dirty="0">
                <a:solidFill>
                  <a:srgbClr val="C00000"/>
                </a:solidFill>
                <a:latin typeface="Arial" pitchFamily="34" charset="0"/>
                <a:ea typeface="Arial" pitchFamily="34" charset="-122"/>
                <a:cs typeface="Arial" pitchFamily="34" charset="-120"/>
              </a:rPr>
              <a:t>THE PROBLEM</a:t>
            </a:r>
            <a:endParaRPr lang="en-US" sz="1400" dirty="0"/>
          </a:p>
        </p:txBody>
      </p:sp>
      <p:sp>
        <p:nvSpPr>
          <p:cNvPr id="7" name="Text 5"/>
          <p:cNvSpPr txBox="1"/>
          <p:nvPr/>
        </p:nvSpPr>
        <p:spPr>
          <a:xfrm>
            <a:off x="877824" y="2212848"/>
            <a:ext cx="5404730" cy="950976"/>
          </a:xfrm>
          <a:prstGeom prst="rect">
            <a:avLst/>
          </a:prstGeom>
          <a:noFill/>
          <a:ln/>
        </p:spPr>
        <p:txBody>
          <a:bodyPr wrap="square" lIns="0" tIns="0" rIns="0" bIns="0" rtlCol="0" anchor="t"/>
          <a:lstStyle/>
          <a:p>
            <a:pPr indent="0" marL="0">
              <a:lnSpc>
                <a:spcPts val="2400"/>
              </a:lnSpc>
              <a:buNone/>
            </a:pPr>
            <a:r>
              <a:rPr lang="en-US" sz="1700" dirty="0">
                <a:solidFill>
                  <a:srgbClr val="141821"/>
                </a:solidFill>
                <a:latin typeface="Arial" pitchFamily="34" charset="0"/>
                <a:ea typeface="Arial" pitchFamily="34" charset="-122"/>
                <a:cs typeface="Arial" pitchFamily="34" charset="-120"/>
              </a:rPr>
              <a:t>Over 2024–2026 we opened 1,008 vacancies. 463 people applied from inside. 170 got the job — a 17% internal fill rate against a 30% market benchmark.</a:t>
            </a:r>
            <a:endParaRPr lang="en-US" sz="1700" dirty="0"/>
          </a:p>
        </p:txBody>
      </p:sp>
      <p:sp>
        <p:nvSpPr>
          <p:cNvPr id="8" name="Shape 6"/>
          <p:cNvSpPr/>
          <p:nvPr/>
        </p:nvSpPr>
        <p:spPr>
          <a:xfrm>
            <a:off x="877824" y="3273552"/>
            <a:ext cx="5404730" cy="0"/>
          </a:xfrm>
          <a:prstGeom prst="line">
            <a:avLst/>
          </a:prstGeom>
          <a:noFill/>
          <a:ln w="12700">
            <a:solidFill>
              <a:srgbClr val="EDE6D9"/>
            </a:solidFill>
            <a:prstDash val="solid"/>
          </a:ln>
        </p:spPr>
      </p:sp>
      <p:sp>
        <p:nvSpPr>
          <p:cNvPr id="9" name="Text 7"/>
          <p:cNvSpPr txBox="1"/>
          <p:nvPr/>
        </p:nvSpPr>
        <p:spPr>
          <a:xfrm>
            <a:off x="877824" y="3419856"/>
            <a:ext cx="5404730" cy="1170432"/>
          </a:xfrm>
          <a:prstGeom prst="rect">
            <a:avLst/>
          </a:prstGeom>
          <a:noFill/>
          <a:ln/>
        </p:spPr>
        <p:txBody>
          <a:bodyPr wrap="square" lIns="0" tIns="0" rIns="0" bIns="0" rtlCol="0" anchor="t"/>
          <a:lstStyle/>
          <a:p>
            <a:pPr indent="0" marL="0">
              <a:lnSpc>
                <a:spcPts val="2200"/>
              </a:lnSpc>
              <a:buNone/>
            </a:pPr>
            <a:r>
              <a:rPr lang="en-US" sz="1600" b="1" dirty="0">
                <a:solidFill>
                  <a:srgbClr val="141821"/>
                </a:solidFill>
                <a:latin typeface="Arial" pitchFamily="34" charset="0"/>
                <a:ea typeface="Arial" pitchFamily="34" charset="-122"/>
                <a:cs typeface="Arial" pitchFamily="34" charset="-120"/>
              </a:rPr>
              <a:t>And saying no has a price. </a:t>
            </a:r>
            <a:pPr indent="0" marL="0">
              <a:lnSpc>
                <a:spcPts val="2200"/>
              </a:lnSpc>
              <a:buNone/>
            </a:pPr>
            <a:r>
              <a:rPr lang="en-US" sz="1600" dirty="0">
                <a:solidFill>
                  <a:srgbClr val="3C4350"/>
                </a:solidFill>
                <a:latin typeface="Arial" pitchFamily="34" charset="0"/>
                <a:ea typeface="Arial" pitchFamily="34" charset="-122"/>
                <a:cs typeface="Arial" pitchFamily="34" charset="-120"/>
              </a:rPr>
              <a:t>Of the 67 internal applicants we turned down in 2025, only 38 are still with Home Credit. 43% have gone, against a company average of 19%.</a:t>
            </a:r>
            <a:endParaRPr lang="en-US" sz="1600" dirty="0"/>
          </a:p>
        </p:txBody>
      </p:sp>
      <p:sp>
        <p:nvSpPr>
          <p:cNvPr id="10" name="Shape 8"/>
          <p:cNvSpPr/>
          <p:nvPr/>
        </p:nvSpPr>
        <p:spPr>
          <a:xfrm>
            <a:off x="877824" y="4663440"/>
            <a:ext cx="5404730" cy="0"/>
          </a:xfrm>
          <a:prstGeom prst="line">
            <a:avLst/>
          </a:prstGeom>
          <a:noFill/>
          <a:ln w="12700">
            <a:solidFill>
              <a:srgbClr val="EDE6D9"/>
            </a:solidFill>
            <a:prstDash val="solid"/>
          </a:ln>
        </p:spPr>
      </p:sp>
      <p:sp>
        <p:nvSpPr>
          <p:cNvPr id="11" name="Text 9"/>
          <p:cNvSpPr txBox="1"/>
          <p:nvPr/>
        </p:nvSpPr>
        <p:spPr>
          <a:xfrm>
            <a:off x="877824" y="4809744"/>
            <a:ext cx="5404730" cy="237744"/>
          </a:xfrm>
          <a:prstGeom prst="rect">
            <a:avLst/>
          </a:prstGeom>
          <a:noFill/>
          <a:ln/>
        </p:spPr>
        <p:txBody>
          <a:bodyPr wrap="square" lIns="0" tIns="0" rIns="0" bIns="0" rtlCol="0" anchor="ctr"/>
          <a:lstStyle/>
          <a:p>
            <a:pPr indent="0" marL="0">
              <a:buNone/>
            </a:pPr>
            <a:r>
              <a:rPr lang="en-US" sz="1400" b="1" spc="180" kern="0" dirty="0">
                <a:solidFill>
                  <a:srgbClr val="C00000"/>
                </a:solidFill>
                <a:latin typeface="Arial" pitchFamily="34" charset="0"/>
                <a:ea typeface="Arial" pitchFamily="34" charset="-122"/>
                <a:cs typeface="Arial" pitchFamily="34" charset="-120"/>
              </a:rPr>
              <a:t>THE CAUSE</a:t>
            </a:r>
            <a:endParaRPr lang="en-US" sz="1400" dirty="0"/>
          </a:p>
        </p:txBody>
      </p:sp>
      <p:sp>
        <p:nvSpPr>
          <p:cNvPr id="12" name="Text 10"/>
          <p:cNvSpPr txBox="1"/>
          <p:nvPr/>
        </p:nvSpPr>
        <p:spPr>
          <a:xfrm>
            <a:off x="877824" y="5102352"/>
            <a:ext cx="5404730" cy="950976"/>
          </a:xfrm>
          <a:prstGeom prst="rect">
            <a:avLst/>
          </a:prstGeom>
          <a:noFill/>
          <a:ln/>
        </p:spPr>
        <p:txBody>
          <a:bodyPr wrap="square" lIns="0" tIns="0" rIns="0" bIns="0" rtlCol="0" anchor="t"/>
          <a:lstStyle/>
          <a:p>
            <a:pPr indent="0" marL="0">
              <a:lnSpc>
                <a:spcPts val="2100"/>
              </a:lnSpc>
              <a:buNone/>
            </a:pPr>
            <a:r>
              <a:rPr lang="en-US" sz="1500" dirty="0">
                <a:solidFill>
                  <a:srgbClr val="3C4350"/>
                </a:solidFill>
                <a:latin typeface="Arial" pitchFamily="34" charset="0"/>
                <a:ea typeface="Arial" pitchFamily="34" charset="-122"/>
                <a:cs typeface="Arial" pitchFamily="34" charset="-120"/>
              </a:rPr>
              <a:t>Not selection — visibility. Nothing shows an employee a role they would fit, and nothing tells a manager the person they need is already on payroll.</a:t>
            </a:r>
            <a:endParaRPr lang="en-US" sz="1500" dirty="0"/>
          </a:p>
        </p:txBody>
      </p:sp>
      <p:sp>
        <p:nvSpPr>
          <p:cNvPr id="13" name="Text 11"/>
          <p:cNvSpPr txBox="1"/>
          <p:nvPr/>
        </p:nvSpPr>
        <p:spPr>
          <a:xfrm>
            <a:off x="6867770" y="1737360"/>
            <a:ext cx="4756997" cy="237744"/>
          </a:xfrm>
          <a:prstGeom prst="rect">
            <a:avLst/>
          </a:prstGeom>
          <a:noFill/>
          <a:ln/>
        </p:spPr>
        <p:txBody>
          <a:bodyPr wrap="square" lIns="0" tIns="0" rIns="0" bIns="0" rtlCol="0" anchor="ctr"/>
          <a:lstStyle/>
          <a:p>
            <a:pPr indent="0" marL="0">
              <a:buNone/>
            </a:pPr>
            <a:r>
              <a:rPr lang="en-US" sz="1400" b="1" spc="180" kern="0" dirty="0">
                <a:solidFill>
                  <a:srgbClr val="C00000"/>
                </a:solidFill>
                <a:latin typeface="Arial" pitchFamily="34" charset="0"/>
                <a:ea typeface="Arial" pitchFamily="34" charset="-122"/>
                <a:cs typeface="Arial" pitchFamily="34" charset="-120"/>
              </a:rPr>
              <a:t>WHAT WE ARE ASKING FOR</a:t>
            </a:r>
            <a:endParaRPr lang="en-US" sz="1400" dirty="0"/>
          </a:p>
        </p:txBody>
      </p:sp>
      <p:sp>
        <p:nvSpPr>
          <p:cNvPr id="14" name="Text 12"/>
          <p:cNvSpPr txBox="1"/>
          <p:nvPr/>
        </p:nvSpPr>
        <p:spPr>
          <a:xfrm>
            <a:off x="6867770" y="2029968"/>
            <a:ext cx="4756997" cy="603504"/>
          </a:xfrm>
          <a:prstGeom prst="rect">
            <a:avLst/>
          </a:prstGeom>
          <a:noFill/>
          <a:ln/>
        </p:spPr>
        <p:txBody>
          <a:bodyPr wrap="square" lIns="0" tIns="0" rIns="0" bIns="0" rtlCol="0" anchor="t"/>
          <a:lstStyle/>
          <a:p>
            <a:pPr indent="0" marL="0">
              <a:lnSpc>
                <a:spcPts val="2300"/>
              </a:lnSpc>
              <a:buNone/>
            </a:pPr>
            <a:r>
              <a:rPr lang="en-US" sz="1700" b="1" dirty="0">
                <a:solidFill>
                  <a:srgbClr val="141821"/>
                </a:solidFill>
                <a:latin typeface="Arial" pitchFamily="34" charset="0"/>
                <a:ea typeface="Arial" pitchFamily="34" charset="-122"/>
                <a:cs typeface="Arial" pitchFamily="34" charset="-120"/>
              </a:rPr>
              <a:t>Build Growth for a 1,113-person pilot — IT, HR and Operations, mass and non-mass.</a:t>
            </a:r>
            <a:endParaRPr lang="en-US" sz="1700" dirty="0"/>
          </a:p>
        </p:txBody>
      </p:sp>
      <p:sp>
        <p:nvSpPr>
          <p:cNvPr id="15" name="Text 13"/>
          <p:cNvSpPr txBox="1"/>
          <p:nvPr/>
        </p:nvSpPr>
        <p:spPr>
          <a:xfrm>
            <a:off x="6867770" y="2724912"/>
            <a:ext cx="1997939" cy="365760"/>
          </a:xfrm>
          <a:prstGeom prst="rect">
            <a:avLst/>
          </a:prstGeom>
          <a:noFill/>
          <a:ln/>
        </p:spPr>
        <p:txBody>
          <a:bodyPr wrap="square" lIns="0" tIns="0" rIns="0" bIns="0" rtlCol="0" anchor="ctr"/>
          <a:lstStyle/>
          <a:p>
            <a:pPr indent="0" marL="0">
              <a:buNone/>
            </a:pPr>
            <a:r>
              <a:rPr lang="en-US" sz="2100" b="1" dirty="0">
                <a:solidFill>
                  <a:srgbClr val="141821"/>
                </a:solidFill>
                <a:latin typeface="Arial" pitchFamily="34" charset="0"/>
                <a:ea typeface="Arial" pitchFamily="34" charset="-122"/>
                <a:cs typeface="Arial" pitchFamily="34" charset="-120"/>
              </a:rPr>
              <a:t>₱2.05M</a:t>
            </a:r>
            <a:endParaRPr lang="en-US" sz="2100" dirty="0"/>
          </a:p>
        </p:txBody>
      </p:sp>
      <p:sp>
        <p:nvSpPr>
          <p:cNvPr id="16" name="Text 14"/>
          <p:cNvSpPr txBox="1"/>
          <p:nvPr/>
        </p:nvSpPr>
        <p:spPr>
          <a:xfrm>
            <a:off x="8865709" y="2724912"/>
            <a:ext cx="2759058" cy="365760"/>
          </a:xfrm>
          <a:prstGeom prst="rect">
            <a:avLst/>
          </a:prstGeom>
          <a:noFill/>
          <a:ln/>
        </p:spPr>
        <p:txBody>
          <a:bodyPr wrap="square" lIns="0" tIns="0" rIns="0" bIns="0" rtlCol="0" anchor="ctr"/>
          <a:lstStyle/>
          <a:p>
            <a:pPr indent="0" marL="0">
              <a:buNone/>
            </a:pPr>
            <a:r>
              <a:rPr lang="en-US" sz="1500" dirty="0">
                <a:solidFill>
                  <a:srgbClr val="3C4350"/>
                </a:solidFill>
                <a:latin typeface="Arial" pitchFamily="34" charset="0"/>
                <a:ea typeface="Arial" pitchFamily="34" charset="-122"/>
                <a:cs typeface="Arial" pitchFamily="34" charset="-120"/>
              </a:rPr>
              <a:t>three-year cost, all in</a:t>
            </a:r>
            <a:endParaRPr lang="en-US" sz="1500" dirty="0"/>
          </a:p>
        </p:txBody>
      </p:sp>
      <p:sp>
        <p:nvSpPr>
          <p:cNvPr id="17" name="Shape 15"/>
          <p:cNvSpPr/>
          <p:nvPr/>
        </p:nvSpPr>
        <p:spPr>
          <a:xfrm>
            <a:off x="6867770" y="3273552"/>
            <a:ext cx="4756997" cy="0"/>
          </a:xfrm>
          <a:prstGeom prst="line">
            <a:avLst/>
          </a:prstGeom>
          <a:noFill/>
          <a:ln w="12700">
            <a:solidFill>
              <a:srgbClr val="E4DFD6"/>
            </a:solidFill>
            <a:prstDash val="solid"/>
          </a:ln>
        </p:spPr>
      </p:sp>
      <p:sp>
        <p:nvSpPr>
          <p:cNvPr id="18" name="Text 16"/>
          <p:cNvSpPr txBox="1"/>
          <p:nvPr/>
        </p:nvSpPr>
        <p:spPr>
          <a:xfrm>
            <a:off x="6867770" y="3456432"/>
            <a:ext cx="1997939" cy="365760"/>
          </a:xfrm>
          <a:prstGeom prst="rect">
            <a:avLst/>
          </a:prstGeom>
          <a:noFill/>
          <a:ln/>
        </p:spPr>
        <p:txBody>
          <a:bodyPr wrap="square" lIns="0" tIns="0" rIns="0" bIns="0" rtlCol="0" anchor="ctr"/>
          <a:lstStyle/>
          <a:p>
            <a:pPr indent="0" marL="0">
              <a:buNone/>
            </a:pPr>
            <a:r>
              <a:rPr lang="en-US" sz="2100" b="1" dirty="0">
                <a:solidFill>
                  <a:srgbClr val="141821"/>
                </a:solidFill>
                <a:latin typeface="Arial" pitchFamily="34" charset="0"/>
                <a:ea typeface="Arial" pitchFamily="34" charset="-122"/>
                <a:cs typeface="Arial" pitchFamily="34" charset="-120"/>
              </a:rPr>
              <a:t>₱614</a:t>
            </a:r>
            <a:endParaRPr lang="en-US" sz="2100" dirty="0"/>
          </a:p>
        </p:txBody>
      </p:sp>
      <p:sp>
        <p:nvSpPr>
          <p:cNvPr id="19" name="Text 17"/>
          <p:cNvSpPr txBox="1"/>
          <p:nvPr/>
        </p:nvSpPr>
        <p:spPr>
          <a:xfrm>
            <a:off x="8865709" y="3456432"/>
            <a:ext cx="2759058" cy="365760"/>
          </a:xfrm>
          <a:prstGeom prst="rect">
            <a:avLst/>
          </a:prstGeom>
          <a:noFill/>
          <a:ln/>
        </p:spPr>
        <p:txBody>
          <a:bodyPr wrap="square" lIns="0" tIns="0" rIns="0" bIns="0" rtlCol="0" anchor="ctr"/>
          <a:lstStyle/>
          <a:p>
            <a:pPr indent="0" marL="0">
              <a:buNone/>
            </a:pPr>
            <a:r>
              <a:rPr lang="en-US" sz="1500" dirty="0">
                <a:solidFill>
                  <a:srgbClr val="3C4350"/>
                </a:solidFill>
                <a:latin typeface="Arial" pitchFamily="34" charset="0"/>
                <a:ea typeface="Arial" pitchFamily="34" charset="-122"/>
                <a:cs typeface="Arial" pitchFamily="34" charset="-120"/>
              </a:rPr>
              <a:t>per employee a year</a:t>
            </a:r>
            <a:endParaRPr lang="en-US" sz="1500" dirty="0"/>
          </a:p>
        </p:txBody>
      </p:sp>
      <p:sp>
        <p:nvSpPr>
          <p:cNvPr id="20" name="Shape 18"/>
          <p:cNvSpPr/>
          <p:nvPr/>
        </p:nvSpPr>
        <p:spPr>
          <a:xfrm>
            <a:off x="6867770" y="4005072"/>
            <a:ext cx="4756997" cy="0"/>
          </a:xfrm>
          <a:prstGeom prst="line">
            <a:avLst/>
          </a:prstGeom>
          <a:noFill/>
          <a:ln w="12700">
            <a:solidFill>
              <a:srgbClr val="E4DFD6"/>
            </a:solidFill>
            <a:prstDash val="solid"/>
          </a:ln>
        </p:spPr>
      </p:sp>
      <p:sp>
        <p:nvSpPr>
          <p:cNvPr id="21" name="Text 19"/>
          <p:cNvSpPr txBox="1"/>
          <p:nvPr/>
        </p:nvSpPr>
        <p:spPr>
          <a:xfrm>
            <a:off x="6867770" y="4187952"/>
            <a:ext cx="1997939" cy="365760"/>
          </a:xfrm>
          <a:prstGeom prst="rect">
            <a:avLst/>
          </a:prstGeom>
          <a:noFill/>
          <a:ln/>
        </p:spPr>
        <p:txBody>
          <a:bodyPr wrap="square" lIns="0" tIns="0" rIns="0" bIns="0" rtlCol="0" anchor="ctr"/>
          <a:lstStyle/>
          <a:p>
            <a:pPr indent="0" marL="0">
              <a:buNone/>
            </a:pPr>
            <a:r>
              <a:rPr lang="en-US" sz="2100" b="1" dirty="0">
                <a:solidFill>
                  <a:srgbClr val="0E7C66"/>
                </a:solidFill>
                <a:latin typeface="Arial" pitchFamily="34" charset="0"/>
                <a:ea typeface="Arial" pitchFamily="34" charset="-122"/>
                <a:cs typeface="Arial" pitchFamily="34" charset="-120"/>
              </a:rPr>
              <a:t>12 months</a:t>
            </a:r>
            <a:endParaRPr lang="en-US" sz="2100" dirty="0"/>
          </a:p>
        </p:txBody>
      </p:sp>
      <p:sp>
        <p:nvSpPr>
          <p:cNvPr id="22" name="Text 20"/>
          <p:cNvSpPr txBox="1"/>
          <p:nvPr/>
        </p:nvSpPr>
        <p:spPr>
          <a:xfrm>
            <a:off x="8865709" y="4187952"/>
            <a:ext cx="2759058" cy="365760"/>
          </a:xfrm>
          <a:prstGeom prst="rect">
            <a:avLst/>
          </a:prstGeom>
          <a:noFill/>
          <a:ln/>
        </p:spPr>
        <p:txBody>
          <a:bodyPr wrap="square" lIns="0" tIns="0" rIns="0" bIns="0" rtlCol="0" anchor="ctr"/>
          <a:lstStyle/>
          <a:p>
            <a:pPr indent="0" marL="0">
              <a:buNone/>
            </a:pPr>
            <a:r>
              <a:rPr lang="en-US" sz="1500" dirty="0">
                <a:solidFill>
                  <a:srgbClr val="3C4350"/>
                </a:solidFill>
                <a:latin typeface="Arial" pitchFamily="34" charset="0"/>
                <a:ea typeface="Arial" pitchFamily="34" charset="-122"/>
                <a:cs typeface="Arial" pitchFamily="34" charset="-120"/>
              </a:rPr>
              <a:t>to pay for itself</a:t>
            </a:r>
            <a:endParaRPr lang="en-US" sz="1500" dirty="0"/>
          </a:p>
        </p:txBody>
      </p:sp>
      <p:sp>
        <p:nvSpPr>
          <p:cNvPr id="23" name="Shape 21"/>
          <p:cNvSpPr/>
          <p:nvPr/>
        </p:nvSpPr>
        <p:spPr>
          <a:xfrm>
            <a:off x="6867770" y="4736592"/>
            <a:ext cx="4756997" cy="0"/>
          </a:xfrm>
          <a:prstGeom prst="line">
            <a:avLst/>
          </a:prstGeom>
          <a:noFill/>
          <a:ln w="12700">
            <a:solidFill>
              <a:srgbClr val="E4DFD6"/>
            </a:solidFill>
            <a:prstDash val="solid"/>
          </a:ln>
        </p:spPr>
      </p:sp>
      <p:sp>
        <p:nvSpPr>
          <p:cNvPr id="24" name="Text 22"/>
          <p:cNvSpPr txBox="1"/>
          <p:nvPr/>
        </p:nvSpPr>
        <p:spPr>
          <a:xfrm>
            <a:off x="6867770" y="4919472"/>
            <a:ext cx="1997939" cy="365760"/>
          </a:xfrm>
          <a:prstGeom prst="rect">
            <a:avLst/>
          </a:prstGeom>
          <a:noFill/>
          <a:ln/>
        </p:spPr>
        <p:txBody>
          <a:bodyPr wrap="square" lIns="0" tIns="0" rIns="0" bIns="0" rtlCol="0" anchor="ctr"/>
          <a:lstStyle/>
          <a:p>
            <a:pPr indent="0" marL="0">
              <a:buNone/>
            </a:pPr>
            <a:r>
              <a:rPr lang="en-US" sz="2100" b="1" dirty="0">
                <a:solidFill>
                  <a:srgbClr val="0E7C66"/>
                </a:solidFill>
                <a:latin typeface="Arial" pitchFamily="34" charset="0"/>
                <a:ea typeface="Arial" pitchFamily="34" charset="-122"/>
                <a:cs typeface="Arial" pitchFamily="34" charset="-120"/>
              </a:rPr>
              <a:t>5× – 14×</a:t>
            </a:r>
            <a:endParaRPr lang="en-US" sz="2100" dirty="0"/>
          </a:p>
        </p:txBody>
      </p:sp>
      <p:sp>
        <p:nvSpPr>
          <p:cNvPr id="25" name="Text 23"/>
          <p:cNvSpPr txBox="1"/>
          <p:nvPr/>
        </p:nvSpPr>
        <p:spPr>
          <a:xfrm>
            <a:off x="8865709" y="4919472"/>
            <a:ext cx="2759058" cy="365760"/>
          </a:xfrm>
          <a:prstGeom prst="rect">
            <a:avLst/>
          </a:prstGeom>
          <a:noFill/>
          <a:ln/>
        </p:spPr>
        <p:txBody>
          <a:bodyPr wrap="square" lIns="0" tIns="0" rIns="0" bIns="0" rtlCol="0" anchor="ctr"/>
          <a:lstStyle/>
          <a:p>
            <a:pPr indent="0" marL="0">
              <a:buNone/>
            </a:pPr>
            <a:r>
              <a:rPr lang="en-US" sz="1500" dirty="0">
                <a:solidFill>
                  <a:srgbClr val="3C4350"/>
                </a:solidFill>
                <a:latin typeface="Arial" pitchFamily="34" charset="0"/>
                <a:ea typeface="Arial" pitchFamily="34" charset="-122"/>
                <a:cs typeface="Arial" pitchFamily="34" charset="-120"/>
              </a:rPr>
              <a:t>cheaper than buying a platform</a:t>
            </a:r>
            <a:endParaRPr lang="en-US" sz="1500" dirty="0"/>
          </a:p>
        </p:txBody>
      </p:sp>
      <p:sp>
        <p:nvSpPr>
          <p:cNvPr id="26" name="Shape 24"/>
          <p:cNvSpPr/>
          <p:nvPr/>
        </p:nvSpPr>
        <p:spPr>
          <a:xfrm>
            <a:off x="6867770" y="5724144"/>
            <a:ext cx="4756997" cy="566928"/>
          </a:xfrm>
          <a:prstGeom prst="roundRect">
            <a:avLst>
              <a:gd name="adj" fmla="val 6452"/>
            </a:avLst>
          </a:prstGeom>
          <a:solidFill>
            <a:srgbClr val="FCEDED"/>
          </a:solidFill>
          <a:ln w="12700">
            <a:solidFill>
              <a:srgbClr val="333333"/>
            </a:solidFill>
            <a:prstDash val="solid"/>
          </a:ln>
        </p:spPr>
      </p:sp>
      <p:sp>
        <p:nvSpPr>
          <p:cNvPr id="27" name="Text 25"/>
          <p:cNvSpPr txBox="1"/>
          <p:nvPr/>
        </p:nvSpPr>
        <p:spPr>
          <a:xfrm>
            <a:off x="7087226" y="5724144"/>
            <a:ext cx="4318085" cy="566928"/>
          </a:xfrm>
          <a:prstGeom prst="rect">
            <a:avLst/>
          </a:prstGeom>
          <a:noFill/>
          <a:ln/>
        </p:spPr>
        <p:txBody>
          <a:bodyPr wrap="square" lIns="0" tIns="0" rIns="0" bIns="0" rtlCol="0" anchor="ctr"/>
          <a:lstStyle/>
          <a:p>
            <a:pPr indent="0" marL="0">
              <a:buNone/>
            </a:pPr>
            <a:r>
              <a:rPr lang="en-US" sz="1500" b="1" dirty="0">
                <a:solidFill>
                  <a:srgbClr val="C00000"/>
                </a:solidFill>
                <a:latin typeface="Arial" pitchFamily="34" charset="0"/>
                <a:ea typeface="Arial" pitchFamily="34" charset="-122"/>
                <a:cs typeface="Arial" pitchFamily="34" charset="-120"/>
              </a:rPr>
              <a:t>Working prototype already built. </a:t>
            </a:r>
            <a:pPr indent="0" marL="0">
              <a:buNone/>
            </a:pPr>
            <a:r>
              <a:rPr lang="en-US" sz="1500" dirty="0">
                <a:solidFill>
                  <a:srgbClr val="3C4350"/>
                </a:solidFill>
                <a:latin typeface="Arial" pitchFamily="34" charset="0"/>
                <a:ea typeface="Arial" pitchFamily="34" charset="-122"/>
                <a:cs typeface="Arial" pitchFamily="34" charset="-120"/>
              </a:rPr>
              <a:t>You will see it in eight minutes.</a:t>
            </a:r>
            <a:endParaRPr lang="en-US" sz="1500" dirty="0"/>
          </a:p>
        </p:txBody>
      </p:sp>
      <p:sp>
        <p:nvSpPr>
          <p:cNvPr id="28" name="Text 26"/>
          <p:cNvSpPr txBox="1"/>
          <p:nvPr/>
        </p:nvSpPr>
        <p:spPr>
          <a:xfrm>
            <a:off x="11167567" y="6382512"/>
            <a:ext cx="457200" cy="256032"/>
          </a:xfrm>
          <a:prstGeom prst="rect">
            <a:avLst/>
          </a:prstGeom>
          <a:noFill/>
          <a:ln/>
        </p:spPr>
        <p:txBody>
          <a:bodyPr wrap="square" lIns="0" tIns="0" rIns="0" bIns="0" rtlCol="0" anchor="ctr"/>
          <a:lstStyle/>
          <a:p>
            <a:pPr algn="r" indent="0" marL="0">
              <a:buNone/>
            </a:pPr>
            <a:r>
              <a:rPr lang="en-US" sz="1400" dirty="0">
                <a:solidFill>
                  <a:srgbClr val="B6AFA3"/>
                </a:solidFill>
                <a:latin typeface="Arial" pitchFamily="34" charset="0"/>
                <a:ea typeface="Arial" pitchFamily="34" charset="-122"/>
                <a:cs typeface="Arial" pitchFamily="34" charset="-120"/>
              </a:rPr>
              <a:t>2</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20624"/>
            <a:ext cx="420624" cy="68580"/>
          </a:xfrm>
          <a:prstGeom prst="rect">
            <a:avLst/>
          </a:prstGeom>
          <a:solidFill>
            <a:srgbClr val="C00000"/>
          </a:solidFill>
          <a:ln w="12700">
            <a:solidFill>
              <a:srgbClr val="333333"/>
            </a:solidFill>
            <a:prstDash val="solid"/>
          </a:ln>
        </p:spPr>
      </p:sp>
      <p:sp>
        <p:nvSpPr>
          <p:cNvPr id="3" name="Text 1"/>
          <p:cNvSpPr txBox="1"/>
          <p:nvPr/>
        </p:nvSpPr>
        <p:spPr>
          <a:xfrm>
            <a:off x="1115568" y="338328"/>
            <a:ext cx="10509199" cy="237744"/>
          </a:xfrm>
          <a:prstGeom prst="rect">
            <a:avLst/>
          </a:prstGeom>
          <a:noFill/>
          <a:ln/>
        </p:spPr>
        <p:txBody>
          <a:bodyPr wrap="square" lIns="0" tIns="0" rIns="0" bIns="0" rtlCol="0" anchor="ctr"/>
          <a:lstStyle/>
          <a:p>
            <a:pPr indent="0" marL="0">
              <a:buNone/>
            </a:pPr>
            <a:r>
              <a:rPr lang="en-US" sz="1400" b="1" spc="240" kern="0" dirty="0">
                <a:solidFill>
                  <a:srgbClr val="C00000"/>
                </a:solidFill>
                <a:latin typeface="Arial" pitchFamily="34" charset="0"/>
                <a:ea typeface="Arial" pitchFamily="34" charset="-122"/>
                <a:cs typeface="Arial" pitchFamily="34" charset="-120"/>
              </a:rPr>
              <a:t>THE PROBLEM</a:t>
            </a:r>
            <a:endParaRPr lang="en-US" sz="1400" dirty="0"/>
          </a:p>
        </p:txBody>
      </p:sp>
      <p:sp>
        <p:nvSpPr>
          <p:cNvPr id="4" name="Text 2"/>
          <p:cNvSpPr txBox="1"/>
          <p:nvPr/>
        </p:nvSpPr>
        <p:spPr>
          <a:xfrm>
            <a:off x="566928" y="694944"/>
            <a:ext cx="11057839" cy="566928"/>
          </a:xfrm>
          <a:prstGeom prst="rect">
            <a:avLst/>
          </a:prstGeom>
          <a:noFill/>
          <a:ln/>
        </p:spPr>
        <p:txBody>
          <a:bodyPr wrap="square" lIns="0" tIns="0" rIns="0" bIns="0" rtlCol="0" anchor="t"/>
          <a:lstStyle/>
          <a:p>
            <a:pPr indent="0" marL="0">
              <a:buNone/>
            </a:pPr>
            <a:r>
              <a:rPr lang="en-US" sz="2900" b="1" dirty="0">
                <a:solidFill>
                  <a:srgbClr val="141821"/>
                </a:solidFill>
                <a:latin typeface="Arial" pitchFamily="34" charset="0"/>
                <a:ea typeface="Arial" pitchFamily="34" charset="-122"/>
                <a:cs typeface="Arial" pitchFamily="34" charset="-120"/>
              </a:rPr>
              <a:t>Four out of five roles go to someone we have not met.</a:t>
            </a:r>
            <a:endParaRPr lang="en-US" sz="2900" dirty="0"/>
          </a:p>
        </p:txBody>
      </p:sp>
      <p:sp>
        <p:nvSpPr>
          <p:cNvPr id="5" name="Text 3"/>
          <p:cNvSpPr txBox="1"/>
          <p:nvPr/>
        </p:nvSpPr>
        <p:spPr>
          <a:xfrm>
            <a:off x="566928" y="1298448"/>
            <a:ext cx="9509742" cy="310896"/>
          </a:xfrm>
          <a:prstGeom prst="rect">
            <a:avLst/>
          </a:prstGeom>
          <a:noFill/>
          <a:ln/>
        </p:spPr>
        <p:txBody>
          <a:bodyPr wrap="square" lIns="0" tIns="0" rIns="0" bIns="0" rtlCol="0" anchor="t"/>
          <a:lstStyle/>
          <a:p>
            <a:pPr indent="0" marL="0">
              <a:buNone/>
            </a:pPr>
            <a:r>
              <a:rPr lang="en-US" sz="1600" dirty="0">
                <a:solidFill>
                  <a:srgbClr val="7C8595"/>
                </a:solidFill>
                <a:latin typeface="Arial" pitchFamily="34" charset="0"/>
                <a:ea typeface="Arial" pitchFamily="34" charset="-122"/>
                <a:cs typeface="Arial" pitchFamily="34" charset="-120"/>
              </a:rPr>
              <a:t>Internal job posting data, 2024 to 2026.</a:t>
            </a:r>
            <a:endParaRPr lang="en-US" sz="1600" dirty="0"/>
          </a:p>
        </p:txBody>
      </p:sp>
      <p:sp>
        <p:nvSpPr>
          <p:cNvPr id="6" name="Shape 4"/>
          <p:cNvSpPr/>
          <p:nvPr/>
        </p:nvSpPr>
        <p:spPr>
          <a:xfrm>
            <a:off x="566928" y="1874520"/>
            <a:ext cx="3566160" cy="1554480"/>
          </a:xfrm>
          <a:prstGeom prst="roundRect">
            <a:avLst>
              <a:gd name="adj" fmla="val 2353"/>
            </a:avLst>
          </a:prstGeom>
          <a:solidFill>
            <a:srgbClr val="EDE6D9"/>
          </a:solidFill>
          <a:ln w="12700">
            <a:solidFill>
              <a:srgbClr val="333333"/>
            </a:solidFill>
            <a:prstDash val="solid"/>
          </a:ln>
        </p:spPr>
      </p:sp>
      <p:sp>
        <p:nvSpPr>
          <p:cNvPr id="7" name="Text 5"/>
          <p:cNvSpPr txBox="1"/>
          <p:nvPr/>
        </p:nvSpPr>
        <p:spPr>
          <a:xfrm>
            <a:off x="786384" y="2002536"/>
            <a:ext cx="3127248" cy="530352"/>
          </a:xfrm>
          <a:prstGeom prst="rect">
            <a:avLst/>
          </a:prstGeom>
          <a:noFill/>
          <a:ln/>
        </p:spPr>
        <p:txBody>
          <a:bodyPr wrap="square" lIns="0" tIns="0" rIns="0" bIns="0" rtlCol="0" anchor="ctr"/>
          <a:lstStyle/>
          <a:p>
            <a:pPr indent="0" marL="0">
              <a:buNone/>
            </a:pPr>
            <a:r>
              <a:rPr lang="en-US" sz="3400" b="1" dirty="0">
                <a:solidFill>
                  <a:srgbClr val="141821"/>
                </a:solidFill>
                <a:latin typeface="Arial" pitchFamily="34" charset="0"/>
                <a:ea typeface="Arial" pitchFamily="34" charset="-122"/>
                <a:cs typeface="Arial" pitchFamily="34" charset="-120"/>
              </a:rPr>
              <a:t>1,008</a:t>
            </a:r>
            <a:endParaRPr lang="en-US" sz="3400" dirty="0"/>
          </a:p>
        </p:txBody>
      </p:sp>
      <p:sp>
        <p:nvSpPr>
          <p:cNvPr id="8" name="Text 6"/>
          <p:cNvSpPr txBox="1"/>
          <p:nvPr/>
        </p:nvSpPr>
        <p:spPr>
          <a:xfrm>
            <a:off x="786384" y="2551176"/>
            <a:ext cx="3127248" cy="274320"/>
          </a:xfrm>
          <a:prstGeom prst="rect">
            <a:avLst/>
          </a:prstGeom>
          <a:noFill/>
          <a:ln/>
        </p:spPr>
        <p:txBody>
          <a:bodyPr wrap="square" lIns="0" tIns="0" rIns="0" bIns="0" rtlCol="0" anchor="t"/>
          <a:lstStyle/>
          <a:p>
            <a:pPr indent="0" marL="0">
              <a:buNone/>
            </a:pPr>
            <a:r>
              <a:rPr lang="en-US" sz="1450" b="1" dirty="0">
                <a:solidFill>
                  <a:srgbClr val="3C4350"/>
                </a:solidFill>
                <a:latin typeface="Arial" pitchFamily="34" charset="0"/>
                <a:ea typeface="Arial" pitchFamily="34" charset="-122"/>
                <a:cs typeface="Arial" pitchFamily="34" charset="-120"/>
              </a:rPr>
              <a:t>vacancies opened</a:t>
            </a:r>
            <a:endParaRPr lang="en-US" sz="1450" dirty="0"/>
          </a:p>
        </p:txBody>
      </p:sp>
      <p:sp>
        <p:nvSpPr>
          <p:cNvPr id="9" name="Shape 7"/>
          <p:cNvSpPr/>
          <p:nvPr/>
        </p:nvSpPr>
        <p:spPr>
          <a:xfrm>
            <a:off x="4389120" y="2002536"/>
            <a:ext cx="2560320" cy="1298448"/>
          </a:xfrm>
          <a:prstGeom prst="roundRect">
            <a:avLst>
              <a:gd name="adj" fmla="val 2817"/>
            </a:avLst>
          </a:prstGeom>
          <a:solidFill>
            <a:srgbClr val="DCCFC0"/>
          </a:solidFill>
          <a:ln w="12700">
            <a:solidFill>
              <a:srgbClr val="333333"/>
            </a:solidFill>
            <a:prstDash val="solid"/>
          </a:ln>
        </p:spPr>
      </p:sp>
      <p:sp>
        <p:nvSpPr>
          <p:cNvPr id="10" name="Text 8"/>
          <p:cNvSpPr txBox="1"/>
          <p:nvPr/>
        </p:nvSpPr>
        <p:spPr>
          <a:xfrm>
            <a:off x="4608576" y="2130552"/>
            <a:ext cx="2121408" cy="530352"/>
          </a:xfrm>
          <a:prstGeom prst="rect">
            <a:avLst/>
          </a:prstGeom>
          <a:noFill/>
          <a:ln/>
        </p:spPr>
        <p:txBody>
          <a:bodyPr wrap="square" lIns="0" tIns="0" rIns="0" bIns="0" rtlCol="0" anchor="ctr"/>
          <a:lstStyle/>
          <a:p>
            <a:pPr indent="0" marL="0">
              <a:buNone/>
            </a:pPr>
            <a:r>
              <a:rPr lang="en-US" sz="3400" b="1" dirty="0">
                <a:solidFill>
                  <a:srgbClr val="141821"/>
                </a:solidFill>
                <a:latin typeface="Arial" pitchFamily="34" charset="0"/>
                <a:ea typeface="Arial" pitchFamily="34" charset="-122"/>
                <a:cs typeface="Arial" pitchFamily="34" charset="-120"/>
              </a:rPr>
              <a:t>463</a:t>
            </a:r>
            <a:endParaRPr lang="en-US" sz="3400" dirty="0"/>
          </a:p>
        </p:txBody>
      </p:sp>
      <p:sp>
        <p:nvSpPr>
          <p:cNvPr id="11" name="Text 9"/>
          <p:cNvSpPr txBox="1"/>
          <p:nvPr/>
        </p:nvSpPr>
        <p:spPr>
          <a:xfrm>
            <a:off x="4608576" y="2679192"/>
            <a:ext cx="2121408" cy="274320"/>
          </a:xfrm>
          <a:prstGeom prst="rect">
            <a:avLst/>
          </a:prstGeom>
          <a:noFill/>
          <a:ln/>
        </p:spPr>
        <p:txBody>
          <a:bodyPr wrap="square" lIns="0" tIns="0" rIns="0" bIns="0" rtlCol="0" anchor="t"/>
          <a:lstStyle/>
          <a:p>
            <a:pPr indent="0" marL="0">
              <a:buNone/>
            </a:pPr>
            <a:r>
              <a:rPr lang="en-US" sz="1450" b="1" dirty="0">
                <a:solidFill>
                  <a:srgbClr val="3C4350"/>
                </a:solidFill>
                <a:latin typeface="Arial" pitchFamily="34" charset="0"/>
                <a:ea typeface="Arial" pitchFamily="34" charset="-122"/>
                <a:cs typeface="Arial" pitchFamily="34" charset="-120"/>
              </a:rPr>
              <a:t>internal applicants</a:t>
            </a:r>
            <a:endParaRPr lang="en-US" sz="1450" dirty="0"/>
          </a:p>
        </p:txBody>
      </p:sp>
      <p:sp>
        <p:nvSpPr>
          <p:cNvPr id="12" name="Shape 10"/>
          <p:cNvSpPr/>
          <p:nvPr/>
        </p:nvSpPr>
        <p:spPr>
          <a:xfrm>
            <a:off x="7205472" y="2130552"/>
            <a:ext cx="1645920" cy="1042416"/>
          </a:xfrm>
          <a:prstGeom prst="roundRect">
            <a:avLst>
              <a:gd name="adj" fmla="val 3509"/>
            </a:avLst>
          </a:prstGeom>
          <a:solidFill>
            <a:srgbClr val="C00000"/>
          </a:solidFill>
          <a:ln w="12700">
            <a:solidFill>
              <a:srgbClr val="333333"/>
            </a:solidFill>
            <a:prstDash val="solid"/>
          </a:ln>
        </p:spPr>
      </p:sp>
      <p:sp>
        <p:nvSpPr>
          <p:cNvPr id="13" name="Text 11"/>
          <p:cNvSpPr txBox="1"/>
          <p:nvPr/>
        </p:nvSpPr>
        <p:spPr>
          <a:xfrm>
            <a:off x="7424928" y="2258568"/>
            <a:ext cx="1207008" cy="530352"/>
          </a:xfrm>
          <a:prstGeom prst="rect">
            <a:avLst/>
          </a:prstGeom>
          <a:noFill/>
          <a:ln/>
        </p:spPr>
        <p:txBody>
          <a:bodyPr wrap="square" lIns="0" tIns="0" rIns="0" bIns="0" rtlCol="0" anchor="ctr"/>
          <a:lstStyle/>
          <a:p>
            <a:pPr indent="0" marL="0">
              <a:buNone/>
            </a:pPr>
            <a:r>
              <a:rPr lang="en-US" sz="3400" b="1" dirty="0">
                <a:solidFill>
                  <a:srgbClr val="FFFFFF"/>
                </a:solidFill>
                <a:latin typeface="Arial" pitchFamily="34" charset="0"/>
                <a:ea typeface="Arial" pitchFamily="34" charset="-122"/>
                <a:cs typeface="Arial" pitchFamily="34" charset="-120"/>
              </a:rPr>
              <a:t>170</a:t>
            </a:r>
            <a:endParaRPr lang="en-US" sz="3400" dirty="0"/>
          </a:p>
        </p:txBody>
      </p:sp>
      <p:sp>
        <p:nvSpPr>
          <p:cNvPr id="14" name="Text 12"/>
          <p:cNvSpPr txBox="1"/>
          <p:nvPr/>
        </p:nvSpPr>
        <p:spPr>
          <a:xfrm>
            <a:off x="7424928" y="2807208"/>
            <a:ext cx="1207008" cy="274320"/>
          </a:xfrm>
          <a:prstGeom prst="rect">
            <a:avLst/>
          </a:prstGeom>
          <a:noFill/>
          <a:ln/>
        </p:spPr>
        <p:txBody>
          <a:bodyPr wrap="square" lIns="0" tIns="0" rIns="0" bIns="0" rtlCol="0" anchor="t"/>
          <a:lstStyle/>
          <a:p>
            <a:pPr indent="0" marL="0">
              <a:buNone/>
            </a:pPr>
            <a:r>
              <a:rPr lang="en-US" sz="1450" b="1" dirty="0">
                <a:solidFill>
                  <a:srgbClr val="F4DCDC"/>
                </a:solidFill>
                <a:latin typeface="Arial" pitchFamily="34" charset="0"/>
                <a:ea typeface="Arial" pitchFamily="34" charset="-122"/>
                <a:cs typeface="Arial" pitchFamily="34" charset="-120"/>
              </a:rPr>
              <a:t>internal hires</a:t>
            </a:r>
            <a:endParaRPr lang="en-US" sz="1450" dirty="0"/>
          </a:p>
        </p:txBody>
      </p:sp>
      <p:sp>
        <p:nvSpPr>
          <p:cNvPr id="15" name="Shape 13"/>
          <p:cNvSpPr/>
          <p:nvPr/>
        </p:nvSpPr>
        <p:spPr>
          <a:xfrm>
            <a:off x="9162288" y="2084832"/>
            <a:ext cx="45720" cy="1133856"/>
          </a:xfrm>
          <a:prstGeom prst="rect">
            <a:avLst/>
          </a:prstGeom>
          <a:solidFill>
            <a:srgbClr val="C00000"/>
          </a:solidFill>
          <a:ln w="12700">
            <a:solidFill>
              <a:srgbClr val="333333"/>
            </a:solidFill>
            <a:prstDash val="solid"/>
          </a:ln>
        </p:spPr>
      </p:sp>
      <p:sp>
        <p:nvSpPr>
          <p:cNvPr id="16" name="Text 14"/>
          <p:cNvSpPr txBox="1"/>
          <p:nvPr/>
        </p:nvSpPr>
        <p:spPr>
          <a:xfrm>
            <a:off x="9381744" y="2048256"/>
            <a:ext cx="2231136" cy="530352"/>
          </a:xfrm>
          <a:prstGeom prst="rect">
            <a:avLst/>
          </a:prstGeom>
          <a:noFill/>
          <a:ln/>
        </p:spPr>
        <p:txBody>
          <a:bodyPr wrap="square" lIns="0" tIns="0" rIns="0" bIns="0" rtlCol="0" anchor="ctr"/>
          <a:lstStyle/>
          <a:p>
            <a:pPr indent="0" marL="0">
              <a:buNone/>
            </a:pPr>
            <a:r>
              <a:rPr lang="en-US" sz="3800" b="1" dirty="0">
                <a:solidFill>
                  <a:srgbClr val="C00000"/>
                </a:solidFill>
                <a:latin typeface="Arial" pitchFamily="34" charset="0"/>
                <a:ea typeface="Arial" pitchFamily="34" charset="-122"/>
                <a:cs typeface="Arial" pitchFamily="34" charset="-120"/>
              </a:rPr>
              <a:t>17%</a:t>
            </a:r>
            <a:endParaRPr lang="en-US" sz="3800" dirty="0"/>
          </a:p>
        </p:txBody>
      </p:sp>
      <p:sp>
        <p:nvSpPr>
          <p:cNvPr id="17" name="Text 15"/>
          <p:cNvSpPr txBox="1"/>
          <p:nvPr/>
        </p:nvSpPr>
        <p:spPr>
          <a:xfrm>
            <a:off x="9381744" y="2596896"/>
            <a:ext cx="2231136" cy="256032"/>
          </a:xfrm>
          <a:prstGeom prst="rect">
            <a:avLst/>
          </a:prstGeom>
          <a:noFill/>
          <a:ln/>
        </p:spPr>
        <p:txBody>
          <a:bodyPr wrap="square" lIns="0" tIns="0" rIns="0" bIns="0" rtlCol="0" anchor="t"/>
          <a:lstStyle/>
          <a:p>
            <a:pPr indent="0" marL="0">
              <a:buNone/>
            </a:pPr>
            <a:r>
              <a:rPr lang="en-US" sz="1500" b="1" dirty="0">
                <a:solidFill>
                  <a:srgbClr val="3C4350"/>
                </a:solidFill>
                <a:latin typeface="Arial" pitchFamily="34" charset="0"/>
                <a:ea typeface="Arial" pitchFamily="34" charset="-122"/>
                <a:cs typeface="Arial" pitchFamily="34" charset="-120"/>
              </a:rPr>
              <a:t>internal fill rate</a:t>
            </a:r>
            <a:endParaRPr lang="en-US" sz="1500" dirty="0"/>
          </a:p>
        </p:txBody>
      </p:sp>
      <p:sp>
        <p:nvSpPr>
          <p:cNvPr id="18" name="Text 16"/>
          <p:cNvSpPr txBox="1"/>
          <p:nvPr/>
        </p:nvSpPr>
        <p:spPr>
          <a:xfrm>
            <a:off x="9381744" y="2871216"/>
            <a:ext cx="2231136" cy="256032"/>
          </a:xfrm>
          <a:prstGeom prst="rect">
            <a:avLst/>
          </a:prstGeom>
          <a:noFill/>
          <a:ln/>
        </p:spPr>
        <p:txBody>
          <a:bodyPr wrap="square" lIns="0" tIns="0" rIns="0" bIns="0" rtlCol="0" anchor="t"/>
          <a:lstStyle/>
          <a:p>
            <a:pPr indent="0" marL="0">
              <a:buNone/>
            </a:pPr>
            <a:r>
              <a:rPr lang="en-US" sz="1400" dirty="0">
                <a:solidFill>
                  <a:srgbClr val="7C8595"/>
                </a:solidFill>
                <a:latin typeface="Arial" pitchFamily="34" charset="0"/>
                <a:ea typeface="Arial" pitchFamily="34" charset="-122"/>
                <a:cs typeface="Arial" pitchFamily="34" charset="-120"/>
              </a:rPr>
              <a:t>the benchmark is 30%</a:t>
            </a:r>
            <a:endParaRPr lang="en-US" sz="1400" dirty="0"/>
          </a:p>
        </p:txBody>
      </p:sp>
      <p:sp>
        <p:nvSpPr>
          <p:cNvPr id="19" name="Shape 17"/>
          <p:cNvSpPr/>
          <p:nvPr/>
        </p:nvSpPr>
        <p:spPr>
          <a:xfrm>
            <a:off x="566928" y="3986784"/>
            <a:ext cx="11057839" cy="1938528"/>
          </a:xfrm>
          <a:prstGeom prst="roundRect">
            <a:avLst>
              <a:gd name="adj" fmla="val 1887"/>
            </a:avLst>
          </a:prstGeom>
          <a:solidFill>
            <a:srgbClr val="1B2437"/>
          </a:solidFill>
          <a:ln w="12700">
            <a:solidFill>
              <a:srgbClr val="333333"/>
            </a:solidFill>
            <a:prstDash val="solid"/>
          </a:ln>
        </p:spPr>
      </p:sp>
      <p:sp>
        <p:nvSpPr>
          <p:cNvPr id="20" name="Shape 18"/>
          <p:cNvSpPr/>
          <p:nvPr/>
        </p:nvSpPr>
        <p:spPr>
          <a:xfrm>
            <a:off x="566928" y="3986784"/>
            <a:ext cx="91440" cy="1938528"/>
          </a:xfrm>
          <a:prstGeom prst="rect">
            <a:avLst/>
          </a:prstGeom>
          <a:solidFill>
            <a:srgbClr val="C00000"/>
          </a:solidFill>
          <a:ln w="12700">
            <a:solidFill>
              <a:srgbClr val="333333"/>
            </a:solidFill>
            <a:prstDash val="solid"/>
          </a:ln>
        </p:spPr>
      </p:sp>
      <p:sp>
        <p:nvSpPr>
          <p:cNvPr id="21" name="Text 19"/>
          <p:cNvSpPr txBox="1"/>
          <p:nvPr/>
        </p:nvSpPr>
        <p:spPr>
          <a:xfrm>
            <a:off x="987552" y="4224528"/>
            <a:ext cx="5212080" cy="329184"/>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Then look at the people we turned down.</a:t>
            </a:r>
            <a:endParaRPr lang="en-US" sz="2000" dirty="0"/>
          </a:p>
        </p:txBody>
      </p:sp>
      <p:sp>
        <p:nvSpPr>
          <p:cNvPr id="22" name="Text 20"/>
          <p:cNvSpPr txBox="1"/>
          <p:nvPr/>
        </p:nvSpPr>
        <p:spPr>
          <a:xfrm>
            <a:off x="987552" y="4645152"/>
            <a:ext cx="5212080" cy="969264"/>
          </a:xfrm>
          <a:prstGeom prst="rect">
            <a:avLst/>
          </a:prstGeom>
          <a:noFill/>
          <a:ln/>
        </p:spPr>
        <p:txBody>
          <a:bodyPr wrap="square" lIns="0" tIns="0" rIns="0" bIns="0" rtlCol="0" anchor="t"/>
          <a:lstStyle/>
          <a:p>
            <a:pPr indent="0" marL="0">
              <a:lnSpc>
                <a:spcPts val="2300"/>
              </a:lnSpc>
              <a:buNone/>
            </a:pPr>
            <a:r>
              <a:rPr lang="en-US" sz="1600" dirty="0">
                <a:solidFill>
                  <a:srgbClr val="C6BCAE"/>
                </a:solidFill>
                <a:latin typeface="Arial" pitchFamily="34" charset="0"/>
                <a:ea typeface="Arial" pitchFamily="34" charset="-122"/>
                <a:cs typeface="Arial" pitchFamily="34" charset="-120"/>
              </a:rPr>
              <a:t>In 2025 we said no to 67 internal applicants. Today 38 are still here. We have already lost 29 of them.</a:t>
            </a:r>
            <a:endParaRPr lang="en-US" sz="1600" dirty="0"/>
          </a:p>
        </p:txBody>
      </p:sp>
      <p:sp>
        <p:nvSpPr>
          <p:cNvPr id="23" name="Text 21"/>
          <p:cNvSpPr txBox="1"/>
          <p:nvPr/>
        </p:nvSpPr>
        <p:spPr>
          <a:xfrm>
            <a:off x="6400800" y="4261104"/>
            <a:ext cx="1664208" cy="493776"/>
          </a:xfrm>
          <a:prstGeom prst="rect">
            <a:avLst/>
          </a:prstGeom>
          <a:noFill/>
          <a:ln/>
        </p:spPr>
        <p:txBody>
          <a:bodyPr wrap="square" lIns="0" tIns="0" rIns="0" bIns="0" rtlCol="0" anchor="ctr"/>
          <a:lstStyle/>
          <a:p>
            <a:pPr indent="0" marL="0">
              <a:buNone/>
            </a:pPr>
            <a:r>
              <a:rPr lang="en-US" sz="2900" b="1" dirty="0">
                <a:solidFill>
                  <a:srgbClr val="E11D26"/>
                </a:solidFill>
                <a:latin typeface="Arial" pitchFamily="34" charset="0"/>
                <a:ea typeface="Arial" pitchFamily="34" charset="-122"/>
                <a:cs typeface="Arial" pitchFamily="34" charset="-120"/>
              </a:rPr>
              <a:t>43%</a:t>
            </a:r>
            <a:endParaRPr lang="en-US" sz="2900" dirty="0"/>
          </a:p>
        </p:txBody>
      </p:sp>
      <p:sp>
        <p:nvSpPr>
          <p:cNvPr id="24" name="Text 22"/>
          <p:cNvSpPr txBox="1"/>
          <p:nvPr/>
        </p:nvSpPr>
        <p:spPr>
          <a:xfrm>
            <a:off x="6400800" y="4791456"/>
            <a:ext cx="1664208" cy="694944"/>
          </a:xfrm>
          <a:prstGeom prst="rect">
            <a:avLst/>
          </a:prstGeom>
          <a:noFill/>
          <a:ln/>
        </p:spPr>
        <p:txBody>
          <a:bodyPr wrap="square" lIns="0" tIns="0" rIns="0" bIns="0" rtlCol="0" anchor="t"/>
          <a:lstStyle/>
          <a:p>
            <a:pPr indent="0" marL="0">
              <a:lnSpc>
                <a:spcPts val="1700"/>
              </a:lnSpc>
              <a:buNone/>
            </a:pPr>
            <a:r>
              <a:rPr lang="en-US" sz="1400" dirty="0">
                <a:solidFill>
                  <a:srgbClr val="9A9080"/>
                </a:solidFill>
                <a:latin typeface="Arial" pitchFamily="34" charset="0"/>
                <a:ea typeface="Arial" pitchFamily="34" charset="-122"/>
                <a:cs typeface="Arial" pitchFamily="34" charset="-120"/>
              </a:rPr>
              <a:t>left after being</a:t>
            </a:r>
            <a:endParaRPr lang="en-US" sz="1400" dirty="0"/>
          </a:p>
          <a:p>
            <a:pPr indent="0" marL="0">
              <a:lnSpc>
                <a:spcPts val="1700"/>
              </a:lnSpc>
              <a:buNone/>
            </a:pPr>
            <a:r>
              <a:rPr lang="en-US" sz="1400" dirty="0">
                <a:solidFill>
                  <a:srgbClr val="9A9080"/>
                </a:solidFill>
                <a:latin typeface="Arial" pitchFamily="34" charset="0"/>
                <a:ea typeface="Arial" pitchFamily="34" charset="-122"/>
                <a:cs typeface="Arial" pitchFamily="34" charset="-120"/>
              </a:rPr>
              <a:t>turned down</a:t>
            </a:r>
            <a:endParaRPr lang="en-US" sz="1400" dirty="0"/>
          </a:p>
        </p:txBody>
      </p:sp>
      <p:sp>
        <p:nvSpPr>
          <p:cNvPr id="25" name="Text 23"/>
          <p:cNvSpPr txBox="1"/>
          <p:nvPr/>
        </p:nvSpPr>
        <p:spPr>
          <a:xfrm>
            <a:off x="8156448" y="4261104"/>
            <a:ext cx="1664208" cy="493776"/>
          </a:xfrm>
          <a:prstGeom prst="rect">
            <a:avLst/>
          </a:prstGeom>
          <a:noFill/>
          <a:ln/>
        </p:spPr>
        <p:txBody>
          <a:bodyPr wrap="square" lIns="0" tIns="0" rIns="0" bIns="0" rtlCol="0" anchor="ctr"/>
          <a:lstStyle/>
          <a:p>
            <a:pPr indent="0" marL="0">
              <a:buNone/>
            </a:pPr>
            <a:r>
              <a:rPr lang="en-US" sz="2900" b="1" dirty="0">
                <a:solidFill>
                  <a:srgbClr val="8E95A3"/>
                </a:solidFill>
                <a:latin typeface="Arial" pitchFamily="34" charset="0"/>
                <a:ea typeface="Arial" pitchFamily="34" charset="-122"/>
                <a:cs typeface="Arial" pitchFamily="34" charset="-120"/>
              </a:rPr>
              <a:t>19%</a:t>
            </a:r>
            <a:endParaRPr lang="en-US" sz="2900" dirty="0"/>
          </a:p>
        </p:txBody>
      </p:sp>
      <p:sp>
        <p:nvSpPr>
          <p:cNvPr id="26" name="Text 24"/>
          <p:cNvSpPr txBox="1"/>
          <p:nvPr/>
        </p:nvSpPr>
        <p:spPr>
          <a:xfrm>
            <a:off x="8156448" y="4791456"/>
            <a:ext cx="1664208" cy="694944"/>
          </a:xfrm>
          <a:prstGeom prst="rect">
            <a:avLst/>
          </a:prstGeom>
          <a:noFill/>
          <a:ln/>
        </p:spPr>
        <p:txBody>
          <a:bodyPr wrap="square" lIns="0" tIns="0" rIns="0" bIns="0" rtlCol="0" anchor="t"/>
          <a:lstStyle/>
          <a:p>
            <a:pPr indent="0" marL="0">
              <a:lnSpc>
                <a:spcPts val="1700"/>
              </a:lnSpc>
              <a:buNone/>
            </a:pPr>
            <a:r>
              <a:rPr lang="en-US" sz="1400" dirty="0">
                <a:solidFill>
                  <a:srgbClr val="9A9080"/>
                </a:solidFill>
                <a:latin typeface="Arial" pitchFamily="34" charset="0"/>
                <a:ea typeface="Arial" pitchFamily="34" charset="-122"/>
                <a:cs typeface="Arial" pitchFamily="34" charset="-120"/>
              </a:rPr>
              <a:t>company average</a:t>
            </a:r>
            <a:endParaRPr lang="en-US" sz="1400" dirty="0"/>
          </a:p>
          <a:p>
            <a:pPr indent="0" marL="0">
              <a:lnSpc>
                <a:spcPts val="1700"/>
              </a:lnSpc>
              <a:buNone/>
            </a:pPr>
            <a:r>
              <a:rPr lang="en-US" sz="1400" dirty="0">
                <a:solidFill>
                  <a:srgbClr val="9A9080"/>
                </a:solidFill>
                <a:latin typeface="Arial" pitchFamily="34" charset="0"/>
                <a:ea typeface="Arial" pitchFamily="34" charset="-122"/>
                <a:cs typeface="Arial" pitchFamily="34" charset="-120"/>
              </a:rPr>
              <a:t>attrition</a:t>
            </a:r>
            <a:endParaRPr lang="en-US" sz="1400" dirty="0"/>
          </a:p>
        </p:txBody>
      </p:sp>
      <p:sp>
        <p:nvSpPr>
          <p:cNvPr id="27" name="Text 25"/>
          <p:cNvSpPr txBox="1"/>
          <p:nvPr/>
        </p:nvSpPr>
        <p:spPr>
          <a:xfrm>
            <a:off x="9912096" y="4261104"/>
            <a:ext cx="1664208" cy="493776"/>
          </a:xfrm>
          <a:prstGeom prst="rect">
            <a:avLst/>
          </a:prstGeom>
          <a:noFill/>
          <a:ln/>
        </p:spPr>
        <p:txBody>
          <a:bodyPr wrap="square" lIns="0" tIns="0" rIns="0" bIns="0" rtlCol="0" anchor="ctr"/>
          <a:lstStyle/>
          <a:p>
            <a:pPr indent="0" marL="0">
              <a:buNone/>
            </a:pPr>
            <a:r>
              <a:rPr lang="en-US" sz="2900" b="1" dirty="0">
                <a:solidFill>
                  <a:srgbClr val="FFFFFF"/>
                </a:solidFill>
                <a:latin typeface="Arial" pitchFamily="34" charset="0"/>
                <a:ea typeface="Arial" pitchFamily="34" charset="-122"/>
                <a:cs typeface="Arial" pitchFamily="34" charset="-120"/>
              </a:rPr>
              <a:t>₱8.3M</a:t>
            </a:r>
            <a:endParaRPr lang="en-US" sz="2900" dirty="0"/>
          </a:p>
        </p:txBody>
      </p:sp>
      <p:sp>
        <p:nvSpPr>
          <p:cNvPr id="28" name="Text 26"/>
          <p:cNvSpPr txBox="1"/>
          <p:nvPr/>
        </p:nvSpPr>
        <p:spPr>
          <a:xfrm>
            <a:off x="9912096" y="4791456"/>
            <a:ext cx="1664208" cy="694944"/>
          </a:xfrm>
          <a:prstGeom prst="rect">
            <a:avLst/>
          </a:prstGeom>
          <a:noFill/>
          <a:ln/>
        </p:spPr>
        <p:txBody>
          <a:bodyPr wrap="square" lIns="0" tIns="0" rIns="0" bIns="0" rtlCol="0" anchor="t"/>
          <a:lstStyle/>
          <a:p>
            <a:pPr indent="0" marL="0">
              <a:lnSpc>
                <a:spcPts val="1700"/>
              </a:lnSpc>
              <a:buNone/>
            </a:pPr>
            <a:r>
              <a:rPr lang="en-US" sz="1400" dirty="0">
                <a:solidFill>
                  <a:srgbClr val="9A9080"/>
                </a:solidFill>
                <a:latin typeface="Arial" pitchFamily="34" charset="0"/>
                <a:ea typeface="Arial" pitchFamily="34" charset="-122"/>
                <a:cs typeface="Arial" pitchFamily="34" charset="-120"/>
              </a:rPr>
              <a:t>replacement cost of</a:t>
            </a:r>
            <a:endParaRPr lang="en-US" sz="1400" dirty="0"/>
          </a:p>
          <a:p>
            <a:pPr indent="0" marL="0">
              <a:lnSpc>
                <a:spcPts val="1700"/>
              </a:lnSpc>
              <a:buNone/>
            </a:pPr>
            <a:r>
              <a:rPr lang="en-US" sz="1400" dirty="0">
                <a:solidFill>
                  <a:srgbClr val="9A9080"/>
                </a:solidFill>
                <a:latin typeface="Arial" pitchFamily="34" charset="0"/>
                <a:ea typeface="Arial" pitchFamily="34" charset="-122"/>
                <a:cs typeface="Arial" pitchFamily="34" charset="-120"/>
              </a:rPr>
              <a:t>16 extra leavers</a:t>
            </a:r>
            <a:endParaRPr lang="en-US" sz="1400" dirty="0"/>
          </a:p>
        </p:txBody>
      </p:sp>
      <p:sp>
        <p:nvSpPr>
          <p:cNvPr id="29" name="Text 27"/>
          <p:cNvSpPr txBox="1"/>
          <p:nvPr/>
        </p:nvSpPr>
        <p:spPr>
          <a:xfrm>
            <a:off x="566928" y="6345936"/>
            <a:ext cx="10417759" cy="329184"/>
          </a:xfrm>
          <a:prstGeom prst="rect">
            <a:avLst/>
          </a:prstGeom>
          <a:noFill/>
          <a:ln/>
        </p:spPr>
        <p:txBody>
          <a:bodyPr wrap="square" lIns="0" tIns="0" rIns="0" bIns="0" rtlCol="0" anchor="t"/>
          <a:lstStyle/>
          <a:p>
            <a:pPr indent="0" marL="0">
              <a:lnSpc>
                <a:spcPts val="1700"/>
              </a:lnSpc>
              <a:buNone/>
            </a:pPr>
            <a:r>
              <a:rPr lang="en-US" sz="1400" dirty="0">
                <a:solidFill>
                  <a:srgbClr val="A69E92"/>
                </a:solidFill>
                <a:latin typeface="Arial" pitchFamily="34" charset="0"/>
                <a:ea typeface="Arial" pitchFamily="34" charset="-122"/>
                <a:cs typeface="Arial" pitchFamily="34" charset="-120"/>
              </a:rPr>
              <a:t>HC Connect internal job posting data 2024–2026 · 2025 turned-down cohort tracked against HRIS, September 2026.</a:t>
            </a:r>
            <a:endParaRPr lang="en-US" sz="1400" dirty="0"/>
          </a:p>
        </p:txBody>
      </p:sp>
      <p:sp>
        <p:nvSpPr>
          <p:cNvPr id="30" name="Text 28"/>
          <p:cNvSpPr txBox="1"/>
          <p:nvPr/>
        </p:nvSpPr>
        <p:spPr>
          <a:xfrm>
            <a:off x="11167567" y="6382512"/>
            <a:ext cx="457200" cy="256032"/>
          </a:xfrm>
          <a:prstGeom prst="rect">
            <a:avLst/>
          </a:prstGeom>
          <a:noFill/>
          <a:ln/>
        </p:spPr>
        <p:txBody>
          <a:bodyPr wrap="square" lIns="0" tIns="0" rIns="0" bIns="0" rtlCol="0" anchor="ctr"/>
          <a:lstStyle/>
          <a:p>
            <a:pPr algn="r" indent="0" marL="0">
              <a:buNone/>
            </a:pPr>
            <a:r>
              <a:rPr lang="en-US" sz="1400" dirty="0">
                <a:solidFill>
                  <a:srgbClr val="B6AFA3"/>
                </a:solidFill>
                <a:latin typeface="Arial" pitchFamily="34" charset="0"/>
                <a:ea typeface="Arial" pitchFamily="34" charset="-122"/>
                <a:cs typeface="Arial" pitchFamily="34" charset="-120"/>
              </a:rPr>
              <a:t>3</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20624"/>
            <a:ext cx="420624" cy="68580"/>
          </a:xfrm>
          <a:prstGeom prst="rect">
            <a:avLst/>
          </a:prstGeom>
          <a:solidFill>
            <a:srgbClr val="C00000"/>
          </a:solidFill>
          <a:ln w="12700">
            <a:solidFill>
              <a:srgbClr val="333333"/>
            </a:solidFill>
            <a:prstDash val="solid"/>
          </a:ln>
        </p:spPr>
      </p:sp>
      <p:sp>
        <p:nvSpPr>
          <p:cNvPr id="3" name="Text 1"/>
          <p:cNvSpPr txBox="1"/>
          <p:nvPr/>
        </p:nvSpPr>
        <p:spPr>
          <a:xfrm>
            <a:off x="1115568" y="338328"/>
            <a:ext cx="10509199" cy="237744"/>
          </a:xfrm>
          <a:prstGeom prst="rect">
            <a:avLst/>
          </a:prstGeom>
          <a:noFill/>
          <a:ln/>
        </p:spPr>
        <p:txBody>
          <a:bodyPr wrap="square" lIns="0" tIns="0" rIns="0" bIns="0" rtlCol="0" anchor="ctr"/>
          <a:lstStyle/>
          <a:p>
            <a:pPr indent="0" marL="0">
              <a:buNone/>
            </a:pPr>
            <a:r>
              <a:rPr lang="en-US" sz="1400" b="1" spc="240" kern="0" dirty="0">
                <a:solidFill>
                  <a:srgbClr val="C00000"/>
                </a:solidFill>
                <a:latin typeface="Arial" pitchFamily="34" charset="0"/>
                <a:ea typeface="Arial" pitchFamily="34" charset="-122"/>
                <a:cs typeface="Arial" pitchFamily="34" charset="-120"/>
              </a:rPr>
              <a:t>WHY IT HAPPENS</a:t>
            </a:r>
            <a:endParaRPr lang="en-US" sz="1400" dirty="0"/>
          </a:p>
        </p:txBody>
      </p:sp>
      <p:sp>
        <p:nvSpPr>
          <p:cNvPr id="4" name="Text 2"/>
          <p:cNvSpPr txBox="1"/>
          <p:nvPr/>
        </p:nvSpPr>
        <p:spPr>
          <a:xfrm>
            <a:off x="566928" y="694944"/>
            <a:ext cx="11057839" cy="566928"/>
          </a:xfrm>
          <a:prstGeom prst="rect">
            <a:avLst/>
          </a:prstGeom>
          <a:noFill/>
          <a:ln/>
        </p:spPr>
        <p:txBody>
          <a:bodyPr wrap="square" lIns="0" tIns="0" rIns="0" bIns="0" rtlCol="0" anchor="t"/>
          <a:lstStyle/>
          <a:p>
            <a:pPr indent="0" marL="0">
              <a:buNone/>
            </a:pPr>
            <a:r>
              <a:rPr lang="en-US" sz="2900" b="1" dirty="0">
                <a:solidFill>
                  <a:srgbClr val="141821"/>
                </a:solidFill>
                <a:latin typeface="Arial" pitchFamily="34" charset="0"/>
                <a:ea typeface="Arial" pitchFamily="34" charset="-122"/>
                <a:cs typeface="Arial" pitchFamily="34" charset="-120"/>
              </a:rPr>
              <a:t>Three blind spots, none of which is a people problem.</a:t>
            </a:r>
            <a:endParaRPr lang="en-US" sz="2900" dirty="0"/>
          </a:p>
        </p:txBody>
      </p:sp>
      <p:sp>
        <p:nvSpPr>
          <p:cNvPr id="5" name="Shape 3"/>
          <p:cNvSpPr/>
          <p:nvPr/>
        </p:nvSpPr>
        <p:spPr>
          <a:xfrm>
            <a:off x="566928" y="1920240"/>
            <a:ext cx="3503066" cy="2615184"/>
          </a:xfrm>
          <a:prstGeom prst="roundRect">
            <a:avLst>
              <a:gd name="adj" fmla="val 1399"/>
            </a:avLst>
          </a:prstGeom>
          <a:solidFill>
            <a:srgbClr val="FFFFFF"/>
          </a:solidFill>
          <a:ln w="12700">
            <a:solidFill>
              <a:srgbClr val="E4DFD6"/>
            </a:solidFill>
            <a:prstDash val="solid"/>
          </a:ln>
          <a:effectLst>
            <a:outerShdw sx="100000" sy="100000" kx="0" ky="0" algn="bl" rotWithShape="0" blurRad="152400" dist="25400" dir="5400000">
              <a:srgbClr val="6B5B45">
                <a:alpha val="10000"/>
              </a:srgbClr>
            </a:outerShdw>
          </a:effectLst>
        </p:spPr>
      </p:sp>
      <p:sp>
        <p:nvSpPr>
          <p:cNvPr id="6" name="Shape 4"/>
          <p:cNvSpPr/>
          <p:nvPr/>
        </p:nvSpPr>
        <p:spPr>
          <a:xfrm>
            <a:off x="566928" y="1920240"/>
            <a:ext cx="3503066" cy="68580"/>
          </a:xfrm>
          <a:prstGeom prst="rect">
            <a:avLst/>
          </a:prstGeom>
          <a:solidFill>
            <a:srgbClr val="C00000"/>
          </a:solidFill>
          <a:ln w="12700">
            <a:solidFill>
              <a:srgbClr val="333333"/>
            </a:solidFill>
            <a:prstDash val="solid"/>
          </a:ln>
        </p:spPr>
      </p:sp>
      <p:sp>
        <p:nvSpPr>
          <p:cNvPr id="7" name="Text 5"/>
          <p:cNvSpPr txBox="1"/>
          <p:nvPr/>
        </p:nvSpPr>
        <p:spPr>
          <a:xfrm>
            <a:off x="841248" y="2121408"/>
            <a:ext cx="914400" cy="402336"/>
          </a:xfrm>
          <a:prstGeom prst="rect">
            <a:avLst/>
          </a:prstGeom>
          <a:noFill/>
          <a:ln/>
        </p:spPr>
        <p:txBody>
          <a:bodyPr wrap="square" lIns="0" tIns="0" rIns="0" bIns="0" rtlCol="0" anchor="ctr"/>
          <a:lstStyle/>
          <a:p>
            <a:pPr indent="0" marL="0">
              <a:buNone/>
            </a:pPr>
            <a:r>
              <a:rPr lang="en-US" sz="2400" b="1" spc="100" kern="0" dirty="0">
                <a:solidFill>
                  <a:srgbClr val="C00000"/>
                </a:solidFill>
                <a:latin typeface="Arial" pitchFamily="34" charset="0"/>
                <a:ea typeface="Arial" pitchFamily="34" charset="-122"/>
                <a:cs typeface="Arial" pitchFamily="34" charset="-120"/>
              </a:rPr>
              <a:t>01</a:t>
            </a:r>
            <a:endParaRPr lang="en-US" sz="2400" dirty="0"/>
          </a:p>
        </p:txBody>
      </p:sp>
      <p:sp>
        <p:nvSpPr>
          <p:cNvPr id="8" name="Text 6"/>
          <p:cNvSpPr txBox="1"/>
          <p:nvPr/>
        </p:nvSpPr>
        <p:spPr>
          <a:xfrm>
            <a:off x="841248" y="2615184"/>
            <a:ext cx="2954426" cy="603504"/>
          </a:xfrm>
          <a:prstGeom prst="rect">
            <a:avLst/>
          </a:prstGeom>
          <a:noFill/>
          <a:ln/>
        </p:spPr>
        <p:txBody>
          <a:bodyPr wrap="square" lIns="0" tIns="0" rIns="0" bIns="0" rtlCol="0" anchor="t"/>
          <a:lstStyle/>
          <a:p>
            <a:pPr indent="0" marL="0">
              <a:lnSpc>
                <a:spcPts val="2400"/>
              </a:lnSpc>
              <a:buNone/>
            </a:pPr>
            <a:r>
              <a:rPr lang="en-US" sz="1800" b="1" dirty="0">
                <a:solidFill>
                  <a:srgbClr val="141821"/>
                </a:solidFill>
                <a:latin typeface="Arial" pitchFamily="34" charset="0"/>
                <a:ea typeface="Arial" pitchFamily="34" charset="-122"/>
                <a:cs typeface="Arial" pitchFamily="34" charset="-120"/>
              </a:rPr>
              <a:t>Employees cannot see it</a:t>
            </a:r>
            <a:endParaRPr lang="en-US" sz="1800" dirty="0"/>
          </a:p>
        </p:txBody>
      </p:sp>
      <p:sp>
        <p:nvSpPr>
          <p:cNvPr id="9" name="Text 7"/>
          <p:cNvSpPr txBox="1"/>
          <p:nvPr/>
        </p:nvSpPr>
        <p:spPr>
          <a:xfrm>
            <a:off x="841248" y="3273552"/>
            <a:ext cx="2954426" cy="1115568"/>
          </a:xfrm>
          <a:prstGeom prst="rect">
            <a:avLst/>
          </a:prstGeom>
          <a:noFill/>
          <a:ln/>
        </p:spPr>
        <p:txBody>
          <a:bodyPr wrap="square" lIns="0" tIns="0" rIns="0" bIns="0" rtlCol="0" anchor="t"/>
          <a:lstStyle/>
          <a:p>
            <a:pPr indent="0" marL="0">
              <a:lnSpc>
                <a:spcPts val="2000"/>
              </a:lnSpc>
              <a:buNone/>
            </a:pPr>
            <a:r>
              <a:rPr lang="en-US" sz="1500" dirty="0">
                <a:solidFill>
                  <a:srgbClr val="3C4350"/>
                </a:solidFill>
                <a:latin typeface="Arial" pitchFamily="34" charset="0"/>
                <a:ea typeface="Arial" pitchFamily="34" charset="-122"/>
                <a:cs typeface="Arial" pitchFamily="34" charset="-120"/>
              </a:rPr>
              <a:t>Vacancies sit in a tool nobody browses. Gigs and immersions are arranged privately. You hear about the role after it is filled.</a:t>
            </a:r>
            <a:endParaRPr lang="en-US" sz="1500" dirty="0"/>
          </a:p>
        </p:txBody>
      </p:sp>
      <p:sp>
        <p:nvSpPr>
          <p:cNvPr id="10" name="Shape 8"/>
          <p:cNvSpPr/>
          <p:nvPr/>
        </p:nvSpPr>
        <p:spPr>
          <a:xfrm>
            <a:off x="4344314" y="1920240"/>
            <a:ext cx="3503066" cy="2615184"/>
          </a:xfrm>
          <a:prstGeom prst="roundRect">
            <a:avLst>
              <a:gd name="adj" fmla="val 1399"/>
            </a:avLst>
          </a:prstGeom>
          <a:solidFill>
            <a:srgbClr val="FFFFFF"/>
          </a:solidFill>
          <a:ln w="12700">
            <a:solidFill>
              <a:srgbClr val="E4DFD6"/>
            </a:solidFill>
            <a:prstDash val="solid"/>
          </a:ln>
          <a:effectLst>
            <a:outerShdw sx="100000" sy="100000" kx="0" ky="0" algn="bl" rotWithShape="0" blurRad="152400" dist="25400" dir="5400000">
              <a:srgbClr val="6B5B45">
                <a:alpha val="10000"/>
              </a:srgbClr>
            </a:outerShdw>
          </a:effectLst>
        </p:spPr>
      </p:sp>
      <p:sp>
        <p:nvSpPr>
          <p:cNvPr id="11" name="Shape 9"/>
          <p:cNvSpPr/>
          <p:nvPr/>
        </p:nvSpPr>
        <p:spPr>
          <a:xfrm>
            <a:off x="4344314" y="1920240"/>
            <a:ext cx="3503066" cy="68580"/>
          </a:xfrm>
          <a:prstGeom prst="rect">
            <a:avLst/>
          </a:prstGeom>
          <a:solidFill>
            <a:srgbClr val="A9761A"/>
          </a:solidFill>
          <a:ln w="12700">
            <a:solidFill>
              <a:srgbClr val="333333"/>
            </a:solidFill>
            <a:prstDash val="solid"/>
          </a:ln>
        </p:spPr>
      </p:sp>
      <p:sp>
        <p:nvSpPr>
          <p:cNvPr id="12" name="Text 10"/>
          <p:cNvSpPr txBox="1"/>
          <p:nvPr/>
        </p:nvSpPr>
        <p:spPr>
          <a:xfrm>
            <a:off x="4618634" y="2121408"/>
            <a:ext cx="914400" cy="402336"/>
          </a:xfrm>
          <a:prstGeom prst="rect">
            <a:avLst/>
          </a:prstGeom>
          <a:noFill/>
          <a:ln/>
        </p:spPr>
        <p:txBody>
          <a:bodyPr wrap="square" lIns="0" tIns="0" rIns="0" bIns="0" rtlCol="0" anchor="ctr"/>
          <a:lstStyle/>
          <a:p>
            <a:pPr indent="0" marL="0">
              <a:buNone/>
            </a:pPr>
            <a:r>
              <a:rPr lang="en-US" sz="2400" b="1" spc="100" kern="0" dirty="0">
                <a:solidFill>
                  <a:srgbClr val="A9761A"/>
                </a:solidFill>
                <a:latin typeface="Arial" pitchFamily="34" charset="0"/>
                <a:ea typeface="Arial" pitchFamily="34" charset="-122"/>
                <a:cs typeface="Arial" pitchFamily="34" charset="-120"/>
              </a:rPr>
              <a:t>02</a:t>
            </a:r>
            <a:endParaRPr lang="en-US" sz="2400" dirty="0"/>
          </a:p>
        </p:txBody>
      </p:sp>
      <p:sp>
        <p:nvSpPr>
          <p:cNvPr id="13" name="Text 11"/>
          <p:cNvSpPr txBox="1"/>
          <p:nvPr/>
        </p:nvSpPr>
        <p:spPr>
          <a:xfrm>
            <a:off x="4618634" y="2615184"/>
            <a:ext cx="2954426" cy="603504"/>
          </a:xfrm>
          <a:prstGeom prst="rect">
            <a:avLst/>
          </a:prstGeom>
          <a:noFill/>
          <a:ln/>
        </p:spPr>
        <p:txBody>
          <a:bodyPr wrap="square" lIns="0" tIns="0" rIns="0" bIns="0" rtlCol="0" anchor="t"/>
          <a:lstStyle/>
          <a:p>
            <a:pPr indent="0" marL="0">
              <a:lnSpc>
                <a:spcPts val="2400"/>
              </a:lnSpc>
              <a:buNone/>
            </a:pPr>
            <a:r>
              <a:rPr lang="en-US" sz="1800" b="1" dirty="0">
                <a:solidFill>
                  <a:srgbClr val="141821"/>
                </a:solidFill>
                <a:latin typeface="Arial" pitchFamily="34" charset="0"/>
                <a:ea typeface="Arial" pitchFamily="34" charset="-122"/>
                <a:cs typeface="Arial" pitchFamily="34" charset="-120"/>
              </a:rPr>
              <a:t>The manager cannot find them</a:t>
            </a:r>
            <a:endParaRPr lang="en-US" sz="1800" dirty="0"/>
          </a:p>
        </p:txBody>
      </p:sp>
      <p:sp>
        <p:nvSpPr>
          <p:cNvPr id="14" name="Text 12"/>
          <p:cNvSpPr txBox="1"/>
          <p:nvPr/>
        </p:nvSpPr>
        <p:spPr>
          <a:xfrm>
            <a:off x="4618634" y="3273552"/>
            <a:ext cx="2954426" cy="1115568"/>
          </a:xfrm>
          <a:prstGeom prst="rect">
            <a:avLst/>
          </a:prstGeom>
          <a:noFill/>
          <a:ln/>
        </p:spPr>
        <p:txBody>
          <a:bodyPr wrap="square" lIns="0" tIns="0" rIns="0" bIns="0" rtlCol="0" anchor="t"/>
          <a:lstStyle/>
          <a:p>
            <a:pPr indent="0" marL="0">
              <a:lnSpc>
                <a:spcPts val="2000"/>
              </a:lnSpc>
              <a:buNone/>
            </a:pPr>
            <a:r>
              <a:rPr lang="en-US" sz="1500" dirty="0">
                <a:solidFill>
                  <a:srgbClr val="3C4350"/>
                </a:solidFill>
                <a:latin typeface="Arial" pitchFamily="34" charset="0"/>
                <a:ea typeface="Arial" pitchFamily="34" charset="-122"/>
                <a:cs typeface="Arial" pitchFamily="34" charset="-120"/>
              </a:rPr>
              <a:t>There is no skills inventory. A hiring manager cannot ask "who inside can already do this?", so the default is to post externally.</a:t>
            </a:r>
            <a:endParaRPr lang="en-US" sz="1500" dirty="0"/>
          </a:p>
        </p:txBody>
      </p:sp>
      <p:sp>
        <p:nvSpPr>
          <p:cNvPr id="15" name="Shape 13"/>
          <p:cNvSpPr/>
          <p:nvPr/>
        </p:nvSpPr>
        <p:spPr>
          <a:xfrm>
            <a:off x="8121701" y="1920240"/>
            <a:ext cx="3503066" cy="2615184"/>
          </a:xfrm>
          <a:prstGeom prst="roundRect">
            <a:avLst>
              <a:gd name="adj" fmla="val 1399"/>
            </a:avLst>
          </a:prstGeom>
          <a:solidFill>
            <a:srgbClr val="FFFFFF"/>
          </a:solidFill>
          <a:ln w="12700">
            <a:solidFill>
              <a:srgbClr val="E4DFD6"/>
            </a:solidFill>
            <a:prstDash val="solid"/>
          </a:ln>
          <a:effectLst>
            <a:outerShdw sx="100000" sy="100000" kx="0" ky="0" algn="bl" rotWithShape="0" blurRad="152400" dist="25400" dir="5400000">
              <a:srgbClr val="6B5B45">
                <a:alpha val="10000"/>
              </a:srgbClr>
            </a:outerShdw>
          </a:effectLst>
        </p:spPr>
      </p:sp>
      <p:sp>
        <p:nvSpPr>
          <p:cNvPr id="16" name="Shape 14"/>
          <p:cNvSpPr/>
          <p:nvPr/>
        </p:nvSpPr>
        <p:spPr>
          <a:xfrm>
            <a:off x="8121701" y="1920240"/>
            <a:ext cx="3503066" cy="68580"/>
          </a:xfrm>
          <a:prstGeom prst="rect">
            <a:avLst/>
          </a:prstGeom>
          <a:solidFill>
            <a:srgbClr val="0E7C66"/>
          </a:solidFill>
          <a:ln w="12700">
            <a:solidFill>
              <a:srgbClr val="333333"/>
            </a:solidFill>
            <a:prstDash val="solid"/>
          </a:ln>
        </p:spPr>
      </p:sp>
      <p:sp>
        <p:nvSpPr>
          <p:cNvPr id="17" name="Text 15"/>
          <p:cNvSpPr txBox="1"/>
          <p:nvPr/>
        </p:nvSpPr>
        <p:spPr>
          <a:xfrm>
            <a:off x="8396021" y="2121408"/>
            <a:ext cx="914400" cy="402336"/>
          </a:xfrm>
          <a:prstGeom prst="rect">
            <a:avLst/>
          </a:prstGeom>
          <a:noFill/>
          <a:ln/>
        </p:spPr>
        <p:txBody>
          <a:bodyPr wrap="square" lIns="0" tIns="0" rIns="0" bIns="0" rtlCol="0" anchor="ctr"/>
          <a:lstStyle/>
          <a:p>
            <a:pPr indent="0" marL="0">
              <a:buNone/>
            </a:pPr>
            <a:r>
              <a:rPr lang="en-US" sz="2400" b="1" spc="100" kern="0" dirty="0">
                <a:solidFill>
                  <a:srgbClr val="0E7C66"/>
                </a:solidFill>
                <a:latin typeface="Arial" pitchFamily="34" charset="0"/>
                <a:ea typeface="Arial" pitchFamily="34" charset="-122"/>
                <a:cs typeface="Arial" pitchFamily="34" charset="-120"/>
              </a:rPr>
              <a:t>03</a:t>
            </a:r>
            <a:endParaRPr lang="en-US" sz="2400" dirty="0"/>
          </a:p>
        </p:txBody>
      </p:sp>
      <p:sp>
        <p:nvSpPr>
          <p:cNvPr id="18" name="Text 16"/>
          <p:cNvSpPr txBox="1"/>
          <p:nvPr/>
        </p:nvSpPr>
        <p:spPr>
          <a:xfrm>
            <a:off x="8396021" y="2615184"/>
            <a:ext cx="2954426" cy="603504"/>
          </a:xfrm>
          <a:prstGeom prst="rect">
            <a:avLst/>
          </a:prstGeom>
          <a:noFill/>
          <a:ln/>
        </p:spPr>
        <p:txBody>
          <a:bodyPr wrap="square" lIns="0" tIns="0" rIns="0" bIns="0" rtlCol="0" anchor="t"/>
          <a:lstStyle/>
          <a:p>
            <a:pPr indent="0" marL="0">
              <a:lnSpc>
                <a:spcPts val="2400"/>
              </a:lnSpc>
              <a:buNone/>
            </a:pPr>
            <a:r>
              <a:rPr lang="en-US" sz="1800" b="1" dirty="0">
                <a:solidFill>
                  <a:srgbClr val="141821"/>
                </a:solidFill>
                <a:latin typeface="Arial" pitchFamily="34" charset="0"/>
                <a:ea typeface="Arial" pitchFamily="34" charset="-122"/>
                <a:cs typeface="Arial" pitchFamily="34" charset="-120"/>
              </a:rPr>
              <a:t>The record does not exist</a:t>
            </a:r>
            <a:endParaRPr lang="en-US" sz="1800" dirty="0"/>
          </a:p>
        </p:txBody>
      </p:sp>
      <p:sp>
        <p:nvSpPr>
          <p:cNvPr id="19" name="Text 17"/>
          <p:cNvSpPr txBox="1"/>
          <p:nvPr/>
        </p:nvSpPr>
        <p:spPr>
          <a:xfrm>
            <a:off x="8396021" y="3273552"/>
            <a:ext cx="2954426" cy="1115568"/>
          </a:xfrm>
          <a:prstGeom prst="rect">
            <a:avLst/>
          </a:prstGeom>
          <a:noFill/>
          <a:ln/>
        </p:spPr>
        <p:txBody>
          <a:bodyPr wrap="square" lIns="0" tIns="0" rIns="0" bIns="0" rtlCol="0" anchor="t"/>
          <a:lstStyle/>
          <a:p>
            <a:pPr indent="0" marL="0">
              <a:lnSpc>
                <a:spcPts val="2000"/>
              </a:lnSpc>
              <a:buNone/>
            </a:pPr>
            <a:r>
              <a:rPr lang="en-US" sz="1500" dirty="0">
                <a:solidFill>
                  <a:srgbClr val="3C4350"/>
                </a:solidFill>
                <a:latin typeface="Arial" pitchFamily="34" charset="0"/>
                <a:ea typeface="Arial" pitchFamily="34" charset="-122"/>
                <a:cs typeface="Arial" pitchFamily="34" charset="-120"/>
              </a:rPr>
              <a:t>Skills live in CVs, IDPs and people's memories. Nothing is verified, nothing is current, none of it is searchable.</a:t>
            </a:r>
            <a:endParaRPr lang="en-US" sz="1500" dirty="0"/>
          </a:p>
        </p:txBody>
      </p:sp>
      <p:sp>
        <p:nvSpPr>
          <p:cNvPr id="20" name="Shape 18"/>
          <p:cNvSpPr/>
          <p:nvPr/>
        </p:nvSpPr>
        <p:spPr>
          <a:xfrm>
            <a:off x="566928" y="4791456"/>
            <a:ext cx="11057839" cy="1444752"/>
          </a:xfrm>
          <a:prstGeom prst="roundRect">
            <a:avLst>
              <a:gd name="adj" fmla="val 2532"/>
            </a:avLst>
          </a:prstGeom>
          <a:solidFill>
            <a:srgbClr val="F7F4EF"/>
          </a:solidFill>
          <a:ln w="12700">
            <a:solidFill>
              <a:srgbClr val="333333"/>
            </a:solidFill>
            <a:prstDash val="solid"/>
          </a:ln>
        </p:spPr>
      </p:sp>
      <p:sp>
        <p:nvSpPr>
          <p:cNvPr id="21" name="Text 19"/>
          <p:cNvSpPr txBox="1"/>
          <p:nvPr/>
        </p:nvSpPr>
        <p:spPr>
          <a:xfrm>
            <a:off x="932688" y="4992624"/>
            <a:ext cx="6634704" cy="621792"/>
          </a:xfrm>
          <a:prstGeom prst="rect">
            <a:avLst/>
          </a:prstGeom>
          <a:noFill/>
          <a:ln/>
        </p:spPr>
        <p:txBody>
          <a:bodyPr wrap="square" lIns="0" tIns="0" rIns="0" bIns="0" rtlCol="0" anchor="ctr"/>
          <a:lstStyle/>
          <a:p>
            <a:pPr indent="0" marL="0">
              <a:lnSpc>
                <a:spcPts val="2600"/>
              </a:lnSpc>
              <a:buNone/>
            </a:pPr>
            <a:r>
              <a:rPr lang="en-US" sz="1900" b="1" dirty="0">
                <a:solidFill>
                  <a:srgbClr val="141821"/>
                </a:solidFill>
                <a:latin typeface="Arial" pitchFamily="34" charset="0"/>
                <a:ea typeface="Arial" pitchFamily="34" charset="-122"/>
                <a:cs typeface="Arial" pitchFamily="34" charset="-120"/>
              </a:rPr>
              <a:t>The constraint is not that our people are unqualified. It is that the market inside Home Credit has no shelves.</a:t>
            </a:r>
            <a:endParaRPr lang="en-US" sz="1900" dirty="0"/>
          </a:p>
        </p:txBody>
      </p:sp>
      <p:sp>
        <p:nvSpPr>
          <p:cNvPr id="22" name="Text 20"/>
          <p:cNvSpPr txBox="1"/>
          <p:nvPr/>
        </p:nvSpPr>
        <p:spPr>
          <a:xfrm>
            <a:off x="932688" y="5614416"/>
            <a:ext cx="6634704" cy="548640"/>
          </a:xfrm>
          <a:prstGeom prst="rect">
            <a:avLst/>
          </a:prstGeom>
          <a:noFill/>
          <a:ln/>
        </p:spPr>
        <p:txBody>
          <a:bodyPr wrap="square" lIns="0" tIns="0" rIns="0" bIns="0" rtlCol="0" anchor="t"/>
          <a:lstStyle/>
          <a:p>
            <a:pPr indent="0" marL="0">
              <a:lnSpc>
                <a:spcPts val="2000"/>
              </a:lnSpc>
              <a:buNone/>
            </a:pPr>
            <a:r>
              <a:rPr lang="en-US" sz="1500" dirty="0">
                <a:solidFill>
                  <a:srgbClr val="3C4350"/>
                </a:solidFill>
                <a:latin typeface="Arial" pitchFamily="34" charset="0"/>
                <a:ea typeface="Arial" pitchFamily="34" charset="-122"/>
                <a:cs typeface="Arial" pitchFamily="34" charset="-120"/>
              </a:rPr>
              <a:t>463 applications in three years is not apathy. People say they believe they can grow here — they cannot find where.</a:t>
            </a:r>
            <a:endParaRPr lang="en-US" sz="1500" dirty="0"/>
          </a:p>
        </p:txBody>
      </p:sp>
      <p:sp>
        <p:nvSpPr>
          <p:cNvPr id="23" name="Shape 21"/>
          <p:cNvSpPr/>
          <p:nvPr/>
        </p:nvSpPr>
        <p:spPr>
          <a:xfrm>
            <a:off x="7865102" y="5047488"/>
            <a:ext cx="45720" cy="877824"/>
          </a:xfrm>
          <a:prstGeom prst="rect">
            <a:avLst/>
          </a:prstGeom>
          <a:solidFill>
            <a:srgbClr val="C00000"/>
          </a:solidFill>
          <a:ln w="12700">
            <a:solidFill>
              <a:srgbClr val="333333"/>
            </a:solidFill>
            <a:prstDash val="solid"/>
          </a:ln>
        </p:spPr>
      </p:sp>
      <p:sp>
        <p:nvSpPr>
          <p:cNvPr id="24" name="Text 22"/>
          <p:cNvSpPr txBox="1"/>
          <p:nvPr/>
        </p:nvSpPr>
        <p:spPr>
          <a:xfrm>
            <a:off x="8307415" y="5010912"/>
            <a:ext cx="3206773" cy="475488"/>
          </a:xfrm>
          <a:prstGeom prst="rect">
            <a:avLst/>
          </a:prstGeom>
          <a:noFill/>
          <a:ln/>
        </p:spPr>
        <p:txBody>
          <a:bodyPr wrap="square" lIns="0" tIns="0" rIns="0" bIns="0" rtlCol="0" anchor="ctr"/>
          <a:lstStyle/>
          <a:p>
            <a:pPr indent="0" marL="0">
              <a:buNone/>
            </a:pPr>
            <a:r>
              <a:rPr lang="en-US" sz="3200" b="1" dirty="0">
                <a:solidFill>
                  <a:srgbClr val="C00000"/>
                </a:solidFill>
                <a:latin typeface="Arial" pitchFamily="34" charset="0"/>
                <a:ea typeface="Arial" pitchFamily="34" charset="-122"/>
                <a:cs typeface="Arial" pitchFamily="34" charset="-120"/>
              </a:rPr>
              <a:t>88%</a:t>
            </a:r>
            <a:endParaRPr lang="en-US" sz="3200" dirty="0"/>
          </a:p>
        </p:txBody>
      </p:sp>
      <p:sp>
        <p:nvSpPr>
          <p:cNvPr id="25" name="Text 23"/>
          <p:cNvSpPr txBox="1"/>
          <p:nvPr/>
        </p:nvSpPr>
        <p:spPr>
          <a:xfrm>
            <a:off x="8307415" y="5486400"/>
            <a:ext cx="3206773" cy="512064"/>
          </a:xfrm>
          <a:prstGeom prst="rect">
            <a:avLst/>
          </a:prstGeom>
          <a:noFill/>
          <a:ln/>
        </p:spPr>
        <p:txBody>
          <a:bodyPr wrap="square" lIns="0" tIns="0" rIns="0" bIns="0" rtlCol="0" anchor="t"/>
          <a:lstStyle/>
          <a:p>
            <a:pPr indent="0" marL="0">
              <a:lnSpc>
                <a:spcPts val="1800"/>
              </a:lnSpc>
              <a:buNone/>
            </a:pPr>
            <a:r>
              <a:rPr lang="en-US" sz="1400" dirty="0">
                <a:solidFill>
                  <a:srgbClr val="3C4350"/>
                </a:solidFill>
                <a:latin typeface="Arial" pitchFamily="34" charset="0"/>
                <a:ea typeface="Arial" pitchFamily="34" charset="-122"/>
                <a:cs typeface="Arial" pitchFamily="34" charset="-120"/>
              </a:rPr>
              <a:t>believe they can grow at Home Credit</a:t>
            </a:r>
            <a:endParaRPr lang="en-US" sz="1400" dirty="0"/>
          </a:p>
          <a:p>
            <a:pPr indent="0" marL="0">
              <a:lnSpc>
                <a:spcPts val="1800"/>
              </a:lnSpc>
              <a:buNone/>
            </a:pPr>
            <a:r>
              <a:rPr lang="en-US" sz="1400" dirty="0">
                <a:solidFill>
                  <a:srgbClr val="3C4350"/>
                </a:solidFill>
                <a:latin typeface="Arial" pitchFamily="34" charset="0"/>
                <a:ea typeface="Arial" pitchFamily="34" charset="-122"/>
                <a:cs typeface="Arial" pitchFamily="34" charset="-120"/>
              </a:rPr>
              <a:t>eNPS on growth opportunity</a:t>
            </a:r>
            <a:endParaRPr lang="en-US" sz="1400" dirty="0"/>
          </a:p>
        </p:txBody>
      </p:sp>
      <p:sp>
        <p:nvSpPr>
          <p:cNvPr id="26" name="Text 24"/>
          <p:cNvSpPr txBox="1"/>
          <p:nvPr/>
        </p:nvSpPr>
        <p:spPr>
          <a:xfrm>
            <a:off x="11167567" y="6382512"/>
            <a:ext cx="457200" cy="256032"/>
          </a:xfrm>
          <a:prstGeom prst="rect">
            <a:avLst/>
          </a:prstGeom>
          <a:noFill/>
          <a:ln/>
        </p:spPr>
        <p:txBody>
          <a:bodyPr wrap="square" lIns="0" tIns="0" rIns="0" bIns="0" rtlCol="0" anchor="ctr"/>
          <a:lstStyle/>
          <a:p>
            <a:pPr algn="r" indent="0" marL="0">
              <a:buNone/>
            </a:pPr>
            <a:r>
              <a:rPr lang="en-US" sz="1400" dirty="0">
                <a:solidFill>
                  <a:srgbClr val="B6AFA3"/>
                </a:solidFill>
                <a:latin typeface="Arial" pitchFamily="34" charset="0"/>
                <a:ea typeface="Arial" pitchFamily="34" charset="-122"/>
                <a:cs typeface="Arial" pitchFamily="34" charset="-120"/>
              </a:rPr>
              <a:t>4</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20624"/>
            <a:ext cx="420624" cy="68580"/>
          </a:xfrm>
          <a:prstGeom prst="rect">
            <a:avLst/>
          </a:prstGeom>
          <a:solidFill>
            <a:srgbClr val="C00000"/>
          </a:solidFill>
          <a:ln w="12700">
            <a:solidFill>
              <a:srgbClr val="333333"/>
            </a:solidFill>
            <a:prstDash val="solid"/>
          </a:ln>
        </p:spPr>
      </p:sp>
      <p:sp>
        <p:nvSpPr>
          <p:cNvPr id="3" name="Text 1"/>
          <p:cNvSpPr txBox="1"/>
          <p:nvPr/>
        </p:nvSpPr>
        <p:spPr>
          <a:xfrm>
            <a:off x="1115568" y="338328"/>
            <a:ext cx="10509199" cy="237744"/>
          </a:xfrm>
          <a:prstGeom prst="rect">
            <a:avLst/>
          </a:prstGeom>
          <a:noFill/>
          <a:ln/>
        </p:spPr>
        <p:txBody>
          <a:bodyPr wrap="square" lIns="0" tIns="0" rIns="0" bIns="0" rtlCol="0" anchor="ctr"/>
          <a:lstStyle/>
          <a:p>
            <a:pPr indent="0" marL="0">
              <a:buNone/>
            </a:pPr>
            <a:r>
              <a:rPr lang="en-US" sz="1400" b="1" spc="240" kern="0" dirty="0">
                <a:solidFill>
                  <a:srgbClr val="C00000"/>
                </a:solidFill>
                <a:latin typeface="Arial" pitchFamily="34" charset="0"/>
                <a:ea typeface="Arial" pitchFamily="34" charset="-122"/>
                <a:cs typeface="Arial" pitchFamily="34" charset="-120"/>
              </a:rPr>
              <a:t>THE SOLUTION</a:t>
            </a:r>
            <a:endParaRPr lang="en-US" sz="1400" dirty="0"/>
          </a:p>
        </p:txBody>
      </p:sp>
      <p:sp>
        <p:nvSpPr>
          <p:cNvPr id="4" name="Text 2"/>
          <p:cNvSpPr txBox="1"/>
          <p:nvPr/>
        </p:nvSpPr>
        <p:spPr>
          <a:xfrm>
            <a:off x="566928" y="694944"/>
            <a:ext cx="11057839" cy="566928"/>
          </a:xfrm>
          <a:prstGeom prst="rect">
            <a:avLst/>
          </a:prstGeom>
          <a:noFill/>
          <a:ln/>
        </p:spPr>
        <p:txBody>
          <a:bodyPr wrap="square" lIns="0" tIns="0" rIns="0" bIns="0" rtlCol="0" anchor="t"/>
          <a:lstStyle/>
          <a:p>
            <a:pPr indent="0" marL="0">
              <a:buNone/>
            </a:pPr>
            <a:r>
              <a:rPr lang="en-US" sz="3300" b="1" dirty="0">
                <a:solidFill>
                  <a:srgbClr val="141821"/>
                </a:solidFill>
                <a:latin typeface="Arial" pitchFamily="34" charset="0"/>
                <a:ea typeface="Arial" pitchFamily="34" charset="-122"/>
                <a:cs typeface="Arial" pitchFamily="34" charset="-120"/>
              </a:rPr>
              <a:t>One place. Every opportunity. Scored against you.</a:t>
            </a:r>
            <a:endParaRPr lang="en-US" sz="3300" dirty="0"/>
          </a:p>
        </p:txBody>
      </p:sp>
      <p:sp>
        <p:nvSpPr>
          <p:cNvPr id="5" name="Text 3"/>
          <p:cNvSpPr txBox="1"/>
          <p:nvPr/>
        </p:nvSpPr>
        <p:spPr>
          <a:xfrm>
            <a:off x="566928" y="1883664"/>
            <a:ext cx="5031317" cy="237744"/>
          </a:xfrm>
          <a:prstGeom prst="rect">
            <a:avLst/>
          </a:prstGeom>
          <a:noFill/>
          <a:ln/>
        </p:spPr>
        <p:txBody>
          <a:bodyPr wrap="square" lIns="0" tIns="0" rIns="0" bIns="0" rtlCol="0" anchor="ctr"/>
          <a:lstStyle/>
          <a:p>
            <a:pPr indent="0" marL="0">
              <a:buNone/>
            </a:pPr>
            <a:r>
              <a:rPr lang="en-US" sz="1400" b="1" spc="180" kern="0" dirty="0">
                <a:solidFill>
                  <a:srgbClr val="C00000"/>
                </a:solidFill>
                <a:latin typeface="Arial" pitchFamily="34" charset="0"/>
                <a:ea typeface="Arial" pitchFamily="34" charset="-122"/>
                <a:cs typeface="Arial" pitchFamily="34" charset="-120"/>
              </a:rPr>
              <a:t>FOUR SHELVES</a:t>
            </a:r>
            <a:endParaRPr lang="en-US" sz="1400" dirty="0"/>
          </a:p>
        </p:txBody>
      </p:sp>
      <p:sp>
        <p:nvSpPr>
          <p:cNvPr id="6" name="Shape 4"/>
          <p:cNvSpPr/>
          <p:nvPr/>
        </p:nvSpPr>
        <p:spPr>
          <a:xfrm>
            <a:off x="566928" y="2304288"/>
            <a:ext cx="50292" cy="603504"/>
          </a:xfrm>
          <a:prstGeom prst="rect">
            <a:avLst/>
          </a:prstGeom>
          <a:solidFill>
            <a:srgbClr val="C00000"/>
          </a:solidFill>
          <a:ln w="12700">
            <a:solidFill>
              <a:srgbClr val="333333"/>
            </a:solidFill>
            <a:prstDash val="solid"/>
          </a:ln>
        </p:spPr>
      </p:sp>
      <p:sp>
        <p:nvSpPr>
          <p:cNvPr id="7" name="Text 5"/>
          <p:cNvSpPr txBox="1"/>
          <p:nvPr/>
        </p:nvSpPr>
        <p:spPr>
          <a:xfrm>
            <a:off x="804672" y="2267712"/>
            <a:ext cx="4793573" cy="292608"/>
          </a:xfrm>
          <a:prstGeom prst="rect">
            <a:avLst/>
          </a:prstGeom>
          <a:noFill/>
          <a:ln/>
        </p:spPr>
        <p:txBody>
          <a:bodyPr wrap="square" lIns="0" tIns="0" rIns="0" bIns="0" rtlCol="0" anchor="t"/>
          <a:lstStyle/>
          <a:p>
            <a:pPr indent="0" marL="0">
              <a:buNone/>
            </a:pPr>
            <a:r>
              <a:rPr lang="en-US" sz="1700" b="1" dirty="0">
                <a:solidFill>
                  <a:srgbClr val="141821"/>
                </a:solidFill>
                <a:latin typeface="Arial" pitchFamily="34" charset="0"/>
                <a:ea typeface="Arial" pitchFamily="34" charset="-122"/>
                <a:cs typeface="Arial" pitchFamily="34" charset="-120"/>
              </a:rPr>
              <a:t>Vacancies</a:t>
            </a:r>
            <a:endParaRPr lang="en-US" sz="1700" dirty="0"/>
          </a:p>
        </p:txBody>
      </p:sp>
      <p:sp>
        <p:nvSpPr>
          <p:cNvPr id="8" name="Text 6"/>
          <p:cNvSpPr txBox="1"/>
          <p:nvPr/>
        </p:nvSpPr>
        <p:spPr>
          <a:xfrm>
            <a:off x="804672" y="2560320"/>
            <a:ext cx="4793573" cy="420624"/>
          </a:xfrm>
          <a:prstGeom prst="rect">
            <a:avLst/>
          </a:prstGeom>
          <a:noFill/>
          <a:ln/>
        </p:spPr>
        <p:txBody>
          <a:bodyPr wrap="square" lIns="0" tIns="0" rIns="0" bIns="0" rtlCol="0" anchor="t"/>
          <a:lstStyle/>
          <a:p>
            <a:pPr indent="0" marL="0">
              <a:lnSpc>
                <a:spcPts val="1900"/>
              </a:lnSpc>
              <a:buNone/>
            </a:pPr>
            <a:r>
              <a:rPr lang="en-US" sz="1450" dirty="0">
                <a:solidFill>
                  <a:srgbClr val="3C4350"/>
                </a:solidFill>
                <a:latin typeface="Arial" pitchFamily="34" charset="0"/>
                <a:ea typeface="Arial" pitchFamily="34" charset="-122"/>
                <a:cs typeface="Arial" pitchFamily="34" charset="-120"/>
              </a:rPr>
              <a:t>Permanent internal roles, mirrored from HC Connect</a:t>
            </a:r>
            <a:endParaRPr lang="en-US" sz="1450" dirty="0"/>
          </a:p>
        </p:txBody>
      </p:sp>
      <p:sp>
        <p:nvSpPr>
          <p:cNvPr id="9" name="Shape 7"/>
          <p:cNvSpPr/>
          <p:nvPr/>
        </p:nvSpPr>
        <p:spPr>
          <a:xfrm>
            <a:off x="566928" y="3145536"/>
            <a:ext cx="50292" cy="603504"/>
          </a:xfrm>
          <a:prstGeom prst="rect">
            <a:avLst/>
          </a:prstGeom>
          <a:solidFill>
            <a:srgbClr val="A9761A"/>
          </a:solidFill>
          <a:ln w="12700">
            <a:solidFill>
              <a:srgbClr val="333333"/>
            </a:solidFill>
            <a:prstDash val="solid"/>
          </a:ln>
        </p:spPr>
      </p:sp>
      <p:sp>
        <p:nvSpPr>
          <p:cNvPr id="10" name="Text 8"/>
          <p:cNvSpPr txBox="1"/>
          <p:nvPr/>
        </p:nvSpPr>
        <p:spPr>
          <a:xfrm>
            <a:off x="804672" y="3108960"/>
            <a:ext cx="4793573" cy="292608"/>
          </a:xfrm>
          <a:prstGeom prst="rect">
            <a:avLst/>
          </a:prstGeom>
          <a:noFill/>
          <a:ln/>
        </p:spPr>
        <p:txBody>
          <a:bodyPr wrap="square" lIns="0" tIns="0" rIns="0" bIns="0" rtlCol="0" anchor="t"/>
          <a:lstStyle/>
          <a:p>
            <a:pPr indent="0" marL="0">
              <a:buNone/>
            </a:pPr>
            <a:r>
              <a:rPr lang="en-US" sz="1700" b="1" dirty="0">
                <a:solidFill>
                  <a:srgbClr val="141821"/>
                </a:solidFill>
                <a:latin typeface="Arial" pitchFamily="34" charset="0"/>
                <a:ea typeface="Arial" pitchFamily="34" charset="-122"/>
                <a:cs typeface="Arial" pitchFamily="34" charset="-120"/>
              </a:rPr>
              <a:t>Gigs</a:t>
            </a:r>
            <a:endParaRPr lang="en-US" sz="1700" dirty="0"/>
          </a:p>
        </p:txBody>
      </p:sp>
      <p:sp>
        <p:nvSpPr>
          <p:cNvPr id="11" name="Text 9"/>
          <p:cNvSpPr txBox="1"/>
          <p:nvPr/>
        </p:nvSpPr>
        <p:spPr>
          <a:xfrm>
            <a:off x="804672" y="3401568"/>
            <a:ext cx="4793573" cy="420624"/>
          </a:xfrm>
          <a:prstGeom prst="rect">
            <a:avLst/>
          </a:prstGeom>
          <a:noFill/>
          <a:ln/>
        </p:spPr>
        <p:txBody>
          <a:bodyPr wrap="square" lIns="0" tIns="0" rIns="0" bIns="0" rtlCol="0" anchor="t"/>
          <a:lstStyle/>
          <a:p>
            <a:pPr indent="0" marL="0">
              <a:lnSpc>
                <a:spcPts val="1900"/>
              </a:lnSpc>
              <a:buNone/>
            </a:pPr>
            <a:r>
              <a:rPr lang="en-US" sz="1450" dirty="0">
                <a:solidFill>
                  <a:srgbClr val="3C4350"/>
                </a:solidFill>
                <a:latin typeface="Arial" pitchFamily="34" charset="0"/>
                <a:ea typeface="Arial" pitchFamily="34" charset="-122"/>
                <a:cs typeface="Arial" pitchFamily="34" charset="-120"/>
              </a:rPr>
              <a:t>Short projects, days to weeks, alongside the day job</a:t>
            </a:r>
            <a:endParaRPr lang="en-US" sz="1450" dirty="0"/>
          </a:p>
        </p:txBody>
      </p:sp>
      <p:sp>
        <p:nvSpPr>
          <p:cNvPr id="12" name="Shape 10"/>
          <p:cNvSpPr/>
          <p:nvPr/>
        </p:nvSpPr>
        <p:spPr>
          <a:xfrm>
            <a:off x="566928" y="3986784"/>
            <a:ext cx="50292" cy="603504"/>
          </a:xfrm>
          <a:prstGeom prst="rect">
            <a:avLst/>
          </a:prstGeom>
          <a:solidFill>
            <a:srgbClr val="0E7C66"/>
          </a:solidFill>
          <a:ln w="12700">
            <a:solidFill>
              <a:srgbClr val="333333"/>
            </a:solidFill>
            <a:prstDash val="solid"/>
          </a:ln>
        </p:spPr>
      </p:sp>
      <p:sp>
        <p:nvSpPr>
          <p:cNvPr id="13" name="Text 11"/>
          <p:cNvSpPr txBox="1"/>
          <p:nvPr/>
        </p:nvSpPr>
        <p:spPr>
          <a:xfrm>
            <a:off x="804672" y="3950208"/>
            <a:ext cx="4793573" cy="292608"/>
          </a:xfrm>
          <a:prstGeom prst="rect">
            <a:avLst/>
          </a:prstGeom>
          <a:noFill/>
          <a:ln/>
        </p:spPr>
        <p:txBody>
          <a:bodyPr wrap="square" lIns="0" tIns="0" rIns="0" bIns="0" rtlCol="0" anchor="t"/>
          <a:lstStyle/>
          <a:p>
            <a:pPr indent="0" marL="0">
              <a:buNone/>
            </a:pPr>
            <a:r>
              <a:rPr lang="en-US" sz="1700" b="1" dirty="0">
                <a:solidFill>
                  <a:srgbClr val="141821"/>
                </a:solidFill>
                <a:latin typeface="Arial" pitchFamily="34" charset="0"/>
                <a:ea typeface="Arial" pitchFamily="34" charset="-122"/>
                <a:cs typeface="Arial" pitchFamily="34" charset="-120"/>
              </a:rPr>
              <a:t>Job immersions</a:t>
            </a:r>
            <a:endParaRPr lang="en-US" sz="1700" dirty="0"/>
          </a:p>
        </p:txBody>
      </p:sp>
      <p:sp>
        <p:nvSpPr>
          <p:cNvPr id="14" name="Text 12"/>
          <p:cNvSpPr txBox="1"/>
          <p:nvPr/>
        </p:nvSpPr>
        <p:spPr>
          <a:xfrm>
            <a:off x="804672" y="4242816"/>
            <a:ext cx="4793573" cy="420624"/>
          </a:xfrm>
          <a:prstGeom prst="rect">
            <a:avLst/>
          </a:prstGeom>
          <a:noFill/>
          <a:ln/>
        </p:spPr>
        <p:txBody>
          <a:bodyPr wrap="square" lIns="0" tIns="0" rIns="0" bIns="0" rtlCol="0" anchor="t"/>
          <a:lstStyle/>
          <a:p>
            <a:pPr indent="0" marL="0">
              <a:lnSpc>
                <a:spcPts val="1900"/>
              </a:lnSpc>
              <a:buNone/>
            </a:pPr>
            <a:r>
              <a:rPr lang="en-US" sz="1450" dirty="0">
                <a:solidFill>
                  <a:srgbClr val="3C4350"/>
                </a:solidFill>
                <a:latin typeface="Arial" pitchFamily="34" charset="0"/>
                <a:ea typeface="Arial" pitchFamily="34" charset="-122"/>
                <a:cs typeface="Arial" pitchFamily="34" charset="-120"/>
              </a:rPr>
              <a:t>Three to nine months in another function</a:t>
            </a:r>
            <a:endParaRPr lang="en-US" sz="1450" dirty="0"/>
          </a:p>
        </p:txBody>
      </p:sp>
      <p:sp>
        <p:nvSpPr>
          <p:cNvPr id="15" name="Shape 13"/>
          <p:cNvSpPr/>
          <p:nvPr/>
        </p:nvSpPr>
        <p:spPr>
          <a:xfrm>
            <a:off x="566928" y="4828032"/>
            <a:ext cx="50292" cy="603504"/>
          </a:xfrm>
          <a:prstGeom prst="rect">
            <a:avLst/>
          </a:prstGeom>
          <a:solidFill>
            <a:srgbClr val="4A5468"/>
          </a:solidFill>
          <a:ln w="12700">
            <a:solidFill>
              <a:srgbClr val="333333"/>
            </a:solidFill>
            <a:prstDash val="solid"/>
          </a:ln>
        </p:spPr>
      </p:sp>
      <p:sp>
        <p:nvSpPr>
          <p:cNvPr id="16" name="Text 14"/>
          <p:cNvSpPr txBox="1"/>
          <p:nvPr/>
        </p:nvSpPr>
        <p:spPr>
          <a:xfrm>
            <a:off x="804672" y="4791456"/>
            <a:ext cx="4793573" cy="292608"/>
          </a:xfrm>
          <a:prstGeom prst="rect">
            <a:avLst/>
          </a:prstGeom>
          <a:noFill/>
          <a:ln/>
        </p:spPr>
        <p:txBody>
          <a:bodyPr wrap="square" lIns="0" tIns="0" rIns="0" bIns="0" rtlCol="0" anchor="t"/>
          <a:lstStyle/>
          <a:p>
            <a:pPr indent="0" marL="0">
              <a:buNone/>
            </a:pPr>
            <a:r>
              <a:rPr lang="en-US" sz="1700" b="1" dirty="0">
                <a:solidFill>
                  <a:srgbClr val="141821"/>
                </a:solidFill>
                <a:latin typeface="Arial" pitchFamily="34" charset="0"/>
                <a:ea typeface="Arial" pitchFamily="34" charset="-122"/>
                <a:cs typeface="Arial" pitchFamily="34" charset="-120"/>
              </a:rPr>
              <a:t>Service offers</a:t>
            </a:r>
            <a:endParaRPr lang="en-US" sz="1700" dirty="0"/>
          </a:p>
        </p:txBody>
      </p:sp>
      <p:sp>
        <p:nvSpPr>
          <p:cNvPr id="17" name="Text 15"/>
          <p:cNvSpPr txBox="1"/>
          <p:nvPr/>
        </p:nvSpPr>
        <p:spPr>
          <a:xfrm>
            <a:off x="804672" y="5084064"/>
            <a:ext cx="4793573" cy="420624"/>
          </a:xfrm>
          <a:prstGeom prst="rect">
            <a:avLst/>
          </a:prstGeom>
          <a:noFill/>
          <a:ln/>
        </p:spPr>
        <p:txBody>
          <a:bodyPr wrap="square" lIns="0" tIns="0" rIns="0" bIns="0" rtlCol="0" anchor="t"/>
          <a:lstStyle/>
          <a:p>
            <a:pPr indent="0" marL="0">
              <a:lnSpc>
                <a:spcPts val="1900"/>
              </a:lnSpc>
              <a:buNone/>
            </a:pPr>
            <a:r>
              <a:rPr lang="en-US" sz="1450" dirty="0">
                <a:solidFill>
                  <a:srgbClr val="3C4350"/>
                </a:solidFill>
                <a:latin typeface="Arial" pitchFamily="34" charset="0"/>
                <a:ea typeface="Arial" pitchFamily="34" charset="-122"/>
                <a:cs typeface="Arial" pitchFamily="34" charset="-120"/>
              </a:rPr>
              <a:t>An employee offering a skill to the business</a:t>
            </a:r>
            <a:endParaRPr lang="en-US" sz="1450" dirty="0"/>
          </a:p>
        </p:txBody>
      </p:sp>
      <p:sp>
        <p:nvSpPr>
          <p:cNvPr id="18" name="Shape 16"/>
          <p:cNvSpPr/>
          <p:nvPr/>
        </p:nvSpPr>
        <p:spPr>
          <a:xfrm>
            <a:off x="566928" y="5577840"/>
            <a:ext cx="5031317" cy="731520"/>
          </a:xfrm>
          <a:prstGeom prst="roundRect">
            <a:avLst>
              <a:gd name="adj" fmla="val 5000"/>
            </a:avLst>
          </a:prstGeom>
          <a:solidFill>
            <a:srgbClr val="F7F4EF"/>
          </a:solidFill>
          <a:ln w="12700">
            <a:solidFill>
              <a:srgbClr val="333333"/>
            </a:solidFill>
            <a:prstDash val="solid"/>
          </a:ln>
        </p:spPr>
      </p:sp>
      <p:sp>
        <p:nvSpPr>
          <p:cNvPr id="19" name="Text 17"/>
          <p:cNvSpPr txBox="1"/>
          <p:nvPr/>
        </p:nvSpPr>
        <p:spPr>
          <a:xfrm>
            <a:off x="804672" y="5577840"/>
            <a:ext cx="4555829" cy="731520"/>
          </a:xfrm>
          <a:prstGeom prst="rect">
            <a:avLst/>
          </a:prstGeom>
          <a:noFill/>
          <a:ln/>
        </p:spPr>
        <p:txBody>
          <a:bodyPr wrap="square" lIns="0" tIns="0" rIns="0" bIns="0" rtlCol="0" anchor="ctr"/>
          <a:lstStyle/>
          <a:p>
            <a:pPr indent="0" marL="0">
              <a:lnSpc>
                <a:spcPts val="1900"/>
              </a:lnSpc>
              <a:buNone/>
            </a:pPr>
            <a:r>
              <a:rPr lang="en-US" sz="1450" b="1" dirty="0">
                <a:solidFill>
                  <a:srgbClr val="141821"/>
                </a:solidFill>
                <a:latin typeface="Arial" pitchFamily="34" charset="0"/>
                <a:ea typeface="Arial" pitchFamily="34" charset="-122"/>
                <a:cs typeface="Arial" pitchFamily="34" charset="-120"/>
              </a:rPr>
              <a:t>Plus a skills passport. </a:t>
            </a:r>
            <a:pPr indent="0" marL="0">
              <a:lnSpc>
                <a:spcPts val="1900"/>
              </a:lnSpc>
              <a:buNone/>
            </a:pPr>
            <a:r>
              <a:rPr lang="en-US" sz="1450" dirty="0">
                <a:solidFill>
                  <a:srgbClr val="3C4350"/>
                </a:solidFill>
                <a:latin typeface="Arial" pitchFamily="34" charset="0"/>
                <a:ea typeface="Arial" pitchFamily="34" charset="-122"/>
                <a:cs typeface="Arial" pitchFamily="34" charset="-120"/>
              </a:rPr>
              <a:t>Seeded from MyDevelopment and LinkedIn, verified by delivery.</a:t>
            </a:r>
            <a:endParaRPr lang="en-US" sz="1450" dirty="0"/>
          </a:p>
        </p:txBody>
      </p:sp>
      <p:sp>
        <p:nvSpPr>
          <p:cNvPr id="20" name="Text 18"/>
          <p:cNvSpPr txBox="1"/>
          <p:nvPr/>
        </p:nvSpPr>
        <p:spPr>
          <a:xfrm>
            <a:off x="6018869" y="1883664"/>
            <a:ext cx="5605898" cy="237744"/>
          </a:xfrm>
          <a:prstGeom prst="rect">
            <a:avLst/>
          </a:prstGeom>
          <a:noFill/>
          <a:ln/>
        </p:spPr>
        <p:txBody>
          <a:bodyPr wrap="square" lIns="0" tIns="0" rIns="0" bIns="0" rtlCol="0" anchor="ctr"/>
          <a:lstStyle/>
          <a:p>
            <a:pPr indent="0" marL="0">
              <a:buNone/>
            </a:pPr>
            <a:r>
              <a:rPr lang="en-US" sz="1400" b="1" spc="140" kern="0" dirty="0">
                <a:solidFill>
                  <a:srgbClr val="C00000"/>
                </a:solidFill>
                <a:latin typeface="Arial" pitchFamily="34" charset="0"/>
                <a:ea typeface="Arial" pitchFamily="34" charset="-122"/>
                <a:cs typeface="Arial" pitchFamily="34" charset="-120"/>
              </a:rPr>
              <a:t>EVERY POST IS SCORED AGAINST YOUR PROFILE</a:t>
            </a:r>
            <a:endParaRPr lang="en-US" sz="1400" dirty="0"/>
          </a:p>
        </p:txBody>
      </p:sp>
      <p:pic>
        <p:nvPicPr>
          <p:cNvPr id="21" name="Image 0" descr="preencoded.png">    </p:cNvPr>
          <p:cNvPicPr>
            <a:picLocks noChangeAspect="1"/>
          </p:cNvPicPr>
          <p:nvPr/>
        </p:nvPicPr>
        <p:blipFill>
          <a:blip r:embed="rId1"/>
          <a:stretch>
            <a:fillRect/>
          </a:stretch>
        </p:blipFill>
        <p:spPr>
          <a:xfrm>
            <a:off x="6018869" y="2267712"/>
            <a:ext cx="5605898" cy="3268239"/>
          </a:xfrm>
          <a:prstGeom prst="rect">
            <a:avLst/>
          </a:prstGeom>
          <a:effectLst>
            <a:outerShdw sx="100000" sy="100000" kx="0" ky="0" algn="bl" rotWithShape="0" blurRad="152400" dist="25400" dir="5400000">
              <a:srgbClr val="6B5B45">
                <a:alpha val="10000"/>
              </a:srgbClr>
            </a:outerShdw>
          </a:effectLst>
        </p:spPr>
      </p:pic>
      <p:sp>
        <p:nvSpPr>
          <p:cNvPr id="22" name="Text 19"/>
          <p:cNvSpPr txBox="1"/>
          <p:nvPr/>
        </p:nvSpPr>
        <p:spPr>
          <a:xfrm>
            <a:off x="6018869" y="5663967"/>
            <a:ext cx="5605898" cy="512064"/>
          </a:xfrm>
          <a:prstGeom prst="rect">
            <a:avLst/>
          </a:prstGeom>
          <a:noFill/>
          <a:ln/>
        </p:spPr>
        <p:txBody>
          <a:bodyPr wrap="square" lIns="0" tIns="0" rIns="0" bIns="0" rtlCol="0" anchor="t"/>
          <a:lstStyle/>
          <a:p>
            <a:pPr indent="0" marL="0">
              <a:lnSpc>
                <a:spcPts val="2000"/>
              </a:lnSpc>
              <a:buNone/>
            </a:pPr>
            <a:r>
              <a:rPr lang="en-US" sz="1500" dirty="0">
                <a:solidFill>
                  <a:srgbClr val="7C8595"/>
                </a:solidFill>
                <a:latin typeface="Arial" pitchFamily="34" charset="0"/>
                <a:ea typeface="Arial" pitchFamily="34" charset="-122"/>
                <a:cs typeface="Arial" pitchFamily="34" charset="-120"/>
              </a:rPr>
              <a:t>An AI model reads the post and your profile, returns a score, and says why. It never blocks an application.</a:t>
            </a:r>
            <a:endParaRPr lang="en-US" sz="1500" dirty="0"/>
          </a:p>
        </p:txBody>
      </p:sp>
      <p:sp>
        <p:nvSpPr>
          <p:cNvPr id="23" name="Text 20"/>
          <p:cNvSpPr txBox="1"/>
          <p:nvPr/>
        </p:nvSpPr>
        <p:spPr>
          <a:xfrm>
            <a:off x="11167567" y="6382512"/>
            <a:ext cx="457200" cy="256032"/>
          </a:xfrm>
          <a:prstGeom prst="rect">
            <a:avLst/>
          </a:prstGeom>
          <a:noFill/>
          <a:ln/>
        </p:spPr>
        <p:txBody>
          <a:bodyPr wrap="square" lIns="0" tIns="0" rIns="0" bIns="0" rtlCol="0" anchor="ctr"/>
          <a:lstStyle/>
          <a:p>
            <a:pPr algn="r" indent="0" marL="0">
              <a:buNone/>
            </a:pPr>
            <a:r>
              <a:rPr lang="en-US" sz="1400" dirty="0">
                <a:solidFill>
                  <a:srgbClr val="B6AFA3"/>
                </a:solidFill>
                <a:latin typeface="Arial" pitchFamily="34" charset="0"/>
                <a:ea typeface="Arial" pitchFamily="34" charset="-122"/>
                <a:cs typeface="Arial" pitchFamily="34" charset="-120"/>
              </a:rPr>
              <a:t>5</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B2437"/>
        </a:solidFill>
      </p:bgPr>
    </p:bg>
    <p:spTree>
      <p:nvGrpSpPr>
        <p:cNvPr id="1" name=""/>
        <p:cNvGrpSpPr/>
        <p:nvPr/>
      </p:nvGrpSpPr>
      <p:grpSpPr>
        <a:xfrm>
          <a:off x="0" y="0"/>
          <a:ext cx="0" cy="0"/>
          <a:chOff x="0" y="0"/>
          <a:chExt cx="0" cy="0"/>
        </a:xfrm>
      </p:grpSpPr>
      <p:sp>
        <p:nvSpPr>
          <p:cNvPr id="2" name="Shape 0"/>
          <p:cNvSpPr/>
          <p:nvPr/>
        </p:nvSpPr>
        <p:spPr>
          <a:xfrm>
            <a:off x="0" y="0"/>
            <a:ext cx="237744" cy="6858000"/>
          </a:xfrm>
          <a:prstGeom prst="rect">
            <a:avLst/>
          </a:prstGeom>
          <a:solidFill>
            <a:srgbClr val="C00000"/>
          </a:solidFill>
          <a:ln w="12700">
            <a:solidFill>
              <a:srgbClr val="333333"/>
            </a:solidFill>
            <a:prstDash val="solid"/>
          </a:ln>
        </p:spPr>
      </p:sp>
      <p:sp>
        <p:nvSpPr>
          <p:cNvPr id="3" name="Text 1"/>
          <p:cNvSpPr txBox="1"/>
          <p:nvPr/>
        </p:nvSpPr>
        <p:spPr>
          <a:xfrm>
            <a:off x="1051560" y="1371600"/>
            <a:ext cx="7315200" cy="274320"/>
          </a:xfrm>
          <a:prstGeom prst="rect">
            <a:avLst/>
          </a:prstGeom>
          <a:noFill/>
          <a:ln/>
        </p:spPr>
        <p:txBody>
          <a:bodyPr wrap="square" lIns="0" tIns="0" rIns="0" bIns="0" rtlCol="0" anchor="ctr"/>
          <a:lstStyle/>
          <a:p>
            <a:pPr indent="0" marL="0">
              <a:buNone/>
            </a:pPr>
            <a:r>
              <a:rPr lang="en-US" sz="1400" b="1" spc="240" kern="0" dirty="0">
                <a:solidFill>
                  <a:srgbClr val="E11D26"/>
                </a:solidFill>
                <a:latin typeface="Arial" pitchFamily="34" charset="0"/>
                <a:ea typeface="Arial" pitchFamily="34" charset="-122"/>
                <a:cs typeface="Arial" pitchFamily="34" charset="-120"/>
              </a:rPr>
              <a:t>LIVE DEMONSTRATION</a:t>
            </a:r>
            <a:endParaRPr lang="en-US" sz="1400" dirty="0"/>
          </a:p>
        </p:txBody>
      </p:sp>
      <p:sp>
        <p:nvSpPr>
          <p:cNvPr id="4" name="Text 2"/>
          <p:cNvSpPr txBox="1"/>
          <p:nvPr/>
        </p:nvSpPr>
        <p:spPr>
          <a:xfrm>
            <a:off x="1051560" y="1792224"/>
            <a:ext cx="6949440" cy="1554480"/>
          </a:xfrm>
          <a:prstGeom prst="rect">
            <a:avLst/>
          </a:prstGeom>
          <a:noFill/>
          <a:ln/>
        </p:spPr>
        <p:txBody>
          <a:bodyPr wrap="square" lIns="0" tIns="0" rIns="0" bIns="0" rtlCol="0" anchor="t"/>
          <a:lstStyle/>
          <a:p>
            <a:pPr indent="0" marL="0">
              <a:lnSpc>
                <a:spcPts val="5000"/>
              </a:lnSpc>
              <a:buNone/>
            </a:pPr>
            <a:r>
              <a:rPr lang="en-US" sz="4000" b="1" dirty="0">
                <a:solidFill>
                  <a:srgbClr val="FFFFFF"/>
                </a:solidFill>
                <a:latin typeface="Arial" pitchFamily="34" charset="0"/>
                <a:ea typeface="Arial" pitchFamily="34" charset="-122"/>
                <a:cs typeface="Arial" pitchFamily="34" charset="-120"/>
              </a:rPr>
              <a:t>Let me show you</a:t>
            </a:r>
            <a:endParaRPr lang="en-US" sz="4000" dirty="0"/>
          </a:p>
          <a:p>
            <a:pPr indent="0" marL="0">
              <a:lnSpc>
                <a:spcPts val="5000"/>
              </a:lnSpc>
              <a:buNone/>
            </a:pPr>
            <a:r>
              <a:rPr lang="en-US" sz="4000" b="1" dirty="0">
                <a:solidFill>
                  <a:srgbClr val="FFFFFF"/>
                </a:solidFill>
                <a:latin typeface="Arial" pitchFamily="34" charset="0"/>
                <a:ea typeface="Arial" pitchFamily="34" charset="-122"/>
                <a:cs typeface="Arial" pitchFamily="34" charset="-120"/>
              </a:rPr>
              <a:t>the working product.</a:t>
            </a:r>
            <a:endParaRPr lang="en-US" sz="4000" dirty="0"/>
          </a:p>
        </p:txBody>
      </p:sp>
      <p:sp>
        <p:nvSpPr>
          <p:cNvPr id="5" name="Shape 3"/>
          <p:cNvSpPr/>
          <p:nvPr/>
        </p:nvSpPr>
        <p:spPr>
          <a:xfrm>
            <a:off x="1051560" y="3529584"/>
            <a:ext cx="1371600" cy="54864"/>
          </a:xfrm>
          <a:prstGeom prst="rect">
            <a:avLst/>
          </a:prstGeom>
          <a:solidFill>
            <a:srgbClr val="E11D26"/>
          </a:solidFill>
          <a:ln w="12700">
            <a:solidFill>
              <a:srgbClr val="333333"/>
            </a:solidFill>
            <a:prstDash val="solid"/>
          </a:ln>
        </p:spPr>
      </p:sp>
      <p:sp>
        <p:nvSpPr>
          <p:cNvPr id="6" name="Shape 4"/>
          <p:cNvSpPr/>
          <p:nvPr/>
        </p:nvSpPr>
        <p:spPr>
          <a:xfrm>
            <a:off x="1051560" y="3840480"/>
            <a:ext cx="365760" cy="365760"/>
          </a:xfrm>
          <a:prstGeom prst="ellipse">
            <a:avLst/>
          </a:prstGeom>
          <a:solidFill>
            <a:srgbClr val="C00000"/>
          </a:solidFill>
          <a:ln w="12700">
            <a:solidFill>
              <a:srgbClr val="333333"/>
            </a:solidFill>
            <a:prstDash val="solid"/>
          </a:ln>
        </p:spPr>
      </p:sp>
      <p:sp>
        <p:nvSpPr>
          <p:cNvPr id="7" name="Text 5"/>
          <p:cNvSpPr txBox="1"/>
          <p:nvPr/>
        </p:nvSpPr>
        <p:spPr>
          <a:xfrm>
            <a:off x="1051560" y="3840480"/>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8" name="Text 6"/>
          <p:cNvSpPr txBox="1"/>
          <p:nvPr/>
        </p:nvSpPr>
        <p:spPr>
          <a:xfrm>
            <a:off x="1572768" y="3840480"/>
            <a:ext cx="6309360" cy="365760"/>
          </a:xfrm>
          <a:prstGeom prst="rect">
            <a:avLst/>
          </a:prstGeom>
          <a:noFill/>
          <a:ln/>
        </p:spPr>
        <p:txBody>
          <a:bodyPr wrap="square" lIns="0" tIns="0" rIns="0" bIns="0" rtlCol="0" anchor="ctr"/>
          <a:lstStyle/>
          <a:p>
            <a:pPr indent="0" marL="0">
              <a:buNone/>
            </a:pPr>
            <a:r>
              <a:rPr lang="en-US" sz="1600" dirty="0">
                <a:solidFill>
                  <a:srgbClr val="D2C9BB"/>
                </a:solidFill>
                <a:latin typeface="Arial" pitchFamily="34" charset="0"/>
                <a:ea typeface="Arial" pitchFamily="34" charset="-122"/>
                <a:cs typeface="Arial" pitchFamily="34" charset="-120"/>
              </a:rPr>
              <a:t>An employee finds a match they never would have seen</a:t>
            </a:r>
            <a:endParaRPr lang="en-US" sz="1600" dirty="0"/>
          </a:p>
        </p:txBody>
      </p:sp>
      <p:sp>
        <p:nvSpPr>
          <p:cNvPr id="9" name="Shape 7"/>
          <p:cNvSpPr/>
          <p:nvPr/>
        </p:nvSpPr>
        <p:spPr>
          <a:xfrm>
            <a:off x="1051560" y="4407408"/>
            <a:ext cx="365760" cy="365760"/>
          </a:xfrm>
          <a:prstGeom prst="ellipse">
            <a:avLst/>
          </a:prstGeom>
          <a:solidFill>
            <a:srgbClr val="C00000"/>
          </a:solidFill>
          <a:ln w="12700">
            <a:solidFill>
              <a:srgbClr val="333333"/>
            </a:solidFill>
            <a:prstDash val="solid"/>
          </a:ln>
        </p:spPr>
      </p:sp>
      <p:sp>
        <p:nvSpPr>
          <p:cNvPr id="10" name="Text 8"/>
          <p:cNvSpPr txBox="1"/>
          <p:nvPr/>
        </p:nvSpPr>
        <p:spPr>
          <a:xfrm>
            <a:off x="1051560" y="4407408"/>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1" name="Text 9"/>
          <p:cNvSpPr txBox="1"/>
          <p:nvPr/>
        </p:nvSpPr>
        <p:spPr>
          <a:xfrm>
            <a:off x="1572768" y="4407408"/>
            <a:ext cx="6309360" cy="365760"/>
          </a:xfrm>
          <a:prstGeom prst="rect">
            <a:avLst/>
          </a:prstGeom>
          <a:noFill/>
          <a:ln/>
        </p:spPr>
        <p:txBody>
          <a:bodyPr wrap="square" lIns="0" tIns="0" rIns="0" bIns="0" rtlCol="0" anchor="ctr"/>
          <a:lstStyle/>
          <a:p>
            <a:pPr indent="0" marL="0">
              <a:buNone/>
            </a:pPr>
            <a:r>
              <a:rPr lang="en-US" sz="1600" dirty="0">
                <a:solidFill>
                  <a:srgbClr val="D2C9BB"/>
                </a:solidFill>
                <a:latin typeface="Arial" pitchFamily="34" charset="0"/>
                <a:ea typeface="Arial" pitchFamily="34" charset="-122"/>
                <a:cs typeface="Arial" pitchFamily="34" charset="-120"/>
              </a:rPr>
              <a:t>They add one skill — and the matches change in front of you</a:t>
            </a:r>
            <a:endParaRPr lang="en-US" sz="1600" dirty="0"/>
          </a:p>
        </p:txBody>
      </p:sp>
      <p:sp>
        <p:nvSpPr>
          <p:cNvPr id="12" name="Shape 10"/>
          <p:cNvSpPr/>
          <p:nvPr/>
        </p:nvSpPr>
        <p:spPr>
          <a:xfrm>
            <a:off x="1051560" y="4974336"/>
            <a:ext cx="365760" cy="365760"/>
          </a:xfrm>
          <a:prstGeom prst="ellipse">
            <a:avLst/>
          </a:prstGeom>
          <a:solidFill>
            <a:srgbClr val="C00000"/>
          </a:solidFill>
          <a:ln w="12700">
            <a:solidFill>
              <a:srgbClr val="333333"/>
            </a:solidFill>
            <a:prstDash val="solid"/>
          </a:ln>
        </p:spPr>
      </p:sp>
      <p:sp>
        <p:nvSpPr>
          <p:cNvPr id="13" name="Text 11"/>
          <p:cNvSpPr txBox="1"/>
          <p:nvPr/>
        </p:nvSpPr>
        <p:spPr>
          <a:xfrm>
            <a:off x="1051560" y="4974336"/>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14" name="Text 12"/>
          <p:cNvSpPr txBox="1"/>
          <p:nvPr/>
        </p:nvSpPr>
        <p:spPr>
          <a:xfrm>
            <a:off x="1572768" y="4974336"/>
            <a:ext cx="6309360" cy="365760"/>
          </a:xfrm>
          <a:prstGeom prst="rect">
            <a:avLst/>
          </a:prstGeom>
          <a:noFill/>
          <a:ln/>
        </p:spPr>
        <p:txBody>
          <a:bodyPr wrap="square" lIns="0" tIns="0" rIns="0" bIns="0" rtlCol="0" anchor="ctr"/>
          <a:lstStyle/>
          <a:p>
            <a:pPr indent="0" marL="0">
              <a:buNone/>
            </a:pPr>
            <a:r>
              <a:rPr lang="en-US" sz="1600" dirty="0">
                <a:solidFill>
                  <a:srgbClr val="D2C9BB"/>
                </a:solidFill>
                <a:latin typeface="Arial" pitchFamily="34" charset="0"/>
                <a:ea typeface="Arial" pitchFamily="34" charset="-122"/>
                <a:cs typeface="Arial" pitchFamily="34" charset="-120"/>
              </a:rPr>
              <a:t>A manager posts a gig; HR approves it; it appears on the shelf</a:t>
            </a:r>
            <a:endParaRPr lang="en-US" sz="1600" dirty="0"/>
          </a:p>
        </p:txBody>
      </p:sp>
      <p:sp>
        <p:nvSpPr>
          <p:cNvPr id="15" name="Shape 13"/>
          <p:cNvSpPr/>
          <p:nvPr/>
        </p:nvSpPr>
        <p:spPr>
          <a:xfrm>
            <a:off x="1051560" y="5541264"/>
            <a:ext cx="365760" cy="365760"/>
          </a:xfrm>
          <a:prstGeom prst="ellipse">
            <a:avLst/>
          </a:prstGeom>
          <a:solidFill>
            <a:srgbClr val="C00000"/>
          </a:solidFill>
          <a:ln w="12700">
            <a:solidFill>
              <a:srgbClr val="333333"/>
            </a:solidFill>
            <a:prstDash val="solid"/>
          </a:ln>
        </p:spPr>
      </p:sp>
      <p:sp>
        <p:nvSpPr>
          <p:cNvPr id="16" name="Text 14"/>
          <p:cNvSpPr txBox="1"/>
          <p:nvPr/>
        </p:nvSpPr>
        <p:spPr>
          <a:xfrm>
            <a:off x="1051560" y="5541264"/>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4</a:t>
            </a:r>
            <a:endParaRPr lang="en-US" sz="1500" dirty="0"/>
          </a:p>
        </p:txBody>
      </p:sp>
      <p:sp>
        <p:nvSpPr>
          <p:cNvPr id="17" name="Text 15"/>
          <p:cNvSpPr txBox="1"/>
          <p:nvPr/>
        </p:nvSpPr>
        <p:spPr>
          <a:xfrm>
            <a:off x="1572768" y="5541264"/>
            <a:ext cx="6309360" cy="365760"/>
          </a:xfrm>
          <a:prstGeom prst="rect">
            <a:avLst/>
          </a:prstGeom>
          <a:noFill/>
          <a:ln/>
        </p:spPr>
        <p:txBody>
          <a:bodyPr wrap="square" lIns="0" tIns="0" rIns="0" bIns="0" rtlCol="0" anchor="ctr"/>
          <a:lstStyle/>
          <a:p>
            <a:pPr indent="0" marL="0">
              <a:buNone/>
            </a:pPr>
            <a:r>
              <a:rPr lang="en-US" sz="1600" dirty="0">
                <a:solidFill>
                  <a:srgbClr val="D2C9BB"/>
                </a:solidFill>
                <a:latin typeface="Arial" pitchFamily="34" charset="0"/>
                <a:ea typeface="Arial" pitchFamily="34" charset="-122"/>
                <a:cs typeface="Arial" pitchFamily="34" charset="-120"/>
              </a:rPr>
              <a:t>Work is closed out — and lands on the employee profile</a:t>
            </a:r>
            <a:endParaRPr lang="en-US" sz="1600" dirty="0"/>
          </a:p>
        </p:txBody>
      </p:sp>
      <p:pic>
        <p:nvPicPr>
          <p:cNvPr id="18" name="Image 0" descr="preencoded.png">    </p:cNvPr>
          <p:cNvPicPr>
            <a:picLocks noChangeAspect="1"/>
          </p:cNvPicPr>
          <p:nvPr/>
        </p:nvPicPr>
        <p:blipFill>
          <a:blip r:embed="rId1"/>
          <a:stretch>
            <a:fillRect/>
          </a:stretch>
        </p:blipFill>
        <p:spPr>
          <a:xfrm>
            <a:off x="7589520" y="1298448"/>
            <a:ext cx="4023360" cy="3145536"/>
          </a:xfrm>
          <a:prstGeom prst="rect">
            <a:avLst/>
          </a:prstGeom>
          <a:effectLst>
            <a:outerShdw sx="100000" sy="100000" kx="0" ky="0" algn="bl" rotWithShape="0" blurRad="152400" dist="25400" dir="5400000">
              <a:srgbClr val="6B5B45">
                <a:alpha val="10000"/>
              </a:srgbClr>
            </a:outerShdw>
          </a:effectLst>
        </p:spPr>
      </p:pic>
      <p:sp>
        <p:nvSpPr>
          <p:cNvPr id="19" name="Text 16"/>
          <p:cNvSpPr txBox="1"/>
          <p:nvPr/>
        </p:nvSpPr>
        <p:spPr>
          <a:xfrm>
            <a:off x="7589520" y="4626864"/>
            <a:ext cx="4023360" cy="640080"/>
          </a:xfrm>
          <a:prstGeom prst="rect">
            <a:avLst/>
          </a:prstGeom>
          <a:noFill/>
          <a:ln/>
        </p:spPr>
        <p:txBody>
          <a:bodyPr wrap="square" lIns="0" tIns="0" rIns="0" bIns="0" rtlCol="0" anchor="t"/>
          <a:lstStyle/>
          <a:p>
            <a:pPr indent="0" marL="0">
              <a:lnSpc>
                <a:spcPts val="2000"/>
              </a:lnSpc>
              <a:buNone/>
            </a:pPr>
            <a:r>
              <a:rPr lang="en-US" sz="1500" dirty="0">
                <a:solidFill>
                  <a:srgbClr val="9A9080"/>
                </a:solidFill>
                <a:latin typeface="Arial" pitchFamily="34" charset="0"/>
                <a:ea typeface="Arial" pitchFamily="34" charset="-122"/>
                <a:cs typeface="Arial" pitchFamily="34" charset="-120"/>
              </a:rPr>
              <a:t>Built and running today. No vendor, no licence, no integration project.</a:t>
            </a:r>
            <a:endParaRPr lang="en-US" sz="1500" dirty="0"/>
          </a:p>
        </p:txBody>
      </p:sp>
      <p:sp>
        <p:nvSpPr>
          <p:cNvPr id="20" name="Text 17"/>
          <p:cNvSpPr txBox="1"/>
          <p:nvPr/>
        </p:nvSpPr>
        <p:spPr>
          <a:xfrm>
            <a:off x="11167567" y="6382512"/>
            <a:ext cx="457200" cy="256032"/>
          </a:xfrm>
          <a:prstGeom prst="rect">
            <a:avLst/>
          </a:prstGeom>
          <a:noFill/>
          <a:ln/>
        </p:spPr>
        <p:txBody>
          <a:bodyPr wrap="square" lIns="0" tIns="0" rIns="0" bIns="0" rtlCol="0" anchor="ctr"/>
          <a:lstStyle/>
          <a:p>
            <a:pPr algn="r" indent="0" marL="0">
              <a:buNone/>
            </a:pPr>
            <a:r>
              <a:rPr lang="en-US" sz="1400" dirty="0">
                <a:solidFill>
                  <a:srgbClr val="5E6676"/>
                </a:solidFill>
                <a:latin typeface="Arial" pitchFamily="34" charset="0"/>
                <a:ea typeface="Arial" pitchFamily="34" charset="-122"/>
                <a:cs typeface="Arial" pitchFamily="34" charset="-120"/>
              </a:rPr>
              <a:t>6</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20624"/>
            <a:ext cx="420624" cy="68580"/>
          </a:xfrm>
          <a:prstGeom prst="rect">
            <a:avLst/>
          </a:prstGeom>
          <a:solidFill>
            <a:srgbClr val="C00000"/>
          </a:solidFill>
          <a:ln w="12700">
            <a:solidFill>
              <a:srgbClr val="333333"/>
            </a:solidFill>
            <a:prstDash val="solid"/>
          </a:ln>
        </p:spPr>
      </p:sp>
      <p:sp>
        <p:nvSpPr>
          <p:cNvPr id="3" name="Text 1"/>
          <p:cNvSpPr txBox="1"/>
          <p:nvPr/>
        </p:nvSpPr>
        <p:spPr>
          <a:xfrm>
            <a:off x="1115568" y="338328"/>
            <a:ext cx="10509199" cy="237744"/>
          </a:xfrm>
          <a:prstGeom prst="rect">
            <a:avLst/>
          </a:prstGeom>
          <a:noFill/>
          <a:ln/>
        </p:spPr>
        <p:txBody>
          <a:bodyPr wrap="square" lIns="0" tIns="0" rIns="0" bIns="0" rtlCol="0" anchor="ctr"/>
          <a:lstStyle/>
          <a:p>
            <a:pPr indent="0" marL="0">
              <a:buNone/>
            </a:pPr>
            <a:r>
              <a:rPr lang="en-US" sz="1400" b="1" spc="240" kern="0" dirty="0">
                <a:solidFill>
                  <a:srgbClr val="C00000"/>
                </a:solidFill>
                <a:latin typeface="Arial" pitchFamily="34" charset="0"/>
                <a:ea typeface="Arial" pitchFamily="34" charset="-122"/>
                <a:cs typeface="Arial" pitchFamily="34" charset="-120"/>
              </a:rPr>
              <a:t>THE FINANCIAL CASE</a:t>
            </a:r>
            <a:endParaRPr lang="en-US" sz="1400" dirty="0"/>
          </a:p>
        </p:txBody>
      </p:sp>
      <p:sp>
        <p:nvSpPr>
          <p:cNvPr id="4" name="Text 2"/>
          <p:cNvSpPr txBox="1"/>
          <p:nvPr/>
        </p:nvSpPr>
        <p:spPr>
          <a:xfrm>
            <a:off x="566928" y="694944"/>
            <a:ext cx="11057839" cy="566928"/>
          </a:xfrm>
          <a:prstGeom prst="rect">
            <a:avLst/>
          </a:prstGeom>
          <a:noFill/>
          <a:ln/>
        </p:spPr>
        <p:txBody>
          <a:bodyPr wrap="square" lIns="0" tIns="0" rIns="0" bIns="0" rtlCol="0" anchor="t"/>
          <a:lstStyle/>
          <a:p>
            <a:pPr indent="0" marL="0">
              <a:buNone/>
            </a:pPr>
            <a:r>
              <a:rPr lang="en-US" sz="3300" b="1" dirty="0">
                <a:solidFill>
                  <a:srgbClr val="141821"/>
                </a:solidFill>
                <a:latin typeface="Arial" pitchFamily="34" charset="0"/>
                <a:ea typeface="Arial" pitchFamily="34" charset="-122"/>
                <a:cs typeface="Arial" pitchFamily="34" charset="-120"/>
              </a:rPr>
              <a:t>Staying at 17% costs us ₱5.3M a year.</a:t>
            </a:r>
            <a:endParaRPr lang="en-US" sz="3300" dirty="0"/>
          </a:p>
        </p:txBody>
      </p:sp>
      <p:sp>
        <p:nvSpPr>
          <p:cNvPr id="5" name="Text 3"/>
          <p:cNvSpPr txBox="1"/>
          <p:nvPr/>
        </p:nvSpPr>
        <p:spPr>
          <a:xfrm>
            <a:off x="566928" y="1298448"/>
            <a:ext cx="9509742" cy="310896"/>
          </a:xfrm>
          <a:prstGeom prst="rect">
            <a:avLst/>
          </a:prstGeom>
          <a:noFill/>
          <a:ln/>
        </p:spPr>
        <p:txBody>
          <a:bodyPr wrap="square" lIns="0" tIns="0" rIns="0" bIns="0" rtlCol="0" anchor="t"/>
          <a:lstStyle/>
          <a:p>
            <a:pPr indent="0" marL="0">
              <a:buNone/>
            </a:pPr>
            <a:r>
              <a:rPr lang="en-US" sz="1600" dirty="0">
                <a:solidFill>
                  <a:srgbClr val="7C8595"/>
                </a:solidFill>
                <a:latin typeface="Arial" pitchFamily="34" charset="0"/>
                <a:ea typeface="Arial" pitchFamily="34" charset="-122"/>
                <a:cs typeface="Arial" pitchFamily="34" charset="-120"/>
              </a:rPr>
              <a:t>Company-wide, at 336 vacancies a year. Every peso is net of the backfill an internal move creates.</a:t>
            </a:r>
            <a:endParaRPr lang="en-US" sz="1600" dirty="0"/>
          </a:p>
        </p:txBody>
      </p:sp>
      <p:sp>
        <p:nvSpPr>
          <p:cNvPr id="6" name="Shape 4"/>
          <p:cNvSpPr/>
          <p:nvPr/>
        </p:nvSpPr>
        <p:spPr>
          <a:xfrm>
            <a:off x="6812280" y="1755648"/>
            <a:ext cx="2514600" cy="3163824"/>
          </a:xfrm>
          <a:prstGeom prst="roundRect">
            <a:avLst>
              <a:gd name="adj" fmla="val 1455"/>
            </a:avLst>
          </a:prstGeom>
          <a:solidFill>
            <a:srgbClr val="FCEDED"/>
          </a:solidFill>
          <a:ln w="12700">
            <a:solidFill>
              <a:srgbClr val="333333"/>
            </a:solidFill>
            <a:prstDash val="solid"/>
          </a:ln>
        </p:spPr>
      </p:sp>
      <p:sp>
        <p:nvSpPr>
          <p:cNvPr id="7" name="Text 5"/>
          <p:cNvSpPr txBox="1"/>
          <p:nvPr/>
        </p:nvSpPr>
        <p:spPr>
          <a:xfrm>
            <a:off x="4526280" y="1828800"/>
            <a:ext cx="2331720" cy="402336"/>
          </a:xfrm>
          <a:prstGeom prst="rect">
            <a:avLst/>
          </a:prstGeom>
          <a:noFill/>
          <a:ln/>
        </p:spPr>
        <p:txBody>
          <a:bodyPr wrap="square" lIns="0" tIns="0" rIns="0" bIns="0" rtlCol="0" anchor="ctr"/>
          <a:lstStyle/>
          <a:p>
            <a:pPr algn="ctr" indent="0" marL="0">
              <a:buNone/>
            </a:pPr>
            <a:r>
              <a:rPr lang="en-US" sz="2600" b="1" dirty="0">
                <a:solidFill>
                  <a:srgbClr val="7C8595"/>
                </a:solidFill>
                <a:latin typeface="Arial" pitchFamily="34" charset="0"/>
                <a:ea typeface="Arial" pitchFamily="34" charset="-122"/>
                <a:cs typeface="Arial" pitchFamily="34" charset="-120"/>
              </a:rPr>
              <a:t>17%</a:t>
            </a:r>
            <a:endParaRPr lang="en-US" sz="2600" dirty="0"/>
          </a:p>
        </p:txBody>
      </p:sp>
      <p:sp>
        <p:nvSpPr>
          <p:cNvPr id="8" name="Text 6"/>
          <p:cNvSpPr txBox="1"/>
          <p:nvPr/>
        </p:nvSpPr>
        <p:spPr>
          <a:xfrm>
            <a:off x="4526280" y="2249424"/>
            <a:ext cx="2331720" cy="237744"/>
          </a:xfrm>
          <a:prstGeom prst="rect">
            <a:avLst/>
          </a:prstGeom>
          <a:noFill/>
          <a:ln/>
        </p:spPr>
        <p:txBody>
          <a:bodyPr wrap="square" lIns="0" tIns="0" rIns="0" bIns="0" rtlCol="0" anchor="ctr"/>
          <a:lstStyle/>
          <a:p>
            <a:pPr algn="ctr" indent="0" marL="0">
              <a:buNone/>
            </a:pPr>
            <a:r>
              <a:rPr lang="en-US" sz="1400" dirty="0">
                <a:solidFill>
                  <a:srgbClr val="7C8595"/>
                </a:solidFill>
                <a:latin typeface="Arial" pitchFamily="34" charset="0"/>
                <a:ea typeface="Arial" pitchFamily="34" charset="-122"/>
                <a:cs typeface="Arial" pitchFamily="34" charset="-120"/>
              </a:rPr>
              <a:t>where we are</a:t>
            </a:r>
            <a:endParaRPr lang="en-US" sz="1400" dirty="0"/>
          </a:p>
        </p:txBody>
      </p:sp>
      <p:sp>
        <p:nvSpPr>
          <p:cNvPr id="9" name="Text 7"/>
          <p:cNvSpPr txBox="1"/>
          <p:nvPr/>
        </p:nvSpPr>
        <p:spPr>
          <a:xfrm>
            <a:off x="6903720" y="1828800"/>
            <a:ext cx="2331720" cy="402336"/>
          </a:xfrm>
          <a:prstGeom prst="rect">
            <a:avLst/>
          </a:prstGeom>
          <a:noFill/>
          <a:ln/>
        </p:spPr>
        <p:txBody>
          <a:bodyPr wrap="square" lIns="0" tIns="0" rIns="0" bIns="0" rtlCol="0" anchor="ctr"/>
          <a:lstStyle/>
          <a:p>
            <a:pPr algn="ctr" indent="0" marL="0">
              <a:buNone/>
            </a:pPr>
            <a:r>
              <a:rPr lang="en-US" sz="2600" b="1" dirty="0">
                <a:solidFill>
                  <a:srgbClr val="C00000"/>
                </a:solidFill>
                <a:latin typeface="Arial" pitchFamily="34" charset="0"/>
                <a:ea typeface="Arial" pitchFamily="34" charset="-122"/>
                <a:cs typeface="Arial" pitchFamily="34" charset="-120"/>
              </a:rPr>
              <a:t>30%</a:t>
            </a:r>
            <a:endParaRPr lang="en-US" sz="2600" dirty="0"/>
          </a:p>
        </p:txBody>
      </p:sp>
      <p:sp>
        <p:nvSpPr>
          <p:cNvPr id="10" name="Text 8"/>
          <p:cNvSpPr txBox="1"/>
          <p:nvPr/>
        </p:nvSpPr>
        <p:spPr>
          <a:xfrm>
            <a:off x="6903720" y="2249424"/>
            <a:ext cx="2331720" cy="237744"/>
          </a:xfrm>
          <a:prstGeom prst="rect">
            <a:avLst/>
          </a:prstGeom>
          <a:noFill/>
          <a:ln/>
        </p:spPr>
        <p:txBody>
          <a:bodyPr wrap="square" lIns="0" tIns="0" rIns="0" bIns="0" rtlCol="0" anchor="ctr"/>
          <a:lstStyle/>
          <a:p>
            <a:pPr algn="ctr" indent="0" marL="0">
              <a:buNone/>
            </a:pPr>
            <a:r>
              <a:rPr lang="en-US" sz="1400" dirty="0">
                <a:solidFill>
                  <a:srgbClr val="7C8595"/>
                </a:solidFill>
                <a:latin typeface="Arial" pitchFamily="34" charset="0"/>
                <a:ea typeface="Arial" pitchFamily="34" charset="-122"/>
                <a:cs typeface="Arial" pitchFamily="34" charset="-120"/>
              </a:rPr>
              <a:t>the benchmark</a:t>
            </a:r>
            <a:endParaRPr lang="en-US" sz="1400" dirty="0"/>
          </a:p>
        </p:txBody>
      </p:sp>
      <p:sp>
        <p:nvSpPr>
          <p:cNvPr id="11" name="Text 9"/>
          <p:cNvSpPr txBox="1"/>
          <p:nvPr/>
        </p:nvSpPr>
        <p:spPr>
          <a:xfrm>
            <a:off x="9281160" y="1828800"/>
            <a:ext cx="2331720" cy="402336"/>
          </a:xfrm>
          <a:prstGeom prst="rect">
            <a:avLst/>
          </a:prstGeom>
          <a:noFill/>
          <a:ln/>
        </p:spPr>
        <p:txBody>
          <a:bodyPr wrap="square" lIns="0" tIns="0" rIns="0" bIns="0" rtlCol="0" anchor="ctr"/>
          <a:lstStyle/>
          <a:p>
            <a:pPr algn="ctr" indent="0" marL="0">
              <a:buNone/>
            </a:pPr>
            <a:r>
              <a:rPr lang="en-US" sz="2600" b="1" dirty="0">
                <a:solidFill>
                  <a:srgbClr val="0E7C66"/>
                </a:solidFill>
                <a:latin typeface="Arial" pitchFamily="34" charset="0"/>
                <a:ea typeface="Arial" pitchFamily="34" charset="-122"/>
                <a:cs typeface="Arial" pitchFamily="34" charset="-120"/>
              </a:rPr>
              <a:t>50%</a:t>
            </a:r>
            <a:endParaRPr lang="en-US" sz="2600" dirty="0"/>
          </a:p>
        </p:txBody>
      </p:sp>
      <p:sp>
        <p:nvSpPr>
          <p:cNvPr id="12" name="Text 10"/>
          <p:cNvSpPr txBox="1"/>
          <p:nvPr/>
        </p:nvSpPr>
        <p:spPr>
          <a:xfrm>
            <a:off x="9281160" y="2249424"/>
            <a:ext cx="2331720" cy="237744"/>
          </a:xfrm>
          <a:prstGeom prst="rect">
            <a:avLst/>
          </a:prstGeom>
          <a:noFill/>
          <a:ln/>
        </p:spPr>
        <p:txBody>
          <a:bodyPr wrap="square" lIns="0" tIns="0" rIns="0" bIns="0" rtlCol="0" anchor="ctr"/>
          <a:lstStyle/>
          <a:p>
            <a:pPr algn="ctr" indent="0" marL="0">
              <a:buNone/>
            </a:pPr>
            <a:r>
              <a:rPr lang="en-US" sz="1400" dirty="0">
                <a:solidFill>
                  <a:srgbClr val="7C8595"/>
                </a:solidFill>
                <a:latin typeface="Arial" pitchFamily="34" charset="0"/>
                <a:ea typeface="Arial" pitchFamily="34" charset="-122"/>
                <a:cs typeface="Arial" pitchFamily="34" charset="-120"/>
              </a:rPr>
              <a:t>mature marketplaces</a:t>
            </a:r>
            <a:endParaRPr lang="en-US" sz="1400" dirty="0"/>
          </a:p>
        </p:txBody>
      </p:sp>
      <p:sp>
        <p:nvSpPr>
          <p:cNvPr id="13" name="Text 11"/>
          <p:cNvSpPr txBox="1"/>
          <p:nvPr/>
        </p:nvSpPr>
        <p:spPr>
          <a:xfrm>
            <a:off x="603504" y="2670048"/>
            <a:ext cx="3749040" cy="512064"/>
          </a:xfrm>
          <a:prstGeom prst="rect">
            <a:avLst/>
          </a:prstGeom>
          <a:noFill/>
          <a:ln/>
        </p:spPr>
        <p:txBody>
          <a:bodyPr wrap="square" lIns="0" tIns="0" rIns="0" bIns="0" rtlCol="0" anchor="ctr"/>
          <a:lstStyle/>
          <a:p>
            <a:pPr indent="0" marL="0">
              <a:buNone/>
            </a:pPr>
            <a:r>
              <a:rPr lang="en-US" sz="1600" dirty="0">
                <a:solidFill>
                  <a:srgbClr val="3C4350"/>
                </a:solidFill>
                <a:latin typeface="Arial" pitchFamily="34" charset="0"/>
                <a:ea typeface="Arial" pitchFamily="34" charset="-122"/>
                <a:cs typeface="Arial" pitchFamily="34" charset="-120"/>
              </a:rPr>
              <a:t>Internal fills a year</a:t>
            </a:r>
            <a:endParaRPr lang="en-US" sz="1600" dirty="0"/>
          </a:p>
        </p:txBody>
      </p:sp>
      <p:sp>
        <p:nvSpPr>
          <p:cNvPr id="14" name="Text 12"/>
          <p:cNvSpPr txBox="1"/>
          <p:nvPr/>
        </p:nvSpPr>
        <p:spPr>
          <a:xfrm>
            <a:off x="4526280" y="2670048"/>
            <a:ext cx="2331720" cy="512064"/>
          </a:xfrm>
          <a:prstGeom prst="rect">
            <a:avLst/>
          </a:prstGeom>
          <a:noFill/>
          <a:ln/>
        </p:spPr>
        <p:txBody>
          <a:bodyPr wrap="square" lIns="0" tIns="0" rIns="0" bIns="0" rtlCol="0" anchor="ctr"/>
          <a:lstStyle/>
          <a:p>
            <a:pPr algn="ctr" indent="0" marL="0">
              <a:buNone/>
            </a:pPr>
            <a:r>
              <a:rPr lang="en-US" sz="1700" dirty="0">
                <a:solidFill>
                  <a:srgbClr val="7C8595"/>
                </a:solidFill>
                <a:latin typeface="Arial" pitchFamily="34" charset="0"/>
                <a:ea typeface="Arial" pitchFamily="34" charset="-122"/>
                <a:cs typeface="Arial" pitchFamily="34" charset="-120"/>
              </a:rPr>
              <a:t>57</a:t>
            </a:r>
            <a:endParaRPr lang="en-US" sz="1700" dirty="0"/>
          </a:p>
        </p:txBody>
      </p:sp>
      <p:sp>
        <p:nvSpPr>
          <p:cNvPr id="15" name="Text 13"/>
          <p:cNvSpPr txBox="1"/>
          <p:nvPr/>
        </p:nvSpPr>
        <p:spPr>
          <a:xfrm>
            <a:off x="6903720" y="2670048"/>
            <a:ext cx="2331720" cy="512064"/>
          </a:xfrm>
          <a:prstGeom prst="rect">
            <a:avLst/>
          </a:prstGeom>
          <a:noFill/>
          <a:ln/>
        </p:spPr>
        <p:txBody>
          <a:bodyPr wrap="square" lIns="0" tIns="0" rIns="0" bIns="0" rtlCol="0" anchor="ctr"/>
          <a:lstStyle/>
          <a:p>
            <a:pPr algn="ctr" indent="0" marL="0">
              <a:buNone/>
            </a:pPr>
            <a:r>
              <a:rPr lang="en-US" sz="1700" b="1" dirty="0">
                <a:solidFill>
                  <a:srgbClr val="141821"/>
                </a:solidFill>
                <a:latin typeface="Arial" pitchFamily="34" charset="0"/>
                <a:ea typeface="Arial" pitchFamily="34" charset="-122"/>
                <a:cs typeface="Arial" pitchFamily="34" charset="-120"/>
              </a:rPr>
              <a:t>101</a:t>
            </a:r>
            <a:endParaRPr lang="en-US" sz="1700" dirty="0"/>
          </a:p>
        </p:txBody>
      </p:sp>
      <p:sp>
        <p:nvSpPr>
          <p:cNvPr id="16" name="Text 14"/>
          <p:cNvSpPr txBox="1"/>
          <p:nvPr/>
        </p:nvSpPr>
        <p:spPr>
          <a:xfrm>
            <a:off x="9281160" y="2670048"/>
            <a:ext cx="2331720" cy="512064"/>
          </a:xfrm>
          <a:prstGeom prst="rect">
            <a:avLst/>
          </a:prstGeom>
          <a:noFill/>
          <a:ln/>
        </p:spPr>
        <p:txBody>
          <a:bodyPr wrap="square" lIns="0" tIns="0" rIns="0" bIns="0" rtlCol="0" anchor="ctr"/>
          <a:lstStyle/>
          <a:p>
            <a:pPr algn="ctr" indent="0" marL="0">
              <a:buNone/>
            </a:pPr>
            <a:r>
              <a:rPr lang="en-US" sz="1700" dirty="0">
                <a:solidFill>
                  <a:srgbClr val="141821"/>
                </a:solidFill>
                <a:latin typeface="Arial" pitchFamily="34" charset="0"/>
                <a:ea typeface="Arial" pitchFamily="34" charset="-122"/>
                <a:cs typeface="Arial" pitchFamily="34" charset="-120"/>
              </a:rPr>
              <a:t>168</a:t>
            </a:r>
            <a:endParaRPr lang="en-US" sz="1700" dirty="0"/>
          </a:p>
        </p:txBody>
      </p:sp>
      <p:sp>
        <p:nvSpPr>
          <p:cNvPr id="17" name="Shape 15"/>
          <p:cNvSpPr/>
          <p:nvPr/>
        </p:nvSpPr>
        <p:spPr>
          <a:xfrm>
            <a:off x="566928" y="3200400"/>
            <a:ext cx="11057839" cy="0"/>
          </a:xfrm>
          <a:prstGeom prst="line">
            <a:avLst/>
          </a:prstGeom>
          <a:noFill/>
          <a:ln w="12700">
            <a:solidFill>
              <a:srgbClr val="E4DFD6"/>
            </a:solidFill>
            <a:prstDash val="solid"/>
          </a:ln>
        </p:spPr>
      </p:sp>
      <p:sp>
        <p:nvSpPr>
          <p:cNvPr id="18" name="Text 16"/>
          <p:cNvSpPr txBox="1"/>
          <p:nvPr/>
        </p:nvSpPr>
        <p:spPr>
          <a:xfrm>
            <a:off x="603504" y="3236976"/>
            <a:ext cx="3749040" cy="512064"/>
          </a:xfrm>
          <a:prstGeom prst="rect">
            <a:avLst/>
          </a:prstGeom>
          <a:noFill/>
          <a:ln/>
        </p:spPr>
        <p:txBody>
          <a:bodyPr wrap="square" lIns="0" tIns="0" rIns="0" bIns="0" rtlCol="0" anchor="ctr"/>
          <a:lstStyle/>
          <a:p>
            <a:pPr indent="0" marL="0">
              <a:buNone/>
            </a:pPr>
            <a:r>
              <a:rPr lang="en-US" sz="1600" dirty="0">
                <a:solidFill>
                  <a:srgbClr val="3C4350"/>
                </a:solidFill>
                <a:latin typeface="Arial" pitchFamily="34" charset="0"/>
                <a:ea typeface="Arial" pitchFamily="34" charset="-122"/>
                <a:cs typeface="Arial" pitchFamily="34" charset="-120"/>
              </a:rPr>
              <a:t>Hiring cost avoided</a:t>
            </a:r>
            <a:endParaRPr lang="en-US" sz="1600" dirty="0"/>
          </a:p>
        </p:txBody>
      </p:sp>
      <p:sp>
        <p:nvSpPr>
          <p:cNvPr id="19" name="Text 17"/>
          <p:cNvSpPr txBox="1"/>
          <p:nvPr/>
        </p:nvSpPr>
        <p:spPr>
          <a:xfrm>
            <a:off x="4526280" y="3236976"/>
            <a:ext cx="2331720" cy="512064"/>
          </a:xfrm>
          <a:prstGeom prst="rect">
            <a:avLst/>
          </a:prstGeom>
          <a:noFill/>
          <a:ln/>
        </p:spPr>
        <p:txBody>
          <a:bodyPr wrap="square" lIns="0" tIns="0" rIns="0" bIns="0" rtlCol="0" anchor="ctr"/>
          <a:lstStyle/>
          <a:p>
            <a:pPr algn="ctr" indent="0" marL="0">
              <a:buNone/>
            </a:pPr>
            <a:r>
              <a:rPr lang="en-US" sz="1700" dirty="0">
                <a:solidFill>
                  <a:srgbClr val="7C8595"/>
                </a:solidFill>
                <a:latin typeface="Arial" pitchFamily="34" charset="0"/>
                <a:ea typeface="Arial" pitchFamily="34" charset="-122"/>
                <a:cs typeface="Arial" pitchFamily="34" charset="-120"/>
              </a:rPr>
              <a:t>—</a:t>
            </a:r>
            <a:endParaRPr lang="en-US" sz="1700" dirty="0"/>
          </a:p>
        </p:txBody>
      </p:sp>
      <p:sp>
        <p:nvSpPr>
          <p:cNvPr id="20" name="Text 18"/>
          <p:cNvSpPr txBox="1"/>
          <p:nvPr/>
        </p:nvSpPr>
        <p:spPr>
          <a:xfrm>
            <a:off x="6903720" y="3236976"/>
            <a:ext cx="2331720" cy="512064"/>
          </a:xfrm>
          <a:prstGeom prst="rect">
            <a:avLst/>
          </a:prstGeom>
          <a:noFill/>
          <a:ln/>
        </p:spPr>
        <p:txBody>
          <a:bodyPr wrap="square" lIns="0" tIns="0" rIns="0" bIns="0" rtlCol="0" anchor="ctr"/>
          <a:lstStyle/>
          <a:p>
            <a:pPr algn="ctr" indent="0" marL="0">
              <a:buNone/>
            </a:pPr>
            <a:r>
              <a:rPr lang="en-US" sz="1700" b="1" dirty="0">
                <a:solidFill>
                  <a:srgbClr val="141821"/>
                </a:solidFill>
                <a:latin typeface="Arial" pitchFamily="34" charset="0"/>
                <a:ea typeface="Arial" pitchFamily="34" charset="-122"/>
                <a:cs typeface="Arial" pitchFamily="34" charset="-120"/>
              </a:rPr>
              <a:t>₱0.35M</a:t>
            </a:r>
            <a:endParaRPr lang="en-US" sz="1700" dirty="0"/>
          </a:p>
        </p:txBody>
      </p:sp>
      <p:sp>
        <p:nvSpPr>
          <p:cNvPr id="21" name="Text 19"/>
          <p:cNvSpPr txBox="1"/>
          <p:nvPr/>
        </p:nvSpPr>
        <p:spPr>
          <a:xfrm>
            <a:off x="9281160" y="3236976"/>
            <a:ext cx="2331720" cy="512064"/>
          </a:xfrm>
          <a:prstGeom prst="rect">
            <a:avLst/>
          </a:prstGeom>
          <a:noFill/>
          <a:ln/>
        </p:spPr>
        <p:txBody>
          <a:bodyPr wrap="square" lIns="0" tIns="0" rIns="0" bIns="0" rtlCol="0" anchor="ctr"/>
          <a:lstStyle/>
          <a:p>
            <a:pPr algn="ctr" indent="0" marL="0">
              <a:buNone/>
            </a:pPr>
            <a:r>
              <a:rPr lang="en-US" sz="1700" dirty="0">
                <a:solidFill>
                  <a:srgbClr val="141821"/>
                </a:solidFill>
                <a:latin typeface="Arial" pitchFamily="34" charset="0"/>
                <a:ea typeface="Arial" pitchFamily="34" charset="-122"/>
                <a:cs typeface="Arial" pitchFamily="34" charset="-120"/>
              </a:rPr>
              <a:t>₱0.88M</a:t>
            </a:r>
            <a:endParaRPr lang="en-US" sz="1700" dirty="0"/>
          </a:p>
        </p:txBody>
      </p:sp>
      <p:sp>
        <p:nvSpPr>
          <p:cNvPr id="22" name="Shape 20"/>
          <p:cNvSpPr/>
          <p:nvPr/>
        </p:nvSpPr>
        <p:spPr>
          <a:xfrm>
            <a:off x="566928" y="3767328"/>
            <a:ext cx="11057839" cy="0"/>
          </a:xfrm>
          <a:prstGeom prst="line">
            <a:avLst/>
          </a:prstGeom>
          <a:noFill/>
          <a:ln w="12700">
            <a:solidFill>
              <a:srgbClr val="E4DFD6"/>
            </a:solidFill>
            <a:prstDash val="solid"/>
          </a:ln>
        </p:spPr>
      </p:sp>
      <p:sp>
        <p:nvSpPr>
          <p:cNvPr id="23" name="Text 21"/>
          <p:cNvSpPr txBox="1"/>
          <p:nvPr/>
        </p:nvSpPr>
        <p:spPr>
          <a:xfrm>
            <a:off x="603504" y="3803904"/>
            <a:ext cx="3749040" cy="512064"/>
          </a:xfrm>
          <a:prstGeom prst="rect">
            <a:avLst/>
          </a:prstGeom>
          <a:noFill/>
          <a:ln/>
        </p:spPr>
        <p:txBody>
          <a:bodyPr wrap="square" lIns="0" tIns="0" rIns="0" bIns="0" rtlCol="0" anchor="ctr"/>
          <a:lstStyle/>
          <a:p>
            <a:pPr indent="0" marL="0">
              <a:buNone/>
            </a:pPr>
            <a:r>
              <a:rPr lang="en-US" sz="1600" dirty="0">
                <a:solidFill>
                  <a:srgbClr val="3C4350"/>
                </a:solidFill>
                <a:latin typeface="Arial" pitchFamily="34" charset="0"/>
                <a:ea typeface="Arial" pitchFamily="34" charset="-122"/>
                <a:cs typeface="Arial" pitchFamily="34" charset="-120"/>
              </a:rPr>
              <a:t>Vacancy days saved</a:t>
            </a:r>
            <a:endParaRPr lang="en-US" sz="1600" dirty="0"/>
          </a:p>
        </p:txBody>
      </p:sp>
      <p:sp>
        <p:nvSpPr>
          <p:cNvPr id="24" name="Text 22"/>
          <p:cNvSpPr txBox="1"/>
          <p:nvPr/>
        </p:nvSpPr>
        <p:spPr>
          <a:xfrm>
            <a:off x="4526280" y="3803904"/>
            <a:ext cx="2331720" cy="512064"/>
          </a:xfrm>
          <a:prstGeom prst="rect">
            <a:avLst/>
          </a:prstGeom>
          <a:noFill/>
          <a:ln/>
        </p:spPr>
        <p:txBody>
          <a:bodyPr wrap="square" lIns="0" tIns="0" rIns="0" bIns="0" rtlCol="0" anchor="ctr"/>
          <a:lstStyle/>
          <a:p>
            <a:pPr algn="ctr" indent="0" marL="0">
              <a:buNone/>
            </a:pPr>
            <a:r>
              <a:rPr lang="en-US" sz="1700" dirty="0">
                <a:solidFill>
                  <a:srgbClr val="7C8595"/>
                </a:solidFill>
                <a:latin typeface="Arial" pitchFamily="34" charset="0"/>
                <a:ea typeface="Arial" pitchFamily="34" charset="-122"/>
                <a:cs typeface="Arial" pitchFamily="34" charset="-120"/>
              </a:rPr>
              <a:t>—</a:t>
            </a:r>
            <a:endParaRPr lang="en-US" sz="1700" dirty="0"/>
          </a:p>
        </p:txBody>
      </p:sp>
      <p:sp>
        <p:nvSpPr>
          <p:cNvPr id="25" name="Text 23"/>
          <p:cNvSpPr txBox="1"/>
          <p:nvPr/>
        </p:nvSpPr>
        <p:spPr>
          <a:xfrm>
            <a:off x="6903720" y="3803904"/>
            <a:ext cx="2331720" cy="512064"/>
          </a:xfrm>
          <a:prstGeom prst="rect">
            <a:avLst/>
          </a:prstGeom>
          <a:noFill/>
          <a:ln/>
        </p:spPr>
        <p:txBody>
          <a:bodyPr wrap="square" lIns="0" tIns="0" rIns="0" bIns="0" rtlCol="0" anchor="ctr"/>
          <a:lstStyle/>
          <a:p>
            <a:pPr algn="ctr" indent="0" marL="0">
              <a:buNone/>
            </a:pPr>
            <a:r>
              <a:rPr lang="en-US" sz="1700" b="1" dirty="0">
                <a:solidFill>
                  <a:srgbClr val="141821"/>
                </a:solidFill>
                <a:latin typeface="Arial" pitchFamily="34" charset="0"/>
                <a:ea typeface="Arial" pitchFamily="34" charset="-122"/>
                <a:cs typeface="Arial" pitchFamily="34" charset="-120"/>
              </a:rPr>
              <a:t>₱1.57M</a:t>
            </a:r>
            <a:endParaRPr lang="en-US" sz="1700" dirty="0"/>
          </a:p>
        </p:txBody>
      </p:sp>
      <p:sp>
        <p:nvSpPr>
          <p:cNvPr id="26" name="Text 24"/>
          <p:cNvSpPr txBox="1"/>
          <p:nvPr/>
        </p:nvSpPr>
        <p:spPr>
          <a:xfrm>
            <a:off x="9281160" y="3803904"/>
            <a:ext cx="2331720" cy="512064"/>
          </a:xfrm>
          <a:prstGeom prst="rect">
            <a:avLst/>
          </a:prstGeom>
          <a:noFill/>
          <a:ln/>
        </p:spPr>
        <p:txBody>
          <a:bodyPr wrap="square" lIns="0" tIns="0" rIns="0" bIns="0" rtlCol="0" anchor="ctr"/>
          <a:lstStyle/>
          <a:p>
            <a:pPr algn="ctr" indent="0" marL="0">
              <a:buNone/>
            </a:pPr>
            <a:r>
              <a:rPr lang="en-US" sz="1700" dirty="0">
                <a:solidFill>
                  <a:srgbClr val="141821"/>
                </a:solidFill>
                <a:latin typeface="Arial" pitchFamily="34" charset="0"/>
                <a:ea typeface="Arial" pitchFamily="34" charset="-122"/>
                <a:cs typeface="Arial" pitchFamily="34" charset="-120"/>
              </a:rPr>
              <a:t>₱3.97M</a:t>
            </a:r>
            <a:endParaRPr lang="en-US" sz="1700" dirty="0"/>
          </a:p>
        </p:txBody>
      </p:sp>
      <p:sp>
        <p:nvSpPr>
          <p:cNvPr id="27" name="Shape 25"/>
          <p:cNvSpPr/>
          <p:nvPr/>
        </p:nvSpPr>
        <p:spPr>
          <a:xfrm>
            <a:off x="566928" y="4334256"/>
            <a:ext cx="11057839" cy="0"/>
          </a:xfrm>
          <a:prstGeom prst="line">
            <a:avLst/>
          </a:prstGeom>
          <a:noFill/>
          <a:ln w="12700">
            <a:solidFill>
              <a:srgbClr val="E4DFD6"/>
            </a:solidFill>
            <a:prstDash val="solid"/>
          </a:ln>
        </p:spPr>
      </p:sp>
      <p:sp>
        <p:nvSpPr>
          <p:cNvPr id="28" name="Text 26"/>
          <p:cNvSpPr txBox="1"/>
          <p:nvPr/>
        </p:nvSpPr>
        <p:spPr>
          <a:xfrm>
            <a:off x="603504" y="4370832"/>
            <a:ext cx="3749040" cy="512064"/>
          </a:xfrm>
          <a:prstGeom prst="rect">
            <a:avLst/>
          </a:prstGeom>
          <a:noFill/>
          <a:ln/>
        </p:spPr>
        <p:txBody>
          <a:bodyPr wrap="square" lIns="0" tIns="0" rIns="0" bIns="0" rtlCol="0" anchor="ctr"/>
          <a:lstStyle/>
          <a:p>
            <a:pPr indent="0" marL="0">
              <a:buNone/>
            </a:pPr>
            <a:r>
              <a:rPr lang="en-US" sz="1600" dirty="0">
                <a:solidFill>
                  <a:srgbClr val="3C4350"/>
                </a:solidFill>
                <a:latin typeface="Arial" pitchFamily="34" charset="0"/>
                <a:ea typeface="Arial" pitchFamily="34" charset="-122"/>
                <a:cs typeface="Arial" pitchFamily="34" charset="-120"/>
              </a:rPr>
              <a:t>Turnover avoided</a:t>
            </a:r>
            <a:endParaRPr lang="en-US" sz="1600" dirty="0"/>
          </a:p>
        </p:txBody>
      </p:sp>
      <p:sp>
        <p:nvSpPr>
          <p:cNvPr id="29" name="Text 27"/>
          <p:cNvSpPr txBox="1"/>
          <p:nvPr/>
        </p:nvSpPr>
        <p:spPr>
          <a:xfrm>
            <a:off x="4526280" y="4370832"/>
            <a:ext cx="2331720" cy="512064"/>
          </a:xfrm>
          <a:prstGeom prst="rect">
            <a:avLst/>
          </a:prstGeom>
          <a:noFill/>
          <a:ln/>
        </p:spPr>
        <p:txBody>
          <a:bodyPr wrap="square" lIns="0" tIns="0" rIns="0" bIns="0" rtlCol="0" anchor="ctr"/>
          <a:lstStyle/>
          <a:p>
            <a:pPr algn="ctr" indent="0" marL="0">
              <a:buNone/>
            </a:pPr>
            <a:r>
              <a:rPr lang="en-US" sz="1700" dirty="0">
                <a:solidFill>
                  <a:srgbClr val="7C8595"/>
                </a:solidFill>
                <a:latin typeface="Arial" pitchFamily="34" charset="0"/>
                <a:ea typeface="Arial" pitchFamily="34" charset="-122"/>
                <a:cs typeface="Arial" pitchFamily="34" charset="-120"/>
              </a:rPr>
              <a:t>—</a:t>
            </a:r>
            <a:endParaRPr lang="en-US" sz="1700" dirty="0"/>
          </a:p>
        </p:txBody>
      </p:sp>
      <p:sp>
        <p:nvSpPr>
          <p:cNvPr id="30" name="Text 28"/>
          <p:cNvSpPr txBox="1"/>
          <p:nvPr/>
        </p:nvSpPr>
        <p:spPr>
          <a:xfrm>
            <a:off x="6903720" y="4370832"/>
            <a:ext cx="2331720" cy="512064"/>
          </a:xfrm>
          <a:prstGeom prst="rect">
            <a:avLst/>
          </a:prstGeom>
          <a:noFill/>
          <a:ln/>
        </p:spPr>
        <p:txBody>
          <a:bodyPr wrap="square" lIns="0" tIns="0" rIns="0" bIns="0" rtlCol="0" anchor="ctr"/>
          <a:lstStyle/>
          <a:p>
            <a:pPr algn="ctr" indent="0" marL="0">
              <a:buNone/>
            </a:pPr>
            <a:r>
              <a:rPr lang="en-US" sz="1700" b="1" dirty="0">
                <a:solidFill>
                  <a:srgbClr val="141821"/>
                </a:solidFill>
                <a:latin typeface="Arial" pitchFamily="34" charset="0"/>
                <a:ea typeface="Arial" pitchFamily="34" charset="-122"/>
                <a:cs typeface="Arial" pitchFamily="34" charset="-120"/>
              </a:rPr>
              <a:t>₱3.36M</a:t>
            </a:r>
            <a:endParaRPr lang="en-US" sz="1700" dirty="0"/>
          </a:p>
        </p:txBody>
      </p:sp>
      <p:sp>
        <p:nvSpPr>
          <p:cNvPr id="31" name="Text 29"/>
          <p:cNvSpPr txBox="1"/>
          <p:nvPr/>
        </p:nvSpPr>
        <p:spPr>
          <a:xfrm>
            <a:off x="9281160" y="4370832"/>
            <a:ext cx="2331720" cy="512064"/>
          </a:xfrm>
          <a:prstGeom prst="rect">
            <a:avLst/>
          </a:prstGeom>
          <a:noFill/>
          <a:ln/>
        </p:spPr>
        <p:txBody>
          <a:bodyPr wrap="square" lIns="0" tIns="0" rIns="0" bIns="0" rtlCol="0" anchor="ctr"/>
          <a:lstStyle/>
          <a:p>
            <a:pPr algn="ctr" indent="0" marL="0">
              <a:buNone/>
            </a:pPr>
            <a:r>
              <a:rPr lang="en-US" sz="1700" dirty="0">
                <a:solidFill>
                  <a:srgbClr val="141821"/>
                </a:solidFill>
                <a:latin typeface="Arial" pitchFamily="34" charset="0"/>
                <a:ea typeface="Arial" pitchFamily="34" charset="-122"/>
                <a:cs typeface="Arial" pitchFamily="34" charset="-120"/>
              </a:rPr>
              <a:t>₱8.49M</a:t>
            </a:r>
            <a:endParaRPr lang="en-US" sz="1700" dirty="0"/>
          </a:p>
        </p:txBody>
      </p:sp>
      <p:sp>
        <p:nvSpPr>
          <p:cNvPr id="32" name="Shape 30"/>
          <p:cNvSpPr/>
          <p:nvPr/>
        </p:nvSpPr>
        <p:spPr>
          <a:xfrm>
            <a:off x="566928" y="4992624"/>
            <a:ext cx="11057839" cy="658368"/>
          </a:xfrm>
          <a:prstGeom prst="roundRect">
            <a:avLst>
              <a:gd name="adj" fmla="val 5556"/>
            </a:avLst>
          </a:prstGeom>
          <a:solidFill>
            <a:srgbClr val="1B2437"/>
          </a:solidFill>
          <a:ln w="12700">
            <a:solidFill>
              <a:srgbClr val="333333"/>
            </a:solidFill>
            <a:prstDash val="solid"/>
          </a:ln>
        </p:spPr>
      </p:sp>
      <p:sp>
        <p:nvSpPr>
          <p:cNvPr id="33" name="Text 31"/>
          <p:cNvSpPr txBox="1"/>
          <p:nvPr/>
        </p:nvSpPr>
        <p:spPr>
          <a:xfrm>
            <a:off x="841248" y="4992624"/>
            <a:ext cx="3749040" cy="658368"/>
          </a:xfrm>
          <a:prstGeom prst="rect">
            <a:avLst/>
          </a:prstGeom>
          <a:noFill/>
          <a:ln/>
        </p:spPr>
        <p:txBody>
          <a:bodyPr wrap="square" lIns="0" tIns="0" rIns="0" bIns="0" rtlCol="0" anchor="ctr"/>
          <a:lstStyle/>
          <a:p>
            <a:pPr indent="0" marL="0">
              <a:buNone/>
            </a:pPr>
            <a:r>
              <a:rPr lang="en-US" sz="1500" b="1" spc="80" kern="0" dirty="0">
                <a:solidFill>
                  <a:srgbClr val="FFFFFF"/>
                </a:solidFill>
                <a:latin typeface="Arial" pitchFamily="34" charset="0"/>
                <a:ea typeface="Arial" pitchFamily="34" charset="-122"/>
                <a:cs typeface="Arial" pitchFamily="34" charset="-120"/>
              </a:rPr>
              <a:t>ANNUAL VALUE WE FORGO TODAY</a:t>
            </a:r>
            <a:endParaRPr lang="en-US" sz="1500" dirty="0"/>
          </a:p>
        </p:txBody>
      </p:sp>
      <p:sp>
        <p:nvSpPr>
          <p:cNvPr id="34" name="Text 32"/>
          <p:cNvSpPr txBox="1"/>
          <p:nvPr/>
        </p:nvSpPr>
        <p:spPr>
          <a:xfrm>
            <a:off x="4526280" y="4992624"/>
            <a:ext cx="2331720" cy="658368"/>
          </a:xfrm>
          <a:prstGeom prst="rect">
            <a:avLst/>
          </a:prstGeom>
          <a:noFill/>
          <a:ln/>
        </p:spPr>
        <p:txBody>
          <a:bodyPr wrap="square" lIns="0" tIns="0" rIns="0" bIns="0" rtlCol="0" anchor="ctr"/>
          <a:lstStyle/>
          <a:p>
            <a:pPr algn="ctr" indent="0" marL="0">
              <a:buNone/>
            </a:pPr>
            <a:r>
              <a:rPr lang="en-US" sz="1800" b="1" dirty="0">
                <a:solidFill>
                  <a:srgbClr val="8E95A3"/>
                </a:solidFill>
                <a:latin typeface="Arial" pitchFamily="34" charset="0"/>
                <a:ea typeface="Arial" pitchFamily="34" charset="-122"/>
                <a:cs typeface="Arial" pitchFamily="34" charset="-120"/>
              </a:rPr>
              <a:t>baseline</a:t>
            </a:r>
            <a:endParaRPr lang="en-US" sz="1800" dirty="0"/>
          </a:p>
        </p:txBody>
      </p:sp>
      <p:sp>
        <p:nvSpPr>
          <p:cNvPr id="35" name="Text 33"/>
          <p:cNvSpPr txBox="1"/>
          <p:nvPr/>
        </p:nvSpPr>
        <p:spPr>
          <a:xfrm>
            <a:off x="6903720" y="4992624"/>
            <a:ext cx="2331720" cy="658368"/>
          </a:xfrm>
          <a:prstGeom prst="rect">
            <a:avLst/>
          </a:prstGeom>
          <a:noFill/>
          <a:ln/>
        </p:spPr>
        <p:txBody>
          <a:bodyPr wrap="square" lIns="0" tIns="0" rIns="0" bIns="0" rtlCol="0" anchor="ctr"/>
          <a:lstStyle/>
          <a:p>
            <a:pPr algn="ctr" indent="0" marL="0">
              <a:buNone/>
            </a:pPr>
            <a:r>
              <a:rPr lang="en-US" sz="2200" b="1" dirty="0">
                <a:solidFill>
                  <a:srgbClr val="FF9A9A"/>
                </a:solidFill>
                <a:latin typeface="Arial" pitchFamily="34" charset="0"/>
                <a:ea typeface="Arial" pitchFamily="34" charset="-122"/>
                <a:cs typeface="Arial" pitchFamily="34" charset="-120"/>
              </a:rPr>
              <a:t>₱5.29M</a:t>
            </a:r>
            <a:endParaRPr lang="en-US" sz="2200" dirty="0"/>
          </a:p>
        </p:txBody>
      </p:sp>
      <p:sp>
        <p:nvSpPr>
          <p:cNvPr id="36" name="Text 34"/>
          <p:cNvSpPr txBox="1"/>
          <p:nvPr/>
        </p:nvSpPr>
        <p:spPr>
          <a:xfrm>
            <a:off x="9281160" y="4992624"/>
            <a:ext cx="2331720" cy="658368"/>
          </a:xfrm>
          <a:prstGeom prst="rect">
            <a:avLst/>
          </a:prstGeom>
          <a:noFill/>
          <a:ln/>
        </p:spPr>
        <p:txBody>
          <a:bodyPr wrap="square" lIns="0" tIns="0" rIns="0" bIns="0" rtlCol="0" anchor="ctr"/>
          <a:lstStyle/>
          <a:p>
            <a:pPr algn="ctr" indent="0" marL="0">
              <a:buNone/>
            </a:pPr>
            <a:r>
              <a:rPr lang="en-US" sz="2200" b="1" dirty="0">
                <a:solidFill>
                  <a:srgbClr val="FFFFFF"/>
                </a:solidFill>
                <a:latin typeface="Arial" pitchFamily="34" charset="0"/>
                <a:ea typeface="Arial" pitchFamily="34" charset="-122"/>
                <a:cs typeface="Arial" pitchFamily="34" charset="-120"/>
              </a:rPr>
              <a:t>₱13.34M</a:t>
            </a:r>
            <a:endParaRPr lang="en-US" sz="2200" dirty="0"/>
          </a:p>
        </p:txBody>
      </p:sp>
      <p:sp>
        <p:nvSpPr>
          <p:cNvPr id="37" name="Shape 35"/>
          <p:cNvSpPr/>
          <p:nvPr/>
        </p:nvSpPr>
        <p:spPr>
          <a:xfrm>
            <a:off x="566928" y="5760720"/>
            <a:ext cx="11057839" cy="566928"/>
          </a:xfrm>
          <a:prstGeom prst="roundRect">
            <a:avLst>
              <a:gd name="adj" fmla="val 6452"/>
            </a:avLst>
          </a:prstGeom>
          <a:solidFill>
            <a:srgbClr val="F7F4EF"/>
          </a:solidFill>
          <a:ln w="12700">
            <a:solidFill>
              <a:srgbClr val="333333"/>
            </a:solidFill>
            <a:prstDash val="solid"/>
          </a:ln>
        </p:spPr>
      </p:sp>
      <p:sp>
        <p:nvSpPr>
          <p:cNvPr id="38" name="Text 36"/>
          <p:cNvSpPr txBox="1"/>
          <p:nvPr/>
        </p:nvSpPr>
        <p:spPr>
          <a:xfrm>
            <a:off x="841248" y="5760720"/>
            <a:ext cx="10509199" cy="566928"/>
          </a:xfrm>
          <a:prstGeom prst="rect">
            <a:avLst/>
          </a:prstGeom>
          <a:noFill/>
          <a:ln/>
        </p:spPr>
        <p:txBody>
          <a:bodyPr wrap="square" lIns="0" tIns="0" rIns="0" bIns="0" rtlCol="0" anchor="ctr"/>
          <a:lstStyle/>
          <a:p>
            <a:pPr indent="0" marL="0">
              <a:buNone/>
            </a:pPr>
            <a:r>
              <a:rPr lang="en-US" sz="1500" b="1" dirty="0">
                <a:solidFill>
                  <a:srgbClr val="141821"/>
                </a:solidFill>
                <a:latin typeface="Arial" pitchFamily="34" charset="0"/>
                <a:ea typeface="Arial" pitchFamily="34" charset="-122"/>
                <a:cs typeface="Arial" pitchFamily="34" charset="-120"/>
              </a:rPr>
              <a:t>One extra internal fill is worth ₱119,822.  </a:t>
            </a:r>
            <a:pPr indent="0" marL="0">
              <a:buNone/>
            </a:pPr>
            <a:r>
              <a:rPr lang="en-US" sz="1500" dirty="0">
                <a:solidFill>
                  <a:srgbClr val="3C4350"/>
                </a:solidFill>
                <a:latin typeface="Arial" pitchFamily="34" charset="0"/>
                <a:ea typeface="Arial" pitchFamily="34" charset="-122"/>
                <a:cs typeface="Arial" pitchFamily="34" charset="-120"/>
              </a:rPr>
              <a:t>₱43,593 of hiring cost and vacancy days after the backfill, plus ₱76,229 of turnover we do not pay.</a:t>
            </a:r>
            <a:endParaRPr lang="en-US" sz="1500" dirty="0"/>
          </a:p>
        </p:txBody>
      </p:sp>
      <p:sp>
        <p:nvSpPr>
          <p:cNvPr id="39" name="Text 37"/>
          <p:cNvSpPr txBox="1"/>
          <p:nvPr/>
        </p:nvSpPr>
        <p:spPr>
          <a:xfrm>
            <a:off x="11167567" y="6382512"/>
            <a:ext cx="457200" cy="256032"/>
          </a:xfrm>
          <a:prstGeom prst="rect">
            <a:avLst/>
          </a:prstGeom>
          <a:noFill/>
          <a:ln/>
        </p:spPr>
        <p:txBody>
          <a:bodyPr wrap="square" lIns="0" tIns="0" rIns="0" bIns="0" rtlCol="0" anchor="ctr"/>
          <a:lstStyle/>
          <a:p>
            <a:pPr algn="r" indent="0" marL="0">
              <a:buNone/>
            </a:pPr>
            <a:r>
              <a:rPr lang="en-US" sz="1400" dirty="0">
                <a:solidFill>
                  <a:srgbClr val="B6AFA3"/>
                </a:solidFill>
                <a:latin typeface="Arial" pitchFamily="34" charset="0"/>
                <a:ea typeface="Arial" pitchFamily="34" charset="-122"/>
                <a:cs typeface="Arial" pitchFamily="34" charset="-120"/>
              </a:rPr>
              <a:t>7</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20624"/>
            <a:ext cx="420624" cy="68580"/>
          </a:xfrm>
          <a:prstGeom prst="rect">
            <a:avLst/>
          </a:prstGeom>
          <a:solidFill>
            <a:srgbClr val="C00000"/>
          </a:solidFill>
          <a:ln w="12700">
            <a:solidFill>
              <a:srgbClr val="333333"/>
            </a:solidFill>
            <a:prstDash val="solid"/>
          </a:ln>
        </p:spPr>
      </p:sp>
      <p:sp>
        <p:nvSpPr>
          <p:cNvPr id="3" name="Text 1"/>
          <p:cNvSpPr txBox="1"/>
          <p:nvPr/>
        </p:nvSpPr>
        <p:spPr>
          <a:xfrm>
            <a:off x="1115568" y="338328"/>
            <a:ext cx="10509199" cy="237744"/>
          </a:xfrm>
          <a:prstGeom prst="rect">
            <a:avLst/>
          </a:prstGeom>
          <a:noFill/>
          <a:ln/>
        </p:spPr>
        <p:txBody>
          <a:bodyPr wrap="square" lIns="0" tIns="0" rIns="0" bIns="0" rtlCol="0" anchor="ctr"/>
          <a:lstStyle/>
          <a:p>
            <a:pPr indent="0" marL="0">
              <a:buNone/>
            </a:pPr>
            <a:r>
              <a:rPr lang="en-US" sz="1400" b="1" spc="240" kern="0" dirty="0">
                <a:solidFill>
                  <a:srgbClr val="C00000"/>
                </a:solidFill>
                <a:latin typeface="Arial" pitchFamily="34" charset="0"/>
                <a:ea typeface="Arial" pitchFamily="34" charset="-122"/>
                <a:cs typeface="Arial" pitchFamily="34" charset="-120"/>
              </a:rPr>
              <a:t>WHAT 30% ACTUALLY TAKES</a:t>
            </a:r>
            <a:endParaRPr lang="en-US" sz="1400" dirty="0"/>
          </a:p>
        </p:txBody>
      </p:sp>
      <p:sp>
        <p:nvSpPr>
          <p:cNvPr id="4" name="Text 2"/>
          <p:cNvSpPr txBox="1"/>
          <p:nvPr/>
        </p:nvSpPr>
        <p:spPr>
          <a:xfrm>
            <a:off x="566928" y="694944"/>
            <a:ext cx="11057839" cy="566928"/>
          </a:xfrm>
          <a:prstGeom prst="rect">
            <a:avLst/>
          </a:prstGeom>
          <a:noFill/>
          <a:ln/>
        </p:spPr>
        <p:txBody>
          <a:bodyPr wrap="square" lIns="0" tIns="0" rIns="0" bIns="0" rtlCol="0" anchor="t"/>
          <a:lstStyle/>
          <a:p>
            <a:pPr indent="0" marL="0">
              <a:buNone/>
            </a:pPr>
            <a:r>
              <a:rPr lang="en-US" sz="3300" b="1" dirty="0">
                <a:solidFill>
                  <a:srgbClr val="141821"/>
                </a:solidFill>
                <a:latin typeface="Arial" pitchFamily="34" charset="0"/>
                <a:ea typeface="Arial" pitchFamily="34" charset="-122"/>
                <a:cs typeface="Arial" pitchFamily="34" charset="-120"/>
              </a:rPr>
              <a:t>We cannot get there on today's applicant flow.</a:t>
            </a:r>
            <a:endParaRPr lang="en-US" sz="3300" dirty="0"/>
          </a:p>
        </p:txBody>
      </p:sp>
      <p:sp>
        <p:nvSpPr>
          <p:cNvPr id="5" name="Text 3"/>
          <p:cNvSpPr txBox="1"/>
          <p:nvPr/>
        </p:nvSpPr>
        <p:spPr>
          <a:xfrm>
            <a:off x="566928" y="1298448"/>
            <a:ext cx="9509742" cy="310896"/>
          </a:xfrm>
          <a:prstGeom prst="rect">
            <a:avLst/>
          </a:prstGeom>
          <a:noFill/>
          <a:ln/>
        </p:spPr>
        <p:txBody>
          <a:bodyPr wrap="square" lIns="0" tIns="0" rIns="0" bIns="0" rtlCol="0" anchor="t"/>
          <a:lstStyle/>
          <a:p>
            <a:pPr indent="0" marL="0">
              <a:buNone/>
            </a:pPr>
            <a:r>
              <a:rPr lang="en-US" sz="1600" dirty="0">
                <a:solidFill>
                  <a:srgbClr val="7C8595"/>
                </a:solidFill>
                <a:latin typeface="Arial" pitchFamily="34" charset="0"/>
                <a:ea typeface="Arial" pitchFamily="34" charset="-122"/>
                <a:cs typeface="Arial" pitchFamily="34" charset="-120"/>
              </a:rPr>
              <a:t>463 applications produced 170 hires — a 37% success rate. Hold it, and the arithmetic is fixed.</a:t>
            </a:r>
            <a:endParaRPr lang="en-US" sz="1600" dirty="0"/>
          </a:p>
        </p:txBody>
      </p:sp>
      <p:sp>
        <p:nvSpPr>
          <p:cNvPr id="6" name="Shape 4"/>
          <p:cNvSpPr/>
          <p:nvPr/>
        </p:nvSpPr>
        <p:spPr>
          <a:xfrm>
            <a:off x="1984248" y="2029968"/>
            <a:ext cx="876267" cy="566928"/>
          </a:xfrm>
          <a:prstGeom prst="roundRect">
            <a:avLst>
              <a:gd name="adj" fmla="val 4839"/>
            </a:avLst>
          </a:prstGeom>
          <a:solidFill>
            <a:srgbClr val="EDE6D9"/>
          </a:solidFill>
          <a:ln w="12700">
            <a:solidFill>
              <a:srgbClr val="333333"/>
            </a:solidFill>
            <a:prstDash val="solid"/>
          </a:ln>
        </p:spPr>
      </p:sp>
      <p:sp>
        <p:nvSpPr>
          <p:cNvPr id="7" name="Shape 5"/>
          <p:cNvSpPr/>
          <p:nvPr/>
        </p:nvSpPr>
        <p:spPr>
          <a:xfrm>
            <a:off x="1984248" y="2029968"/>
            <a:ext cx="45720" cy="566928"/>
          </a:xfrm>
          <a:prstGeom prst="rect">
            <a:avLst/>
          </a:prstGeom>
          <a:solidFill>
            <a:srgbClr val="7C8595"/>
          </a:solidFill>
          <a:ln w="12700">
            <a:solidFill>
              <a:srgbClr val="333333"/>
            </a:solidFill>
            <a:prstDash val="solid"/>
          </a:ln>
        </p:spPr>
      </p:sp>
      <p:sp>
        <p:nvSpPr>
          <p:cNvPr id="8" name="Text 6"/>
          <p:cNvSpPr txBox="1"/>
          <p:nvPr/>
        </p:nvSpPr>
        <p:spPr>
          <a:xfrm>
            <a:off x="566928" y="1993392"/>
            <a:ext cx="1298448" cy="640080"/>
          </a:xfrm>
          <a:prstGeom prst="rect">
            <a:avLst/>
          </a:prstGeom>
          <a:noFill/>
          <a:ln/>
        </p:spPr>
        <p:txBody>
          <a:bodyPr wrap="square" lIns="0" tIns="0" rIns="0" bIns="0" rtlCol="0" anchor="ctr"/>
          <a:lstStyle/>
          <a:p>
            <a:pPr algn="r" indent="0" marL="0">
              <a:buNone/>
            </a:pPr>
            <a:r>
              <a:rPr lang="en-US" sz="3000" b="1" dirty="0">
                <a:solidFill>
                  <a:srgbClr val="7C8595"/>
                </a:solidFill>
                <a:latin typeface="Arial" pitchFamily="34" charset="0"/>
                <a:ea typeface="Arial" pitchFamily="34" charset="-122"/>
                <a:cs typeface="Arial" pitchFamily="34" charset="-120"/>
              </a:rPr>
              <a:t>154</a:t>
            </a:r>
            <a:endParaRPr lang="en-US" sz="3000" dirty="0"/>
          </a:p>
        </p:txBody>
      </p:sp>
      <p:sp>
        <p:nvSpPr>
          <p:cNvPr id="9" name="Text 7"/>
          <p:cNvSpPr txBox="1"/>
          <p:nvPr/>
        </p:nvSpPr>
        <p:spPr>
          <a:xfrm>
            <a:off x="2924523" y="2029968"/>
            <a:ext cx="2011680" cy="566928"/>
          </a:xfrm>
          <a:prstGeom prst="rect">
            <a:avLst/>
          </a:prstGeom>
          <a:noFill/>
          <a:ln/>
        </p:spPr>
        <p:txBody>
          <a:bodyPr wrap="square" lIns="0" tIns="0" rIns="0" bIns="0" rtlCol="0" anchor="ctr"/>
          <a:lstStyle/>
          <a:p>
            <a:pPr indent="0" marL="0">
              <a:buNone/>
            </a:pPr>
            <a:r>
              <a:rPr lang="en-US" sz="1550" dirty="0">
                <a:solidFill>
                  <a:srgbClr val="3C4350"/>
                </a:solidFill>
                <a:latin typeface="Arial" pitchFamily="34" charset="0"/>
                <a:ea typeface="Arial" pitchFamily="34" charset="-122"/>
                <a:cs typeface="Arial" pitchFamily="34" charset="-120"/>
              </a:rPr>
              <a:t>applications today</a:t>
            </a:r>
            <a:endParaRPr lang="en-US" sz="1550" dirty="0"/>
          </a:p>
        </p:txBody>
      </p:sp>
      <p:sp>
        <p:nvSpPr>
          <p:cNvPr id="10" name="Shape 8"/>
          <p:cNvSpPr/>
          <p:nvPr/>
        </p:nvSpPr>
        <p:spPr>
          <a:xfrm>
            <a:off x="1984248" y="3035808"/>
            <a:ext cx="1564762" cy="566928"/>
          </a:xfrm>
          <a:prstGeom prst="roundRect">
            <a:avLst>
              <a:gd name="adj" fmla="val 4839"/>
            </a:avLst>
          </a:prstGeom>
          <a:solidFill>
            <a:srgbClr val="FCEDED"/>
          </a:solidFill>
          <a:ln w="12700">
            <a:solidFill>
              <a:srgbClr val="333333"/>
            </a:solidFill>
            <a:prstDash val="solid"/>
          </a:ln>
        </p:spPr>
      </p:sp>
      <p:sp>
        <p:nvSpPr>
          <p:cNvPr id="11" name="Shape 9"/>
          <p:cNvSpPr/>
          <p:nvPr/>
        </p:nvSpPr>
        <p:spPr>
          <a:xfrm>
            <a:off x="1984248" y="3035808"/>
            <a:ext cx="45720" cy="566928"/>
          </a:xfrm>
          <a:prstGeom prst="rect">
            <a:avLst/>
          </a:prstGeom>
          <a:solidFill>
            <a:srgbClr val="C00000"/>
          </a:solidFill>
          <a:ln w="12700">
            <a:solidFill>
              <a:srgbClr val="333333"/>
            </a:solidFill>
            <a:prstDash val="solid"/>
          </a:ln>
        </p:spPr>
      </p:sp>
      <p:sp>
        <p:nvSpPr>
          <p:cNvPr id="12" name="Text 10"/>
          <p:cNvSpPr txBox="1"/>
          <p:nvPr/>
        </p:nvSpPr>
        <p:spPr>
          <a:xfrm>
            <a:off x="566928" y="2999232"/>
            <a:ext cx="1298448" cy="640080"/>
          </a:xfrm>
          <a:prstGeom prst="rect">
            <a:avLst/>
          </a:prstGeom>
          <a:noFill/>
          <a:ln/>
        </p:spPr>
        <p:txBody>
          <a:bodyPr wrap="square" lIns="0" tIns="0" rIns="0" bIns="0" rtlCol="0" anchor="ctr"/>
          <a:lstStyle/>
          <a:p>
            <a:pPr algn="r" indent="0" marL="0">
              <a:buNone/>
            </a:pPr>
            <a:r>
              <a:rPr lang="en-US" sz="3000" b="1" dirty="0">
                <a:solidFill>
                  <a:srgbClr val="C00000"/>
                </a:solidFill>
                <a:latin typeface="Arial" pitchFamily="34" charset="0"/>
                <a:ea typeface="Arial" pitchFamily="34" charset="-122"/>
                <a:cs typeface="Arial" pitchFamily="34" charset="-120"/>
              </a:rPr>
              <a:t>275</a:t>
            </a:r>
            <a:endParaRPr lang="en-US" sz="3000" dirty="0"/>
          </a:p>
        </p:txBody>
      </p:sp>
      <p:sp>
        <p:nvSpPr>
          <p:cNvPr id="13" name="Text 11"/>
          <p:cNvSpPr txBox="1"/>
          <p:nvPr/>
        </p:nvSpPr>
        <p:spPr>
          <a:xfrm>
            <a:off x="3613018" y="3035808"/>
            <a:ext cx="2011680" cy="566928"/>
          </a:xfrm>
          <a:prstGeom prst="rect">
            <a:avLst/>
          </a:prstGeom>
          <a:noFill/>
          <a:ln/>
        </p:spPr>
        <p:txBody>
          <a:bodyPr wrap="square" lIns="0" tIns="0" rIns="0" bIns="0" rtlCol="0" anchor="ctr"/>
          <a:lstStyle/>
          <a:p>
            <a:pPr indent="0" marL="0">
              <a:buNone/>
            </a:pPr>
            <a:r>
              <a:rPr lang="en-US" sz="1550" b="1" dirty="0">
                <a:solidFill>
                  <a:srgbClr val="141821"/>
                </a:solidFill>
                <a:latin typeface="Arial" pitchFamily="34" charset="0"/>
                <a:ea typeface="Arial" pitchFamily="34" charset="-122"/>
                <a:cs typeface="Arial" pitchFamily="34" charset="-120"/>
              </a:rPr>
              <a:t>needed for 30%</a:t>
            </a:r>
            <a:endParaRPr lang="en-US" sz="1550" dirty="0"/>
          </a:p>
        </p:txBody>
      </p:sp>
      <p:sp>
        <p:nvSpPr>
          <p:cNvPr id="14" name="Shape 12"/>
          <p:cNvSpPr/>
          <p:nvPr/>
        </p:nvSpPr>
        <p:spPr>
          <a:xfrm>
            <a:off x="1984248" y="4041648"/>
            <a:ext cx="2606040" cy="566928"/>
          </a:xfrm>
          <a:prstGeom prst="roundRect">
            <a:avLst>
              <a:gd name="adj" fmla="val 4839"/>
            </a:avLst>
          </a:prstGeom>
          <a:solidFill>
            <a:srgbClr val="E9F4F1"/>
          </a:solidFill>
          <a:ln w="12700">
            <a:solidFill>
              <a:srgbClr val="333333"/>
            </a:solidFill>
            <a:prstDash val="solid"/>
          </a:ln>
        </p:spPr>
      </p:sp>
      <p:sp>
        <p:nvSpPr>
          <p:cNvPr id="15" name="Shape 13"/>
          <p:cNvSpPr/>
          <p:nvPr/>
        </p:nvSpPr>
        <p:spPr>
          <a:xfrm>
            <a:off x="1984248" y="4041648"/>
            <a:ext cx="45720" cy="566928"/>
          </a:xfrm>
          <a:prstGeom prst="rect">
            <a:avLst/>
          </a:prstGeom>
          <a:solidFill>
            <a:srgbClr val="0E7C66"/>
          </a:solidFill>
          <a:ln w="12700">
            <a:solidFill>
              <a:srgbClr val="333333"/>
            </a:solidFill>
            <a:prstDash val="solid"/>
          </a:ln>
        </p:spPr>
      </p:sp>
      <p:sp>
        <p:nvSpPr>
          <p:cNvPr id="16" name="Text 14"/>
          <p:cNvSpPr txBox="1"/>
          <p:nvPr/>
        </p:nvSpPr>
        <p:spPr>
          <a:xfrm>
            <a:off x="566928" y="4005072"/>
            <a:ext cx="1298448" cy="640080"/>
          </a:xfrm>
          <a:prstGeom prst="rect">
            <a:avLst/>
          </a:prstGeom>
          <a:noFill/>
          <a:ln/>
        </p:spPr>
        <p:txBody>
          <a:bodyPr wrap="square" lIns="0" tIns="0" rIns="0" bIns="0" rtlCol="0" anchor="ctr"/>
          <a:lstStyle/>
          <a:p>
            <a:pPr algn="r" indent="0" marL="0">
              <a:buNone/>
            </a:pPr>
            <a:r>
              <a:rPr lang="en-US" sz="3000" b="1" dirty="0">
                <a:solidFill>
                  <a:srgbClr val="0E7C66"/>
                </a:solidFill>
                <a:latin typeface="Arial" pitchFamily="34" charset="0"/>
                <a:ea typeface="Arial" pitchFamily="34" charset="-122"/>
                <a:cs typeface="Arial" pitchFamily="34" charset="-120"/>
              </a:rPr>
              <a:t>458</a:t>
            </a:r>
            <a:endParaRPr lang="en-US" sz="3000" dirty="0"/>
          </a:p>
        </p:txBody>
      </p:sp>
      <p:sp>
        <p:nvSpPr>
          <p:cNvPr id="17" name="Text 15"/>
          <p:cNvSpPr txBox="1"/>
          <p:nvPr/>
        </p:nvSpPr>
        <p:spPr>
          <a:xfrm>
            <a:off x="4654296" y="4041648"/>
            <a:ext cx="2011680" cy="566928"/>
          </a:xfrm>
          <a:prstGeom prst="rect">
            <a:avLst/>
          </a:prstGeom>
          <a:noFill/>
          <a:ln/>
        </p:spPr>
        <p:txBody>
          <a:bodyPr wrap="square" lIns="0" tIns="0" rIns="0" bIns="0" rtlCol="0" anchor="ctr"/>
          <a:lstStyle/>
          <a:p>
            <a:pPr indent="0" marL="0">
              <a:buNone/>
            </a:pPr>
            <a:r>
              <a:rPr lang="en-US" sz="1550" b="1" dirty="0">
                <a:solidFill>
                  <a:srgbClr val="141821"/>
                </a:solidFill>
                <a:latin typeface="Arial" pitchFamily="34" charset="0"/>
                <a:ea typeface="Arial" pitchFamily="34" charset="-122"/>
                <a:cs typeface="Arial" pitchFamily="34" charset="-120"/>
              </a:rPr>
              <a:t>needed for 50%</a:t>
            </a:r>
            <a:endParaRPr lang="en-US" sz="1550" dirty="0"/>
          </a:p>
        </p:txBody>
      </p:sp>
      <p:sp>
        <p:nvSpPr>
          <p:cNvPr id="18" name="Text 16"/>
          <p:cNvSpPr txBox="1"/>
          <p:nvPr/>
        </p:nvSpPr>
        <p:spPr>
          <a:xfrm>
            <a:off x="566928" y="5029200"/>
            <a:ext cx="5750076" cy="786384"/>
          </a:xfrm>
          <a:prstGeom prst="rect">
            <a:avLst/>
          </a:prstGeom>
          <a:noFill/>
          <a:ln/>
        </p:spPr>
        <p:txBody>
          <a:bodyPr wrap="square" lIns="0" tIns="0" rIns="0" bIns="0" rtlCol="0" anchor="t"/>
          <a:lstStyle/>
          <a:p>
            <a:pPr indent="0" marL="0">
              <a:lnSpc>
                <a:spcPts val="2100"/>
              </a:lnSpc>
              <a:buNone/>
            </a:pPr>
            <a:r>
              <a:rPr lang="en-US" sz="1500" dirty="0">
                <a:solidFill>
                  <a:srgbClr val="3C4350"/>
                </a:solidFill>
                <a:latin typeface="Arial" pitchFamily="34" charset="0"/>
                <a:ea typeface="Arial" pitchFamily="34" charset="-122"/>
                <a:cs typeface="Arial" pitchFamily="34" charset="-120"/>
              </a:rPr>
              <a:t>Internal applications have to rise 1.8× to reach the benchmark, and 3× to reach 50%. That is the whole job: make the roles visible and make people worth matching.</a:t>
            </a:r>
            <a:endParaRPr lang="en-US" sz="1500" dirty="0"/>
          </a:p>
        </p:txBody>
      </p:sp>
      <p:sp>
        <p:nvSpPr>
          <p:cNvPr id="19" name="Shape 17"/>
          <p:cNvSpPr/>
          <p:nvPr/>
        </p:nvSpPr>
        <p:spPr>
          <a:xfrm>
            <a:off x="6701052" y="1901952"/>
            <a:ext cx="4923715" cy="3913632"/>
          </a:xfrm>
          <a:prstGeom prst="roundRect">
            <a:avLst>
              <a:gd name="adj" fmla="val 935"/>
            </a:avLst>
          </a:prstGeom>
          <a:solidFill>
            <a:srgbClr val="1B2437"/>
          </a:solidFill>
          <a:ln w="12700">
            <a:solidFill>
              <a:srgbClr val="333333"/>
            </a:solidFill>
            <a:prstDash val="solid"/>
          </a:ln>
        </p:spPr>
      </p:sp>
      <p:sp>
        <p:nvSpPr>
          <p:cNvPr id="20" name="Shape 18"/>
          <p:cNvSpPr/>
          <p:nvPr/>
        </p:nvSpPr>
        <p:spPr>
          <a:xfrm>
            <a:off x="6701052" y="1901952"/>
            <a:ext cx="4923715" cy="77724"/>
          </a:xfrm>
          <a:prstGeom prst="rect">
            <a:avLst/>
          </a:prstGeom>
          <a:solidFill>
            <a:srgbClr val="A9761A"/>
          </a:solidFill>
          <a:ln w="12700">
            <a:solidFill>
              <a:srgbClr val="333333"/>
            </a:solidFill>
            <a:prstDash val="solid"/>
          </a:ln>
        </p:spPr>
      </p:sp>
      <p:sp>
        <p:nvSpPr>
          <p:cNvPr id="21" name="Text 19"/>
          <p:cNvSpPr txBox="1"/>
          <p:nvPr/>
        </p:nvSpPr>
        <p:spPr>
          <a:xfrm>
            <a:off x="7030236" y="2121408"/>
            <a:ext cx="4265347" cy="237744"/>
          </a:xfrm>
          <a:prstGeom prst="rect">
            <a:avLst/>
          </a:prstGeom>
          <a:noFill/>
          <a:ln/>
        </p:spPr>
        <p:txBody>
          <a:bodyPr wrap="square" lIns="0" tIns="0" rIns="0" bIns="0" rtlCol="0" anchor="ctr"/>
          <a:lstStyle/>
          <a:p>
            <a:pPr indent="0" marL="0">
              <a:buNone/>
            </a:pPr>
            <a:r>
              <a:rPr lang="en-US" sz="1400" b="1" spc="180" kern="0" dirty="0">
                <a:solidFill>
                  <a:srgbClr val="E3B457"/>
                </a:solidFill>
                <a:latin typeface="Arial" pitchFamily="34" charset="0"/>
                <a:ea typeface="Arial" pitchFamily="34" charset="-122"/>
                <a:cs typeface="Arial" pitchFamily="34" charset="-120"/>
              </a:rPr>
              <a:t>AND HERE IS THE CATCH</a:t>
            </a:r>
            <a:endParaRPr lang="en-US" sz="1400" dirty="0"/>
          </a:p>
        </p:txBody>
      </p:sp>
      <p:sp>
        <p:nvSpPr>
          <p:cNvPr id="22" name="Text 20"/>
          <p:cNvSpPr txBox="1"/>
          <p:nvPr/>
        </p:nvSpPr>
        <p:spPr>
          <a:xfrm>
            <a:off x="7030236" y="2395728"/>
            <a:ext cx="4265347" cy="694944"/>
          </a:xfrm>
          <a:prstGeom prst="rect">
            <a:avLst/>
          </a:prstGeom>
          <a:noFill/>
          <a:ln/>
        </p:spPr>
        <p:txBody>
          <a:bodyPr wrap="square" lIns="0" tIns="0" rIns="0" bIns="0" rtlCol="0" anchor="t"/>
          <a:lstStyle/>
          <a:p>
            <a:pPr indent="0" marL="0">
              <a:lnSpc>
                <a:spcPts val="2800"/>
              </a:lnSpc>
              <a:buNone/>
            </a:pPr>
            <a:r>
              <a:rPr lang="en-US" sz="2200" b="1" dirty="0">
                <a:solidFill>
                  <a:srgbClr val="FFFFFF"/>
                </a:solidFill>
                <a:latin typeface="Arial" pitchFamily="34" charset="0"/>
                <a:ea typeface="Arial" pitchFamily="34" charset="-122"/>
                <a:cs typeface="Arial" pitchFamily="34" charset="-120"/>
              </a:rPr>
              <a:t>More applications means more rejections.</a:t>
            </a:r>
            <a:endParaRPr lang="en-US" sz="2200" dirty="0"/>
          </a:p>
        </p:txBody>
      </p:sp>
      <p:sp>
        <p:nvSpPr>
          <p:cNvPr id="23" name="Text 21"/>
          <p:cNvSpPr txBox="1"/>
          <p:nvPr/>
        </p:nvSpPr>
        <p:spPr>
          <a:xfrm>
            <a:off x="7030236" y="3182112"/>
            <a:ext cx="4265347" cy="786384"/>
          </a:xfrm>
          <a:prstGeom prst="rect">
            <a:avLst/>
          </a:prstGeom>
          <a:noFill/>
          <a:ln/>
        </p:spPr>
        <p:txBody>
          <a:bodyPr wrap="square" lIns="0" tIns="0" rIns="0" bIns="0" rtlCol="0" anchor="t"/>
          <a:lstStyle/>
          <a:p>
            <a:pPr indent="0" marL="0">
              <a:lnSpc>
                <a:spcPts val="2100"/>
              </a:lnSpc>
              <a:buNone/>
            </a:pPr>
            <a:r>
              <a:rPr lang="en-US" sz="1550" dirty="0">
                <a:solidFill>
                  <a:srgbClr val="C6BCAE"/>
                </a:solidFill>
                <a:latin typeface="Arial" pitchFamily="34" charset="0"/>
                <a:ea typeface="Arial" pitchFamily="34" charset="-122"/>
                <a:cs typeface="Arial" pitchFamily="34" charset="-120"/>
              </a:rPr>
              <a:t>At a 30% fill rate we turn down 174 people a year instead of 98. On today's evidence, rejection is what makes them leave.</a:t>
            </a:r>
            <a:endParaRPr lang="en-US" sz="1550" dirty="0"/>
          </a:p>
        </p:txBody>
      </p:sp>
      <p:sp>
        <p:nvSpPr>
          <p:cNvPr id="24" name="Shape 22"/>
          <p:cNvSpPr/>
          <p:nvPr/>
        </p:nvSpPr>
        <p:spPr>
          <a:xfrm>
            <a:off x="7030236" y="4059936"/>
            <a:ext cx="4265347" cy="0"/>
          </a:xfrm>
          <a:prstGeom prst="line">
            <a:avLst/>
          </a:prstGeom>
          <a:noFill/>
          <a:ln w="12700">
            <a:solidFill>
              <a:srgbClr val="3E4757"/>
            </a:solidFill>
            <a:prstDash val="solid"/>
          </a:ln>
        </p:spPr>
      </p:sp>
      <p:sp>
        <p:nvSpPr>
          <p:cNvPr id="25" name="Text 23"/>
          <p:cNvSpPr txBox="1"/>
          <p:nvPr/>
        </p:nvSpPr>
        <p:spPr>
          <a:xfrm>
            <a:off x="7030236" y="4206240"/>
            <a:ext cx="4265347" cy="310896"/>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So it cannot only sell jobs.</a:t>
            </a:r>
            <a:endParaRPr lang="en-US" sz="1600" dirty="0"/>
          </a:p>
        </p:txBody>
      </p:sp>
      <p:sp>
        <p:nvSpPr>
          <p:cNvPr id="26" name="Text 24"/>
          <p:cNvSpPr txBox="1"/>
          <p:nvPr/>
        </p:nvSpPr>
        <p:spPr>
          <a:xfrm>
            <a:off x="7030236" y="4572000"/>
            <a:ext cx="4265347" cy="1115568"/>
          </a:xfrm>
          <a:prstGeom prst="rect">
            <a:avLst/>
          </a:prstGeom>
          <a:noFill/>
          <a:ln/>
        </p:spPr>
        <p:txBody>
          <a:bodyPr wrap="square" lIns="0" tIns="0" rIns="0" bIns="0" rtlCol="0" anchor="t"/>
          <a:lstStyle/>
          <a:p>
            <a:pPr indent="0" marL="0">
              <a:lnSpc>
                <a:spcPts val="2100"/>
              </a:lnSpc>
              <a:buNone/>
            </a:pPr>
            <a:r>
              <a:rPr lang="en-US" sz="1500" dirty="0">
                <a:solidFill>
                  <a:srgbClr val="C6BCAE"/>
                </a:solidFill>
                <a:latin typeface="Arial" pitchFamily="34" charset="0"/>
                <a:ea typeface="Arial" pitchFamily="34" charset="-122"/>
                <a:cs typeface="Arial" pitchFamily="34" charset="-120"/>
              </a:rPr>
              <a:t>A "no" routes to a gig, an immersion or a service offer instead of to the exit. That is why Growth has four shelves and not one.</a:t>
            </a:r>
            <a:endParaRPr lang="en-US" sz="1500" dirty="0"/>
          </a:p>
        </p:txBody>
      </p:sp>
      <p:sp>
        <p:nvSpPr>
          <p:cNvPr id="27" name="Text 25"/>
          <p:cNvSpPr txBox="1"/>
          <p:nvPr/>
        </p:nvSpPr>
        <p:spPr>
          <a:xfrm>
            <a:off x="11167567" y="6382512"/>
            <a:ext cx="457200" cy="256032"/>
          </a:xfrm>
          <a:prstGeom prst="rect">
            <a:avLst/>
          </a:prstGeom>
          <a:noFill/>
          <a:ln/>
        </p:spPr>
        <p:txBody>
          <a:bodyPr wrap="square" lIns="0" tIns="0" rIns="0" bIns="0" rtlCol="0" anchor="ctr"/>
          <a:lstStyle/>
          <a:p>
            <a:pPr algn="r" indent="0" marL="0">
              <a:buNone/>
            </a:pPr>
            <a:r>
              <a:rPr lang="en-US" sz="1400" dirty="0">
                <a:solidFill>
                  <a:srgbClr val="B6AFA3"/>
                </a:solidFill>
                <a:latin typeface="Arial" pitchFamily="34" charset="0"/>
                <a:ea typeface="Arial" pitchFamily="34" charset="-122"/>
                <a:cs typeface="Arial" pitchFamily="34" charset="-120"/>
              </a:rPr>
              <a:t>8</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20624"/>
            <a:ext cx="420624" cy="68580"/>
          </a:xfrm>
          <a:prstGeom prst="rect">
            <a:avLst/>
          </a:prstGeom>
          <a:solidFill>
            <a:srgbClr val="C00000"/>
          </a:solidFill>
          <a:ln w="12700">
            <a:solidFill>
              <a:srgbClr val="333333"/>
            </a:solidFill>
            <a:prstDash val="solid"/>
          </a:ln>
        </p:spPr>
      </p:sp>
      <p:sp>
        <p:nvSpPr>
          <p:cNvPr id="3" name="Text 1"/>
          <p:cNvSpPr txBox="1"/>
          <p:nvPr/>
        </p:nvSpPr>
        <p:spPr>
          <a:xfrm>
            <a:off x="1115568" y="338328"/>
            <a:ext cx="10509199" cy="237744"/>
          </a:xfrm>
          <a:prstGeom prst="rect">
            <a:avLst/>
          </a:prstGeom>
          <a:noFill/>
          <a:ln/>
        </p:spPr>
        <p:txBody>
          <a:bodyPr wrap="square" lIns="0" tIns="0" rIns="0" bIns="0" rtlCol="0" anchor="ctr"/>
          <a:lstStyle/>
          <a:p>
            <a:pPr indent="0" marL="0">
              <a:buNone/>
            </a:pPr>
            <a:r>
              <a:rPr lang="en-US" sz="1400" b="1" spc="240" kern="0" dirty="0">
                <a:solidFill>
                  <a:srgbClr val="C00000"/>
                </a:solidFill>
                <a:latin typeface="Arial" pitchFamily="34" charset="0"/>
                <a:ea typeface="Arial" pitchFamily="34" charset="-122"/>
                <a:cs typeface="Arial" pitchFamily="34" charset="-120"/>
              </a:rPr>
              <a:t>COST AND PAYBACK</a:t>
            </a:r>
            <a:endParaRPr lang="en-US" sz="1400" dirty="0"/>
          </a:p>
        </p:txBody>
      </p:sp>
      <p:sp>
        <p:nvSpPr>
          <p:cNvPr id="4" name="Text 2"/>
          <p:cNvSpPr txBox="1"/>
          <p:nvPr/>
        </p:nvSpPr>
        <p:spPr>
          <a:xfrm>
            <a:off x="566928" y="694944"/>
            <a:ext cx="11057839" cy="566928"/>
          </a:xfrm>
          <a:prstGeom prst="rect">
            <a:avLst/>
          </a:prstGeom>
          <a:noFill/>
          <a:ln/>
        </p:spPr>
        <p:txBody>
          <a:bodyPr wrap="square" lIns="0" tIns="0" rIns="0" bIns="0" rtlCol="0" anchor="t"/>
          <a:lstStyle/>
          <a:p>
            <a:pPr indent="0" marL="0">
              <a:buNone/>
            </a:pPr>
            <a:r>
              <a:rPr lang="en-US" sz="3300" b="1" dirty="0">
                <a:solidFill>
                  <a:srgbClr val="141821"/>
                </a:solidFill>
                <a:latin typeface="Arial" pitchFamily="34" charset="0"/>
                <a:ea typeface="Arial" pitchFamily="34" charset="-122"/>
                <a:cs typeface="Arial" pitchFamily="34" charset="-120"/>
              </a:rPr>
              <a:t>₱2.05M over three years. Paid back in twelve months.</a:t>
            </a:r>
            <a:endParaRPr lang="en-US" sz="3300" dirty="0"/>
          </a:p>
        </p:txBody>
      </p:sp>
      <p:sp>
        <p:nvSpPr>
          <p:cNvPr id="5" name="Text 3"/>
          <p:cNvSpPr txBox="1"/>
          <p:nvPr/>
        </p:nvSpPr>
        <p:spPr>
          <a:xfrm>
            <a:off x="566928" y="1298448"/>
            <a:ext cx="9509742" cy="310896"/>
          </a:xfrm>
          <a:prstGeom prst="rect">
            <a:avLst/>
          </a:prstGeom>
          <a:noFill/>
          <a:ln/>
        </p:spPr>
        <p:txBody>
          <a:bodyPr wrap="square" lIns="0" tIns="0" rIns="0" bIns="0" rtlCol="0" anchor="t"/>
          <a:lstStyle/>
          <a:p>
            <a:pPr indent="0" marL="0">
              <a:buNone/>
            </a:pPr>
            <a:r>
              <a:rPr lang="en-US" sz="1600" dirty="0">
                <a:solidFill>
                  <a:srgbClr val="7C8595"/>
                </a:solidFill>
                <a:latin typeface="Arial" pitchFamily="34" charset="0"/>
                <a:ea typeface="Arial" pitchFamily="34" charset="-122"/>
                <a:cs typeface="Arial" pitchFamily="34" charset="-120"/>
              </a:rPr>
              <a:t>Pilot scope: 1,113 people across IT, HR and Operations — mass and non-mass.</a:t>
            </a:r>
            <a:endParaRPr lang="en-US" sz="1600" dirty="0"/>
          </a:p>
        </p:txBody>
      </p:sp>
      <p:sp>
        <p:nvSpPr>
          <p:cNvPr id="6" name="Shape 4"/>
          <p:cNvSpPr/>
          <p:nvPr/>
        </p:nvSpPr>
        <p:spPr>
          <a:xfrm>
            <a:off x="566928" y="1828800"/>
            <a:ext cx="6400800" cy="3108960"/>
          </a:xfrm>
          <a:prstGeom prst="roundRect">
            <a:avLst>
              <a:gd name="adj" fmla="val 1176"/>
            </a:avLst>
          </a:prstGeom>
          <a:solidFill>
            <a:srgbClr val="FFFFFF"/>
          </a:solidFill>
          <a:ln w="12700">
            <a:solidFill>
              <a:srgbClr val="E4DFD6"/>
            </a:solidFill>
            <a:prstDash val="solid"/>
          </a:ln>
          <a:effectLst>
            <a:outerShdw sx="100000" sy="100000" kx="0" ky="0" algn="bl" rotWithShape="0" blurRad="152400" dist="25400" dir="5400000">
              <a:srgbClr val="6B5B45">
                <a:alpha val="10000"/>
              </a:srgbClr>
            </a:outerShdw>
          </a:effectLst>
        </p:spPr>
      </p:sp>
      <p:sp>
        <p:nvSpPr>
          <p:cNvPr id="7" name="Text 5"/>
          <p:cNvSpPr txBox="1"/>
          <p:nvPr/>
        </p:nvSpPr>
        <p:spPr>
          <a:xfrm>
            <a:off x="859536" y="2029968"/>
            <a:ext cx="5815584" cy="237744"/>
          </a:xfrm>
          <a:prstGeom prst="rect">
            <a:avLst/>
          </a:prstGeom>
          <a:noFill/>
          <a:ln/>
        </p:spPr>
        <p:txBody>
          <a:bodyPr wrap="square" lIns="0" tIns="0" rIns="0" bIns="0" rtlCol="0" anchor="ctr"/>
          <a:lstStyle/>
          <a:p>
            <a:pPr indent="0" marL="0">
              <a:buNone/>
            </a:pPr>
            <a:r>
              <a:rPr lang="en-US" sz="1400" b="1" spc="180" kern="0" dirty="0">
                <a:solidFill>
                  <a:srgbClr val="C00000"/>
                </a:solidFill>
                <a:latin typeface="Arial" pitchFamily="34" charset="0"/>
                <a:ea typeface="Arial" pitchFamily="34" charset="-122"/>
                <a:cs typeface="Arial" pitchFamily="34" charset="-120"/>
              </a:rPr>
              <a:t>WHAT IT COSTS</a:t>
            </a:r>
            <a:endParaRPr lang="en-US" sz="1400" dirty="0"/>
          </a:p>
        </p:txBody>
      </p:sp>
      <p:sp>
        <p:nvSpPr>
          <p:cNvPr id="8" name="Text 6"/>
          <p:cNvSpPr txBox="1"/>
          <p:nvPr/>
        </p:nvSpPr>
        <p:spPr>
          <a:xfrm>
            <a:off x="859536" y="2377440"/>
            <a:ext cx="4297680" cy="402336"/>
          </a:xfrm>
          <a:prstGeom prst="rect">
            <a:avLst/>
          </a:prstGeom>
          <a:noFill/>
          <a:ln/>
        </p:spPr>
        <p:txBody>
          <a:bodyPr wrap="square" lIns="0" tIns="0" rIns="0" bIns="0" rtlCol="0" anchor="ctr"/>
          <a:lstStyle/>
          <a:p>
            <a:pPr indent="0" marL="0">
              <a:buNone/>
            </a:pPr>
            <a:r>
              <a:rPr lang="en-US" sz="1500" b="1" dirty="0">
                <a:solidFill>
                  <a:srgbClr val="141821"/>
                </a:solidFill>
                <a:latin typeface="Arial" pitchFamily="34" charset="0"/>
                <a:ea typeface="Arial" pitchFamily="34" charset="-122"/>
                <a:cs typeface="Arial" pitchFamily="34" charset="-120"/>
              </a:rPr>
              <a:t>Build — costed by IT in man-hours</a:t>
            </a:r>
            <a:endParaRPr lang="en-US" sz="1500" dirty="0"/>
          </a:p>
        </p:txBody>
      </p:sp>
      <p:sp>
        <p:nvSpPr>
          <p:cNvPr id="9" name="Text 7"/>
          <p:cNvSpPr txBox="1"/>
          <p:nvPr/>
        </p:nvSpPr>
        <p:spPr>
          <a:xfrm>
            <a:off x="5193792" y="2377440"/>
            <a:ext cx="1481328" cy="402336"/>
          </a:xfrm>
          <a:prstGeom prst="rect">
            <a:avLst/>
          </a:prstGeom>
          <a:noFill/>
          <a:ln/>
        </p:spPr>
        <p:txBody>
          <a:bodyPr wrap="square" lIns="0" tIns="0" rIns="0" bIns="0" rtlCol="0" anchor="ctr"/>
          <a:lstStyle/>
          <a:p>
            <a:pPr algn="r" indent="0" marL="0">
              <a:buNone/>
            </a:pPr>
            <a:r>
              <a:rPr lang="en-US" sz="1550" b="1" dirty="0">
                <a:solidFill>
                  <a:srgbClr val="141821"/>
                </a:solidFill>
                <a:latin typeface="Arial" pitchFamily="34" charset="0"/>
                <a:ea typeface="Arial" pitchFamily="34" charset="-122"/>
                <a:cs typeface="Arial" pitchFamily="34" charset="-120"/>
              </a:rPr>
              <a:t>₱1,785,500</a:t>
            </a:r>
            <a:endParaRPr lang="en-US" sz="1550" dirty="0"/>
          </a:p>
        </p:txBody>
      </p:sp>
      <p:sp>
        <p:nvSpPr>
          <p:cNvPr id="10" name="Shape 8"/>
          <p:cNvSpPr/>
          <p:nvPr/>
        </p:nvSpPr>
        <p:spPr>
          <a:xfrm>
            <a:off x="859536" y="2798064"/>
            <a:ext cx="5815584" cy="0"/>
          </a:xfrm>
          <a:prstGeom prst="line">
            <a:avLst/>
          </a:prstGeom>
          <a:noFill/>
          <a:ln w="12700">
            <a:solidFill>
              <a:srgbClr val="E4DFD6"/>
            </a:solidFill>
            <a:prstDash val="solid"/>
          </a:ln>
        </p:spPr>
      </p:sp>
      <p:sp>
        <p:nvSpPr>
          <p:cNvPr id="11" name="Text 9"/>
          <p:cNvSpPr txBox="1"/>
          <p:nvPr/>
        </p:nvSpPr>
        <p:spPr>
          <a:xfrm>
            <a:off x="859536" y="2834640"/>
            <a:ext cx="4297680" cy="402336"/>
          </a:xfrm>
          <a:prstGeom prst="rect">
            <a:avLst/>
          </a:prstGeom>
          <a:noFill/>
          <a:ln/>
        </p:spPr>
        <p:txBody>
          <a:bodyPr wrap="square" lIns="0" tIns="0" rIns="0" bIns="0" rtlCol="0" anchor="ctr"/>
          <a:lstStyle/>
          <a:p>
            <a:pPr indent="0" marL="0">
              <a:buNone/>
            </a:pPr>
            <a:r>
              <a:rPr lang="en-US" sz="1500" dirty="0">
                <a:solidFill>
                  <a:srgbClr val="3C4350"/>
                </a:solidFill>
                <a:latin typeface="Arial" pitchFamily="34" charset="0"/>
                <a:ea typeface="Arial" pitchFamily="34" charset="-122"/>
                <a:cs typeface="Arial" pitchFamily="34" charset="-120"/>
              </a:rPr>
              <a:t>AI matching (Claude), a year</a:t>
            </a:r>
            <a:endParaRPr lang="en-US" sz="1500" dirty="0"/>
          </a:p>
        </p:txBody>
      </p:sp>
      <p:sp>
        <p:nvSpPr>
          <p:cNvPr id="12" name="Text 10"/>
          <p:cNvSpPr txBox="1"/>
          <p:nvPr/>
        </p:nvSpPr>
        <p:spPr>
          <a:xfrm>
            <a:off x="5193792" y="2834640"/>
            <a:ext cx="1481328" cy="402336"/>
          </a:xfrm>
          <a:prstGeom prst="rect">
            <a:avLst/>
          </a:prstGeom>
          <a:noFill/>
          <a:ln/>
        </p:spPr>
        <p:txBody>
          <a:bodyPr wrap="square" lIns="0" tIns="0" rIns="0" bIns="0" rtlCol="0" anchor="ctr"/>
          <a:lstStyle/>
          <a:p>
            <a:pPr algn="r" indent="0" marL="0">
              <a:buNone/>
            </a:pPr>
            <a:r>
              <a:rPr lang="en-US" sz="1550" b="1" dirty="0">
                <a:solidFill>
                  <a:srgbClr val="3C4350"/>
                </a:solidFill>
                <a:latin typeface="Arial" pitchFamily="34" charset="0"/>
                <a:ea typeface="Arial" pitchFamily="34" charset="-122"/>
                <a:cs typeface="Arial" pitchFamily="34" charset="-120"/>
              </a:rPr>
              <a:t>₱40,544</a:t>
            </a:r>
            <a:endParaRPr lang="en-US" sz="1550" dirty="0"/>
          </a:p>
        </p:txBody>
      </p:sp>
      <p:sp>
        <p:nvSpPr>
          <p:cNvPr id="13" name="Shape 11"/>
          <p:cNvSpPr/>
          <p:nvPr/>
        </p:nvSpPr>
        <p:spPr>
          <a:xfrm>
            <a:off x="859536" y="3255264"/>
            <a:ext cx="5815584" cy="0"/>
          </a:xfrm>
          <a:prstGeom prst="line">
            <a:avLst/>
          </a:prstGeom>
          <a:noFill/>
          <a:ln w="12700">
            <a:solidFill>
              <a:srgbClr val="E4DFD6"/>
            </a:solidFill>
            <a:prstDash val="solid"/>
          </a:ln>
        </p:spPr>
      </p:sp>
      <p:sp>
        <p:nvSpPr>
          <p:cNvPr id="14" name="Text 12"/>
          <p:cNvSpPr txBox="1"/>
          <p:nvPr/>
        </p:nvSpPr>
        <p:spPr>
          <a:xfrm>
            <a:off x="859536" y="3291840"/>
            <a:ext cx="4297680" cy="402336"/>
          </a:xfrm>
          <a:prstGeom prst="rect">
            <a:avLst/>
          </a:prstGeom>
          <a:noFill/>
          <a:ln/>
        </p:spPr>
        <p:txBody>
          <a:bodyPr wrap="square" lIns="0" tIns="0" rIns="0" bIns="0" rtlCol="0" anchor="ctr"/>
          <a:lstStyle/>
          <a:p>
            <a:pPr indent="0" marL="0">
              <a:buNone/>
            </a:pPr>
            <a:r>
              <a:rPr lang="en-US" sz="1500" dirty="0">
                <a:solidFill>
                  <a:srgbClr val="3C4350"/>
                </a:solidFill>
                <a:latin typeface="Arial" pitchFamily="34" charset="0"/>
                <a:ea typeface="Arial" pitchFamily="34" charset="-122"/>
                <a:cs typeface="Arial" pitchFamily="34" charset="-120"/>
              </a:rPr>
              <a:t>Platform, email, monitoring, a year</a:t>
            </a:r>
            <a:endParaRPr lang="en-US" sz="1500" dirty="0"/>
          </a:p>
        </p:txBody>
      </p:sp>
      <p:sp>
        <p:nvSpPr>
          <p:cNvPr id="15" name="Text 13"/>
          <p:cNvSpPr txBox="1"/>
          <p:nvPr/>
        </p:nvSpPr>
        <p:spPr>
          <a:xfrm>
            <a:off x="5193792" y="3291840"/>
            <a:ext cx="1481328" cy="402336"/>
          </a:xfrm>
          <a:prstGeom prst="rect">
            <a:avLst/>
          </a:prstGeom>
          <a:noFill/>
          <a:ln/>
        </p:spPr>
        <p:txBody>
          <a:bodyPr wrap="square" lIns="0" tIns="0" rIns="0" bIns="0" rtlCol="0" anchor="ctr"/>
          <a:lstStyle/>
          <a:p>
            <a:pPr algn="r" indent="0" marL="0">
              <a:buNone/>
            </a:pPr>
            <a:r>
              <a:rPr lang="en-US" sz="1550" b="1" dirty="0">
                <a:solidFill>
                  <a:srgbClr val="3C4350"/>
                </a:solidFill>
                <a:latin typeface="Arial" pitchFamily="34" charset="0"/>
                <a:ea typeface="Arial" pitchFamily="34" charset="-122"/>
                <a:cs typeface="Arial" pitchFamily="34" charset="-120"/>
              </a:rPr>
              <a:t>₱41,607</a:t>
            </a:r>
            <a:endParaRPr lang="en-US" sz="1550" dirty="0"/>
          </a:p>
        </p:txBody>
      </p:sp>
      <p:sp>
        <p:nvSpPr>
          <p:cNvPr id="16" name="Shape 14"/>
          <p:cNvSpPr/>
          <p:nvPr/>
        </p:nvSpPr>
        <p:spPr>
          <a:xfrm>
            <a:off x="859536" y="3712464"/>
            <a:ext cx="5815584" cy="0"/>
          </a:xfrm>
          <a:prstGeom prst="line">
            <a:avLst/>
          </a:prstGeom>
          <a:noFill/>
          <a:ln w="12700">
            <a:solidFill>
              <a:srgbClr val="E4DFD6"/>
            </a:solidFill>
            <a:prstDash val="solid"/>
          </a:ln>
        </p:spPr>
      </p:sp>
      <p:sp>
        <p:nvSpPr>
          <p:cNvPr id="17" name="Text 15"/>
          <p:cNvSpPr txBox="1"/>
          <p:nvPr/>
        </p:nvSpPr>
        <p:spPr>
          <a:xfrm>
            <a:off x="859536" y="3749040"/>
            <a:ext cx="4297680" cy="402336"/>
          </a:xfrm>
          <a:prstGeom prst="rect">
            <a:avLst/>
          </a:prstGeom>
          <a:noFill/>
          <a:ln/>
        </p:spPr>
        <p:txBody>
          <a:bodyPr wrap="square" lIns="0" tIns="0" rIns="0" bIns="0" rtlCol="0" anchor="ctr"/>
          <a:lstStyle/>
          <a:p>
            <a:pPr indent="0" marL="0">
              <a:buNone/>
            </a:pPr>
            <a:r>
              <a:rPr lang="en-US" sz="1500" dirty="0">
                <a:solidFill>
                  <a:srgbClr val="3C4350"/>
                </a:solidFill>
                <a:latin typeface="Arial" pitchFamily="34" charset="0"/>
                <a:ea typeface="Arial" pitchFamily="34" charset="-122"/>
                <a:cs typeface="Arial" pitchFamily="34" charset="-120"/>
              </a:rPr>
              <a:t>HR reconciliation, year 2 onward</a:t>
            </a:r>
            <a:endParaRPr lang="en-US" sz="1500" dirty="0"/>
          </a:p>
        </p:txBody>
      </p:sp>
      <p:sp>
        <p:nvSpPr>
          <p:cNvPr id="18" name="Text 16"/>
          <p:cNvSpPr txBox="1"/>
          <p:nvPr/>
        </p:nvSpPr>
        <p:spPr>
          <a:xfrm>
            <a:off x="5193792" y="3749040"/>
            <a:ext cx="1481328" cy="402336"/>
          </a:xfrm>
          <a:prstGeom prst="rect">
            <a:avLst/>
          </a:prstGeom>
          <a:noFill/>
          <a:ln/>
        </p:spPr>
        <p:txBody>
          <a:bodyPr wrap="square" lIns="0" tIns="0" rIns="0" bIns="0" rtlCol="0" anchor="ctr"/>
          <a:lstStyle/>
          <a:p>
            <a:pPr algn="r" indent="0" marL="0">
              <a:buNone/>
            </a:pPr>
            <a:r>
              <a:rPr lang="en-US" sz="1550" b="1" dirty="0">
                <a:solidFill>
                  <a:srgbClr val="3C4350"/>
                </a:solidFill>
                <a:latin typeface="Arial" pitchFamily="34" charset="0"/>
                <a:ea typeface="Arial" pitchFamily="34" charset="-122"/>
                <a:cs typeface="Arial" pitchFamily="34" charset="-120"/>
              </a:rPr>
              <a:t>₱9,000</a:t>
            </a:r>
            <a:endParaRPr lang="en-US" sz="1550" dirty="0"/>
          </a:p>
        </p:txBody>
      </p:sp>
      <p:sp>
        <p:nvSpPr>
          <p:cNvPr id="19" name="Shape 17"/>
          <p:cNvSpPr/>
          <p:nvPr/>
        </p:nvSpPr>
        <p:spPr>
          <a:xfrm>
            <a:off x="859536" y="4169664"/>
            <a:ext cx="5815584" cy="0"/>
          </a:xfrm>
          <a:prstGeom prst="line">
            <a:avLst/>
          </a:prstGeom>
          <a:noFill/>
          <a:ln w="12700">
            <a:solidFill>
              <a:srgbClr val="E4DFD6"/>
            </a:solidFill>
            <a:prstDash val="solid"/>
          </a:ln>
        </p:spPr>
      </p:sp>
      <p:sp>
        <p:nvSpPr>
          <p:cNvPr id="20" name="Text 18"/>
          <p:cNvSpPr txBox="1"/>
          <p:nvPr/>
        </p:nvSpPr>
        <p:spPr>
          <a:xfrm>
            <a:off x="859536" y="4242816"/>
            <a:ext cx="4297680" cy="365760"/>
          </a:xfrm>
          <a:prstGeom prst="rect">
            <a:avLst/>
          </a:prstGeom>
          <a:noFill/>
          <a:ln/>
        </p:spPr>
        <p:txBody>
          <a:bodyPr wrap="square" lIns="0" tIns="0" rIns="0" bIns="0" rtlCol="0" anchor="ctr"/>
          <a:lstStyle/>
          <a:p>
            <a:pPr indent="0" marL="0">
              <a:buNone/>
            </a:pPr>
            <a:r>
              <a:rPr lang="en-US" sz="1500" b="1" spc="80" kern="0" dirty="0">
                <a:solidFill>
                  <a:srgbClr val="141821"/>
                </a:solidFill>
                <a:latin typeface="Arial" pitchFamily="34" charset="0"/>
                <a:ea typeface="Arial" pitchFamily="34" charset="-122"/>
                <a:cs typeface="Arial" pitchFamily="34" charset="-120"/>
              </a:rPr>
              <a:t>THREE-YEAR TOTAL</a:t>
            </a:r>
            <a:endParaRPr lang="en-US" sz="1500" dirty="0"/>
          </a:p>
        </p:txBody>
      </p:sp>
      <p:sp>
        <p:nvSpPr>
          <p:cNvPr id="21" name="Text 19"/>
          <p:cNvSpPr txBox="1"/>
          <p:nvPr/>
        </p:nvSpPr>
        <p:spPr>
          <a:xfrm>
            <a:off x="4736592" y="4224528"/>
            <a:ext cx="1938528" cy="402336"/>
          </a:xfrm>
          <a:prstGeom prst="rect">
            <a:avLst/>
          </a:prstGeom>
          <a:noFill/>
          <a:ln/>
        </p:spPr>
        <p:txBody>
          <a:bodyPr wrap="square" lIns="0" tIns="0" rIns="0" bIns="0" rtlCol="0" anchor="ctr"/>
          <a:lstStyle/>
          <a:p>
            <a:pPr algn="r" indent="0" marL="0">
              <a:buNone/>
            </a:pPr>
            <a:r>
              <a:rPr lang="en-US" sz="2200" b="1" dirty="0">
                <a:solidFill>
                  <a:srgbClr val="C00000"/>
                </a:solidFill>
                <a:latin typeface="Arial" pitchFamily="34" charset="0"/>
                <a:ea typeface="Arial" pitchFamily="34" charset="-122"/>
                <a:cs typeface="Arial" pitchFamily="34" charset="-120"/>
              </a:rPr>
              <a:t>₱2,049,954</a:t>
            </a:r>
            <a:endParaRPr lang="en-US" sz="2200" dirty="0"/>
          </a:p>
        </p:txBody>
      </p:sp>
      <p:sp>
        <p:nvSpPr>
          <p:cNvPr id="22" name="Text 20"/>
          <p:cNvSpPr txBox="1"/>
          <p:nvPr/>
        </p:nvSpPr>
        <p:spPr>
          <a:xfrm>
            <a:off x="859536" y="4626864"/>
            <a:ext cx="5815584" cy="237744"/>
          </a:xfrm>
          <a:prstGeom prst="rect">
            <a:avLst/>
          </a:prstGeom>
          <a:noFill/>
          <a:ln/>
        </p:spPr>
        <p:txBody>
          <a:bodyPr wrap="square" lIns="0" tIns="0" rIns="0" bIns="0" rtlCol="0" anchor="ctr"/>
          <a:lstStyle/>
          <a:p>
            <a:pPr indent="0" marL="0">
              <a:buNone/>
            </a:pPr>
            <a:r>
              <a:rPr lang="en-US" sz="1400" dirty="0">
                <a:solidFill>
                  <a:srgbClr val="7C8595"/>
                </a:solidFill>
                <a:latin typeface="Arial" pitchFamily="34" charset="0"/>
                <a:ea typeface="Arial" pitchFamily="34" charset="-122"/>
                <a:cs typeface="Arial" pitchFamily="34" charset="-120"/>
              </a:rPr>
              <a:t>US$33,606  ·  ₱614 per employee a year</a:t>
            </a:r>
            <a:endParaRPr lang="en-US" sz="1400" dirty="0"/>
          </a:p>
        </p:txBody>
      </p:sp>
      <p:sp>
        <p:nvSpPr>
          <p:cNvPr id="23" name="Shape 21"/>
          <p:cNvSpPr/>
          <p:nvPr/>
        </p:nvSpPr>
        <p:spPr>
          <a:xfrm>
            <a:off x="566928" y="5047488"/>
            <a:ext cx="1999488" cy="1115568"/>
          </a:xfrm>
          <a:prstGeom prst="roundRect">
            <a:avLst>
              <a:gd name="adj" fmla="val 3279"/>
            </a:avLst>
          </a:prstGeom>
          <a:solidFill>
            <a:srgbClr val="E9F4F1"/>
          </a:solidFill>
          <a:ln w="12700">
            <a:solidFill>
              <a:srgbClr val="333333"/>
            </a:solidFill>
            <a:prstDash val="solid"/>
          </a:ln>
        </p:spPr>
      </p:sp>
      <p:sp>
        <p:nvSpPr>
          <p:cNvPr id="24" name="Text 22"/>
          <p:cNvSpPr txBox="1"/>
          <p:nvPr/>
        </p:nvSpPr>
        <p:spPr>
          <a:xfrm>
            <a:off x="786384" y="5138928"/>
            <a:ext cx="1560576" cy="402336"/>
          </a:xfrm>
          <a:prstGeom prst="rect">
            <a:avLst/>
          </a:prstGeom>
          <a:noFill/>
          <a:ln/>
        </p:spPr>
        <p:txBody>
          <a:bodyPr wrap="square" lIns="0" tIns="0" rIns="0" bIns="0" rtlCol="0" anchor="ctr"/>
          <a:lstStyle/>
          <a:p>
            <a:pPr indent="0" marL="0">
              <a:buNone/>
            </a:pPr>
            <a:r>
              <a:rPr lang="en-US" sz="2300" b="1" dirty="0">
                <a:solidFill>
                  <a:srgbClr val="0E7C66"/>
                </a:solidFill>
                <a:latin typeface="Arial" pitchFamily="34" charset="0"/>
                <a:ea typeface="Arial" pitchFamily="34" charset="-122"/>
                <a:cs typeface="Arial" pitchFamily="34" charset="-120"/>
              </a:rPr>
              <a:t>12 months</a:t>
            </a:r>
            <a:endParaRPr lang="en-US" sz="2300" dirty="0"/>
          </a:p>
        </p:txBody>
      </p:sp>
      <p:sp>
        <p:nvSpPr>
          <p:cNvPr id="25" name="Text 23"/>
          <p:cNvSpPr txBox="1"/>
          <p:nvPr/>
        </p:nvSpPr>
        <p:spPr>
          <a:xfrm>
            <a:off x="786384" y="5541264"/>
            <a:ext cx="1560576" cy="256032"/>
          </a:xfrm>
          <a:prstGeom prst="rect">
            <a:avLst/>
          </a:prstGeom>
          <a:noFill/>
          <a:ln/>
        </p:spPr>
        <p:txBody>
          <a:bodyPr wrap="square" lIns="0" tIns="0" rIns="0" bIns="0" rtlCol="0" anchor="t"/>
          <a:lstStyle/>
          <a:p>
            <a:pPr indent="0" marL="0">
              <a:buNone/>
            </a:pPr>
            <a:r>
              <a:rPr lang="en-US" sz="1450" b="1" dirty="0">
                <a:solidFill>
                  <a:srgbClr val="141821"/>
                </a:solidFill>
                <a:latin typeface="Arial" pitchFamily="34" charset="0"/>
                <a:ea typeface="Arial" pitchFamily="34" charset="-122"/>
                <a:cs typeface="Arial" pitchFamily="34" charset="-120"/>
              </a:rPr>
              <a:t>to pay back</a:t>
            </a:r>
            <a:endParaRPr lang="en-US" sz="1450" dirty="0"/>
          </a:p>
        </p:txBody>
      </p:sp>
      <p:sp>
        <p:nvSpPr>
          <p:cNvPr id="26" name="Text 24"/>
          <p:cNvSpPr txBox="1"/>
          <p:nvPr/>
        </p:nvSpPr>
        <p:spPr>
          <a:xfrm>
            <a:off x="786384" y="5815584"/>
            <a:ext cx="1560576" cy="274320"/>
          </a:xfrm>
          <a:prstGeom prst="rect">
            <a:avLst/>
          </a:prstGeom>
          <a:noFill/>
          <a:ln/>
        </p:spPr>
        <p:txBody>
          <a:bodyPr wrap="square" lIns="0" tIns="0" rIns="0" bIns="0" rtlCol="0" anchor="t"/>
          <a:lstStyle/>
          <a:p>
            <a:pPr indent="0" marL="0">
              <a:lnSpc>
                <a:spcPts val="1700"/>
              </a:lnSpc>
              <a:buNone/>
            </a:pPr>
            <a:r>
              <a:rPr lang="en-US" sz="1400" dirty="0">
                <a:solidFill>
                  <a:srgbClr val="7C8595"/>
                </a:solidFill>
                <a:latin typeface="Arial" pitchFamily="34" charset="0"/>
                <a:ea typeface="Arial" pitchFamily="34" charset="-122"/>
                <a:cs typeface="Arial" pitchFamily="34" charset="-120"/>
              </a:rPr>
              <a:t>expected case</a:t>
            </a:r>
            <a:endParaRPr lang="en-US" sz="1400" dirty="0"/>
          </a:p>
        </p:txBody>
      </p:sp>
      <p:sp>
        <p:nvSpPr>
          <p:cNvPr id="27" name="Shape 25"/>
          <p:cNvSpPr/>
          <p:nvPr/>
        </p:nvSpPr>
        <p:spPr>
          <a:xfrm>
            <a:off x="2767584" y="5047488"/>
            <a:ext cx="1999488" cy="1115568"/>
          </a:xfrm>
          <a:prstGeom prst="roundRect">
            <a:avLst>
              <a:gd name="adj" fmla="val 3279"/>
            </a:avLst>
          </a:prstGeom>
          <a:solidFill>
            <a:srgbClr val="E9F4F1"/>
          </a:solidFill>
          <a:ln w="12700">
            <a:solidFill>
              <a:srgbClr val="333333"/>
            </a:solidFill>
            <a:prstDash val="solid"/>
          </a:ln>
        </p:spPr>
      </p:sp>
      <p:sp>
        <p:nvSpPr>
          <p:cNvPr id="28" name="Text 26"/>
          <p:cNvSpPr txBox="1"/>
          <p:nvPr/>
        </p:nvSpPr>
        <p:spPr>
          <a:xfrm>
            <a:off x="2987040" y="5138928"/>
            <a:ext cx="1560576" cy="402336"/>
          </a:xfrm>
          <a:prstGeom prst="rect">
            <a:avLst/>
          </a:prstGeom>
          <a:noFill/>
          <a:ln/>
        </p:spPr>
        <p:txBody>
          <a:bodyPr wrap="square" lIns="0" tIns="0" rIns="0" bIns="0" rtlCol="0" anchor="ctr"/>
          <a:lstStyle/>
          <a:p>
            <a:pPr indent="0" marL="0">
              <a:buNone/>
            </a:pPr>
            <a:r>
              <a:rPr lang="en-US" sz="2300" b="1" dirty="0">
                <a:solidFill>
                  <a:srgbClr val="0E7C66"/>
                </a:solidFill>
                <a:latin typeface="Arial" pitchFamily="34" charset="0"/>
                <a:ea typeface="Arial" pitchFamily="34" charset="-122"/>
                <a:cs typeface="Arial" pitchFamily="34" charset="-120"/>
              </a:rPr>
              <a:t>4.6</a:t>
            </a:r>
            <a:endParaRPr lang="en-US" sz="2300" dirty="0"/>
          </a:p>
        </p:txBody>
      </p:sp>
      <p:sp>
        <p:nvSpPr>
          <p:cNvPr id="29" name="Text 27"/>
          <p:cNvSpPr txBox="1"/>
          <p:nvPr/>
        </p:nvSpPr>
        <p:spPr>
          <a:xfrm>
            <a:off x="2987040" y="5541264"/>
            <a:ext cx="1560576" cy="256032"/>
          </a:xfrm>
          <a:prstGeom prst="rect">
            <a:avLst/>
          </a:prstGeom>
          <a:noFill/>
          <a:ln/>
        </p:spPr>
        <p:txBody>
          <a:bodyPr wrap="square" lIns="0" tIns="0" rIns="0" bIns="0" rtlCol="0" anchor="t"/>
          <a:lstStyle/>
          <a:p>
            <a:pPr indent="0" marL="0">
              <a:buNone/>
            </a:pPr>
            <a:r>
              <a:rPr lang="en-US" sz="1450" b="1" dirty="0">
                <a:solidFill>
                  <a:srgbClr val="141821"/>
                </a:solidFill>
                <a:latin typeface="Arial" pitchFamily="34" charset="0"/>
                <a:ea typeface="Arial" pitchFamily="34" charset="-122"/>
                <a:cs typeface="Arial" pitchFamily="34" charset="-120"/>
              </a:rPr>
              <a:t>benefit : cost</a:t>
            </a:r>
            <a:endParaRPr lang="en-US" sz="1450" dirty="0"/>
          </a:p>
        </p:txBody>
      </p:sp>
      <p:sp>
        <p:nvSpPr>
          <p:cNvPr id="30" name="Text 28"/>
          <p:cNvSpPr txBox="1"/>
          <p:nvPr/>
        </p:nvSpPr>
        <p:spPr>
          <a:xfrm>
            <a:off x="2987040" y="5815584"/>
            <a:ext cx="1560576" cy="274320"/>
          </a:xfrm>
          <a:prstGeom prst="rect">
            <a:avLst/>
          </a:prstGeom>
          <a:noFill/>
          <a:ln/>
        </p:spPr>
        <p:txBody>
          <a:bodyPr wrap="square" lIns="0" tIns="0" rIns="0" bIns="0" rtlCol="0" anchor="t"/>
          <a:lstStyle/>
          <a:p>
            <a:pPr indent="0" marL="0">
              <a:lnSpc>
                <a:spcPts val="1700"/>
              </a:lnSpc>
              <a:buNone/>
            </a:pPr>
            <a:r>
              <a:rPr lang="en-US" sz="1400" dirty="0">
                <a:solidFill>
                  <a:srgbClr val="7C8595"/>
                </a:solidFill>
                <a:latin typeface="Arial" pitchFamily="34" charset="0"/>
                <a:ea typeface="Arial" pitchFamily="34" charset="-122"/>
                <a:cs typeface="Arial" pitchFamily="34" charset="-120"/>
              </a:rPr>
              <a:t>NPV ₱5.84M</a:t>
            </a:r>
            <a:endParaRPr lang="en-US" sz="1400" dirty="0"/>
          </a:p>
        </p:txBody>
      </p:sp>
      <p:sp>
        <p:nvSpPr>
          <p:cNvPr id="31" name="Shape 29"/>
          <p:cNvSpPr/>
          <p:nvPr/>
        </p:nvSpPr>
        <p:spPr>
          <a:xfrm>
            <a:off x="4968240" y="5047488"/>
            <a:ext cx="1999488" cy="1115568"/>
          </a:xfrm>
          <a:prstGeom prst="roundRect">
            <a:avLst>
              <a:gd name="adj" fmla="val 3279"/>
            </a:avLst>
          </a:prstGeom>
          <a:solidFill>
            <a:srgbClr val="FBF2DF"/>
          </a:solidFill>
          <a:ln w="12700">
            <a:solidFill>
              <a:srgbClr val="333333"/>
            </a:solidFill>
            <a:prstDash val="solid"/>
          </a:ln>
        </p:spPr>
      </p:sp>
      <p:sp>
        <p:nvSpPr>
          <p:cNvPr id="32" name="Text 30"/>
          <p:cNvSpPr txBox="1"/>
          <p:nvPr/>
        </p:nvSpPr>
        <p:spPr>
          <a:xfrm>
            <a:off x="5187696" y="5138928"/>
            <a:ext cx="1560576" cy="402336"/>
          </a:xfrm>
          <a:prstGeom prst="rect">
            <a:avLst/>
          </a:prstGeom>
          <a:noFill/>
          <a:ln/>
        </p:spPr>
        <p:txBody>
          <a:bodyPr wrap="square" lIns="0" tIns="0" rIns="0" bIns="0" rtlCol="0" anchor="ctr"/>
          <a:lstStyle/>
          <a:p>
            <a:pPr indent="0" marL="0">
              <a:buNone/>
            </a:pPr>
            <a:r>
              <a:rPr lang="en-US" sz="2300" b="1" dirty="0">
                <a:solidFill>
                  <a:srgbClr val="A9761A"/>
                </a:solidFill>
                <a:latin typeface="Arial" pitchFamily="34" charset="0"/>
                <a:ea typeface="Arial" pitchFamily="34" charset="-122"/>
                <a:cs typeface="Arial" pitchFamily="34" charset="-120"/>
              </a:rPr>
              <a:t>1.1</a:t>
            </a:r>
            <a:endParaRPr lang="en-US" sz="2300" dirty="0"/>
          </a:p>
        </p:txBody>
      </p:sp>
      <p:sp>
        <p:nvSpPr>
          <p:cNvPr id="33" name="Text 31"/>
          <p:cNvSpPr txBox="1"/>
          <p:nvPr/>
        </p:nvSpPr>
        <p:spPr>
          <a:xfrm>
            <a:off x="5187696" y="5541264"/>
            <a:ext cx="1560576" cy="256032"/>
          </a:xfrm>
          <a:prstGeom prst="rect">
            <a:avLst/>
          </a:prstGeom>
          <a:noFill/>
          <a:ln/>
        </p:spPr>
        <p:txBody>
          <a:bodyPr wrap="square" lIns="0" tIns="0" rIns="0" bIns="0" rtlCol="0" anchor="t"/>
          <a:lstStyle/>
          <a:p>
            <a:pPr indent="0" marL="0">
              <a:buNone/>
            </a:pPr>
            <a:r>
              <a:rPr lang="en-US" sz="1450" b="1" dirty="0">
                <a:solidFill>
                  <a:srgbClr val="141821"/>
                </a:solidFill>
                <a:latin typeface="Arial" pitchFamily="34" charset="0"/>
                <a:ea typeface="Arial" pitchFamily="34" charset="-122"/>
                <a:cs typeface="Arial" pitchFamily="34" charset="-120"/>
              </a:rPr>
              <a:t>the floor</a:t>
            </a:r>
            <a:endParaRPr lang="en-US" sz="1450" dirty="0"/>
          </a:p>
        </p:txBody>
      </p:sp>
      <p:sp>
        <p:nvSpPr>
          <p:cNvPr id="34" name="Text 32"/>
          <p:cNvSpPr txBox="1"/>
          <p:nvPr/>
        </p:nvSpPr>
        <p:spPr>
          <a:xfrm>
            <a:off x="5187696" y="5815584"/>
            <a:ext cx="1560576" cy="274320"/>
          </a:xfrm>
          <a:prstGeom prst="rect">
            <a:avLst/>
          </a:prstGeom>
          <a:noFill/>
          <a:ln/>
        </p:spPr>
        <p:txBody>
          <a:bodyPr wrap="square" lIns="0" tIns="0" rIns="0" bIns="0" rtlCol="0" anchor="t"/>
          <a:lstStyle/>
          <a:p>
            <a:pPr indent="0" marL="0">
              <a:lnSpc>
                <a:spcPts val="1700"/>
              </a:lnSpc>
              <a:buNone/>
            </a:pPr>
            <a:r>
              <a:rPr lang="en-US" sz="1400" dirty="0">
                <a:solidFill>
                  <a:srgbClr val="7C8595"/>
                </a:solidFill>
                <a:latin typeface="Arial" pitchFamily="34" charset="0"/>
                <a:ea typeface="Arial" pitchFamily="34" charset="-122"/>
                <a:cs typeface="Arial" pitchFamily="34" charset="-120"/>
              </a:rPr>
              <a:t>measured only</a:t>
            </a:r>
            <a:endParaRPr lang="en-US" sz="1400" dirty="0"/>
          </a:p>
        </p:txBody>
      </p:sp>
      <p:sp>
        <p:nvSpPr>
          <p:cNvPr id="35" name="Text 33"/>
          <p:cNvSpPr txBox="1"/>
          <p:nvPr/>
        </p:nvSpPr>
        <p:spPr>
          <a:xfrm>
            <a:off x="7370064" y="2029968"/>
            <a:ext cx="4254703" cy="237744"/>
          </a:xfrm>
          <a:prstGeom prst="rect">
            <a:avLst/>
          </a:prstGeom>
          <a:noFill/>
          <a:ln/>
        </p:spPr>
        <p:txBody>
          <a:bodyPr wrap="square" lIns="0" tIns="0" rIns="0" bIns="0" rtlCol="0" anchor="ctr"/>
          <a:lstStyle/>
          <a:p>
            <a:pPr indent="0" marL="0">
              <a:buNone/>
            </a:pPr>
            <a:r>
              <a:rPr lang="en-US" sz="1400" b="1" spc="180" kern="0" dirty="0">
                <a:solidFill>
                  <a:srgbClr val="C00000"/>
                </a:solidFill>
                <a:latin typeface="Arial" pitchFamily="34" charset="0"/>
                <a:ea typeface="Arial" pitchFamily="34" charset="-122"/>
                <a:cs typeface="Arial" pitchFamily="34" charset="-120"/>
              </a:rPr>
              <a:t>OR WE COULD BUY ONE</a:t>
            </a:r>
            <a:endParaRPr lang="en-US" sz="1400" dirty="0"/>
          </a:p>
        </p:txBody>
      </p:sp>
      <p:sp>
        <p:nvSpPr>
          <p:cNvPr id="36" name="Text 34"/>
          <p:cNvSpPr txBox="1"/>
          <p:nvPr/>
        </p:nvSpPr>
        <p:spPr>
          <a:xfrm>
            <a:off x="7370064" y="2450592"/>
            <a:ext cx="4254703" cy="256032"/>
          </a:xfrm>
          <a:prstGeom prst="rect">
            <a:avLst/>
          </a:prstGeom>
          <a:noFill/>
          <a:ln/>
        </p:spPr>
        <p:txBody>
          <a:bodyPr wrap="square" lIns="0" tIns="0" rIns="0" bIns="0" rtlCol="0" anchor="t"/>
          <a:lstStyle/>
          <a:p>
            <a:pPr indent="0" marL="0">
              <a:buNone/>
            </a:pPr>
            <a:r>
              <a:rPr lang="en-US" sz="1450" dirty="0">
                <a:solidFill>
                  <a:srgbClr val="3C4350"/>
                </a:solidFill>
                <a:latin typeface="Arial" pitchFamily="34" charset="0"/>
                <a:ea typeface="Arial" pitchFamily="34" charset="-122"/>
                <a:cs typeface="Arial" pitchFamily="34" charset="-120"/>
              </a:rPr>
              <a:t>Growth, built in-house</a:t>
            </a:r>
            <a:endParaRPr lang="en-US" sz="1450" dirty="0"/>
          </a:p>
        </p:txBody>
      </p:sp>
      <p:sp>
        <p:nvSpPr>
          <p:cNvPr id="37" name="Shape 35"/>
          <p:cNvSpPr/>
          <p:nvPr/>
        </p:nvSpPr>
        <p:spPr>
          <a:xfrm>
            <a:off x="7370064" y="2743200"/>
            <a:ext cx="310896" cy="365760"/>
          </a:xfrm>
          <a:prstGeom prst="roundRect">
            <a:avLst>
              <a:gd name="adj" fmla="val 8824"/>
            </a:avLst>
          </a:prstGeom>
          <a:solidFill>
            <a:srgbClr val="C00000"/>
          </a:solidFill>
          <a:ln w="12700">
            <a:solidFill>
              <a:srgbClr val="333333"/>
            </a:solidFill>
            <a:prstDash val="solid"/>
          </a:ln>
        </p:spPr>
      </p:sp>
      <p:sp>
        <p:nvSpPr>
          <p:cNvPr id="38" name="Text 36"/>
          <p:cNvSpPr txBox="1"/>
          <p:nvPr/>
        </p:nvSpPr>
        <p:spPr>
          <a:xfrm>
            <a:off x="7808976" y="2743200"/>
            <a:ext cx="1280160" cy="365760"/>
          </a:xfrm>
          <a:prstGeom prst="rect">
            <a:avLst/>
          </a:prstGeom>
          <a:noFill/>
          <a:ln/>
        </p:spPr>
        <p:txBody>
          <a:bodyPr wrap="square" lIns="0" tIns="0" rIns="0" bIns="0" rtlCol="0" anchor="ctr"/>
          <a:lstStyle/>
          <a:p>
            <a:pPr indent="0" marL="0">
              <a:buNone/>
            </a:pPr>
            <a:r>
              <a:rPr lang="en-US" sz="1450" b="1" dirty="0">
                <a:solidFill>
                  <a:srgbClr val="141821"/>
                </a:solidFill>
                <a:latin typeface="Arial" pitchFamily="34" charset="0"/>
                <a:ea typeface="Arial" pitchFamily="34" charset="-122"/>
                <a:cs typeface="Arial" pitchFamily="34" charset="-120"/>
              </a:rPr>
              <a:t>₱2.05M</a:t>
            </a:r>
            <a:endParaRPr lang="en-US" sz="1450" dirty="0"/>
          </a:p>
        </p:txBody>
      </p:sp>
      <p:sp>
        <p:nvSpPr>
          <p:cNvPr id="39" name="Text 37"/>
          <p:cNvSpPr txBox="1"/>
          <p:nvPr/>
        </p:nvSpPr>
        <p:spPr>
          <a:xfrm>
            <a:off x="7370064" y="3383280"/>
            <a:ext cx="4254703" cy="256032"/>
          </a:xfrm>
          <a:prstGeom prst="rect">
            <a:avLst/>
          </a:prstGeom>
          <a:noFill/>
          <a:ln/>
        </p:spPr>
        <p:txBody>
          <a:bodyPr wrap="square" lIns="0" tIns="0" rIns="0" bIns="0" rtlCol="0" anchor="t"/>
          <a:lstStyle/>
          <a:p>
            <a:pPr indent="0" marL="0">
              <a:buNone/>
            </a:pPr>
            <a:r>
              <a:rPr lang="en-US" sz="1450" dirty="0">
                <a:solidFill>
                  <a:srgbClr val="3C4350"/>
                </a:solidFill>
                <a:latin typeface="Arial" pitchFamily="34" charset="0"/>
                <a:ea typeface="Arial" pitchFamily="34" charset="-122"/>
                <a:cs typeface="Arial" pitchFamily="34" charset="-120"/>
              </a:rPr>
              <a:t>Platform, low band</a:t>
            </a:r>
            <a:endParaRPr lang="en-US" sz="1450" dirty="0"/>
          </a:p>
        </p:txBody>
      </p:sp>
      <p:sp>
        <p:nvSpPr>
          <p:cNvPr id="40" name="Shape 38"/>
          <p:cNvSpPr/>
          <p:nvPr/>
        </p:nvSpPr>
        <p:spPr>
          <a:xfrm>
            <a:off x="7370064" y="3675888"/>
            <a:ext cx="1210498" cy="365760"/>
          </a:xfrm>
          <a:prstGeom prst="roundRect">
            <a:avLst>
              <a:gd name="adj" fmla="val 7500"/>
            </a:avLst>
          </a:prstGeom>
          <a:solidFill>
            <a:srgbClr val="B9B0A2"/>
          </a:solidFill>
          <a:ln w="12700">
            <a:solidFill>
              <a:srgbClr val="333333"/>
            </a:solidFill>
            <a:prstDash val="solid"/>
          </a:ln>
        </p:spPr>
      </p:sp>
      <p:sp>
        <p:nvSpPr>
          <p:cNvPr id="41" name="Text 39"/>
          <p:cNvSpPr txBox="1"/>
          <p:nvPr/>
        </p:nvSpPr>
        <p:spPr>
          <a:xfrm>
            <a:off x="8708578" y="3675888"/>
            <a:ext cx="1280160" cy="365760"/>
          </a:xfrm>
          <a:prstGeom prst="rect">
            <a:avLst/>
          </a:prstGeom>
          <a:noFill/>
          <a:ln/>
        </p:spPr>
        <p:txBody>
          <a:bodyPr wrap="square" lIns="0" tIns="0" rIns="0" bIns="0" rtlCol="0" anchor="ctr"/>
          <a:lstStyle/>
          <a:p>
            <a:pPr indent="0" marL="0">
              <a:buNone/>
            </a:pPr>
            <a:r>
              <a:rPr lang="en-US" sz="1450" b="1" dirty="0">
                <a:solidFill>
                  <a:srgbClr val="141821"/>
                </a:solidFill>
                <a:latin typeface="Arial" pitchFamily="34" charset="0"/>
                <a:ea typeface="Arial" pitchFamily="34" charset="-122"/>
                <a:cs typeface="Arial" pitchFamily="34" charset="-120"/>
              </a:rPr>
              <a:t>₱10.7M</a:t>
            </a:r>
            <a:endParaRPr lang="en-US" sz="1450" dirty="0"/>
          </a:p>
        </p:txBody>
      </p:sp>
      <p:sp>
        <p:nvSpPr>
          <p:cNvPr id="42" name="Text 40"/>
          <p:cNvSpPr txBox="1"/>
          <p:nvPr/>
        </p:nvSpPr>
        <p:spPr>
          <a:xfrm>
            <a:off x="7370064" y="4315968"/>
            <a:ext cx="4254703" cy="256032"/>
          </a:xfrm>
          <a:prstGeom prst="rect">
            <a:avLst/>
          </a:prstGeom>
          <a:noFill/>
          <a:ln/>
        </p:spPr>
        <p:txBody>
          <a:bodyPr wrap="square" lIns="0" tIns="0" rIns="0" bIns="0" rtlCol="0" anchor="t"/>
          <a:lstStyle/>
          <a:p>
            <a:pPr indent="0" marL="0">
              <a:buNone/>
            </a:pPr>
            <a:r>
              <a:rPr lang="en-US" sz="1450" dirty="0">
                <a:solidFill>
                  <a:srgbClr val="3C4350"/>
                </a:solidFill>
                <a:latin typeface="Arial" pitchFamily="34" charset="0"/>
                <a:ea typeface="Arial" pitchFamily="34" charset="-122"/>
                <a:cs typeface="Arial" pitchFamily="34" charset="-120"/>
              </a:rPr>
              <a:t>Platform, high band</a:t>
            </a:r>
            <a:endParaRPr lang="en-US" sz="1450" dirty="0"/>
          </a:p>
        </p:txBody>
      </p:sp>
      <p:sp>
        <p:nvSpPr>
          <p:cNvPr id="43" name="Shape 41"/>
          <p:cNvSpPr/>
          <p:nvPr/>
        </p:nvSpPr>
        <p:spPr>
          <a:xfrm>
            <a:off x="7370064" y="4608576"/>
            <a:ext cx="3318668" cy="365760"/>
          </a:xfrm>
          <a:prstGeom prst="roundRect">
            <a:avLst>
              <a:gd name="adj" fmla="val 7500"/>
            </a:avLst>
          </a:prstGeom>
          <a:solidFill>
            <a:srgbClr val="8E877B"/>
          </a:solidFill>
          <a:ln w="12700">
            <a:solidFill>
              <a:srgbClr val="333333"/>
            </a:solidFill>
            <a:prstDash val="solid"/>
          </a:ln>
        </p:spPr>
      </p:sp>
      <p:sp>
        <p:nvSpPr>
          <p:cNvPr id="44" name="Text 42"/>
          <p:cNvSpPr txBox="1"/>
          <p:nvPr/>
        </p:nvSpPr>
        <p:spPr>
          <a:xfrm>
            <a:off x="10816748" y="4608576"/>
            <a:ext cx="1280160" cy="365760"/>
          </a:xfrm>
          <a:prstGeom prst="rect">
            <a:avLst/>
          </a:prstGeom>
          <a:noFill/>
          <a:ln/>
        </p:spPr>
        <p:txBody>
          <a:bodyPr wrap="square" lIns="0" tIns="0" rIns="0" bIns="0" rtlCol="0" anchor="ctr"/>
          <a:lstStyle/>
          <a:p>
            <a:pPr indent="0" marL="0">
              <a:buNone/>
            </a:pPr>
            <a:r>
              <a:rPr lang="en-US" sz="1450" b="1" dirty="0">
                <a:solidFill>
                  <a:srgbClr val="141821"/>
                </a:solidFill>
                <a:latin typeface="Arial" pitchFamily="34" charset="0"/>
                <a:ea typeface="Arial" pitchFamily="34" charset="-122"/>
                <a:cs typeface="Arial" pitchFamily="34" charset="-120"/>
              </a:rPr>
              <a:t>₱29.3M</a:t>
            </a:r>
            <a:endParaRPr lang="en-US" sz="1450" dirty="0"/>
          </a:p>
        </p:txBody>
      </p:sp>
      <p:sp>
        <p:nvSpPr>
          <p:cNvPr id="45" name="Shape 43"/>
          <p:cNvSpPr/>
          <p:nvPr/>
        </p:nvSpPr>
        <p:spPr>
          <a:xfrm>
            <a:off x="7370064" y="5340096"/>
            <a:ext cx="4254703" cy="969264"/>
          </a:xfrm>
          <a:prstGeom prst="roundRect">
            <a:avLst>
              <a:gd name="adj" fmla="val 3774"/>
            </a:avLst>
          </a:prstGeom>
          <a:solidFill>
            <a:srgbClr val="F7F4EF"/>
          </a:solidFill>
          <a:ln w="12700">
            <a:solidFill>
              <a:srgbClr val="333333"/>
            </a:solidFill>
            <a:prstDash val="solid"/>
          </a:ln>
        </p:spPr>
      </p:sp>
      <p:sp>
        <p:nvSpPr>
          <p:cNvPr id="46" name="Text 44"/>
          <p:cNvSpPr txBox="1"/>
          <p:nvPr/>
        </p:nvSpPr>
        <p:spPr>
          <a:xfrm>
            <a:off x="7589520" y="5340096"/>
            <a:ext cx="3815791" cy="969264"/>
          </a:xfrm>
          <a:prstGeom prst="rect">
            <a:avLst/>
          </a:prstGeom>
          <a:noFill/>
          <a:ln/>
        </p:spPr>
        <p:txBody>
          <a:bodyPr wrap="square" lIns="0" tIns="0" rIns="0" bIns="0" rtlCol="0" anchor="ctr"/>
          <a:lstStyle/>
          <a:p>
            <a:pPr indent="0" marL="0">
              <a:lnSpc>
                <a:spcPts val="1900"/>
              </a:lnSpc>
              <a:buNone/>
            </a:pPr>
            <a:r>
              <a:rPr lang="en-US" sz="1450" b="1" dirty="0">
                <a:solidFill>
                  <a:srgbClr val="141821"/>
                </a:solidFill>
                <a:latin typeface="Arial" pitchFamily="34" charset="0"/>
                <a:ea typeface="Arial" pitchFamily="34" charset="-122"/>
                <a:cs typeface="Arial" pitchFamily="34" charset="-120"/>
              </a:rPr>
              <a:t>5× to 14× cheaper.
</a:t>
            </a:r>
            <a:pPr indent="0" marL="0">
              <a:lnSpc>
                <a:spcPts val="1900"/>
              </a:lnSpc>
              <a:buNone/>
            </a:pPr>
            <a:r>
              <a:rPr lang="en-US" sz="1450" dirty="0">
                <a:solidFill>
                  <a:srgbClr val="3C4350"/>
                </a:solidFill>
                <a:latin typeface="Arial" pitchFamily="34" charset="0"/>
                <a:ea typeface="Arial" pitchFamily="34" charset="-122"/>
                <a:cs typeface="Arial" pitchFamily="34" charset="-120"/>
              </a:rPr>
              <a:t>A vendor needs 89 extra internal fills to cover its licence. Growth needs 17.</a:t>
            </a:r>
            <a:endParaRPr lang="en-US" sz="1450" dirty="0"/>
          </a:p>
        </p:txBody>
      </p:sp>
      <p:sp>
        <p:nvSpPr>
          <p:cNvPr id="47" name="Text 45"/>
          <p:cNvSpPr txBox="1"/>
          <p:nvPr/>
        </p:nvSpPr>
        <p:spPr>
          <a:xfrm>
            <a:off x="566928" y="6345936"/>
            <a:ext cx="10417759" cy="329184"/>
          </a:xfrm>
          <a:prstGeom prst="rect">
            <a:avLst/>
          </a:prstGeom>
          <a:noFill/>
          <a:ln/>
        </p:spPr>
        <p:txBody>
          <a:bodyPr wrap="square" lIns="0" tIns="0" rIns="0" bIns="0" rtlCol="0" anchor="t"/>
          <a:lstStyle/>
          <a:p>
            <a:pPr indent="0" marL="0">
              <a:lnSpc>
                <a:spcPts val="1700"/>
              </a:lnSpc>
              <a:buNone/>
            </a:pPr>
            <a:r>
              <a:rPr lang="en-US" sz="1400" dirty="0">
                <a:solidFill>
                  <a:srgbClr val="A69E92"/>
                </a:solidFill>
                <a:latin typeface="Arial" pitchFamily="34" charset="0"/>
                <a:ea typeface="Arial" pitchFamily="34" charset="-122"/>
                <a:cs typeface="Arial" pitchFamily="34" charset="-120"/>
              </a:rPr>
              <a:t>Build costed by IT in man-hours, excluding AI. Vendor figures are RFP planning bands, not quotes. ₱61 = US$1.</a:t>
            </a:r>
            <a:endParaRPr lang="en-US" sz="1400" dirty="0"/>
          </a:p>
        </p:txBody>
      </p:sp>
      <p:sp>
        <p:nvSpPr>
          <p:cNvPr id="48" name="Text 46"/>
          <p:cNvSpPr txBox="1"/>
          <p:nvPr/>
        </p:nvSpPr>
        <p:spPr>
          <a:xfrm>
            <a:off x="11167567" y="6382512"/>
            <a:ext cx="457200" cy="256032"/>
          </a:xfrm>
          <a:prstGeom prst="rect">
            <a:avLst/>
          </a:prstGeom>
          <a:noFill/>
          <a:ln/>
        </p:spPr>
        <p:txBody>
          <a:bodyPr wrap="square" lIns="0" tIns="0" rIns="0" bIns="0" rtlCol="0" anchor="ctr"/>
          <a:lstStyle/>
          <a:p>
            <a:pPr algn="r" indent="0" marL="0">
              <a:buNone/>
            </a:pPr>
            <a:r>
              <a:rPr lang="en-US" sz="1400" dirty="0">
                <a:solidFill>
                  <a:srgbClr val="B6AFA3"/>
                </a:solidFill>
                <a:latin typeface="Arial" pitchFamily="34" charset="0"/>
                <a:ea typeface="Arial" pitchFamily="34" charset="-122"/>
                <a:cs typeface="Arial" pitchFamily="34" charset="-120"/>
              </a:rPr>
              <a:t>9</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20624"/>
            <a:ext cx="420624" cy="68580"/>
          </a:xfrm>
          <a:prstGeom prst="rect">
            <a:avLst/>
          </a:prstGeom>
          <a:solidFill>
            <a:srgbClr val="C00000"/>
          </a:solidFill>
          <a:ln w="12700">
            <a:solidFill>
              <a:srgbClr val="333333"/>
            </a:solidFill>
            <a:prstDash val="solid"/>
          </a:ln>
        </p:spPr>
      </p:sp>
      <p:sp>
        <p:nvSpPr>
          <p:cNvPr id="3" name="Text 1"/>
          <p:cNvSpPr txBox="1"/>
          <p:nvPr/>
        </p:nvSpPr>
        <p:spPr>
          <a:xfrm>
            <a:off x="1115568" y="338328"/>
            <a:ext cx="10509199" cy="237744"/>
          </a:xfrm>
          <a:prstGeom prst="rect">
            <a:avLst/>
          </a:prstGeom>
          <a:noFill/>
          <a:ln/>
        </p:spPr>
        <p:txBody>
          <a:bodyPr wrap="square" lIns="0" tIns="0" rIns="0" bIns="0" rtlCol="0" anchor="ctr"/>
          <a:lstStyle/>
          <a:p>
            <a:pPr indent="0" marL="0">
              <a:buNone/>
            </a:pPr>
            <a:r>
              <a:rPr lang="en-US" sz="1400" b="1" spc="240" kern="0" dirty="0">
                <a:solidFill>
                  <a:srgbClr val="C00000"/>
                </a:solidFill>
                <a:latin typeface="Arial" pitchFamily="34" charset="0"/>
                <a:ea typeface="Arial" pitchFamily="34" charset="-122"/>
                <a:cs typeface="Arial" pitchFamily="34" charset="-120"/>
              </a:rPr>
              <a:t>STRATEGIC FIT</a:t>
            </a:r>
            <a:endParaRPr lang="en-US" sz="1400" dirty="0"/>
          </a:p>
        </p:txBody>
      </p:sp>
      <p:sp>
        <p:nvSpPr>
          <p:cNvPr id="4" name="Text 2"/>
          <p:cNvSpPr txBox="1"/>
          <p:nvPr/>
        </p:nvSpPr>
        <p:spPr>
          <a:xfrm>
            <a:off x="566928" y="694944"/>
            <a:ext cx="11057839" cy="566928"/>
          </a:xfrm>
          <a:prstGeom prst="rect">
            <a:avLst/>
          </a:prstGeom>
          <a:noFill/>
          <a:ln/>
        </p:spPr>
        <p:txBody>
          <a:bodyPr wrap="square" lIns="0" tIns="0" rIns="0" bIns="0" rtlCol="0" anchor="t"/>
          <a:lstStyle/>
          <a:p>
            <a:pPr indent="0" marL="0">
              <a:buNone/>
            </a:pPr>
            <a:r>
              <a:rPr lang="en-US" sz="3300" b="1" dirty="0">
                <a:solidFill>
                  <a:srgbClr val="141821"/>
                </a:solidFill>
                <a:latin typeface="Arial" pitchFamily="34" charset="0"/>
                <a:ea typeface="Arial" pitchFamily="34" charset="-122"/>
                <a:cs typeface="Arial" pitchFamily="34" charset="-120"/>
              </a:rPr>
              <a:t>Four priorities we have already signed up to.</a:t>
            </a:r>
            <a:endParaRPr lang="en-US" sz="3300" dirty="0"/>
          </a:p>
        </p:txBody>
      </p:sp>
      <p:sp>
        <p:nvSpPr>
          <p:cNvPr id="5" name="Shape 3"/>
          <p:cNvSpPr/>
          <p:nvPr/>
        </p:nvSpPr>
        <p:spPr>
          <a:xfrm>
            <a:off x="566928" y="1901952"/>
            <a:ext cx="54864" cy="749808"/>
          </a:xfrm>
          <a:prstGeom prst="rect">
            <a:avLst/>
          </a:prstGeom>
          <a:solidFill>
            <a:srgbClr val="C00000"/>
          </a:solidFill>
          <a:ln w="12700">
            <a:solidFill>
              <a:srgbClr val="333333"/>
            </a:solidFill>
            <a:prstDash val="solid"/>
          </a:ln>
        </p:spPr>
      </p:sp>
      <p:sp>
        <p:nvSpPr>
          <p:cNvPr id="6" name="Text 4"/>
          <p:cNvSpPr txBox="1"/>
          <p:nvPr/>
        </p:nvSpPr>
        <p:spPr>
          <a:xfrm>
            <a:off x="822960" y="1883664"/>
            <a:ext cx="4644292" cy="786384"/>
          </a:xfrm>
          <a:prstGeom prst="rect">
            <a:avLst/>
          </a:prstGeom>
          <a:noFill/>
          <a:ln/>
        </p:spPr>
        <p:txBody>
          <a:bodyPr wrap="square" lIns="0" tIns="0" rIns="0" bIns="0" rtlCol="0" anchor="ctr"/>
          <a:lstStyle/>
          <a:p>
            <a:pPr indent="0" marL="0">
              <a:lnSpc>
                <a:spcPts val="2400"/>
              </a:lnSpc>
              <a:buNone/>
            </a:pPr>
            <a:r>
              <a:rPr lang="en-US" sz="1800" b="1" dirty="0">
                <a:solidFill>
                  <a:srgbClr val="141821"/>
                </a:solidFill>
                <a:latin typeface="Arial" pitchFamily="34" charset="0"/>
                <a:ea typeface="Arial" pitchFamily="34" charset="-122"/>
                <a:cs typeface="Arial" pitchFamily="34" charset="-120"/>
              </a:rPr>
              <a:t>Build tech and data capability from inside</a:t>
            </a:r>
            <a:endParaRPr lang="en-US" sz="1800" dirty="0"/>
          </a:p>
        </p:txBody>
      </p:sp>
      <p:sp>
        <p:nvSpPr>
          <p:cNvPr id="7" name="Text 5"/>
          <p:cNvSpPr txBox="1"/>
          <p:nvPr/>
        </p:nvSpPr>
        <p:spPr>
          <a:xfrm>
            <a:off x="5653534" y="1883664"/>
            <a:ext cx="5971233" cy="786384"/>
          </a:xfrm>
          <a:prstGeom prst="rect">
            <a:avLst/>
          </a:prstGeom>
          <a:noFill/>
          <a:ln/>
        </p:spPr>
        <p:txBody>
          <a:bodyPr wrap="square" lIns="0" tIns="0" rIns="0" bIns="0" rtlCol="0" anchor="ctr"/>
          <a:lstStyle/>
          <a:p>
            <a:pPr indent="0" marL="0">
              <a:lnSpc>
                <a:spcPts val="2100"/>
              </a:lnSpc>
              <a:buNone/>
            </a:pPr>
            <a:r>
              <a:rPr lang="en-US" sz="1500" dirty="0">
                <a:solidFill>
                  <a:srgbClr val="3C4350"/>
                </a:solidFill>
                <a:latin typeface="Arial" pitchFamily="34" charset="0"/>
                <a:ea typeface="Arial" pitchFamily="34" charset="-122"/>
                <a:cs typeface="Arial" pitchFamily="34" charset="-120"/>
              </a:rPr>
              <a:t>Gigs and immersions let Operations, Risk and HR people do real IT and analytics work before we pay a headhunter for it.</a:t>
            </a:r>
            <a:endParaRPr lang="en-US" sz="1500" dirty="0"/>
          </a:p>
        </p:txBody>
      </p:sp>
      <p:sp>
        <p:nvSpPr>
          <p:cNvPr id="8" name="Shape 6"/>
          <p:cNvSpPr/>
          <p:nvPr/>
        </p:nvSpPr>
        <p:spPr>
          <a:xfrm>
            <a:off x="566928" y="2743200"/>
            <a:ext cx="11057839" cy="0"/>
          </a:xfrm>
          <a:prstGeom prst="line">
            <a:avLst/>
          </a:prstGeom>
          <a:noFill/>
          <a:ln w="12700">
            <a:solidFill>
              <a:srgbClr val="E4DFD6"/>
            </a:solidFill>
            <a:prstDash val="solid"/>
          </a:ln>
        </p:spPr>
      </p:sp>
      <p:sp>
        <p:nvSpPr>
          <p:cNvPr id="9" name="Shape 7"/>
          <p:cNvSpPr/>
          <p:nvPr/>
        </p:nvSpPr>
        <p:spPr>
          <a:xfrm>
            <a:off x="566928" y="2871216"/>
            <a:ext cx="54864" cy="749808"/>
          </a:xfrm>
          <a:prstGeom prst="rect">
            <a:avLst/>
          </a:prstGeom>
          <a:solidFill>
            <a:srgbClr val="A9761A"/>
          </a:solidFill>
          <a:ln w="12700">
            <a:solidFill>
              <a:srgbClr val="333333"/>
            </a:solidFill>
            <a:prstDash val="solid"/>
          </a:ln>
        </p:spPr>
      </p:sp>
      <p:sp>
        <p:nvSpPr>
          <p:cNvPr id="10" name="Text 8"/>
          <p:cNvSpPr txBox="1"/>
          <p:nvPr/>
        </p:nvSpPr>
        <p:spPr>
          <a:xfrm>
            <a:off x="822960" y="2852928"/>
            <a:ext cx="4644292" cy="786384"/>
          </a:xfrm>
          <a:prstGeom prst="rect">
            <a:avLst/>
          </a:prstGeom>
          <a:noFill/>
          <a:ln/>
        </p:spPr>
        <p:txBody>
          <a:bodyPr wrap="square" lIns="0" tIns="0" rIns="0" bIns="0" rtlCol="0" anchor="ctr"/>
          <a:lstStyle/>
          <a:p>
            <a:pPr indent="0" marL="0">
              <a:lnSpc>
                <a:spcPts val="2400"/>
              </a:lnSpc>
              <a:buNone/>
            </a:pPr>
            <a:r>
              <a:rPr lang="en-US" sz="1800" b="1" dirty="0">
                <a:solidFill>
                  <a:srgbClr val="141821"/>
                </a:solidFill>
                <a:latin typeface="Arial" pitchFamily="34" charset="0"/>
                <a:ea typeface="Arial" pitchFamily="34" charset="-122"/>
                <a:cs typeface="Arial" pitchFamily="34" charset="-120"/>
              </a:rPr>
              <a:t>Retain the people we already trained</a:t>
            </a:r>
            <a:endParaRPr lang="en-US" sz="1800" dirty="0"/>
          </a:p>
        </p:txBody>
      </p:sp>
      <p:sp>
        <p:nvSpPr>
          <p:cNvPr id="11" name="Text 9"/>
          <p:cNvSpPr txBox="1"/>
          <p:nvPr/>
        </p:nvSpPr>
        <p:spPr>
          <a:xfrm>
            <a:off x="5653534" y="2852928"/>
            <a:ext cx="5971233" cy="786384"/>
          </a:xfrm>
          <a:prstGeom prst="rect">
            <a:avLst/>
          </a:prstGeom>
          <a:noFill/>
          <a:ln/>
        </p:spPr>
        <p:txBody>
          <a:bodyPr wrap="square" lIns="0" tIns="0" rIns="0" bIns="0" rtlCol="0" anchor="ctr"/>
          <a:lstStyle/>
          <a:p>
            <a:pPr indent="0" marL="0">
              <a:lnSpc>
                <a:spcPts val="2100"/>
              </a:lnSpc>
              <a:buNone/>
            </a:pPr>
            <a:r>
              <a:rPr lang="en-US" sz="1500" dirty="0">
                <a:solidFill>
                  <a:srgbClr val="3C4350"/>
                </a:solidFill>
                <a:latin typeface="Arial" pitchFamily="34" charset="0"/>
                <a:ea typeface="Arial" pitchFamily="34" charset="-122"/>
                <a:cs typeface="Arial" pitchFamily="34" charset="-120"/>
              </a:rPr>
              <a:t>Career opportunity is the top controllable reason people leave. This is the mechanism that answers it.</a:t>
            </a:r>
            <a:endParaRPr lang="en-US" sz="1500" dirty="0"/>
          </a:p>
        </p:txBody>
      </p:sp>
      <p:sp>
        <p:nvSpPr>
          <p:cNvPr id="12" name="Shape 10"/>
          <p:cNvSpPr/>
          <p:nvPr/>
        </p:nvSpPr>
        <p:spPr>
          <a:xfrm>
            <a:off x="566928" y="3712464"/>
            <a:ext cx="11057839" cy="0"/>
          </a:xfrm>
          <a:prstGeom prst="line">
            <a:avLst/>
          </a:prstGeom>
          <a:noFill/>
          <a:ln w="12700">
            <a:solidFill>
              <a:srgbClr val="E4DFD6"/>
            </a:solidFill>
            <a:prstDash val="solid"/>
          </a:ln>
        </p:spPr>
      </p:sp>
      <p:sp>
        <p:nvSpPr>
          <p:cNvPr id="13" name="Shape 11"/>
          <p:cNvSpPr/>
          <p:nvPr/>
        </p:nvSpPr>
        <p:spPr>
          <a:xfrm>
            <a:off x="566928" y="3840480"/>
            <a:ext cx="54864" cy="749808"/>
          </a:xfrm>
          <a:prstGeom prst="rect">
            <a:avLst/>
          </a:prstGeom>
          <a:solidFill>
            <a:srgbClr val="0E7C66"/>
          </a:solidFill>
          <a:ln w="12700">
            <a:solidFill>
              <a:srgbClr val="333333"/>
            </a:solidFill>
            <a:prstDash val="solid"/>
          </a:ln>
        </p:spPr>
      </p:sp>
      <p:sp>
        <p:nvSpPr>
          <p:cNvPr id="14" name="Text 12"/>
          <p:cNvSpPr txBox="1"/>
          <p:nvPr/>
        </p:nvSpPr>
        <p:spPr>
          <a:xfrm>
            <a:off x="822960" y="3822192"/>
            <a:ext cx="4644292" cy="786384"/>
          </a:xfrm>
          <a:prstGeom prst="rect">
            <a:avLst/>
          </a:prstGeom>
          <a:noFill/>
          <a:ln/>
        </p:spPr>
        <p:txBody>
          <a:bodyPr wrap="square" lIns="0" tIns="0" rIns="0" bIns="0" rtlCol="0" anchor="ctr"/>
          <a:lstStyle/>
          <a:p>
            <a:pPr indent="0" marL="0">
              <a:lnSpc>
                <a:spcPts val="2400"/>
              </a:lnSpc>
              <a:buNone/>
            </a:pPr>
            <a:r>
              <a:rPr lang="en-US" sz="1800" b="1" dirty="0">
                <a:solidFill>
                  <a:srgbClr val="141821"/>
                </a:solidFill>
                <a:latin typeface="Arial" pitchFamily="34" charset="0"/>
                <a:ea typeface="Arial" pitchFamily="34" charset="-122"/>
                <a:cs typeface="Arial" pitchFamily="34" charset="-120"/>
              </a:rPr>
              <a:t>Staff priority work without new headcount</a:t>
            </a:r>
            <a:endParaRPr lang="en-US" sz="1800" dirty="0"/>
          </a:p>
        </p:txBody>
      </p:sp>
      <p:sp>
        <p:nvSpPr>
          <p:cNvPr id="15" name="Text 13"/>
          <p:cNvSpPr txBox="1"/>
          <p:nvPr/>
        </p:nvSpPr>
        <p:spPr>
          <a:xfrm>
            <a:off x="5653534" y="3822192"/>
            <a:ext cx="5971233" cy="786384"/>
          </a:xfrm>
          <a:prstGeom prst="rect">
            <a:avLst/>
          </a:prstGeom>
          <a:noFill/>
          <a:ln/>
        </p:spPr>
        <p:txBody>
          <a:bodyPr wrap="square" lIns="0" tIns="0" rIns="0" bIns="0" rtlCol="0" anchor="ctr"/>
          <a:lstStyle/>
          <a:p>
            <a:pPr indent="0" marL="0">
              <a:lnSpc>
                <a:spcPts val="2100"/>
              </a:lnSpc>
              <a:buNone/>
            </a:pPr>
            <a:r>
              <a:rPr lang="en-US" sz="1500" dirty="0">
                <a:solidFill>
                  <a:srgbClr val="3C4350"/>
                </a:solidFill>
                <a:latin typeface="Arial" pitchFamily="34" charset="0"/>
                <a:ea typeface="Arial" pitchFamily="34" charset="-122"/>
                <a:cs typeface="Arial" pitchFamily="34" charset="-120"/>
              </a:rPr>
              <a:t>ExCo initiatives get staffed by contractors today because we cannot see who inside could do the work.</a:t>
            </a:r>
            <a:endParaRPr lang="en-US" sz="1500" dirty="0"/>
          </a:p>
        </p:txBody>
      </p:sp>
      <p:sp>
        <p:nvSpPr>
          <p:cNvPr id="16" name="Shape 14"/>
          <p:cNvSpPr/>
          <p:nvPr/>
        </p:nvSpPr>
        <p:spPr>
          <a:xfrm>
            <a:off x="566928" y="4681728"/>
            <a:ext cx="11057839" cy="0"/>
          </a:xfrm>
          <a:prstGeom prst="line">
            <a:avLst/>
          </a:prstGeom>
          <a:noFill/>
          <a:ln w="12700">
            <a:solidFill>
              <a:srgbClr val="E4DFD6"/>
            </a:solidFill>
            <a:prstDash val="solid"/>
          </a:ln>
        </p:spPr>
      </p:sp>
      <p:sp>
        <p:nvSpPr>
          <p:cNvPr id="17" name="Shape 15"/>
          <p:cNvSpPr/>
          <p:nvPr/>
        </p:nvSpPr>
        <p:spPr>
          <a:xfrm>
            <a:off x="566928" y="4809744"/>
            <a:ext cx="54864" cy="749808"/>
          </a:xfrm>
          <a:prstGeom prst="rect">
            <a:avLst/>
          </a:prstGeom>
          <a:solidFill>
            <a:srgbClr val="4A5468"/>
          </a:solidFill>
          <a:ln w="12700">
            <a:solidFill>
              <a:srgbClr val="333333"/>
            </a:solidFill>
            <a:prstDash val="solid"/>
          </a:ln>
        </p:spPr>
      </p:sp>
      <p:sp>
        <p:nvSpPr>
          <p:cNvPr id="18" name="Text 16"/>
          <p:cNvSpPr txBox="1"/>
          <p:nvPr/>
        </p:nvSpPr>
        <p:spPr>
          <a:xfrm>
            <a:off x="822960" y="4791456"/>
            <a:ext cx="4644292" cy="786384"/>
          </a:xfrm>
          <a:prstGeom prst="rect">
            <a:avLst/>
          </a:prstGeom>
          <a:noFill/>
          <a:ln/>
        </p:spPr>
        <p:txBody>
          <a:bodyPr wrap="square" lIns="0" tIns="0" rIns="0" bIns="0" rtlCol="0" anchor="ctr"/>
          <a:lstStyle/>
          <a:p>
            <a:pPr indent="0" marL="0">
              <a:lnSpc>
                <a:spcPts val="2400"/>
              </a:lnSpc>
              <a:buNone/>
            </a:pPr>
            <a:r>
              <a:rPr lang="en-US" sz="1800" b="1" dirty="0">
                <a:solidFill>
                  <a:srgbClr val="141821"/>
                </a:solidFill>
                <a:latin typeface="Arial" pitchFamily="34" charset="0"/>
                <a:ea typeface="Arial" pitchFamily="34" charset="-122"/>
                <a:cs typeface="Arial" pitchFamily="34" charset="-120"/>
              </a:rPr>
              <a:t>Workforce planning on data</a:t>
            </a:r>
            <a:endParaRPr lang="en-US" sz="1800" dirty="0"/>
          </a:p>
        </p:txBody>
      </p:sp>
      <p:sp>
        <p:nvSpPr>
          <p:cNvPr id="19" name="Text 17"/>
          <p:cNvSpPr txBox="1"/>
          <p:nvPr/>
        </p:nvSpPr>
        <p:spPr>
          <a:xfrm>
            <a:off x="5653534" y="4791456"/>
            <a:ext cx="5971233" cy="786384"/>
          </a:xfrm>
          <a:prstGeom prst="rect">
            <a:avLst/>
          </a:prstGeom>
          <a:noFill/>
          <a:ln/>
        </p:spPr>
        <p:txBody>
          <a:bodyPr wrap="square" lIns="0" tIns="0" rIns="0" bIns="0" rtlCol="0" anchor="ctr"/>
          <a:lstStyle/>
          <a:p>
            <a:pPr indent="0" marL="0">
              <a:lnSpc>
                <a:spcPts val="2100"/>
              </a:lnSpc>
              <a:buNone/>
            </a:pPr>
            <a:r>
              <a:rPr lang="en-US" sz="1500" dirty="0">
                <a:solidFill>
                  <a:srgbClr val="3C4350"/>
                </a:solidFill>
                <a:latin typeface="Arial" pitchFamily="34" charset="0"/>
                <a:ea typeface="Arial" pitchFamily="34" charset="-122"/>
                <a:cs typeface="Arial" pitchFamily="34" charset="-120"/>
              </a:rPr>
              <a:t>A live, verified skills inventory is the asset. The marketplace is how we get people to maintain it.</a:t>
            </a:r>
            <a:endParaRPr lang="en-US" sz="1500" dirty="0"/>
          </a:p>
        </p:txBody>
      </p:sp>
      <p:sp>
        <p:nvSpPr>
          <p:cNvPr id="20" name="Shape 18"/>
          <p:cNvSpPr/>
          <p:nvPr/>
        </p:nvSpPr>
        <p:spPr>
          <a:xfrm>
            <a:off x="566928" y="5687568"/>
            <a:ext cx="11057839" cy="603504"/>
          </a:xfrm>
          <a:prstGeom prst="roundRect">
            <a:avLst>
              <a:gd name="adj" fmla="val 6061"/>
            </a:avLst>
          </a:prstGeom>
          <a:solidFill>
            <a:srgbClr val="F7F4EF"/>
          </a:solidFill>
          <a:ln w="12700">
            <a:solidFill>
              <a:srgbClr val="333333"/>
            </a:solidFill>
            <a:prstDash val="solid"/>
          </a:ln>
        </p:spPr>
      </p:sp>
      <p:sp>
        <p:nvSpPr>
          <p:cNvPr id="21" name="Text 19"/>
          <p:cNvSpPr txBox="1"/>
          <p:nvPr/>
        </p:nvSpPr>
        <p:spPr>
          <a:xfrm>
            <a:off x="877824" y="5687568"/>
            <a:ext cx="10436047" cy="603504"/>
          </a:xfrm>
          <a:prstGeom prst="rect">
            <a:avLst/>
          </a:prstGeom>
          <a:noFill/>
          <a:ln/>
        </p:spPr>
        <p:txBody>
          <a:bodyPr wrap="square" lIns="0" tIns="0" rIns="0" bIns="0" rtlCol="0" anchor="ctr"/>
          <a:lstStyle/>
          <a:p>
            <a:pPr indent="0" marL="0">
              <a:lnSpc>
                <a:spcPts val="2000"/>
              </a:lnSpc>
              <a:buNone/>
            </a:pPr>
            <a:r>
              <a:rPr lang="en-US" sz="1500" b="1" dirty="0">
                <a:solidFill>
                  <a:srgbClr val="C00000"/>
                </a:solidFill>
                <a:latin typeface="Arial" pitchFamily="34" charset="0"/>
                <a:ea typeface="Arial" pitchFamily="34" charset="-122"/>
                <a:cs typeface="Arial" pitchFamily="34" charset="-120"/>
              </a:rPr>
              <a:t>The asset is not the app. </a:t>
            </a:r>
            <a:pPr indent="0" marL="0">
              <a:lnSpc>
                <a:spcPts val="2000"/>
              </a:lnSpc>
              <a:buNone/>
            </a:pPr>
            <a:r>
              <a:rPr lang="en-US" sz="1500" dirty="0">
                <a:solidFill>
                  <a:srgbClr val="3C4350"/>
                </a:solidFill>
                <a:latin typeface="Arial" pitchFamily="34" charset="0"/>
                <a:ea typeface="Arial" pitchFamily="34" charset="-122"/>
                <a:cs typeface="Arial" pitchFamily="34" charset="-120"/>
              </a:rPr>
              <a:t>It is the first live, verified skills inventory Home Credit Philippines has ever had — and it keeps itself current because people update it to get matched.</a:t>
            </a:r>
            <a:endParaRPr lang="en-US" sz="1500" dirty="0"/>
          </a:p>
        </p:txBody>
      </p:sp>
      <p:sp>
        <p:nvSpPr>
          <p:cNvPr id="22" name="Text 20"/>
          <p:cNvSpPr txBox="1"/>
          <p:nvPr/>
        </p:nvSpPr>
        <p:spPr>
          <a:xfrm>
            <a:off x="566928" y="6345936"/>
            <a:ext cx="10417759" cy="329184"/>
          </a:xfrm>
          <a:prstGeom prst="rect">
            <a:avLst/>
          </a:prstGeom>
          <a:noFill/>
          <a:ln/>
        </p:spPr>
        <p:txBody>
          <a:bodyPr wrap="square" lIns="0" tIns="0" rIns="0" bIns="0" rtlCol="0" anchor="t"/>
          <a:lstStyle/>
          <a:p>
            <a:pPr indent="0" marL="0">
              <a:lnSpc>
                <a:spcPts val="1700"/>
              </a:lnSpc>
              <a:buNone/>
            </a:pPr>
            <a:r>
              <a:rPr lang="en-US" sz="1400" dirty="0">
                <a:solidFill>
                  <a:srgbClr val="A69E92"/>
                </a:solidFill>
                <a:latin typeface="Arial" pitchFamily="34" charset="0"/>
                <a:ea typeface="Arial" pitchFamily="34" charset="-122"/>
                <a:cs typeface="Arial" pitchFamily="34" charset="-120"/>
              </a:rPr>
              <a:t>Mapped to HCPH Strategic Priorities '27–'29 (draft), HR Strategic Priorities and the OneHR Operating Model.</a:t>
            </a:r>
            <a:endParaRPr lang="en-US" sz="1400" dirty="0"/>
          </a:p>
        </p:txBody>
      </p:sp>
      <p:sp>
        <p:nvSpPr>
          <p:cNvPr id="23" name="Text 21"/>
          <p:cNvSpPr txBox="1"/>
          <p:nvPr/>
        </p:nvSpPr>
        <p:spPr>
          <a:xfrm>
            <a:off x="11167567" y="6382512"/>
            <a:ext cx="457200" cy="256032"/>
          </a:xfrm>
          <a:prstGeom prst="rect">
            <a:avLst/>
          </a:prstGeom>
          <a:noFill/>
          <a:ln/>
        </p:spPr>
        <p:txBody>
          <a:bodyPr wrap="square" lIns="0" tIns="0" rIns="0" bIns="0" rtlCol="0" anchor="ctr"/>
          <a:lstStyle/>
          <a:p>
            <a:pPr algn="r" indent="0" marL="0">
              <a:buNone/>
            </a:pPr>
            <a:r>
              <a:rPr lang="en-US" sz="1400" dirty="0">
                <a:solidFill>
                  <a:srgbClr val="B6AFA3"/>
                </a:solidFill>
                <a:latin typeface="Arial" pitchFamily="34" charset="0"/>
                <a:ea typeface="Arial" pitchFamily="34" charset="-122"/>
                <a:cs typeface="Arial" pitchFamily="34" charset="-120"/>
              </a:rPr>
              <a:t>10</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20624"/>
            <a:ext cx="420624" cy="68580"/>
          </a:xfrm>
          <a:prstGeom prst="rect">
            <a:avLst/>
          </a:prstGeom>
          <a:solidFill>
            <a:srgbClr val="C00000"/>
          </a:solidFill>
          <a:ln w="12700">
            <a:solidFill>
              <a:srgbClr val="333333"/>
            </a:solidFill>
            <a:prstDash val="solid"/>
          </a:ln>
        </p:spPr>
      </p:sp>
      <p:sp>
        <p:nvSpPr>
          <p:cNvPr id="3" name="Text 1"/>
          <p:cNvSpPr txBox="1"/>
          <p:nvPr/>
        </p:nvSpPr>
        <p:spPr>
          <a:xfrm>
            <a:off x="1115568" y="338328"/>
            <a:ext cx="10509199" cy="237744"/>
          </a:xfrm>
          <a:prstGeom prst="rect">
            <a:avLst/>
          </a:prstGeom>
          <a:noFill/>
          <a:ln/>
        </p:spPr>
        <p:txBody>
          <a:bodyPr wrap="square" lIns="0" tIns="0" rIns="0" bIns="0" rtlCol="0" anchor="ctr"/>
          <a:lstStyle/>
          <a:p>
            <a:pPr indent="0" marL="0">
              <a:buNone/>
            </a:pPr>
            <a:r>
              <a:rPr lang="en-US" sz="1400" b="1" spc="240" kern="0" dirty="0">
                <a:solidFill>
                  <a:srgbClr val="C00000"/>
                </a:solidFill>
                <a:latin typeface="Arial" pitchFamily="34" charset="0"/>
                <a:ea typeface="Arial" pitchFamily="34" charset="-122"/>
                <a:cs typeface="Arial" pitchFamily="34" charset="-120"/>
              </a:rPr>
              <a:t>ADOPTION</a:t>
            </a:r>
            <a:endParaRPr lang="en-US" sz="1400" dirty="0"/>
          </a:p>
        </p:txBody>
      </p:sp>
      <p:sp>
        <p:nvSpPr>
          <p:cNvPr id="4" name="Text 2"/>
          <p:cNvSpPr txBox="1"/>
          <p:nvPr/>
        </p:nvSpPr>
        <p:spPr>
          <a:xfrm>
            <a:off x="566928" y="694944"/>
            <a:ext cx="11057839" cy="566928"/>
          </a:xfrm>
          <a:prstGeom prst="rect">
            <a:avLst/>
          </a:prstGeom>
          <a:noFill/>
          <a:ln/>
        </p:spPr>
        <p:txBody>
          <a:bodyPr wrap="square" lIns="0" tIns="0" rIns="0" bIns="0" rtlCol="0" anchor="t"/>
          <a:lstStyle/>
          <a:p>
            <a:pPr indent="0" marL="0">
              <a:buNone/>
            </a:pPr>
            <a:r>
              <a:rPr lang="en-US" sz="3300" b="1" dirty="0">
                <a:solidFill>
                  <a:srgbClr val="141821"/>
                </a:solidFill>
                <a:latin typeface="Arial" pitchFamily="34" charset="0"/>
                <a:ea typeface="Arial" pitchFamily="34" charset="-122"/>
                <a:cs typeface="Arial" pitchFamily="34" charset="-120"/>
              </a:rPr>
              <a:t>An empty marketplace dies in week one.</a:t>
            </a:r>
            <a:endParaRPr lang="en-US" sz="3300" dirty="0"/>
          </a:p>
        </p:txBody>
      </p:sp>
      <p:sp>
        <p:nvSpPr>
          <p:cNvPr id="5" name="Text 3"/>
          <p:cNvSpPr txBox="1"/>
          <p:nvPr/>
        </p:nvSpPr>
        <p:spPr>
          <a:xfrm>
            <a:off x="566928" y="1298448"/>
            <a:ext cx="9509742" cy="310896"/>
          </a:xfrm>
          <a:prstGeom prst="rect">
            <a:avLst/>
          </a:prstGeom>
          <a:noFill/>
          <a:ln/>
        </p:spPr>
        <p:txBody>
          <a:bodyPr wrap="square" lIns="0" tIns="0" rIns="0" bIns="0" rtlCol="0" anchor="t"/>
          <a:lstStyle/>
          <a:p>
            <a:pPr indent="0" marL="0">
              <a:buNone/>
            </a:pPr>
            <a:r>
              <a:rPr lang="en-US" sz="1600" dirty="0">
                <a:solidFill>
                  <a:srgbClr val="7C8595"/>
                </a:solidFill>
                <a:latin typeface="Arial" pitchFamily="34" charset="0"/>
                <a:ea typeface="Arial" pitchFamily="34" charset="-122"/>
                <a:cs typeface="Arial" pitchFamily="34" charset="-120"/>
              </a:rPr>
              <a:t>So we do not launch an empty one. Stock the shelves and seed the profiles before anyone is invited in.</a:t>
            </a:r>
            <a:endParaRPr lang="en-US" sz="1600" dirty="0"/>
          </a:p>
        </p:txBody>
      </p:sp>
      <p:sp>
        <p:nvSpPr>
          <p:cNvPr id="6" name="Text 4"/>
          <p:cNvSpPr txBox="1"/>
          <p:nvPr/>
        </p:nvSpPr>
        <p:spPr>
          <a:xfrm>
            <a:off x="566928" y="2103120"/>
            <a:ext cx="5373472" cy="237744"/>
          </a:xfrm>
          <a:prstGeom prst="rect">
            <a:avLst/>
          </a:prstGeom>
          <a:noFill/>
          <a:ln/>
        </p:spPr>
        <p:txBody>
          <a:bodyPr wrap="square" lIns="0" tIns="0" rIns="0" bIns="0" rtlCol="0" anchor="ctr"/>
          <a:lstStyle/>
          <a:p>
            <a:pPr indent="0" marL="0">
              <a:buNone/>
            </a:pPr>
            <a:r>
              <a:rPr lang="en-US" sz="1400" b="1" spc="180" kern="0" dirty="0">
                <a:solidFill>
                  <a:srgbClr val="C00000"/>
                </a:solidFill>
                <a:latin typeface="Arial" pitchFamily="34" charset="0"/>
                <a:ea typeface="Arial" pitchFamily="34" charset="-122"/>
                <a:cs typeface="Arial" pitchFamily="34" charset="-120"/>
              </a:rPr>
              <a:t>BEFORE LAUNCH — 90 DAYS</a:t>
            </a:r>
            <a:endParaRPr lang="en-US" sz="1400" dirty="0"/>
          </a:p>
        </p:txBody>
      </p:sp>
      <p:sp>
        <p:nvSpPr>
          <p:cNvPr id="7" name="Shape 5"/>
          <p:cNvSpPr/>
          <p:nvPr/>
        </p:nvSpPr>
        <p:spPr>
          <a:xfrm>
            <a:off x="566928" y="2505456"/>
            <a:ext cx="365760" cy="365760"/>
          </a:xfrm>
          <a:prstGeom prst="ellipse">
            <a:avLst/>
          </a:prstGeom>
          <a:solidFill>
            <a:srgbClr val="C00000"/>
          </a:solidFill>
          <a:ln w="12700">
            <a:solidFill>
              <a:srgbClr val="333333"/>
            </a:solidFill>
            <a:prstDash val="solid"/>
          </a:ln>
        </p:spPr>
      </p:sp>
      <p:sp>
        <p:nvSpPr>
          <p:cNvPr id="8" name="Text 6"/>
          <p:cNvSpPr txBox="1"/>
          <p:nvPr/>
        </p:nvSpPr>
        <p:spPr>
          <a:xfrm>
            <a:off x="566928" y="2505456"/>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9" name="Text 7"/>
          <p:cNvSpPr txBox="1"/>
          <p:nvPr/>
        </p:nvSpPr>
        <p:spPr>
          <a:xfrm>
            <a:off x="1097280" y="2487168"/>
            <a:ext cx="4843120" cy="310896"/>
          </a:xfrm>
          <a:prstGeom prst="rect">
            <a:avLst/>
          </a:prstGeom>
          <a:noFill/>
          <a:ln/>
        </p:spPr>
        <p:txBody>
          <a:bodyPr wrap="square" lIns="0" tIns="0" rIns="0" bIns="0" rtlCol="0" anchor="t"/>
          <a:lstStyle/>
          <a:p>
            <a:pPr indent="0" marL="0">
              <a:buNone/>
            </a:pPr>
            <a:r>
              <a:rPr lang="en-US" sz="1700" b="1" dirty="0">
                <a:solidFill>
                  <a:srgbClr val="141821"/>
                </a:solidFill>
                <a:latin typeface="Arial" pitchFamily="34" charset="0"/>
                <a:ea typeface="Arial" pitchFamily="34" charset="-122"/>
                <a:cs typeface="Arial" pitchFamily="34" charset="-120"/>
              </a:rPr>
              <a:t>Seed the shelves</a:t>
            </a:r>
            <a:endParaRPr lang="en-US" sz="1700" dirty="0"/>
          </a:p>
        </p:txBody>
      </p:sp>
      <p:sp>
        <p:nvSpPr>
          <p:cNvPr id="10" name="Text 8"/>
          <p:cNvSpPr txBox="1"/>
          <p:nvPr/>
        </p:nvSpPr>
        <p:spPr>
          <a:xfrm>
            <a:off x="1097280" y="2816352"/>
            <a:ext cx="4806544" cy="603504"/>
          </a:xfrm>
          <a:prstGeom prst="rect">
            <a:avLst/>
          </a:prstGeom>
          <a:noFill/>
          <a:ln/>
        </p:spPr>
        <p:txBody>
          <a:bodyPr wrap="square" lIns="0" tIns="0" rIns="0" bIns="0" rtlCol="0" anchor="t"/>
          <a:lstStyle/>
          <a:p>
            <a:pPr indent="0" marL="0">
              <a:lnSpc>
                <a:spcPts val="2000"/>
              </a:lnSpc>
              <a:buNone/>
            </a:pPr>
            <a:r>
              <a:rPr lang="en-US" sz="1500" dirty="0">
                <a:solidFill>
                  <a:srgbClr val="3C4350"/>
                </a:solidFill>
                <a:latin typeface="Arial" pitchFamily="34" charset="0"/>
                <a:ea typeface="Arial" pitchFamily="34" charset="-122"/>
                <a:cs typeface="Arial" pitchFamily="34" charset="-120"/>
              </a:rPr>
              <a:t>25 opportunities live before anyone is invited in, each committed by a named manager.</a:t>
            </a:r>
            <a:endParaRPr lang="en-US" sz="1500" dirty="0"/>
          </a:p>
        </p:txBody>
      </p:sp>
      <p:sp>
        <p:nvSpPr>
          <p:cNvPr id="11" name="Shape 9"/>
          <p:cNvSpPr/>
          <p:nvPr/>
        </p:nvSpPr>
        <p:spPr>
          <a:xfrm>
            <a:off x="566928" y="3657600"/>
            <a:ext cx="365760" cy="365760"/>
          </a:xfrm>
          <a:prstGeom prst="ellipse">
            <a:avLst/>
          </a:prstGeom>
          <a:solidFill>
            <a:srgbClr val="C00000"/>
          </a:solidFill>
          <a:ln w="12700">
            <a:solidFill>
              <a:srgbClr val="333333"/>
            </a:solidFill>
            <a:prstDash val="solid"/>
          </a:ln>
        </p:spPr>
      </p:sp>
      <p:sp>
        <p:nvSpPr>
          <p:cNvPr id="12" name="Text 10"/>
          <p:cNvSpPr txBox="1"/>
          <p:nvPr/>
        </p:nvSpPr>
        <p:spPr>
          <a:xfrm>
            <a:off x="566928" y="3657600"/>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3" name="Text 11"/>
          <p:cNvSpPr txBox="1"/>
          <p:nvPr/>
        </p:nvSpPr>
        <p:spPr>
          <a:xfrm>
            <a:off x="1097280" y="3639312"/>
            <a:ext cx="4843120" cy="310896"/>
          </a:xfrm>
          <a:prstGeom prst="rect">
            <a:avLst/>
          </a:prstGeom>
          <a:noFill/>
          <a:ln/>
        </p:spPr>
        <p:txBody>
          <a:bodyPr wrap="square" lIns="0" tIns="0" rIns="0" bIns="0" rtlCol="0" anchor="t"/>
          <a:lstStyle/>
          <a:p>
            <a:pPr indent="0" marL="0">
              <a:buNone/>
            </a:pPr>
            <a:r>
              <a:rPr lang="en-US" sz="1700" b="1" dirty="0">
                <a:solidFill>
                  <a:srgbClr val="141821"/>
                </a:solidFill>
                <a:latin typeface="Arial" pitchFamily="34" charset="0"/>
                <a:ea typeface="Arial" pitchFamily="34" charset="-122"/>
                <a:cs typeface="Arial" pitchFamily="34" charset="-120"/>
              </a:rPr>
              <a:t>Seed the skills</a:t>
            </a:r>
            <a:endParaRPr lang="en-US" sz="1700" dirty="0"/>
          </a:p>
        </p:txBody>
      </p:sp>
      <p:sp>
        <p:nvSpPr>
          <p:cNvPr id="14" name="Text 12"/>
          <p:cNvSpPr txBox="1"/>
          <p:nvPr/>
        </p:nvSpPr>
        <p:spPr>
          <a:xfrm>
            <a:off x="1097280" y="3968496"/>
            <a:ext cx="4806544" cy="603504"/>
          </a:xfrm>
          <a:prstGeom prst="rect">
            <a:avLst/>
          </a:prstGeom>
          <a:noFill/>
          <a:ln/>
        </p:spPr>
        <p:txBody>
          <a:bodyPr wrap="square" lIns="0" tIns="0" rIns="0" bIns="0" rtlCol="0" anchor="t"/>
          <a:lstStyle/>
          <a:p>
            <a:pPr indent="0" marL="0">
              <a:lnSpc>
                <a:spcPts val="2000"/>
              </a:lnSpc>
              <a:buNone/>
            </a:pPr>
            <a:r>
              <a:rPr lang="en-US" sz="1500" dirty="0">
                <a:solidFill>
                  <a:srgbClr val="3C4350"/>
                </a:solidFill>
                <a:latin typeface="Arial" pitchFamily="34" charset="0"/>
                <a:ea typeface="Arial" pitchFamily="34" charset="-122"/>
                <a:cs typeface="Arial" pitchFamily="34" charset="-120"/>
              </a:rPr>
              <a:t>Pre-filled from MyDevelopment and LinkedIn. People correct a draft, not fill a blank page.</a:t>
            </a:r>
            <a:endParaRPr lang="en-US" sz="1500" dirty="0"/>
          </a:p>
        </p:txBody>
      </p:sp>
      <p:sp>
        <p:nvSpPr>
          <p:cNvPr id="15" name="Shape 13"/>
          <p:cNvSpPr/>
          <p:nvPr/>
        </p:nvSpPr>
        <p:spPr>
          <a:xfrm>
            <a:off x="566928" y="4809744"/>
            <a:ext cx="365760" cy="365760"/>
          </a:xfrm>
          <a:prstGeom prst="ellipse">
            <a:avLst/>
          </a:prstGeom>
          <a:solidFill>
            <a:srgbClr val="C00000"/>
          </a:solidFill>
          <a:ln w="12700">
            <a:solidFill>
              <a:srgbClr val="333333"/>
            </a:solidFill>
            <a:prstDash val="solid"/>
          </a:ln>
        </p:spPr>
      </p:sp>
      <p:sp>
        <p:nvSpPr>
          <p:cNvPr id="16" name="Text 14"/>
          <p:cNvSpPr txBox="1"/>
          <p:nvPr/>
        </p:nvSpPr>
        <p:spPr>
          <a:xfrm>
            <a:off x="566928" y="4809744"/>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17" name="Text 15"/>
          <p:cNvSpPr txBox="1"/>
          <p:nvPr/>
        </p:nvSpPr>
        <p:spPr>
          <a:xfrm>
            <a:off x="1097280" y="4791456"/>
            <a:ext cx="4843120" cy="310896"/>
          </a:xfrm>
          <a:prstGeom prst="rect">
            <a:avLst/>
          </a:prstGeom>
          <a:noFill/>
          <a:ln/>
        </p:spPr>
        <p:txBody>
          <a:bodyPr wrap="square" lIns="0" tIns="0" rIns="0" bIns="0" rtlCol="0" anchor="t"/>
          <a:lstStyle/>
          <a:p>
            <a:pPr indent="0" marL="0">
              <a:buNone/>
            </a:pPr>
            <a:r>
              <a:rPr lang="en-US" sz="1700" b="1" dirty="0">
                <a:solidFill>
                  <a:srgbClr val="141821"/>
                </a:solidFill>
                <a:latin typeface="Arial" pitchFamily="34" charset="0"/>
                <a:ea typeface="Arial" pitchFamily="34" charset="-122"/>
                <a:cs typeface="Arial" pitchFamily="34" charset="-120"/>
              </a:rPr>
              <a:t>Recruit six champions</a:t>
            </a:r>
            <a:endParaRPr lang="en-US" sz="1700" dirty="0"/>
          </a:p>
        </p:txBody>
      </p:sp>
      <p:sp>
        <p:nvSpPr>
          <p:cNvPr id="18" name="Text 16"/>
          <p:cNvSpPr txBox="1"/>
          <p:nvPr/>
        </p:nvSpPr>
        <p:spPr>
          <a:xfrm>
            <a:off x="1097280" y="5120640"/>
            <a:ext cx="4806544" cy="603504"/>
          </a:xfrm>
          <a:prstGeom prst="rect">
            <a:avLst/>
          </a:prstGeom>
          <a:noFill/>
          <a:ln/>
        </p:spPr>
        <p:txBody>
          <a:bodyPr wrap="square" lIns="0" tIns="0" rIns="0" bIns="0" rtlCol="0" anchor="t"/>
          <a:lstStyle/>
          <a:p>
            <a:pPr indent="0" marL="0">
              <a:lnSpc>
                <a:spcPts val="2000"/>
              </a:lnSpc>
              <a:buNone/>
            </a:pPr>
            <a:r>
              <a:rPr lang="en-US" sz="1500" dirty="0">
                <a:solidFill>
                  <a:srgbClr val="3C4350"/>
                </a:solidFill>
                <a:latin typeface="Arial" pitchFamily="34" charset="0"/>
                <a:ea typeface="Arial" pitchFamily="34" charset="-122"/>
                <a:cs typeface="Arial" pitchFamily="34" charset="-120"/>
              </a:rPr>
              <a:t>Managers who post and hire early. "Talent Exporter" recognition to ExCo.</a:t>
            </a:r>
            <a:endParaRPr lang="en-US" sz="1500" dirty="0"/>
          </a:p>
        </p:txBody>
      </p:sp>
      <p:sp>
        <p:nvSpPr>
          <p:cNvPr id="19" name="Text 17"/>
          <p:cNvSpPr txBox="1"/>
          <p:nvPr/>
        </p:nvSpPr>
        <p:spPr>
          <a:xfrm>
            <a:off x="6251296" y="2103120"/>
            <a:ext cx="5373472" cy="237744"/>
          </a:xfrm>
          <a:prstGeom prst="rect">
            <a:avLst/>
          </a:prstGeom>
          <a:noFill/>
          <a:ln/>
        </p:spPr>
        <p:txBody>
          <a:bodyPr wrap="square" lIns="0" tIns="0" rIns="0" bIns="0" rtlCol="0" anchor="ctr"/>
          <a:lstStyle/>
          <a:p>
            <a:pPr indent="0" marL="0">
              <a:buNone/>
            </a:pPr>
            <a:r>
              <a:rPr lang="en-US" sz="1400" b="1" spc="180" kern="0" dirty="0">
                <a:solidFill>
                  <a:srgbClr val="0E7C66"/>
                </a:solidFill>
                <a:latin typeface="Arial" pitchFamily="34" charset="0"/>
                <a:ea typeface="Arial" pitchFamily="34" charset="-122"/>
                <a:cs typeface="Arial" pitchFamily="34" charset="-120"/>
              </a:rPr>
              <a:t>AT LAUNCH AND AFTER</a:t>
            </a:r>
            <a:endParaRPr lang="en-US" sz="1400" dirty="0"/>
          </a:p>
        </p:txBody>
      </p:sp>
      <p:sp>
        <p:nvSpPr>
          <p:cNvPr id="20" name="Shape 18"/>
          <p:cNvSpPr/>
          <p:nvPr/>
        </p:nvSpPr>
        <p:spPr>
          <a:xfrm>
            <a:off x="6251296" y="2505456"/>
            <a:ext cx="365760" cy="365760"/>
          </a:xfrm>
          <a:prstGeom prst="ellipse">
            <a:avLst/>
          </a:prstGeom>
          <a:solidFill>
            <a:srgbClr val="0E7C66"/>
          </a:solidFill>
          <a:ln w="12700">
            <a:solidFill>
              <a:srgbClr val="333333"/>
            </a:solidFill>
            <a:prstDash val="solid"/>
          </a:ln>
        </p:spPr>
      </p:sp>
      <p:sp>
        <p:nvSpPr>
          <p:cNvPr id="21" name="Text 19"/>
          <p:cNvSpPr txBox="1"/>
          <p:nvPr/>
        </p:nvSpPr>
        <p:spPr>
          <a:xfrm>
            <a:off x="6251296" y="2505456"/>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22" name="Text 20"/>
          <p:cNvSpPr txBox="1"/>
          <p:nvPr/>
        </p:nvSpPr>
        <p:spPr>
          <a:xfrm>
            <a:off x="6781648" y="2487168"/>
            <a:ext cx="4843120" cy="310896"/>
          </a:xfrm>
          <a:prstGeom prst="rect">
            <a:avLst/>
          </a:prstGeom>
          <a:noFill/>
          <a:ln/>
        </p:spPr>
        <p:txBody>
          <a:bodyPr wrap="square" lIns="0" tIns="0" rIns="0" bIns="0" rtlCol="0" anchor="t"/>
          <a:lstStyle/>
          <a:p>
            <a:pPr indent="0" marL="0">
              <a:buNone/>
            </a:pPr>
            <a:r>
              <a:rPr lang="en-US" sz="1700" b="1" dirty="0">
                <a:solidFill>
                  <a:srgbClr val="141821"/>
                </a:solidFill>
                <a:latin typeface="Arial" pitchFamily="34" charset="0"/>
                <a:ea typeface="Arial" pitchFamily="34" charset="-122"/>
                <a:cs typeface="Arial" pitchFamily="34" charset="-120"/>
              </a:rPr>
              <a:t>Launch comms</a:t>
            </a:r>
            <a:endParaRPr lang="en-US" sz="1700" dirty="0"/>
          </a:p>
        </p:txBody>
      </p:sp>
      <p:sp>
        <p:nvSpPr>
          <p:cNvPr id="23" name="Text 21"/>
          <p:cNvSpPr txBox="1"/>
          <p:nvPr/>
        </p:nvSpPr>
        <p:spPr>
          <a:xfrm>
            <a:off x="6781648" y="2816352"/>
            <a:ext cx="4806544" cy="603504"/>
          </a:xfrm>
          <a:prstGeom prst="rect">
            <a:avLst/>
          </a:prstGeom>
          <a:noFill/>
          <a:ln/>
        </p:spPr>
        <p:txBody>
          <a:bodyPr wrap="square" lIns="0" tIns="0" rIns="0" bIns="0" rtlCol="0" anchor="t"/>
          <a:lstStyle/>
          <a:p>
            <a:pPr indent="0" marL="0">
              <a:lnSpc>
                <a:spcPts val="2000"/>
              </a:lnSpc>
              <a:buNone/>
            </a:pPr>
            <a:r>
              <a:rPr lang="en-US" sz="1500" dirty="0">
                <a:solidFill>
                  <a:srgbClr val="3C4350"/>
                </a:solidFill>
                <a:latin typeface="Arial" pitchFamily="34" charset="0"/>
                <a:ea typeface="Arial" pitchFamily="34" charset="-122"/>
                <a:cs typeface="Arial" pitchFamily="34" charset="-120"/>
              </a:rPr>
              <a:t>Town hall demo, a film of one real internal move, and the CEO posting the first opportunity.</a:t>
            </a:r>
            <a:endParaRPr lang="en-US" sz="1500" dirty="0"/>
          </a:p>
        </p:txBody>
      </p:sp>
      <p:sp>
        <p:nvSpPr>
          <p:cNvPr id="24" name="Shape 22"/>
          <p:cNvSpPr/>
          <p:nvPr/>
        </p:nvSpPr>
        <p:spPr>
          <a:xfrm>
            <a:off x="6251296" y="3657600"/>
            <a:ext cx="365760" cy="365760"/>
          </a:xfrm>
          <a:prstGeom prst="ellipse">
            <a:avLst/>
          </a:prstGeom>
          <a:solidFill>
            <a:srgbClr val="0E7C66"/>
          </a:solidFill>
          <a:ln w="12700">
            <a:solidFill>
              <a:srgbClr val="333333"/>
            </a:solidFill>
            <a:prstDash val="solid"/>
          </a:ln>
        </p:spPr>
      </p:sp>
      <p:sp>
        <p:nvSpPr>
          <p:cNvPr id="25" name="Text 23"/>
          <p:cNvSpPr txBox="1"/>
          <p:nvPr/>
        </p:nvSpPr>
        <p:spPr>
          <a:xfrm>
            <a:off x="6251296" y="3657600"/>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26" name="Text 24"/>
          <p:cNvSpPr txBox="1"/>
          <p:nvPr/>
        </p:nvSpPr>
        <p:spPr>
          <a:xfrm>
            <a:off x="6781648" y="3639312"/>
            <a:ext cx="4843120" cy="310896"/>
          </a:xfrm>
          <a:prstGeom prst="rect">
            <a:avLst/>
          </a:prstGeom>
          <a:noFill/>
          <a:ln/>
        </p:spPr>
        <p:txBody>
          <a:bodyPr wrap="square" lIns="0" tIns="0" rIns="0" bIns="0" rtlCol="0" anchor="t"/>
          <a:lstStyle/>
          <a:p>
            <a:pPr indent="0" marL="0">
              <a:buNone/>
            </a:pPr>
            <a:r>
              <a:rPr lang="en-US" sz="1700" b="1" dirty="0">
                <a:solidFill>
                  <a:srgbClr val="141821"/>
                </a:solidFill>
                <a:latin typeface="Arial" pitchFamily="34" charset="0"/>
                <a:ea typeface="Arial" pitchFamily="34" charset="-122"/>
                <a:cs typeface="Arial" pitchFamily="34" charset="-120"/>
              </a:rPr>
              <a:t>Quarterly top-match email</a:t>
            </a:r>
            <a:endParaRPr lang="en-US" sz="1700" dirty="0"/>
          </a:p>
        </p:txBody>
      </p:sp>
      <p:sp>
        <p:nvSpPr>
          <p:cNvPr id="27" name="Text 25"/>
          <p:cNvSpPr txBox="1"/>
          <p:nvPr/>
        </p:nvSpPr>
        <p:spPr>
          <a:xfrm>
            <a:off x="6781648" y="3968496"/>
            <a:ext cx="4806544" cy="603504"/>
          </a:xfrm>
          <a:prstGeom prst="rect">
            <a:avLst/>
          </a:prstGeom>
          <a:noFill/>
          <a:ln/>
        </p:spPr>
        <p:txBody>
          <a:bodyPr wrap="square" lIns="0" tIns="0" rIns="0" bIns="0" rtlCol="0" anchor="t"/>
          <a:lstStyle/>
          <a:p>
            <a:pPr indent="0" marL="0">
              <a:lnSpc>
                <a:spcPts val="2000"/>
              </a:lnSpc>
              <a:buNone/>
            </a:pPr>
            <a:r>
              <a:rPr lang="en-US" sz="1500" dirty="0">
                <a:solidFill>
                  <a:srgbClr val="3C4350"/>
                </a:solidFill>
                <a:latin typeface="Arial" pitchFamily="34" charset="0"/>
                <a:ea typeface="Arial" pitchFamily="34" charset="-122"/>
                <a:cs typeface="Arial" pitchFamily="34" charset="-120"/>
              </a:rPr>
              <a:t>Your three best matches, by name, one click to apply. This is what doubles applications.</a:t>
            </a:r>
            <a:endParaRPr lang="en-US" sz="1500" dirty="0"/>
          </a:p>
        </p:txBody>
      </p:sp>
      <p:sp>
        <p:nvSpPr>
          <p:cNvPr id="28" name="Shape 26"/>
          <p:cNvSpPr/>
          <p:nvPr/>
        </p:nvSpPr>
        <p:spPr>
          <a:xfrm>
            <a:off x="6251296" y="4809744"/>
            <a:ext cx="365760" cy="365760"/>
          </a:xfrm>
          <a:prstGeom prst="ellipse">
            <a:avLst/>
          </a:prstGeom>
          <a:solidFill>
            <a:srgbClr val="0E7C66"/>
          </a:solidFill>
          <a:ln w="12700">
            <a:solidFill>
              <a:srgbClr val="333333"/>
            </a:solidFill>
            <a:prstDash val="solid"/>
          </a:ln>
        </p:spPr>
      </p:sp>
      <p:sp>
        <p:nvSpPr>
          <p:cNvPr id="29" name="Text 27"/>
          <p:cNvSpPr txBox="1"/>
          <p:nvPr/>
        </p:nvSpPr>
        <p:spPr>
          <a:xfrm>
            <a:off x="6251296" y="4809744"/>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30" name="Text 28"/>
          <p:cNvSpPr txBox="1"/>
          <p:nvPr/>
        </p:nvSpPr>
        <p:spPr>
          <a:xfrm>
            <a:off x="6781648" y="4791456"/>
            <a:ext cx="4843120" cy="310896"/>
          </a:xfrm>
          <a:prstGeom prst="rect">
            <a:avLst/>
          </a:prstGeom>
          <a:noFill/>
          <a:ln/>
        </p:spPr>
        <p:txBody>
          <a:bodyPr wrap="square" lIns="0" tIns="0" rIns="0" bIns="0" rtlCol="0" anchor="t"/>
          <a:lstStyle/>
          <a:p>
            <a:pPr indent="0" marL="0">
              <a:buNone/>
            </a:pPr>
            <a:r>
              <a:rPr lang="en-US" sz="1700" b="1" dirty="0">
                <a:solidFill>
                  <a:srgbClr val="141821"/>
                </a:solidFill>
                <a:latin typeface="Arial" pitchFamily="34" charset="0"/>
                <a:ea typeface="Arial" pitchFamily="34" charset="-122"/>
                <a:cs typeface="Arial" pitchFamily="34" charset="-120"/>
              </a:rPr>
              <a:t>Measure it properly</a:t>
            </a:r>
            <a:endParaRPr lang="en-US" sz="1700" dirty="0"/>
          </a:p>
        </p:txBody>
      </p:sp>
      <p:sp>
        <p:nvSpPr>
          <p:cNvPr id="31" name="Text 29"/>
          <p:cNvSpPr txBox="1"/>
          <p:nvPr/>
        </p:nvSpPr>
        <p:spPr>
          <a:xfrm>
            <a:off x="6781648" y="5120640"/>
            <a:ext cx="4806544" cy="603504"/>
          </a:xfrm>
          <a:prstGeom prst="rect">
            <a:avLst/>
          </a:prstGeom>
          <a:noFill/>
          <a:ln/>
        </p:spPr>
        <p:txBody>
          <a:bodyPr wrap="square" lIns="0" tIns="0" rIns="0" bIns="0" rtlCol="0" anchor="t"/>
          <a:lstStyle/>
          <a:p>
            <a:pPr indent="0" marL="0">
              <a:lnSpc>
                <a:spcPts val="2000"/>
              </a:lnSpc>
              <a:buNone/>
            </a:pPr>
            <a:r>
              <a:rPr lang="en-US" sz="1500" dirty="0">
                <a:solidFill>
                  <a:srgbClr val="3C4350"/>
                </a:solidFill>
                <a:latin typeface="Arial" pitchFamily="34" charset="0"/>
                <a:ea typeface="Arial" pitchFamily="34" charset="-122"/>
                <a:cs typeface="Arial" pitchFamily="34" charset="-120"/>
              </a:rPr>
              <a:t>Hold back half of requisitions from promotion for a quarter. That settles the retention claim.</a:t>
            </a:r>
            <a:endParaRPr lang="en-US" sz="1500" dirty="0"/>
          </a:p>
        </p:txBody>
      </p:sp>
      <p:sp>
        <p:nvSpPr>
          <p:cNvPr id="32" name="Shape 30"/>
          <p:cNvSpPr/>
          <p:nvPr/>
        </p:nvSpPr>
        <p:spPr>
          <a:xfrm>
            <a:off x="566928" y="5779008"/>
            <a:ext cx="11057839" cy="548640"/>
          </a:xfrm>
          <a:prstGeom prst="roundRect">
            <a:avLst>
              <a:gd name="adj" fmla="val 6667"/>
            </a:avLst>
          </a:prstGeom>
          <a:solidFill>
            <a:srgbClr val="F7F4EF"/>
          </a:solidFill>
          <a:ln w="12700">
            <a:solidFill>
              <a:srgbClr val="333333"/>
            </a:solidFill>
            <a:prstDash val="solid"/>
          </a:ln>
        </p:spPr>
      </p:sp>
      <p:sp>
        <p:nvSpPr>
          <p:cNvPr id="33" name="Text 31"/>
          <p:cNvSpPr txBox="1"/>
          <p:nvPr/>
        </p:nvSpPr>
        <p:spPr>
          <a:xfrm>
            <a:off x="841248" y="5779008"/>
            <a:ext cx="10509199" cy="548640"/>
          </a:xfrm>
          <a:prstGeom prst="rect">
            <a:avLst/>
          </a:prstGeom>
          <a:noFill/>
          <a:ln/>
        </p:spPr>
        <p:txBody>
          <a:bodyPr wrap="square" lIns="0" tIns="0" rIns="0" bIns="0" rtlCol="0" anchor="ctr"/>
          <a:lstStyle/>
          <a:p>
            <a:pPr indent="0" marL="0">
              <a:buNone/>
            </a:pPr>
            <a:r>
              <a:rPr lang="en-US" sz="1500" b="1" dirty="0">
                <a:solidFill>
                  <a:srgbClr val="141821"/>
                </a:solidFill>
                <a:latin typeface="Arial" pitchFamily="34" charset="0"/>
                <a:ea typeface="Arial" pitchFamily="34" charset="-122"/>
                <a:cs typeface="Arial" pitchFamily="34" charset="-120"/>
              </a:rPr>
              <a:t>Year-one target:  </a:t>
            </a:r>
            <a:pPr indent="0" marL="0">
              <a:buNone/>
            </a:pPr>
            <a:r>
              <a:rPr lang="en-US" sz="1500" dirty="0">
                <a:solidFill>
                  <a:srgbClr val="3C4350"/>
                </a:solidFill>
                <a:latin typeface="Arial" pitchFamily="34" charset="0"/>
                <a:ea typeface="Arial" pitchFamily="34" charset="-122"/>
                <a:cs typeface="Arial" pitchFamily="34" charset="-120"/>
              </a:rPr>
              <a:t>275 internal applications · 60% of the pilot with a populated profile · 25 opportunities live at any time.</a:t>
            </a:r>
            <a:endParaRPr lang="en-US" sz="1500" dirty="0"/>
          </a:p>
        </p:txBody>
      </p:sp>
      <p:sp>
        <p:nvSpPr>
          <p:cNvPr id="34" name="Text 32"/>
          <p:cNvSpPr txBox="1"/>
          <p:nvPr/>
        </p:nvSpPr>
        <p:spPr>
          <a:xfrm>
            <a:off x="11167567" y="6382512"/>
            <a:ext cx="457200" cy="256032"/>
          </a:xfrm>
          <a:prstGeom prst="rect">
            <a:avLst/>
          </a:prstGeom>
          <a:noFill/>
          <a:ln/>
        </p:spPr>
        <p:txBody>
          <a:bodyPr wrap="square" lIns="0" tIns="0" rIns="0" bIns="0" rtlCol="0" anchor="ctr"/>
          <a:lstStyle/>
          <a:p>
            <a:pPr algn="r" indent="0" marL="0">
              <a:buNone/>
            </a:pPr>
            <a:r>
              <a:rPr lang="en-US" sz="1400" dirty="0">
                <a:solidFill>
                  <a:srgbClr val="B6AFA3"/>
                </a:solidFill>
                <a:latin typeface="Arial" pitchFamily="34" charset="0"/>
                <a:ea typeface="Arial" pitchFamily="34" charset="-122"/>
                <a:cs typeface="Arial" pitchFamily="34" charset="-120"/>
              </a:rPr>
              <a:t>11</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B2437"/>
        </a:solidFill>
      </p:bgPr>
    </p:bg>
    <p:spTree>
      <p:nvGrpSpPr>
        <p:cNvPr id="1" name=""/>
        <p:cNvGrpSpPr/>
        <p:nvPr/>
      </p:nvGrpSpPr>
      <p:grpSpPr>
        <a:xfrm>
          <a:off x="0" y="0"/>
          <a:ext cx="0" cy="0"/>
          <a:chOff x="0" y="0"/>
          <a:chExt cx="0" cy="0"/>
        </a:xfrm>
      </p:grpSpPr>
      <p:sp>
        <p:nvSpPr>
          <p:cNvPr id="2" name="Shape 0"/>
          <p:cNvSpPr/>
          <p:nvPr/>
        </p:nvSpPr>
        <p:spPr>
          <a:xfrm>
            <a:off x="0" y="0"/>
            <a:ext cx="237744" cy="6858000"/>
          </a:xfrm>
          <a:prstGeom prst="rect">
            <a:avLst/>
          </a:prstGeom>
          <a:solidFill>
            <a:srgbClr val="C00000"/>
          </a:solidFill>
          <a:ln w="12700">
            <a:solidFill>
              <a:srgbClr val="333333"/>
            </a:solidFill>
            <a:prstDash val="solid"/>
          </a:ln>
        </p:spPr>
      </p:sp>
      <p:sp>
        <p:nvSpPr>
          <p:cNvPr id="3" name="Text 1"/>
          <p:cNvSpPr txBox="1"/>
          <p:nvPr/>
        </p:nvSpPr>
        <p:spPr>
          <a:xfrm>
            <a:off x="1051560" y="841248"/>
            <a:ext cx="7315200" cy="274320"/>
          </a:xfrm>
          <a:prstGeom prst="rect">
            <a:avLst/>
          </a:prstGeom>
          <a:noFill/>
          <a:ln/>
        </p:spPr>
        <p:txBody>
          <a:bodyPr wrap="square" lIns="0" tIns="0" rIns="0" bIns="0" rtlCol="0" anchor="ctr"/>
          <a:lstStyle/>
          <a:p>
            <a:pPr indent="0" marL="0">
              <a:buNone/>
            </a:pPr>
            <a:r>
              <a:rPr lang="en-US" sz="1400" b="1" spc="240" kern="0" dirty="0">
                <a:solidFill>
                  <a:srgbClr val="E11D26"/>
                </a:solidFill>
                <a:latin typeface="Arial" pitchFamily="34" charset="0"/>
                <a:ea typeface="Arial" pitchFamily="34" charset="-122"/>
                <a:cs typeface="Arial" pitchFamily="34" charset="-120"/>
              </a:rPr>
              <a:t>THE ASK</a:t>
            </a:r>
            <a:endParaRPr lang="en-US" sz="1400" dirty="0"/>
          </a:p>
        </p:txBody>
      </p:sp>
      <p:sp>
        <p:nvSpPr>
          <p:cNvPr id="4" name="Text 2"/>
          <p:cNvSpPr txBox="1"/>
          <p:nvPr/>
        </p:nvSpPr>
        <p:spPr>
          <a:xfrm>
            <a:off x="1051560" y="1207008"/>
            <a:ext cx="8229600" cy="658368"/>
          </a:xfrm>
          <a:prstGeom prst="rect">
            <a:avLst/>
          </a:prstGeom>
          <a:noFill/>
          <a:ln/>
        </p:spPr>
        <p:txBody>
          <a:bodyPr wrap="square" lIns="0" tIns="0" rIns="0" bIns="0" rtlCol="0" anchor="ctr"/>
          <a:lstStyle/>
          <a:p>
            <a:pPr indent="0" marL="0">
              <a:buNone/>
            </a:pPr>
            <a:r>
              <a:rPr lang="en-US" sz="3800" b="1" dirty="0">
                <a:solidFill>
                  <a:srgbClr val="FFFFFF"/>
                </a:solidFill>
                <a:latin typeface="Arial" pitchFamily="34" charset="0"/>
                <a:ea typeface="Arial" pitchFamily="34" charset="-122"/>
                <a:cs typeface="Arial" pitchFamily="34" charset="-120"/>
              </a:rPr>
              <a:t>Three decisions.</a:t>
            </a:r>
            <a:endParaRPr lang="en-US" sz="3800" dirty="0"/>
          </a:p>
        </p:txBody>
      </p:sp>
      <p:sp>
        <p:nvSpPr>
          <p:cNvPr id="5" name="Shape 3"/>
          <p:cNvSpPr/>
          <p:nvPr/>
        </p:nvSpPr>
        <p:spPr>
          <a:xfrm>
            <a:off x="1051560" y="2231136"/>
            <a:ext cx="365760" cy="365760"/>
          </a:xfrm>
          <a:prstGeom prst="ellipse">
            <a:avLst/>
          </a:prstGeom>
          <a:solidFill>
            <a:srgbClr val="C00000"/>
          </a:solidFill>
          <a:ln w="12700">
            <a:solidFill>
              <a:srgbClr val="333333"/>
            </a:solidFill>
            <a:prstDash val="solid"/>
          </a:ln>
        </p:spPr>
      </p:sp>
      <p:sp>
        <p:nvSpPr>
          <p:cNvPr id="6" name="Text 4"/>
          <p:cNvSpPr txBox="1"/>
          <p:nvPr/>
        </p:nvSpPr>
        <p:spPr>
          <a:xfrm>
            <a:off x="1051560" y="2231136"/>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7" name="Text 5"/>
          <p:cNvSpPr txBox="1"/>
          <p:nvPr/>
        </p:nvSpPr>
        <p:spPr>
          <a:xfrm>
            <a:off x="1627632" y="2139696"/>
            <a:ext cx="4754880" cy="365760"/>
          </a:xfrm>
          <a:prstGeom prst="rect">
            <a:avLst/>
          </a:prstGeom>
          <a:noFill/>
          <a:ln/>
        </p:spPr>
        <p:txBody>
          <a:bodyPr wrap="square" lIns="0" tIns="0" rIns="0" bIns="0" rtlCol="0" anchor="ctr"/>
          <a:lstStyle/>
          <a:p>
            <a:pPr indent="0" marL="0">
              <a:buNone/>
            </a:pPr>
            <a:r>
              <a:rPr lang="en-US" sz="2100" b="1" dirty="0">
                <a:solidFill>
                  <a:srgbClr val="FFFFFF"/>
                </a:solidFill>
                <a:latin typeface="Arial" pitchFamily="34" charset="0"/>
                <a:ea typeface="Arial" pitchFamily="34" charset="-122"/>
                <a:cs typeface="Arial" pitchFamily="34" charset="-120"/>
              </a:rPr>
              <a:t>Approve the build</a:t>
            </a:r>
            <a:endParaRPr lang="en-US" sz="2100" dirty="0"/>
          </a:p>
        </p:txBody>
      </p:sp>
      <p:sp>
        <p:nvSpPr>
          <p:cNvPr id="8" name="Text 6"/>
          <p:cNvSpPr txBox="1"/>
          <p:nvPr/>
        </p:nvSpPr>
        <p:spPr>
          <a:xfrm>
            <a:off x="1627632" y="2523744"/>
            <a:ext cx="6949440" cy="694944"/>
          </a:xfrm>
          <a:prstGeom prst="rect">
            <a:avLst/>
          </a:prstGeom>
          <a:noFill/>
          <a:ln/>
        </p:spPr>
        <p:txBody>
          <a:bodyPr wrap="square" lIns="0" tIns="0" rIns="0" bIns="0" rtlCol="0" anchor="t"/>
          <a:lstStyle/>
          <a:p>
            <a:pPr indent="0" marL="0">
              <a:lnSpc>
                <a:spcPts val="2100"/>
              </a:lnSpc>
              <a:buNone/>
            </a:pPr>
            <a:r>
              <a:rPr lang="en-US" sz="1550" dirty="0">
                <a:solidFill>
                  <a:srgbClr val="C6BCAE"/>
                </a:solidFill>
                <a:latin typeface="Arial" pitchFamily="34" charset="0"/>
                <a:ea typeface="Arial" pitchFamily="34" charset="-122"/>
                <a:cs typeface="Arial" pitchFamily="34" charset="-120"/>
              </a:rPr>
              <a:t>₱1.54M in year one, ₱2.05M over three. Pilot goes live in IT, HR and Operations — 1,113 people.</a:t>
            </a:r>
            <a:endParaRPr lang="en-US" sz="1550" dirty="0"/>
          </a:p>
        </p:txBody>
      </p:sp>
      <p:sp>
        <p:nvSpPr>
          <p:cNvPr id="9" name="Shape 7"/>
          <p:cNvSpPr/>
          <p:nvPr/>
        </p:nvSpPr>
        <p:spPr>
          <a:xfrm>
            <a:off x="8796528" y="2176272"/>
            <a:ext cx="877824" cy="329184"/>
          </a:xfrm>
          <a:prstGeom prst="roundRect">
            <a:avLst>
              <a:gd name="adj" fmla="val 50000"/>
            </a:avLst>
          </a:prstGeom>
          <a:solidFill>
            <a:srgbClr val="2C3648"/>
          </a:solidFill>
          <a:ln w="12700">
            <a:solidFill>
              <a:srgbClr val="333333"/>
            </a:solidFill>
            <a:prstDash val="solid"/>
          </a:ln>
        </p:spPr>
      </p:sp>
      <p:sp>
        <p:nvSpPr>
          <p:cNvPr id="10" name="Text 8"/>
          <p:cNvSpPr txBox="1"/>
          <p:nvPr/>
        </p:nvSpPr>
        <p:spPr>
          <a:xfrm>
            <a:off x="8796528" y="2176272"/>
            <a:ext cx="877824" cy="329184"/>
          </a:xfrm>
          <a:prstGeom prst="rect">
            <a:avLst/>
          </a:prstGeom>
          <a:noFill/>
          <a:ln/>
        </p:spPr>
        <p:txBody>
          <a:bodyPr wrap="square" lIns="0" tIns="0" rIns="0" bIns="0" rtlCol="0" anchor="ctr"/>
          <a:lstStyle/>
          <a:p>
            <a:pPr algn="ctr" indent="0" marL="0">
              <a:buNone/>
            </a:pPr>
            <a:r>
              <a:rPr lang="en-US" sz="1400" b="1" dirty="0">
                <a:solidFill>
                  <a:srgbClr val="E3B457"/>
                </a:solidFill>
                <a:latin typeface="Arial" pitchFamily="34" charset="0"/>
                <a:ea typeface="Arial" pitchFamily="34" charset="-122"/>
                <a:cs typeface="Arial" pitchFamily="34" charset="-120"/>
              </a:rPr>
              <a:t>CFO</a:t>
            </a:r>
            <a:endParaRPr lang="en-US" sz="1400" dirty="0"/>
          </a:p>
        </p:txBody>
      </p:sp>
      <p:sp>
        <p:nvSpPr>
          <p:cNvPr id="11" name="Shape 9"/>
          <p:cNvSpPr/>
          <p:nvPr/>
        </p:nvSpPr>
        <p:spPr>
          <a:xfrm>
            <a:off x="1051560" y="3255264"/>
            <a:ext cx="8622792" cy="0"/>
          </a:xfrm>
          <a:prstGeom prst="line">
            <a:avLst/>
          </a:prstGeom>
          <a:noFill/>
          <a:ln w="12700">
            <a:solidFill>
              <a:srgbClr val="333D4E"/>
            </a:solidFill>
            <a:prstDash val="solid"/>
          </a:ln>
        </p:spPr>
      </p:sp>
      <p:sp>
        <p:nvSpPr>
          <p:cNvPr id="12" name="Shape 10"/>
          <p:cNvSpPr/>
          <p:nvPr/>
        </p:nvSpPr>
        <p:spPr>
          <a:xfrm>
            <a:off x="1051560" y="3456432"/>
            <a:ext cx="365760" cy="365760"/>
          </a:xfrm>
          <a:prstGeom prst="ellipse">
            <a:avLst/>
          </a:prstGeom>
          <a:solidFill>
            <a:srgbClr val="C00000"/>
          </a:solidFill>
          <a:ln w="12700">
            <a:solidFill>
              <a:srgbClr val="333333"/>
            </a:solidFill>
            <a:prstDash val="solid"/>
          </a:ln>
        </p:spPr>
      </p:sp>
      <p:sp>
        <p:nvSpPr>
          <p:cNvPr id="13" name="Text 11"/>
          <p:cNvSpPr txBox="1"/>
          <p:nvPr/>
        </p:nvSpPr>
        <p:spPr>
          <a:xfrm>
            <a:off x="1051560" y="3456432"/>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4" name="Text 12"/>
          <p:cNvSpPr txBox="1"/>
          <p:nvPr/>
        </p:nvSpPr>
        <p:spPr>
          <a:xfrm>
            <a:off x="1627632" y="3364992"/>
            <a:ext cx="4754880" cy="365760"/>
          </a:xfrm>
          <a:prstGeom prst="rect">
            <a:avLst/>
          </a:prstGeom>
          <a:noFill/>
          <a:ln/>
        </p:spPr>
        <p:txBody>
          <a:bodyPr wrap="square" lIns="0" tIns="0" rIns="0" bIns="0" rtlCol="0" anchor="ctr"/>
          <a:lstStyle/>
          <a:p>
            <a:pPr indent="0" marL="0">
              <a:buNone/>
            </a:pPr>
            <a:r>
              <a:rPr lang="en-US" sz="2100" b="1" dirty="0">
                <a:solidFill>
                  <a:srgbClr val="FFFFFF"/>
                </a:solidFill>
                <a:latin typeface="Arial" pitchFamily="34" charset="0"/>
                <a:ea typeface="Arial" pitchFamily="34" charset="-122"/>
                <a:cs typeface="Arial" pitchFamily="34" charset="-120"/>
              </a:rPr>
              <a:t>Commit the source field</a:t>
            </a:r>
            <a:endParaRPr lang="en-US" sz="2100" dirty="0"/>
          </a:p>
        </p:txBody>
      </p:sp>
      <p:sp>
        <p:nvSpPr>
          <p:cNvPr id="15" name="Text 13"/>
          <p:cNvSpPr txBox="1"/>
          <p:nvPr/>
        </p:nvSpPr>
        <p:spPr>
          <a:xfrm>
            <a:off x="1627632" y="3749040"/>
            <a:ext cx="6949440" cy="694944"/>
          </a:xfrm>
          <a:prstGeom prst="rect">
            <a:avLst/>
          </a:prstGeom>
          <a:noFill/>
          <a:ln/>
        </p:spPr>
        <p:txBody>
          <a:bodyPr wrap="square" lIns="0" tIns="0" rIns="0" bIns="0" rtlCol="0" anchor="t"/>
          <a:lstStyle/>
          <a:p>
            <a:pPr indent="0" marL="0">
              <a:lnSpc>
                <a:spcPts val="2100"/>
              </a:lnSpc>
              <a:buNone/>
            </a:pPr>
            <a:r>
              <a:rPr lang="en-US" sz="1550" dirty="0">
                <a:solidFill>
                  <a:srgbClr val="C6BCAE"/>
                </a:solidFill>
                <a:latin typeface="Arial" pitchFamily="34" charset="0"/>
                <a:ea typeface="Arial" pitchFamily="34" charset="-122"/>
                <a:cs typeface="Arial" pitchFamily="34" charset="-120"/>
              </a:rPr>
              <a:t>Recruitment adds a "Growth Marketplace" value to HC Connect. A form change, free, and without it no attributed hire can be proved.</a:t>
            </a:r>
            <a:endParaRPr lang="en-US" sz="1550" dirty="0"/>
          </a:p>
        </p:txBody>
      </p:sp>
      <p:sp>
        <p:nvSpPr>
          <p:cNvPr id="16" name="Shape 14"/>
          <p:cNvSpPr/>
          <p:nvPr/>
        </p:nvSpPr>
        <p:spPr>
          <a:xfrm>
            <a:off x="8796528" y="3401568"/>
            <a:ext cx="877824" cy="329184"/>
          </a:xfrm>
          <a:prstGeom prst="roundRect">
            <a:avLst>
              <a:gd name="adj" fmla="val 50000"/>
            </a:avLst>
          </a:prstGeom>
          <a:solidFill>
            <a:srgbClr val="2C3648"/>
          </a:solidFill>
          <a:ln w="12700">
            <a:solidFill>
              <a:srgbClr val="333333"/>
            </a:solidFill>
            <a:prstDash val="solid"/>
          </a:ln>
        </p:spPr>
      </p:sp>
      <p:sp>
        <p:nvSpPr>
          <p:cNvPr id="17" name="Text 15"/>
          <p:cNvSpPr txBox="1"/>
          <p:nvPr/>
        </p:nvSpPr>
        <p:spPr>
          <a:xfrm>
            <a:off x="8796528" y="3401568"/>
            <a:ext cx="877824" cy="329184"/>
          </a:xfrm>
          <a:prstGeom prst="rect">
            <a:avLst/>
          </a:prstGeom>
          <a:noFill/>
          <a:ln/>
        </p:spPr>
        <p:txBody>
          <a:bodyPr wrap="square" lIns="0" tIns="0" rIns="0" bIns="0" rtlCol="0" anchor="ctr"/>
          <a:lstStyle/>
          <a:p>
            <a:pPr algn="ctr" indent="0" marL="0">
              <a:buNone/>
            </a:pPr>
            <a:r>
              <a:rPr lang="en-US" sz="1400" b="1" dirty="0">
                <a:solidFill>
                  <a:srgbClr val="E3B457"/>
                </a:solidFill>
                <a:latin typeface="Arial" pitchFamily="34" charset="0"/>
                <a:ea typeface="Arial" pitchFamily="34" charset="-122"/>
                <a:cs typeface="Arial" pitchFamily="34" charset="-120"/>
              </a:rPr>
              <a:t>CPO</a:t>
            </a:r>
            <a:endParaRPr lang="en-US" sz="1400" dirty="0"/>
          </a:p>
        </p:txBody>
      </p:sp>
      <p:sp>
        <p:nvSpPr>
          <p:cNvPr id="18" name="Shape 16"/>
          <p:cNvSpPr/>
          <p:nvPr/>
        </p:nvSpPr>
        <p:spPr>
          <a:xfrm>
            <a:off x="1051560" y="4480560"/>
            <a:ext cx="8622792" cy="0"/>
          </a:xfrm>
          <a:prstGeom prst="line">
            <a:avLst/>
          </a:prstGeom>
          <a:noFill/>
          <a:ln w="12700">
            <a:solidFill>
              <a:srgbClr val="333D4E"/>
            </a:solidFill>
            <a:prstDash val="solid"/>
          </a:ln>
        </p:spPr>
      </p:sp>
      <p:sp>
        <p:nvSpPr>
          <p:cNvPr id="19" name="Shape 17"/>
          <p:cNvSpPr/>
          <p:nvPr/>
        </p:nvSpPr>
        <p:spPr>
          <a:xfrm>
            <a:off x="1051560" y="4681728"/>
            <a:ext cx="365760" cy="365760"/>
          </a:xfrm>
          <a:prstGeom prst="ellipse">
            <a:avLst/>
          </a:prstGeom>
          <a:solidFill>
            <a:srgbClr val="C00000"/>
          </a:solidFill>
          <a:ln w="12700">
            <a:solidFill>
              <a:srgbClr val="333333"/>
            </a:solidFill>
            <a:prstDash val="solid"/>
          </a:ln>
        </p:spPr>
      </p:sp>
      <p:sp>
        <p:nvSpPr>
          <p:cNvPr id="20" name="Text 18"/>
          <p:cNvSpPr txBox="1"/>
          <p:nvPr/>
        </p:nvSpPr>
        <p:spPr>
          <a:xfrm>
            <a:off x="1051560" y="4681728"/>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21" name="Text 19"/>
          <p:cNvSpPr txBox="1"/>
          <p:nvPr/>
        </p:nvSpPr>
        <p:spPr>
          <a:xfrm>
            <a:off x="1627632" y="4590288"/>
            <a:ext cx="4754880" cy="365760"/>
          </a:xfrm>
          <a:prstGeom prst="rect">
            <a:avLst/>
          </a:prstGeom>
          <a:noFill/>
          <a:ln/>
        </p:spPr>
        <p:txBody>
          <a:bodyPr wrap="square" lIns="0" tIns="0" rIns="0" bIns="0" rtlCol="0" anchor="ctr"/>
          <a:lstStyle/>
          <a:p>
            <a:pPr indent="0" marL="0">
              <a:buNone/>
            </a:pPr>
            <a:r>
              <a:rPr lang="en-US" sz="2100" b="1" dirty="0">
                <a:solidFill>
                  <a:srgbClr val="FFFFFF"/>
                </a:solidFill>
                <a:latin typeface="Arial" pitchFamily="34" charset="0"/>
                <a:ea typeface="Arial" pitchFamily="34" charset="-122"/>
                <a:cs typeface="Arial" pitchFamily="34" charset="-120"/>
              </a:rPr>
              <a:t>Name the six champion managers</a:t>
            </a:r>
            <a:endParaRPr lang="en-US" sz="2100" dirty="0"/>
          </a:p>
        </p:txBody>
      </p:sp>
      <p:sp>
        <p:nvSpPr>
          <p:cNvPr id="22" name="Text 20"/>
          <p:cNvSpPr txBox="1"/>
          <p:nvPr/>
        </p:nvSpPr>
        <p:spPr>
          <a:xfrm>
            <a:off x="1627632" y="4974336"/>
            <a:ext cx="6949440" cy="694944"/>
          </a:xfrm>
          <a:prstGeom prst="rect">
            <a:avLst/>
          </a:prstGeom>
          <a:noFill/>
          <a:ln/>
        </p:spPr>
        <p:txBody>
          <a:bodyPr wrap="square" lIns="0" tIns="0" rIns="0" bIns="0" rtlCol="0" anchor="t"/>
          <a:lstStyle/>
          <a:p>
            <a:pPr indent="0" marL="0">
              <a:lnSpc>
                <a:spcPts val="2100"/>
              </a:lnSpc>
              <a:buNone/>
            </a:pPr>
            <a:r>
              <a:rPr lang="en-US" sz="1550" dirty="0">
                <a:solidFill>
                  <a:srgbClr val="C6BCAE"/>
                </a:solidFill>
                <a:latin typeface="Arial" pitchFamily="34" charset="0"/>
                <a:ea typeface="Arial" pitchFamily="34" charset="-122"/>
                <a:cs typeface="Arial" pitchFamily="34" charset="-120"/>
              </a:rPr>
              <a:t>Six leaders who commit to posting a gig or an immersion before launch. Without stock on the shelves, nothing else here works.</a:t>
            </a:r>
            <a:endParaRPr lang="en-US" sz="1550" dirty="0"/>
          </a:p>
        </p:txBody>
      </p:sp>
      <p:sp>
        <p:nvSpPr>
          <p:cNvPr id="23" name="Shape 21"/>
          <p:cNvSpPr/>
          <p:nvPr/>
        </p:nvSpPr>
        <p:spPr>
          <a:xfrm>
            <a:off x="8796528" y="4626864"/>
            <a:ext cx="877824" cy="329184"/>
          </a:xfrm>
          <a:prstGeom prst="roundRect">
            <a:avLst>
              <a:gd name="adj" fmla="val 50000"/>
            </a:avLst>
          </a:prstGeom>
          <a:solidFill>
            <a:srgbClr val="2C3648"/>
          </a:solidFill>
          <a:ln w="12700">
            <a:solidFill>
              <a:srgbClr val="333333"/>
            </a:solidFill>
            <a:prstDash val="solid"/>
          </a:ln>
        </p:spPr>
      </p:sp>
      <p:sp>
        <p:nvSpPr>
          <p:cNvPr id="24" name="Text 22"/>
          <p:cNvSpPr txBox="1"/>
          <p:nvPr/>
        </p:nvSpPr>
        <p:spPr>
          <a:xfrm>
            <a:off x="8796528" y="4626864"/>
            <a:ext cx="877824" cy="329184"/>
          </a:xfrm>
          <a:prstGeom prst="rect">
            <a:avLst/>
          </a:prstGeom>
          <a:noFill/>
          <a:ln/>
        </p:spPr>
        <p:txBody>
          <a:bodyPr wrap="square" lIns="0" tIns="0" rIns="0" bIns="0" rtlCol="0" anchor="ctr"/>
          <a:lstStyle/>
          <a:p>
            <a:pPr algn="ctr" indent="0" marL="0">
              <a:buNone/>
            </a:pPr>
            <a:r>
              <a:rPr lang="en-US" sz="1400" b="1" dirty="0">
                <a:solidFill>
                  <a:srgbClr val="E3B457"/>
                </a:solidFill>
                <a:latin typeface="Arial" pitchFamily="34" charset="0"/>
                <a:ea typeface="Arial" pitchFamily="34" charset="-122"/>
                <a:cs typeface="Arial" pitchFamily="34" charset="-120"/>
              </a:rPr>
              <a:t>ExCo</a:t>
            </a:r>
            <a:endParaRPr lang="en-US" sz="1400" dirty="0"/>
          </a:p>
        </p:txBody>
      </p:sp>
      <p:sp>
        <p:nvSpPr>
          <p:cNvPr id="25" name="Shape 23"/>
          <p:cNvSpPr/>
          <p:nvPr/>
        </p:nvSpPr>
        <p:spPr>
          <a:xfrm>
            <a:off x="1051560" y="5870448"/>
            <a:ext cx="1371600" cy="54864"/>
          </a:xfrm>
          <a:prstGeom prst="rect">
            <a:avLst/>
          </a:prstGeom>
          <a:solidFill>
            <a:srgbClr val="E11D26"/>
          </a:solidFill>
          <a:ln w="12700">
            <a:solidFill>
              <a:srgbClr val="333333"/>
            </a:solidFill>
            <a:prstDash val="solid"/>
          </a:ln>
        </p:spPr>
      </p:sp>
      <p:sp>
        <p:nvSpPr>
          <p:cNvPr id="26" name="Text 24"/>
          <p:cNvSpPr txBox="1"/>
          <p:nvPr/>
        </p:nvSpPr>
        <p:spPr>
          <a:xfrm>
            <a:off x="1051560" y="6053328"/>
            <a:ext cx="10424160" cy="402336"/>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We are paying to find people we may already employ. ₱614 per employee a year stops that.</a:t>
            </a:r>
            <a:endParaRPr lang="en-US" sz="1700" dirty="0"/>
          </a:p>
        </p:txBody>
      </p:sp>
      <p:sp>
        <p:nvSpPr>
          <p:cNvPr id="27" name="Text 25"/>
          <p:cNvSpPr txBox="1"/>
          <p:nvPr/>
        </p:nvSpPr>
        <p:spPr>
          <a:xfrm>
            <a:off x="11167567" y="6382512"/>
            <a:ext cx="457200" cy="256032"/>
          </a:xfrm>
          <a:prstGeom prst="rect">
            <a:avLst/>
          </a:prstGeom>
          <a:noFill/>
          <a:ln/>
        </p:spPr>
        <p:txBody>
          <a:bodyPr wrap="square" lIns="0" tIns="0" rIns="0" bIns="0" rtlCol="0" anchor="ctr"/>
          <a:lstStyle/>
          <a:p>
            <a:pPr algn="r" indent="0" marL="0">
              <a:buNone/>
            </a:pPr>
            <a:r>
              <a:rPr lang="en-US" sz="1400" dirty="0">
                <a:solidFill>
                  <a:srgbClr val="5E6676"/>
                </a:solidFill>
                <a:latin typeface="Arial" pitchFamily="34" charset="0"/>
                <a:ea typeface="Arial" pitchFamily="34" charset="-122"/>
                <a:cs typeface="Arial" pitchFamily="34" charset="-120"/>
              </a:rPr>
              <a:t>12</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20624"/>
            <a:ext cx="420624" cy="68580"/>
          </a:xfrm>
          <a:prstGeom prst="rect">
            <a:avLst/>
          </a:prstGeom>
          <a:solidFill>
            <a:srgbClr val="C00000"/>
          </a:solidFill>
          <a:ln w="12700">
            <a:solidFill>
              <a:srgbClr val="333333"/>
            </a:solidFill>
            <a:prstDash val="solid"/>
          </a:ln>
        </p:spPr>
      </p:sp>
      <p:sp>
        <p:nvSpPr>
          <p:cNvPr id="3" name="Text 1"/>
          <p:cNvSpPr txBox="1"/>
          <p:nvPr/>
        </p:nvSpPr>
        <p:spPr>
          <a:xfrm>
            <a:off x="1115568" y="338328"/>
            <a:ext cx="10509199" cy="237744"/>
          </a:xfrm>
          <a:prstGeom prst="rect">
            <a:avLst/>
          </a:prstGeom>
          <a:noFill/>
          <a:ln/>
        </p:spPr>
        <p:txBody>
          <a:bodyPr wrap="square" lIns="0" tIns="0" rIns="0" bIns="0" rtlCol="0" anchor="ctr"/>
          <a:lstStyle/>
          <a:p>
            <a:pPr indent="0" marL="0">
              <a:buNone/>
            </a:pPr>
            <a:r>
              <a:rPr lang="en-US" sz="1400" b="1" spc="240" kern="0" dirty="0">
                <a:solidFill>
                  <a:srgbClr val="C00000"/>
                </a:solidFill>
                <a:latin typeface="Arial" pitchFamily="34" charset="0"/>
                <a:ea typeface="Arial" pitchFamily="34" charset="-122"/>
                <a:cs typeface="Arial" pitchFamily="34" charset="-120"/>
              </a:rPr>
              <a:t>APPENDIX</a:t>
            </a:r>
            <a:endParaRPr lang="en-US" sz="1400" dirty="0"/>
          </a:p>
        </p:txBody>
      </p:sp>
      <p:sp>
        <p:nvSpPr>
          <p:cNvPr id="4" name="Text 2"/>
          <p:cNvSpPr txBox="1"/>
          <p:nvPr/>
        </p:nvSpPr>
        <p:spPr>
          <a:xfrm>
            <a:off x="566928" y="694944"/>
            <a:ext cx="11057839" cy="566928"/>
          </a:xfrm>
          <a:prstGeom prst="rect">
            <a:avLst/>
          </a:prstGeom>
          <a:noFill/>
          <a:ln/>
        </p:spPr>
        <p:txBody>
          <a:bodyPr wrap="square" lIns="0" tIns="0" rIns="0" bIns="0" rtlCol="0" anchor="t"/>
          <a:lstStyle/>
          <a:p>
            <a:pPr indent="0" marL="0">
              <a:buNone/>
            </a:pPr>
            <a:r>
              <a:rPr lang="en-US" sz="2900" b="1" dirty="0">
                <a:solidFill>
                  <a:srgbClr val="141821"/>
                </a:solidFill>
                <a:latin typeface="Arial" pitchFamily="34" charset="0"/>
                <a:ea typeface="Arial" pitchFamily="34" charset="-122"/>
                <a:cs typeface="Arial" pitchFamily="34" charset="-120"/>
              </a:rPr>
              <a:t>What one internal fill is worth, net of the backfill.</a:t>
            </a:r>
            <a:endParaRPr lang="en-US" sz="2900" dirty="0"/>
          </a:p>
        </p:txBody>
      </p:sp>
      <p:sp>
        <p:nvSpPr>
          <p:cNvPr id="5" name="Text 3"/>
          <p:cNvSpPr txBox="1"/>
          <p:nvPr/>
        </p:nvSpPr>
        <p:spPr>
          <a:xfrm>
            <a:off x="566928" y="1298448"/>
            <a:ext cx="9509742" cy="310896"/>
          </a:xfrm>
          <a:prstGeom prst="rect">
            <a:avLst/>
          </a:prstGeom>
          <a:noFill/>
          <a:ln/>
        </p:spPr>
        <p:txBody>
          <a:bodyPr wrap="square" lIns="0" tIns="0" rIns="0" bIns="0" rtlCol="0" anchor="t"/>
          <a:lstStyle/>
          <a:p>
            <a:pPr indent="0" marL="0">
              <a:buNone/>
            </a:pPr>
            <a:r>
              <a:rPr lang="en-US" sz="1600" dirty="0">
                <a:solidFill>
                  <a:srgbClr val="7C8595"/>
                </a:solidFill>
                <a:latin typeface="Arial" pitchFamily="34" charset="0"/>
                <a:ea typeface="Arial" pitchFamily="34" charset="-122"/>
                <a:cs typeface="Arial" pitchFamily="34" charset="-120"/>
              </a:rPr>
              <a:t>The hiring-cost saving is smaller than it looks, and this is why.</a:t>
            </a:r>
            <a:endParaRPr lang="en-US" sz="1600" dirty="0"/>
          </a:p>
        </p:txBody>
      </p:sp>
      <p:sp>
        <p:nvSpPr>
          <p:cNvPr id="6" name="Text 4"/>
          <p:cNvSpPr txBox="1"/>
          <p:nvPr/>
        </p:nvSpPr>
        <p:spPr>
          <a:xfrm>
            <a:off x="566928" y="1920240"/>
            <a:ext cx="4637910" cy="512064"/>
          </a:xfrm>
          <a:prstGeom prst="rect">
            <a:avLst/>
          </a:prstGeom>
          <a:noFill/>
          <a:ln/>
        </p:spPr>
        <p:txBody>
          <a:bodyPr wrap="square" lIns="0" tIns="0" rIns="0" bIns="0" rtlCol="0" anchor="ctr"/>
          <a:lstStyle/>
          <a:p>
            <a:pPr indent="0" marL="0">
              <a:lnSpc>
                <a:spcPts val="2000"/>
              </a:lnSpc>
              <a:buNone/>
            </a:pPr>
            <a:r>
              <a:rPr lang="en-US" sz="1500" dirty="0">
                <a:solidFill>
                  <a:srgbClr val="3C4350"/>
                </a:solidFill>
                <a:latin typeface="Arial" pitchFamily="34" charset="0"/>
                <a:ea typeface="Arial" pitchFamily="34" charset="-122"/>
                <a:cs typeface="Arial" pitchFamily="34" charset="-120"/>
              </a:rPr>
              <a:t>We do not pay TA to hire a Band C from outside</a:t>
            </a:r>
            <a:endParaRPr lang="en-US" sz="1500" dirty="0"/>
          </a:p>
        </p:txBody>
      </p:sp>
      <p:sp>
        <p:nvSpPr>
          <p:cNvPr id="7" name="Text 5"/>
          <p:cNvSpPr txBox="1"/>
          <p:nvPr/>
        </p:nvSpPr>
        <p:spPr>
          <a:xfrm>
            <a:off x="5241414" y="1920240"/>
            <a:ext cx="1463040" cy="512064"/>
          </a:xfrm>
          <a:prstGeom prst="rect">
            <a:avLst/>
          </a:prstGeom>
          <a:noFill/>
          <a:ln/>
        </p:spPr>
        <p:txBody>
          <a:bodyPr wrap="square" lIns="0" tIns="0" rIns="0" bIns="0" rtlCol="0" anchor="ctr"/>
          <a:lstStyle/>
          <a:p>
            <a:pPr algn="r" indent="0" marL="0">
              <a:buNone/>
            </a:pPr>
            <a:r>
              <a:rPr lang="en-US" sz="1600" b="1" dirty="0">
                <a:solidFill>
                  <a:srgbClr val="0E7C66"/>
                </a:solidFill>
                <a:latin typeface="Arial" pitchFamily="34" charset="0"/>
                <a:ea typeface="Arial" pitchFamily="34" charset="-122"/>
                <a:cs typeface="Arial" pitchFamily="34" charset="-120"/>
              </a:rPr>
              <a:t>+₱35,367</a:t>
            </a:r>
            <a:endParaRPr lang="en-US" sz="1600" dirty="0"/>
          </a:p>
        </p:txBody>
      </p:sp>
      <p:sp>
        <p:nvSpPr>
          <p:cNvPr id="8" name="Shape 6"/>
          <p:cNvSpPr/>
          <p:nvPr/>
        </p:nvSpPr>
        <p:spPr>
          <a:xfrm>
            <a:off x="566928" y="2450592"/>
            <a:ext cx="6192390" cy="0"/>
          </a:xfrm>
          <a:prstGeom prst="line">
            <a:avLst/>
          </a:prstGeom>
          <a:noFill/>
          <a:ln w="12700">
            <a:solidFill>
              <a:srgbClr val="E4DFD6"/>
            </a:solidFill>
            <a:prstDash val="solid"/>
          </a:ln>
        </p:spPr>
      </p:sp>
      <p:sp>
        <p:nvSpPr>
          <p:cNvPr id="9" name="Text 7"/>
          <p:cNvSpPr txBox="1"/>
          <p:nvPr/>
        </p:nvSpPr>
        <p:spPr>
          <a:xfrm>
            <a:off x="566928" y="2523744"/>
            <a:ext cx="4637910" cy="512064"/>
          </a:xfrm>
          <a:prstGeom prst="rect">
            <a:avLst/>
          </a:prstGeom>
          <a:noFill/>
          <a:ln/>
        </p:spPr>
        <p:txBody>
          <a:bodyPr wrap="square" lIns="0" tIns="0" rIns="0" bIns="0" rtlCol="0" anchor="ctr"/>
          <a:lstStyle/>
          <a:p>
            <a:pPr indent="0" marL="0">
              <a:lnSpc>
                <a:spcPts val="2000"/>
              </a:lnSpc>
              <a:buNone/>
            </a:pPr>
            <a:r>
              <a:rPr lang="en-US" sz="1500" dirty="0">
                <a:solidFill>
                  <a:srgbClr val="3C4350"/>
                </a:solidFill>
                <a:latin typeface="Arial" pitchFamily="34" charset="0"/>
                <a:ea typeface="Arial" pitchFamily="34" charset="-122"/>
                <a:cs typeface="Arial" pitchFamily="34" charset="-120"/>
              </a:rPr>
              <a:t>But HR and TA still run the internal process</a:t>
            </a:r>
            <a:endParaRPr lang="en-US" sz="1500" dirty="0"/>
          </a:p>
        </p:txBody>
      </p:sp>
      <p:sp>
        <p:nvSpPr>
          <p:cNvPr id="10" name="Text 8"/>
          <p:cNvSpPr txBox="1"/>
          <p:nvPr/>
        </p:nvSpPr>
        <p:spPr>
          <a:xfrm>
            <a:off x="5241414" y="2523744"/>
            <a:ext cx="1463040" cy="512064"/>
          </a:xfrm>
          <a:prstGeom prst="rect">
            <a:avLst/>
          </a:prstGeom>
          <a:noFill/>
          <a:ln/>
        </p:spPr>
        <p:txBody>
          <a:bodyPr wrap="square" lIns="0" tIns="0" rIns="0" bIns="0" rtlCol="0" anchor="ctr"/>
          <a:lstStyle/>
          <a:p>
            <a:pPr algn="r" indent="0" marL="0">
              <a:buNone/>
            </a:pPr>
            <a:r>
              <a:rPr lang="en-US" sz="1600" b="1" dirty="0">
                <a:solidFill>
                  <a:srgbClr val="C00000"/>
                </a:solidFill>
                <a:latin typeface="Arial" pitchFamily="34" charset="0"/>
                <a:ea typeface="Arial" pitchFamily="34" charset="-122"/>
                <a:cs typeface="Arial" pitchFamily="34" charset="-120"/>
              </a:rPr>
              <a:t>−₱3,378</a:t>
            </a:r>
            <a:endParaRPr lang="en-US" sz="1600" dirty="0"/>
          </a:p>
        </p:txBody>
      </p:sp>
      <p:sp>
        <p:nvSpPr>
          <p:cNvPr id="11" name="Shape 9"/>
          <p:cNvSpPr/>
          <p:nvPr/>
        </p:nvSpPr>
        <p:spPr>
          <a:xfrm>
            <a:off x="566928" y="3054096"/>
            <a:ext cx="6192390" cy="0"/>
          </a:xfrm>
          <a:prstGeom prst="line">
            <a:avLst/>
          </a:prstGeom>
          <a:noFill/>
          <a:ln w="12700">
            <a:solidFill>
              <a:srgbClr val="E4DFD6"/>
            </a:solidFill>
            <a:prstDash val="solid"/>
          </a:ln>
        </p:spPr>
      </p:sp>
      <p:sp>
        <p:nvSpPr>
          <p:cNvPr id="12" name="Text 10"/>
          <p:cNvSpPr txBox="1"/>
          <p:nvPr/>
        </p:nvSpPr>
        <p:spPr>
          <a:xfrm>
            <a:off x="566928" y="3127248"/>
            <a:ext cx="4637910" cy="512064"/>
          </a:xfrm>
          <a:prstGeom prst="rect">
            <a:avLst/>
          </a:prstGeom>
          <a:noFill/>
          <a:ln/>
        </p:spPr>
        <p:txBody>
          <a:bodyPr wrap="square" lIns="0" tIns="0" rIns="0" bIns="0" rtlCol="0" anchor="ctr"/>
          <a:lstStyle/>
          <a:p>
            <a:pPr indent="0" marL="0">
              <a:lnSpc>
                <a:spcPts val="2000"/>
              </a:lnSpc>
              <a:buNone/>
            </a:pPr>
            <a:r>
              <a:rPr lang="en-US" sz="1500" dirty="0">
                <a:solidFill>
                  <a:srgbClr val="3C4350"/>
                </a:solidFill>
                <a:latin typeface="Arial" pitchFamily="34" charset="0"/>
                <a:ea typeface="Arial" pitchFamily="34" charset="-122"/>
                <a:cs typeface="Arial" pitchFamily="34" charset="-120"/>
              </a:rPr>
              <a:t>And the Band B seat they vacate is hired externally</a:t>
            </a:r>
            <a:endParaRPr lang="en-US" sz="1500" dirty="0"/>
          </a:p>
        </p:txBody>
      </p:sp>
      <p:sp>
        <p:nvSpPr>
          <p:cNvPr id="13" name="Text 11"/>
          <p:cNvSpPr txBox="1"/>
          <p:nvPr/>
        </p:nvSpPr>
        <p:spPr>
          <a:xfrm>
            <a:off x="5241414" y="3127248"/>
            <a:ext cx="1463040" cy="512064"/>
          </a:xfrm>
          <a:prstGeom prst="rect">
            <a:avLst/>
          </a:prstGeom>
          <a:noFill/>
          <a:ln/>
        </p:spPr>
        <p:txBody>
          <a:bodyPr wrap="square" lIns="0" tIns="0" rIns="0" bIns="0" rtlCol="0" anchor="ctr"/>
          <a:lstStyle/>
          <a:p>
            <a:pPr algn="r" indent="0" marL="0">
              <a:buNone/>
            </a:pPr>
            <a:r>
              <a:rPr lang="en-US" sz="1600" b="1" dirty="0">
                <a:solidFill>
                  <a:srgbClr val="C00000"/>
                </a:solidFill>
                <a:latin typeface="Arial" pitchFamily="34" charset="0"/>
                <a:ea typeface="Arial" pitchFamily="34" charset="-122"/>
                <a:cs typeface="Arial" pitchFamily="34" charset="-120"/>
              </a:rPr>
              <a:t>−₱6,977</a:t>
            </a:r>
            <a:endParaRPr lang="en-US" sz="1600" dirty="0"/>
          </a:p>
        </p:txBody>
      </p:sp>
      <p:sp>
        <p:nvSpPr>
          <p:cNvPr id="14" name="Shape 12"/>
          <p:cNvSpPr/>
          <p:nvPr/>
        </p:nvSpPr>
        <p:spPr>
          <a:xfrm>
            <a:off x="566928" y="3657600"/>
            <a:ext cx="6192390" cy="0"/>
          </a:xfrm>
          <a:prstGeom prst="line">
            <a:avLst/>
          </a:prstGeom>
          <a:noFill/>
          <a:ln w="12700">
            <a:solidFill>
              <a:srgbClr val="E4DFD6"/>
            </a:solidFill>
            <a:prstDash val="solid"/>
          </a:ln>
        </p:spPr>
      </p:sp>
      <p:sp>
        <p:nvSpPr>
          <p:cNvPr id="15" name="Text 13"/>
          <p:cNvSpPr txBox="1"/>
          <p:nvPr/>
        </p:nvSpPr>
        <p:spPr>
          <a:xfrm>
            <a:off x="566928" y="3730752"/>
            <a:ext cx="4637910" cy="512064"/>
          </a:xfrm>
          <a:prstGeom prst="rect">
            <a:avLst/>
          </a:prstGeom>
          <a:noFill/>
          <a:ln/>
        </p:spPr>
        <p:txBody>
          <a:bodyPr wrap="square" lIns="0" tIns="0" rIns="0" bIns="0" rtlCol="0" anchor="ctr"/>
          <a:lstStyle/>
          <a:p>
            <a:pPr indent="0" marL="0">
              <a:lnSpc>
                <a:spcPts val="2000"/>
              </a:lnSpc>
              <a:buNone/>
            </a:pPr>
            <a:r>
              <a:rPr lang="en-US" sz="1500" dirty="0">
                <a:solidFill>
                  <a:srgbClr val="3C4350"/>
                </a:solidFill>
                <a:latin typeface="Arial" pitchFamily="34" charset="0"/>
                <a:ea typeface="Arial" pitchFamily="34" charset="-122"/>
                <a:cs typeface="Arial" pitchFamily="34" charset="-120"/>
              </a:rPr>
              <a:t>Band C seat filled in 21 days, not 58 — output kept</a:t>
            </a:r>
            <a:endParaRPr lang="en-US" sz="1500" dirty="0"/>
          </a:p>
        </p:txBody>
      </p:sp>
      <p:sp>
        <p:nvSpPr>
          <p:cNvPr id="16" name="Text 14"/>
          <p:cNvSpPr txBox="1"/>
          <p:nvPr/>
        </p:nvSpPr>
        <p:spPr>
          <a:xfrm>
            <a:off x="5241414" y="3730752"/>
            <a:ext cx="1463040" cy="512064"/>
          </a:xfrm>
          <a:prstGeom prst="rect">
            <a:avLst/>
          </a:prstGeom>
          <a:noFill/>
          <a:ln/>
        </p:spPr>
        <p:txBody>
          <a:bodyPr wrap="square" lIns="0" tIns="0" rIns="0" bIns="0" rtlCol="0" anchor="ctr"/>
          <a:lstStyle/>
          <a:p>
            <a:pPr algn="r" indent="0" marL="0">
              <a:buNone/>
            </a:pPr>
            <a:r>
              <a:rPr lang="en-US" sz="1600" b="1" dirty="0">
                <a:solidFill>
                  <a:srgbClr val="0E7C66"/>
                </a:solidFill>
                <a:latin typeface="Arial" pitchFamily="34" charset="0"/>
                <a:ea typeface="Arial" pitchFamily="34" charset="-122"/>
                <a:cs typeface="Arial" pitchFamily="34" charset="-120"/>
              </a:rPr>
              <a:t>+₱158,510</a:t>
            </a:r>
            <a:endParaRPr lang="en-US" sz="1600" dirty="0"/>
          </a:p>
        </p:txBody>
      </p:sp>
      <p:sp>
        <p:nvSpPr>
          <p:cNvPr id="17" name="Shape 15"/>
          <p:cNvSpPr/>
          <p:nvPr/>
        </p:nvSpPr>
        <p:spPr>
          <a:xfrm>
            <a:off x="566928" y="4261104"/>
            <a:ext cx="6192390" cy="0"/>
          </a:xfrm>
          <a:prstGeom prst="line">
            <a:avLst/>
          </a:prstGeom>
          <a:noFill/>
          <a:ln w="12700">
            <a:solidFill>
              <a:srgbClr val="E4DFD6"/>
            </a:solidFill>
            <a:prstDash val="solid"/>
          </a:ln>
        </p:spPr>
      </p:sp>
      <p:sp>
        <p:nvSpPr>
          <p:cNvPr id="18" name="Text 16"/>
          <p:cNvSpPr txBox="1"/>
          <p:nvPr/>
        </p:nvSpPr>
        <p:spPr>
          <a:xfrm>
            <a:off x="566928" y="4334256"/>
            <a:ext cx="4637910" cy="512064"/>
          </a:xfrm>
          <a:prstGeom prst="rect">
            <a:avLst/>
          </a:prstGeom>
          <a:noFill/>
          <a:ln/>
        </p:spPr>
        <p:txBody>
          <a:bodyPr wrap="square" lIns="0" tIns="0" rIns="0" bIns="0" rtlCol="0" anchor="ctr"/>
          <a:lstStyle/>
          <a:p>
            <a:pPr indent="0" marL="0">
              <a:lnSpc>
                <a:spcPts val="2000"/>
              </a:lnSpc>
              <a:buNone/>
            </a:pPr>
            <a:r>
              <a:rPr lang="en-US" sz="1500" dirty="0">
                <a:solidFill>
                  <a:srgbClr val="3C4350"/>
                </a:solidFill>
                <a:latin typeface="Arial" pitchFamily="34" charset="0"/>
                <a:ea typeface="Arial" pitchFamily="34" charset="-122"/>
                <a:cs typeface="Arial" pitchFamily="34" charset="-120"/>
              </a:rPr>
              <a:t>The Band B seat is now empty for 58 days</a:t>
            </a:r>
            <a:endParaRPr lang="en-US" sz="1500" dirty="0"/>
          </a:p>
        </p:txBody>
      </p:sp>
      <p:sp>
        <p:nvSpPr>
          <p:cNvPr id="19" name="Text 17"/>
          <p:cNvSpPr txBox="1"/>
          <p:nvPr/>
        </p:nvSpPr>
        <p:spPr>
          <a:xfrm>
            <a:off x="5241414" y="4334256"/>
            <a:ext cx="1463040" cy="512064"/>
          </a:xfrm>
          <a:prstGeom prst="rect">
            <a:avLst/>
          </a:prstGeom>
          <a:noFill/>
          <a:ln/>
        </p:spPr>
        <p:txBody>
          <a:bodyPr wrap="square" lIns="0" tIns="0" rIns="0" bIns="0" rtlCol="0" anchor="ctr"/>
          <a:lstStyle/>
          <a:p>
            <a:pPr algn="r" indent="0" marL="0">
              <a:buNone/>
            </a:pPr>
            <a:r>
              <a:rPr lang="en-US" sz="1600" b="1" dirty="0">
                <a:solidFill>
                  <a:srgbClr val="C00000"/>
                </a:solidFill>
                <a:latin typeface="Arial" pitchFamily="34" charset="0"/>
                <a:ea typeface="Arial" pitchFamily="34" charset="-122"/>
                <a:cs typeface="Arial" pitchFamily="34" charset="-120"/>
              </a:rPr>
              <a:t>−₱97,266</a:t>
            </a:r>
            <a:endParaRPr lang="en-US" sz="1600" dirty="0"/>
          </a:p>
        </p:txBody>
      </p:sp>
      <p:sp>
        <p:nvSpPr>
          <p:cNvPr id="20" name="Shape 18"/>
          <p:cNvSpPr/>
          <p:nvPr/>
        </p:nvSpPr>
        <p:spPr>
          <a:xfrm>
            <a:off x="566928" y="4864608"/>
            <a:ext cx="6192390" cy="0"/>
          </a:xfrm>
          <a:prstGeom prst="line">
            <a:avLst/>
          </a:prstGeom>
          <a:noFill/>
          <a:ln w="12700">
            <a:solidFill>
              <a:srgbClr val="E4DFD6"/>
            </a:solidFill>
            <a:prstDash val="solid"/>
          </a:ln>
        </p:spPr>
      </p:sp>
      <p:sp>
        <p:nvSpPr>
          <p:cNvPr id="21" name="Shape 19"/>
          <p:cNvSpPr/>
          <p:nvPr/>
        </p:nvSpPr>
        <p:spPr>
          <a:xfrm>
            <a:off x="566928" y="5010912"/>
            <a:ext cx="6192390" cy="676656"/>
          </a:xfrm>
          <a:prstGeom prst="roundRect">
            <a:avLst>
              <a:gd name="adj" fmla="val 5405"/>
            </a:avLst>
          </a:prstGeom>
          <a:solidFill>
            <a:srgbClr val="1B2437"/>
          </a:solidFill>
          <a:ln w="12700">
            <a:solidFill>
              <a:srgbClr val="333333"/>
            </a:solidFill>
            <a:prstDash val="solid"/>
          </a:ln>
        </p:spPr>
      </p:sp>
      <p:sp>
        <p:nvSpPr>
          <p:cNvPr id="22" name="Text 20"/>
          <p:cNvSpPr txBox="1"/>
          <p:nvPr/>
        </p:nvSpPr>
        <p:spPr>
          <a:xfrm>
            <a:off x="822960" y="5010912"/>
            <a:ext cx="4272150" cy="676656"/>
          </a:xfrm>
          <a:prstGeom prst="rect">
            <a:avLst/>
          </a:prstGeom>
          <a:noFill/>
          <a:ln/>
        </p:spPr>
        <p:txBody>
          <a:bodyPr wrap="square" lIns="0" tIns="0" rIns="0" bIns="0" rtlCol="0" anchor="ctr"/>
          <a:lstStyle/>
          <a:p>
            <a:pPr indent="0" marL="0">
              <a:buNone/>
            </a:pPr>
            <a:r>
              <a:rPr lang="en-US" sz="1500" b="1" spc="60" kern="0" dirty="0">
                <a:solidFill>
                  <a:srgbClr val="FFFFFF"/>
                </a:solidFill>
                <a:latin typeface="Arial" pitchFamily="34" charset="0"/>
                <a:ea typeface="Arial" pitchFamily="34" charset="-122"/>
                <a:cs typeface="Arial" pitchFamily="34" charset="-120"/>
              </a:rPr>
              <a:t>NET VALUE, ONE BAND C INTERNAL FILL</a:t>
            </a:r>
            <a:endParaRPr lang="en-US" sz="1500" dirty="0"/>
          </a:p>
        </p:txBody>
      </p:sp>
      <p:sp>
        <p:nvSpPr>
          <p:cNvPr id="23" name="Text 21"/>
          <p:cNvSpPr txBox="1"/>
          <p:nvPr/>
        </p:nvSpPr>
        <p:spPr>
          <a:xfrm>
            <a:off x="4875654" y="5010912"/>
            <a:ext cx="1645920" cy="676656"/>
          </a:xfrm>
          <a:prstGeom prst="rect">
            <a:avLst/>
          </a:prstGeom>
          <a:noFill/>
          <a:ln/>
        </p:spPr>
        <p:txBody>
          <a:bodyPr wrap="square" lIns="0" tIns="0" rIns="0" bIns="0" rtlCol="0" anchor="ctr"/>
          <a:lstStyle/>
          <a:p>
            <a:pPr algn="r" indent="0" marL="0">
              <a:buNone/>
            </a:pPr>
            <a:r>
              <a:rPr lang="en-US" sz="2200" b="1" dirty="0">
                <a:solidFill>
                  <a:srgbClr val="FF9A9A"/>
                </a:solidFill>
                <a:latin typeface="Arial" pitchFamily="34" charset="0"/>
                <a:ea typeface="Arial" pitchFamily="34" charset="-122"/>
                <a:cs typeface="Arial" pitchFamily="34" charset="-120"/>
              </a:rPr>
              <a:t>₱86,259</a:t>
            </a:r>
            <a:endParaRPr lang="en-US" sz="2200" dirty="0"/>
          </a:p>
        </p:txBody>
      </p:sp>
      <p:sp>
        <p:nvSpPr>
          <p:cNvPr id="24" name="Text 22"/>
          <p:cNvSpPr txBox="1"/>
          <p:nvPr/>
        </p:nvSpPr>
        <p:spPr>
          <a:xfrm>
            <a:off x="7125078" y="1847088"/>
            <a:ext cx="4499689" cy="237744"/>
          </a:xfrm>
          <a:prstGeom prst="rect">
            <a:avLst/>
          </a:prstGeom>
          <a:noFill/>
          <a:ln/>
        </p:spPr>
        <p:txBody>
          <a:bodyPr wrap="square" lIns="0" tIns="0" rIns="0" bIns="0" rtlCol="0" anchor="ctr"/>
          <a:lstStyle/>
          <a:p>
            <a:pPr indent="0" marL="0">
              <a:buNone/>
            </a:pPr>
            <a:r>
              <a:rPr lang="en-US" sz="1400" b="1" spc="140" kern="0" dirty="0">
                <a:solidFill>
                  <a:srgbClr val="C00000"/>
                </a:solidFill>
                <a:latin typeface="Arial" pitchFamily="34" charset="0"/>
                <a:ea typeface="Arial" pitchFamily="34" charset="-122"/>
                <a:cs typeface="Arial" pitchFamily="34" charset="-120"/>
              </a:rPr>
              <a:t>BLENDED ON THE 2025 HIRING MIX</a:t>
            </a:r>
            <a:endParaRPr lang="en-US" sz="1400" dirty="0"/>
          </a:p>
        </p:txBody>
      </p:sp>
      <p:sp>
        <p:nvSpPr>
          <p:cNvPr id="25" name="Text 23"/>
          <p:cNvSpPr txBox="1"/>
          <p:nvPr/>
        </p:nvSpPr>
        <p:spPr>
          <a:xfrm>
            <a:off x="7125078" y="2231136"/>
            <a:ext cx="1799876" cy="457200"/>
          </a:xfrm>
          <a:prstGeom prst="rect">
            <a:avLst/>
          </a:prstGeom>
          <a:noFill/>
          <a:ln/>
        </p:spPr>
        <p:txBody>
          <a:bodyPr wrap="square" lIns="0" tIns="0" rIns="0" bIns="0" rtlCol="0" anchor="ctr"/>
          <a:lstStyle/>
          <a:p>
            <a:pPr indent="0" marL="0">
              <a:buNone/>
            </a:pPr>
            <a:r>
              <a:rPr lang="en-US" sz="1500" dirty="0">
                <a:solidFill>
                  <a:srgbClr val="141821"/>
                </a:solidFill>
                <a:latin typeface="Arial" pitchFamily="34" charset="0"/>
                <a:ea typeface="Arial" pitchFamily="34" charset="-122"/>
                <a:cs typeface="Arial" pitchFamily="34" charset="-120"/>
              </a:rPr>
              <a:t>Band B fills</a:t>
            </a:r>
            <a:endParaRPr lang="en-US" sz="1500" dirty="0"/>
          </a:p>
        </p:txBody>
      </p:sp>
      <p:sp>
        <p:nvSpPr>
          <p:cNvPr id="26" name="Text 24"/>
          <p:cNvSpPr txBox="1"/>
          <p:nvPr/>
        </p:nvSpPr>
        <p:spPr>
          <a:xfrm>
            <a:off x="8834960" y="2231136"/>
            <a:ext cx="1259913" cy="457200"/>
          </a:xfrm>
          <a:prstGeom prst="rect">
            <a:avLst/>
          </a:prstGeom>
          <a:noFill/>
          <a:ln/>
        </p:spPr>
        <p:txBody>
          <a:bodyPr wrap="square" lIns="0" tIns="0" rIns="0" bIns="0" rtlCol="0" anchor="ctr"/>
          <a:lstStyle/>
          <a:p>
            <a:pPr indent="0" marL="0">
              <a:buNone/>
            </a:pPr>
            <a:r>
              <a:rPr lang="en-US" sz="1450" dirty="0">
                <a:solidFill>
                  <a:srgbClr val="7C8595"/>
                </a:solidFill>
                <a:latin typeface="Arial" pitchFamily="34" charset="0"/>
                <a:ea typeface="Arial" pitchFamily="34" charset="-122"/>
                <a:cs typeface="Arial" pitchFamily="34" charset="-120"/>
              </a:rPr>
              <a:t>186 a year</a:t>
            </a:r>
            <a:endParaRPr lang="en-US" sz="1450" dirty="0"/>
          </a:p>
        </p:txBody>
      </p:sp>
      <p:sp>
        <p:nvSpPr>
          <p:cNvPr id="27" name="Text 25"/>
          <p:cNvSpPr txBox="1"/>
          <p:nvPr/>
        </p:nvSpPr>
        <p:spPr>
          <a:xfrm>
            <a:off x="9644904" y="2231136"/>
            <a:ext cx="1889869" cy="457200"/>
          </a:xfrm>
          <a:prstGeom prst="rect">
            <a:avLst/>
          </a:prstGeom>
          <a:noFill/>
          <a:ln/>
        </p:spPr>
        <p:txBody>
          <a:bodyPr wrap="square" lIns="0" tIns="0" rIns="0" bIns="0" rtlCol="0" anchor="ctr"/>
          <a:lstStyle/>
          <a:p>
            <a:pPr algn="r" indent="0" marL="0">
              <a:buNone/>
            </a:pPr>
            <a:r>
              <a:rPr lang="en-US" sz="1500" b="1" dirty="0">
                <a:solidFill>
                  <a:srgbClr val="3C4350"/>
                </a:solidFill>
                <a:latin typeface="Arial" pitchFamily="34" charset="0"/>
                <a:ea typeface="Arial" pitchFamily="34" charset="-122"/>
                <a:cs typeface="Arial" pitchFamily="34" charset="-120"/>
              </a:rPr>
              <a:t>₱19,967 each</a:t>
            </a:r>
            <a:endParaRPr lang="en-US" sz="1500" dirty="0"/>
          </a:p>
        </p:txBody>
      </p:sp>
      <p:sp>
        <p:nvSpPr>
          <p:cNvPr id="28" name="Text 26"/>
          <p:cNvSpPr txBox="1"/>
          <p:nvPr/>
        </p:nvSpPr>
        <p:spPr>
          <a:xfrm>
            <a:off x="7125078" y="2871216"/>
            <a:ext cx="1799876" cy="457200"/>
          </a:xfrm>
          <a:prstGeom prst="rect">
            <a:avLst/>
          </a:prstGeom>
          <a:noFill/>
          <a:ln/>
        </p:spPr>
        <p:txBody>
          <a:bodyPr wrap="square" lIns="0" tIns="0" rIns="0" bIns="0" rtlCol="0" anchor="ctr"/>
          <a:lstStyle/>
          <a:p>
            <a:pPr indent="0" marL="0">
              <a:buNone/>
            </a:pPr>
            <a:r>
              <a:rPr lang="en-US" sz="1500" dirty="0">
                <a:solidFill>
                  <a:srgbClr val="141821"/>
                </a:solidFill>
                <a:latin typeface="Arial" pitchFamily="34" charset="0"/>
                <a:ea typeface="Arial" pitchFamily="34" charset="-122"/>
                <a:cs typeface="Arial" pitchFamily="34" charset="-120"/>
              </a:rPr>
              <a:t>Band C fills</a:t>
            </a:r>
            <a:endParaRPr lang="en-US" sz="1500" dirty="0"/>
          </a:p>
        </p:txBody>
      </p:sp>
      <p:sp>
        <p:nvSpPr>
          <p:cNvPr id="29" name="Text 27"/>
          <p:cNvSpPr txBox="1"/>
          <p:nvPr/>
        </p:nvSpPr>
        <p:spPr>
          <a:xfrm>
            <a:off x="8834960" y="2871216"/>
            <a:ext cx="1259913" cy="457200"/>
          </a:xfrm>
          <a:prstGeom prst="rect">
            <a:avLst/>
          </a:prstGeom>
          <a:noFill/>
          <a:ln/>
        </p:spPr>
        <p:txBody>
          <a:bodyPr wrap="square" lIns="0" tIns="0" rIns="0" bIns="0" rtlCol="0" anchor="ctr"/>
          <a:lstStyle/>
          <a:p>
            <a:pPr indent="0" marL="0">
              <a:buNone/>
            </a:pPr>
            <a:r>
              <a:rPr lang="en-US" sz="1450" dirty="0">
                <a:solidFill>
                  <a:srgbClr val="7C8595"/>
                </a:solidFill>
                <a:latin typeface="Arial" pitchFamily="34" charset="0"/>
                <a:ea typeface="Arial" pitchFamily="34" charset="-122"/>
                <a:cs typeface="Arial" pitchFamily="34" charset="-120"/>
              </a:rPr>
              <a:t>103 a year</a:t>
            </a:r>
            <a:endParaRPr lang="en-US" sz="1450" dirty="0"/>
          </a:p>
        </p:txBody>
      </p:sp>
      <p:sp>
        <p:nvSpPr>
          <p:cNvPr id="30" name="Text 28"/>
          <p:cNvSpPr txBox="1"/>
          <p:nvPr/>
        </p:nvSpPr>
        <p:spPr>
          <a:xfrm>
            <a:off x="9644904" y="2871216"/>
            <a:ext cx="1889869" cy="457200"/>
          </a:xfrm>
          <a:prstGeom prst="rect">
            <a:avLst/>
          </a:prstGeom>
          <a:noFill/>
          <a:ln/>
        </p:spPr>
        <p:txBody>
          <a:bodyPr wrap="square" lIns="0" tIns="0" rIns="0" bIns="0" rtlCol="0" anchor="ctr"/>
          <a:lstStyle/>
          <a:p>
            <a:pPr algn="r" indent="0" marL="0">
              <a:buNone/>
            </a:pPr>
            <a:r>
              <a:rPr lang="en-US" sz="1500" b="1" dirty="0">
                <a:solidFill>
                  <a:srgbClr val="3C4350"/>
                </a:solidFill>
                <a:latin typeface="Arial" pitchFamily="34" charset="0"/>
                <a:ea typeface="Arial" pitchFamily="34" charset="-122"/>
                <a:cs typeface="Arial" pitchFamily="34" charset="-120"/>
              </a:rPr>
              <a:t>₱86,259 each</a:t>
            </a:r>
            <a:endParaRPr lang="en-US" sz="1500" dirty="0"/>
          </a:p>
        </p:txBody>
      </p:sp>
      <p:sp>
        <p:nvSpPr>
          <p:cNvPr id="31" name="Shape 29"/>
          <p:cNvSpPr/>
          <p:nvPr/>
        </p:nvSpPr>
        <p:spPr>
          <a:xfrm>
            <a:off x="6960486" y="3456432"/>
            <a:ext cx="4865449" cy="566928"/>
          </a:xfrm>
          <a:prstGeom prst="roundRect">
            <a:avLst>
              <a:gd name="adj" fmla="val 6452"/>
            </a:avLst>
          </a:prstGeom>
          <a:solidFill>
            <a:srgbClr val="F7F4EF"/>
          </a:solidFill>
          <a:ln w="12700">
            <a:solidFill>
              <a:srgbClr val="333333"/>
            </a:solidFill>
            <a:prstDash val="solid"/>
          </a:ln>
        </p:spPr>
      </p:sp>
      <p:sp>
        <p:nvSpPr>
          <p:cNvPr id="32" name="Text 30"/>
          <p:cNvSpPr txBox="1"/>
          <p:nvPr/>
        </p:nvSpPr>
        <p:spPr>
          <a:xfrm>
            <a:off x="7125078" y="3511296"/>
            <a:ext cx="1799876" cy="457200"/>
          </a:xfrm>
          <a:prstGeom prst="rect">
            <a:avLst/>
          </a:prstGeom>
          <a:noFill/>
          <a:ln/>
        </p:spPr>
        <p:txBody>
          <a:bodyPr wrap="square" lIns="0" tIns="0" rIns="0" bIns="0" rtlCol="0" anchor="ctr"/>
          <a:lstStyle/>
          <a:p>
            <a:pPr indent="0" marL="0">
              <a:buNone/>
            </a:pPr>
            <a:r>
              <a:rPr lang="en-US" sz="1500" b="1" dirty="0">
                <a:solidFill>
                  <a:srgbClr val="141821"/>
                </a:solidFill>
                <a:latin typeface="Arial" pitchFamily="34" charset="0"/>
                <a:ea typeface="Arial" pitchFamily="34" charset="-122"/>
                <a:cs typeface="Arial" pitchFamily="34" charset="-120"/>
              </a:rPr>
              <a:t>Blended</a:t>
            </a:r>
            <a:endParaRPr lang="en-US" sz="1500" dirty="0"/>
          </a:p>
        </p:txBody>
      </p:sp>
      <p:sp>
        <p:nvSpPr>
          <p:cNvPr id="33" name="Text 31"/>
          <p:cNvSpPr txBox="1"/>
          <p:nvPr/>
        </p:nvSpPr>
        <p:spPr>
          <a:xfrm>
            <a:off x="8834960" y="3511296"/>
            <a:ext cx="1259913" cy="457200"/>
          </a:xfrm>
          <a:prstGeom prst="rect">
            <a:avLst/>
          </a:prstGeom>
          <a:noFill/>
          <a:ln/>
        </p:spPr>
        <p:txBody>
          <a:bodyPr wrap="square" lIns="0" tIns="0" rIns="0" bIns="0" rtlCol="0" anchor="ctr"/>
          <a:lstStyle/>
          <a:p>
            <a:pPr indent="0" marL="0">
              <a:buNone/>
            </a:pPr>
            <a:r>
              <a:rPr lang="en-US" sz="1450" dirty="0">
                <a:solidFill>
                  <a:srgbClr val="7C8595"/>
                </a:solidFill>
                <a:latin typeface="Arial" pitchFamily="34" charset="0"/>
                <a:ea typeface="Arial" pitchFamily="34" charset="-122"/>
                <a:cs typeface="Arial" pitchFamily="34" charset="-120"/>
              </a:rPr>
              <a:t>289 a year</a:t>
            </a:r>
            <a:endParaRPr lang="en-US" sz="1450" dirty="0"/>
          </a:p>
        </p:txBody>
      </p:sp>
      <p:sp>
        <p:nvSpPr>
          <p:cNvPr id="34" name="Text 32"/>
          <p:cNvSpPr txBox="1"/>
          <p:nvPr/>
        </p:nvSpPr>
        <p:spPr>
          <a:xfrm>
            <a:off x="9644904" y="3511296"/>
            <a:ext cx="1889869" cy="457200"/>
          </a:xfrm>
          <a:prstGeom prst="rect">
            <a:avLst/>
          </a:prstGeom>
          <a:noFill/>
          <a:ln/>
        </p:spPr>
        <p:txBody>
          <a:bodyPr wrap="square" lIns="0" tIns="0" rIns="0" bIns="0" rtlCol="0" anchor="ctr"/>
          <a:lstStyle/>
          <a:p>
            <a:pPr algn="r" indent="0" marL="0">
              <a:buNone/>
            </a:pPr>
            <a:r>
              <a:rPr lang="en-US" sz="1500" b="1" dirty="0">
                <a:solidFill>
                  <a:srgbClr val="C00000"/>
                </a:solidFill>
                <a:latin typeface="Arial" pitchFamily="34" charset="0"/>
                <a:ea typeface="Arial" pitchFamily="34" charset="-122"/>
                <a:cs typeface="Arial" pitchFamily="34" charset="-120"/>
              </a:rPr>
              <a:t>₱43,593 each</a:t>
            </a:r>
            <a:endParaRPr lang="en-US" sz="1500" dirty="0"/>
          </a:p>
        </p:txBody>
      </p:sp>
      <p:sp>
        <p:nvSpPr>
          <p:cNvPr id="35" name="Shape 33"/>
          <p:cNvSpPr/>
          <p:nvPr/>
        </p:nvSpPr>
        <p:spPr>
          <a:xfrm>
            <a:off x="7125078" y="4224528"/>
            <a:ext cx="4499689" cy="0"/>
          </a:xfrm>
          <a:prstGeom prst="line">
            <a:avLst/>
          </a:prstGeom>
          <a:noFill/>
          <a:ln w="12700">
            <a:solidFill>
              <a:srgbClr val="E4DFD6"/>
            </a:solidFill>
            <a:prstDash val="solid"/>
          </a:ln>
        </p:spPr>
      </p:sp>
      <p:sp>
        <p:nvSpPr>
          <p:cNvPr id="36" name="Text 34"/>
          <p:cNvSpPr txBox="1"/>
          <p:nvPr/>
        </p:nvSpPr>
        <p:spPr>
          <a:xfrm>
            <a:off x="7125078" y="4352544"/>
            <a:ext cx="4499689" cy="274320"/>
          </a:xfrm>
          <a:prstGeom prst="rect">
            <a:avLst/>
          </a:prstGeom>
          <a:noFill/>
          <a:ln/>
        </p:spPr>
        <p:txBody>
          <a:bodyPr wrap="square" lIns="0" tIns="0" rIns="0" bIns="0" rtlCol="0" anchor="t"/>
          <a:lstStyle/>
          <a:p>
            <a:pPr indent="0" marL="0">
              <a:buNone/>
            </a:pPr>
            <a:r>
              <a:rPr lang="en-US" sz="1500" b="1" dirty="0">
                <a:solidFill>
                  <a:srgbClr val="141821"/>
                </a:solidFill>
                <a:latin typeface="Arial" pitchFamily="34" charset="0"/>
                <a:ea typeface="Arial" pitchFamily="34" charset="-122"/>
                <a:cs typeface="Arial" pitchFamily="34" charset="-120"/>
              </a:rPr>
              <a:t>Plus turnover we avoid</a:t>
            </a:r>
            <a:endParaRPr lang="en-US" sz="1500" dirty="0"/>
          </a:p>
        </p:txBody>
      </p:sp>
      <p:sp>
        <p:nvSpPr>
          <p:cNvPr id="37" name="Text 35"/>
          <p:cNvSpPr txBox="1"/>
          <p:nvPr/>
        </p:nvSpPr>
        <p:spPr>
          <a:xfrm>
            <a:off x="7125078" y="4645152"/>
            <a:ext cx="4499689" cy="731520"/>
          </a:xfrm>
          <a:prstGeom prst="rect">
            <a:avLst/>
          </a:prstGeom>
          <a:noFill/>
          <a:ln/>
        </p:spPr>
        <p:txBody>
          <a:bodyPr wrap="square" lIns="0" tIns="0" rIns="0" bIns="0" rtlCol="0" anchor="t"/>
          <a:lstStyle/>
          <a:p>
            <a:pPr indent="0" marL="0">
              <a:lnSpc>
                <a:spcPts val="1900"/>
              </a:lnSpc>
              <a:buNone/>
            </a:pPr>
            <a:r>
              <a:rPr lang="en-US" sz="1450" dirty="0">
                <a:solidFill>
                  <a:srgbClr val="3C4350"/>
                </a:solidFill>
                <a:latin typeface="Arial" pitchFamily="34" charset="0"/>
                <a:ea typeface="Arial" pitchFamily="34" charset="-122"/>
                <a:cs typeface="Arial" pitchFamily="34" charset="-120"/>
              </a:rPr>
              <a:t>15 points of excess attrition × ₱508,194 replacement cost = ₱76,229 for every person who gets the move.</a:t>
            </a:r>
            <a:endParaRPr lang="en-US" sz="1450" dirty="0"/>
          </a:p>
        </p:txBody>
      </p:sp>
      <p:sp>
        <p:nvSpPr>
          <p:cNvPr id="38" name="Shape 36"/>
          <p:cNvSpPr/>
          <p:nvPr/>
        </p:nvSpPr>
        <p:spPr>
          <a:xfrm>
            <a:off x="6978774" y="5413248"/>
            <a:ext cx="4682569" cy="658368"/>
          </a:xfrm>
          <a:prstGeom prst="roundRect">
            <a:avLst>
              <a:gd name="adj" fmla="val 5556"/>
            </a:avLst>
          </a:prstGeom>
          <a:solidFill>
            <a:srgbClr val="FCEDED"/>
          </a:solidFill>
          <a:ln w="12700">
            <a:solidFill>
              <a:srgbClr val="333333"/>
            </a:solidFill>
            <a:prstDash val="solid"/>
          </a:ln>
        </p:spPr>
      </p:sp>
      <p:sp>
        <p:nvSpPr>
          <p:cNvPr id="39" name="Text 37"/>
          <p:cNvSpPr txBox="1"/>
          <p:nvPr/>
        </p:nvSpPr>
        <p:spPr>
          <a:xfrm>
            <a:off x="7125078" y="5413248"/>
            <a:ext cx="4499689" cy="658368"/>
          </a:xfrm>
          <a:prstGeom prst="rect">
            <a:avLst/>
          </a:prstGeom>
          <a:noFill/>
          <a:ln/>
        </p:spPr>
        <p:txBody>
          <a:bodyPr wrap="square" lIns="0" tIns="0" rIns="0" bIns="0" rtlCol="0" anchor="ctr"/>
          <a:lstStyle/>
          <a:p>
            <a:pPr indent="0" marL="0">
              <a:buNone/>
            </a:pPr>
            <a:r>
              <a:rPr lang="en-US" sz="2000" b="1" dirty="0">
                <a:solidFill>
                  <a:srgbClr val="C00000"/>
                </a:solidFill>
                <a:latin typeface="Arial" pitchFamily="34" charset="0"/>
                <a:ea typeface="Arial" pitchFamily="34" charset="-122"/>
                <a:cs typeface="Arial" pitchFamily="34" charset="-120"/>
              </a:rPr>
              <a:t>₱119,822  </a:t>
            </a:r>
            <a:pPr indent="0" marL="0">
              <a:buNone/>
            </a:pPr>
            <a:r>
              <a:rPr lang="en-US" sz="1450" dirty="0">
                <a:solidFill>
                  <a:srgbClr val="3C4350"/>
                </a:solidFill>
                <a:latin typeface="Arial" pitchFamily="34" charset="0"/>
                <a:ea typeface="Arial" pitchFamily="34" charset="-122"/>
                <a:cs typeface="Arial" pitchFamily="34" charset="-120"/>
              </a:rPr>
              <a:t>total, per extra internal fill</a:t>
            </a:r>
            <a:endParaRPr lang="en-US" sz="2000" dirty="0"/>
          </a:p>
        </p:txBody>
      </p:sp>
      <p:sp>
        <p:nvSpPr>
          <p:cNvPr id="40" name="Text 38"/>
          <p:cNvSpPr txBox="1"/>
          <p:nvPr/>
        </p:nvSpPr>
        <p:spPr>
          <a:xfrm>
            <a:off x="11167567" y="6382512"/>
            <a:ext cx="457200" cy="256032"/>
          </a:xfrm>
          <a:prstGeom prst="rect">
            <a:avLst/>
          </a:prstGeom>
          <a:noFill/>
          <a:ln/>
        </p:spPr>
        <p:txBody>
          <a:bodyPr wrap="square" lIns="0" tIns="0" rIns="0" bIns="0" rtlCol="0" anchor="ctr"/>
          <a:lstStyle/>
          <a:p>
            <a:pPr algn="r" indent="0" marL="0">
              <a:buNone/>
            </a:pPr>
            <a:r>
              <a:rPr lang="en-US" sz="1400" dirty="0">
                <a:solidFill>
                  <a:srgbClr val="B6AFA3"/>
                </a:solidFill>
                <a:latin typeface="Arial" pitchFamily="34" charset="0"/>
                <a:ea typeface="Arial" pitchFamily="34" charset="-122"/>
                <a:cs typeface="Arial" pitchFamily="34" charset="-120"/>
              </a:rPr>
              <a:t>13</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20624"/>
            <a:ext cx="420624" cy="68580"/>
          </a:xfrm>
          <a:prstGeom prst="rect">
            <a:avLst/>
          </a:prstGeom>
          <a:solidFill>
            <a:srgbClr val="C00000"/>
          </a:solidFill>
          <a:ln w="12700">
            <a:solidFill>
              <a:srgbClr val="333333"/>
            </a:solidFill>
            <a:prstDash val="solid"/>
          </a:ln>
        </p:spPr>
      </p:sp>
      <p:sp>
        <p:nvSpPr>
          <p:cNvPr id="3" name="Text 1"/>
          <p:cNvSpPr txBox="1"/>
          <p:nvPr/>
        </p:nvSpPr>
        <p:spPr>
          <a:xfrm>
            <a:off x="1115568" y="338328"/>
            <a:ext cx="10509199" cy="237744"/>
          </a:xfrm>
          <a:prstGeom prst="rect">
            <a:avLst/>
          </a:prstGeom>
          <a:noFill/>
          <a:ln/>
        </p:spPr>
        <p:txBody>
          <a:bodyPr wrap="square" lIns="0" tIns="0" rIns="0" bIns="0" rtlCol="0" anchor="ctr"/>
          <a:lstStyle/>
          <a:p>
            <a:pPr indent="0" marL="0">
              <a:buNone/>
            </a:pPr>
            <a:r>
              <a:rPr lang="en-US" sz="1400" b="1" spc="240" kern="0" dirty="0">
                <a:solidFill>
                  <a:srgbClr val="C00000"/>
                </a:solidFill>
                <a:latin typeface="Arial" pitchFamily="34" charset="0"/>
                <a:ea typeface="Arial" pitchFamily="34" charset="-122"/>
                <a:cs typeface="Arial" pitchFamily="34" charset="-120"/>
              </a:rPr>
              <a:t>APPENDIX</a:t>
            </a:r>
            <a:endParaRPr lang="en-US" sz="1400" dirty="0"/>
          </a:p>
        </p:txBody>
      </p:sp>
      <p:sp>
        <p:nvSpPr>
          <p:cNvPr id="4" name="Text 2"/>
          <p:cNvSpPr txBox="1"/>
          <p:nvPr/>
        </p:nvSpPr>
        <p:spPr>
          <a:xfrm>
            <a:off x="566928" y="694944"/>
            <a:ext cx="11057839" cy="566928"/>
          </a:xfrm>
          <a:prstGeom prst="rect">
            <a:avLst/>
          </a:prstGeom>
          <a:noFill/>
          <a:ln/>
        </p:spPr>
        <p:txBody>
          <a:bodyPr wrap="square" lIns="0" tIns="0" rIns="0" bIns="0" rtlCol="0" anchor="t"/>
          <a:lstStyle/>
          <a:p>
            <a:pPr indent="0" marL="0">
              <a:buNone/>
            </a:pPr>
            <a:r>
              <a:rPr lang="en-US" sz="3300" b="1" dirty="0">
                <a:solidFill>
                  <a:srgbClr val="141821"/>
                </a:solidFill>
                <a:latin typeface="Arial" pitchFamily="34" charset="0"/>
                <a:ea typeface="Arial" pitchFamily="34" charset="-122"/>
                <a:cs typeface="Arial" pitchFamily="34" charset="-120"/>
              </a:rPr>
              <a:t>Every number, and where it came from.</a:t>
            </a:r>
            <a:endParaRPr lang="en-US" sz="3300" dirty="0"/>
          </a:p>
        </p:txBody>
      </p:sp>
      <p:sp>
        <p:nvSpPr>
          <p:cNvPr id="5" name="Text 3"/>
          <p:cNvSpPr txBox="1"/>
          <p:nvPr/>
        </p:nvSpPr>
        <p:spPr>
          <a:xfrm>
            <a:off x="566928" y="1298448"/>
            <a:ext cx="9509742" cy="310896"/>
          </a:xfrm>
          <a:prstGeom prst="rect">
            <a:avLst/>
          </a:prstGeom>
          <a:noFill/>
          <a:ln/>
        </p:spPr>
        <p:txBody>
          <a:bodyPr wrap="square" lIns="0" tIns="0" rIns="0" bIns="0" rtlCol="0" anchor="t"/>
          <a:lstStyle/>
          <a:p>
            <a:pPr indent="0" marL="0">
              <a:buNone/>
            </a:pPr>
            <a:r>
              <a:rPr lang="en-US" sz="1600" dirty="0">
                <a:solidFill>
                  <a:srgbClr val="7C8595"/>
                </a:solidFill>
                <a:latin typeface="Arial" pitchFamily="34" charset="0"/>
                <a:ea typeface="Arial" pitchFamily="34" charset="-122"/>
                <a:cs typeface="Arial" pitchFamily="34" charset="-120"/>
              </a:rPr>
              <a:t>Anything marked as a planning assumption has not been measured and should be challenged.</a:t>
            </a:r>
            <a:endParaRPr lang="en-US" sz="1600" dirty="0"/>
          </a:p>
        </p:txBody>
      </p:sp>
      <p:sp>
        <p:nvSpPr>
          <p:cNvPr id="6" name="Shape 4"/>
          <p:cNvSpPr/>
          <p:nvPr/>
        </p:nvSpPr>
        <p:spPr>
          <a:xfrm>
            <a:off x="566928" y="1828800"/>
            <a:ext cx="5373472" cy="4261104"/>
          </a:xfrm>
          <a:prstGeom prst="roundRect">
            <a:avLst>
              <a:gd name="adj" fmla="val 858"/>
            </a:avLst>
          </a:prstGeom>
          <a:solidFill>
            <a:srgbClr val="FFFFFF"/>
          </a:solidFill>
          <a:ln w="12700">
            <a:solidFill>
              <a:srgbClr val="E4DFD6"/>
            </a:solidFill>
            <a:prstDash val="solid"/>
          </a:ln>
          <a:effectLst>
            <a:outerShdw sx="100000" sy="100000" kx="0" ky="0" algn="bl" rotWithShape="0" blurRad="152400" dist="25400" dir="5400000">
              <a:srgbClr val="6B5B45">
                <a:alpha val="10000"/>
              </a:srgbClr>
            </a:outerShdw>
          </a:effectLst>
        </p:spPr>
      </p:sp>
      <p:sp>
        <p:nvSpPr>
          <p:cNvPr id="7" name="Shape 5"/>
          <p:cNvSpPr/>
          <p:nvPr/>
        </p:nvSpPr>
        <p:spPr>
          <a:xfrm>
            <a:off x="566928" y="1828800"/>
            <a:ext cx="5373472" cy="68580"/>
          </a:xfrm>
          <a:prstGeom prst="rect">
            <a:avLst/>
          </a:prstGeom>
          <a:solidFill>
            <a:srgbClr val="C00000"/>
          </a:solidFill>
          <a:ln w="12700">
            <a:solidFill>
              <a:srgbClr val="333333"/>
            </a:solidFill>
            <a:prstDash val="solid"/>
          </a:ln>
        </p:spPr>
      </p:sp>
      <p:sp>
        <p:nvSpPr>
          <p:cNvPr id="8" name="Text 6"/>
          <p:cNvSpPr txBox="1"/>
          <p:nvPr/>
        </p:nvSpPr>
        <p:spPr>
          <a:xfrm>
            <a:off x="841248" y="2029968"/>
            <a:ext cx="4824832" cy="237744"/>
          </a:xfrm>
          <a:prstGeom prst="rect">
            <a:avLst/>
          </a:prstGeom>
          <a:noFill/>
          <a:ln/>
        </p:spPr>
        <p:txBody>
          <a:bodyPr wrap="square" lIns="0" tIns="0" rIns="0" bIns="0" rtlCol="0" anchor="ctr"/>
          <a:lstStyle/>
          <a:p>
            <a:pPr indent="0" marL="0">
              <a:buNone/>
            </a:pPr>
            <a:r>
              <a:rPr lang="en-US" sz="1400" b="1" spc="140" kern="0" dirty="0">
                <a:solidFill>
                  <a:srgbClr val="C00000"/>
                </a:solidFill>
                <a:latin typeface="Arial" pitchFamily="34" charset="0"/>
                <a:ea typeface="Arial" pitchFamily="34" charset="-122"/>
                <a:cs typeface="Arial" pitchFamily="34" charset="-120"/>
              </a:rPr>
              <a:t>MEASURED — HOME CREDIT DATA</a:t>
            </a:r>
            <a:endParaRPr lang="en-US" sz="1400" dirty="0"/>
          </a:p>
        </p:txBody>
      </p:sp>
      <p:sp>
        <p:nvSpPr>
          <p:cNvPr id="9" name="Text 7"/>
          <p:cNvSpPr txBox="1"/>
          <p:nvPr/>
        </p:nvSpPr>
        <p:spPr>
          <a:xfrm>
            <a:off x="841248" y="2359152"/>
            <a:ext cx="4824832" cy="3602736"/>
          </a:xfrm>
          <a:prstGeom prst="rect">
            <a:avLst/>
          </a:prstGeom>
          <a:noFill/>
          <a:ln/>
        </p:spPr>
        <p:txBody>
          <a:bodyPr wrap="square" lIns="0" tIns="0" rIns="0" bIns="0" rtlCol="0" anchor="t"/>
          <a:lstStyle/>
          <a:p>
            <a:pPr marL="342900" indent="-342900">
              <a:lnSpc>
                <a:spcPts val="1800"/>
              </a:lnSpc>
              <a:spcAft>
                <a:spcPts val="500"/>
              </a:spcAft>
              <a:buSzPct val="100000"/>
              <a:buChar char="•"/>
            </a:pPr>
            <a:r>
              <a:rPr lang="en-US" sz="1400" dirty="0">
                <a:solidFill>
                  <a:srgbClr val="3C4350"/>
                </a:solidFill>
                <a:latin typeface="Arial" pitchFamily="34" charset="0"/>
                <a:ea typeface="Arial" pitchFamily="34" charset="-122"/>
                <a:cs typeface="Arial" pitchFamily="34" charset="-120"/>
              </a:rPr>
              <a:t>Internal job posting, 2024–2026: 1,008 vacancies, 463 internal applicants, 170 accepted. Internal fill rate 17%.</a:t>
            </a:r>
            <a:endParaRPr lang="en-US" sz="1400" dirty="0"/>
          </a:p>
          <a:p>
            <a:pPr marL="342900" indent="-342900">
              <a:lnSpc>
                <a:spcPts val="1800"/>
              </a:lnSpc>
              <a:spcAft>
                <a:spcPts val="500"/>
              </a:spcAft>
              <a:buSzPct val="100000"/>
              <a:buChar char="•"/>
            </a:pPr>
            <a:r>
              <a:rPr lang="en-US" sz="1400" dirty="0">
                <a:solidFill>
                  <a:srgbClr val="3C4350"/>
                </a:solidFill>
                <a:latin typeface="Arial" pitchFamily="34" charset="0"/>
                <a:ea typeface="Arial" pitchFamily="34" charset="-122"/>
                <a:cs typeface="Arial" pitchFamily="34" charset="-120"/>
              </a:rPr>
              <a:t>2025 turned-down cohort: 67 applicants, 38 still employed as of September 2026. Attrition 43% against a company average of 19%.</a:t>
            </a:r>
            <a:endParaRPr lang="en-US" sz="1400" dirty="0"/>
          </a:p>
          <a:p>
            <a:pPr marL="342900" indent="-342900">
              <a:lnSpc>
                <a:spcPts val="1800"/>
              </a:lnSpc>
              <a:spcAft>
                <a:spcPts val="500"/>
              </a:spcAft>
              <a:buSzPct val="100000"/>
              <a:buChar char="•"/>
            </a:pPr>
            <a:r>
              <a:rPr lang="en-US" sz="1400" dirty="0">
                <a:solidFill>
                  <a:srgbClr val="3C4350"/>
                </a:solidFill>
                <a:latin typeface="Arial" pitchFamily="34" charset="0"/>
                <a:ea typeface="Arial" pitchFamily="34" charset="-122"/>
                <a:cs typeface="Arial" pitchFamily="34" charset="-120"/>
              </a:rPr>
              <a:t>TA cost per hire, 2025: ₱5,140 band M, ₱6,977 band B, ₱35,367 band C. HR/TA cost per hire ₱3,378, incurred on internal fills too.</a:t>
            </a:r>
            <a:endParaRPr lang="en-US" sz="1400" dirty="0"/>
          </a:p>
          <a:p>
            <a:pPr marL="342900" indent="-342900">
              <a:lnSpc>
                <a:spcPts val="1800"/>
              </a:lnSpc>
              <a:spcAft>
                <a:spcPts val="500"/>
              </a:spcAft>
              <a:buSzPct val="100000"/>
              <a:buChar char="•"/>
            </a:pPr>
            <a:r>
              <a:rPr lang="en-US" sz="1400" dirty="0">
                <a:solidFill>
                  <a:srgbClr val="3C4350"/>
                </a:solidFill>
                <a:latin typeface="Arial" pitchFamily="34" charset="0"/>
                <a:ea typeface="Arial" pitchFamily="34" charset="-122"/>
                <a:cs typeface="Arial" pitchFamily="34" charset="-120"/>
              </a:rPr>
              <a:t>2025 external hires: 186 band B, 103 band C.</a:t>
            </a:r>
            <a:endParaRPr lang="en-US" sz="1400" dirty="0"/>
          </a:p>
          <a:p>
            <a:pPr marL="342900" indent="-342900">
              <a:lnSpc>
                <a:spcPts val="1800"/>
              </a:lnSpc>
              <a:spcAft>
                <a:spcPts val="500"/>
              </a:spcAft>
              <a:buSzPct val="100000"/>
              <a:buChar char="•"/>
            </a:pPr>
            <a:r>
              <a:rPr lang="en-US" sz="1400" dirty="0">
                <a:solidFill>
                  <a:srgbClr val="3C4350"/>
                </a:solidFill>
                <a:latin typeface="Arial" pitchFamily="34" charset="0"/>
                <a:ea typeface="Arial" pitchFamily="34" charset="-122"/>
                <a:cs typeface="Arial" pitchFamily="34" charset="-120"/>
              </a:rPr>
              <a:t>Payroll average monthly basic, September 2026: ₱15,144 band M, ₱36,334 band B, ₱92,821 band C.</a:t>
            </a:r>
            <a:endParaRPr lang="en-US" sz="1400" dirty="0"/>
          </a:p>
          <a:p>
            <a:pPr marL="342900" indent="-342900">
              <a:lnSpc>
                <a:spcPts val="1800"/>
              </a:lnSpc>
              <a:spcAft>
                <a:spcPts val="500"/>
              </a:spcAft>
              <a:buSzPct val="100000"/>
              <a:buChar char="•"/>
            </a:pPr>
            <a:r>
              <a:rPr lang="en-US" sz="1400" dirty="0">
                <a:solidFill>
                  <a:srgbClr val="3C4350"/>
                </a:solidFill>
                <a:latin typeface="Arial" pitchFamily="34" charset="0"/>
                <a:ea typeface="Arial" pitchFamily="34" charset="-122"/>
                <a:cs typeface="Arial" pitchFamily="34" charset="-120"/>
              </a:rPr>
              <a:t>Build: ₱1,785,500, costed by IT in man-hours, excluding AI.</a:t>
            </a:r>
            <a:endParaRPr lang="en-US" sz="1400" dirty="0"/>
          </a:p>
          <a:p>
            <a:pPr marL="342900" indent="-342900">
              <a:lnSpc>
                <a:spcPts val="1800"/>
              </a:lnSpc>
              <a:spcAft>
                <a:spcPts val="500"/>
              </a:spcAft>
              <a:buSzPct val="100000"/>
              <a:buChar char="•"/>
            </a:pPr>
            <a:r>
              <a:rPr lang="en-US" sz="1400" dirty="0">
                <a:solidFill>
                  <a:srgbClr val="3C4350"/>
                </a:solidFill>
                <a:latin typeface="Arial" pitchFamily="34" charset="0"/>
                <a:ea typeface="Arial" pitchFamily="34" charset="-122"/>
                <a:cs typeface="Arial" pitchFamily="34" charset="-120"/>
              </a:rPr>
              <a:t>HRIS headcount: 1,113 in the pilot scope.</a:t>
            </a:r>
            <a:endParaRPr lang="en-US" sz="1400" dirty="0"/>
          </a:p>
        </p:txBody>
      </p:sp>
      <p:sp>
        <p:nvSpPr>
          <p:cNvPr id="10" name="Shape 8"/>
          <p:cNvSpPr/>
          <p:nvPr/>
        </p:nvSpPr>
        <p:spPr>
          <a:xfrm>
            <a:off x="6251296" y="1828800"/>
            <a:ext cx="5373472" cy="4261104"/>
          </a:xfrm>
          <a:prstGeom prst="roundRect">
            <a:avLst>
              <a:gd name="adj" fmla="val 858"/>
            </a:avLst>
          </a:prstGeom>
          <a:solidFill>
            <a:srgbClr val="FFFFFF"/>
          </a:solidFill>
          <a:ln w="12700">
            <a:solidFill>
              <a:srgbClr val="E4DFD6"/>
            </a:solidFill>
            <a:prstDash val="solid"/>
          </a:ln>
          <a:effectLst>
            <a:outerShdw sx="100000" sy="100000" kx="0" ky="0" algn="bl" rotWithShape="0" blurRad="152400" dist="25400" dir="5400000">
              <a:srgbClr val="6B5B45">
                <a:alpha val="10000"/>
              </a:srgbClr>
            </a:outerShdw>
          </a:effectLst>
        </p:spPr>
      </p:sp>
      <p:sp>
        <p:nvSpPr>
          <p:cNvPr id="11" name="Shape 9"/>
          <p:cNvSpPr/>
          <p:nvPr/>
        </p:nvSpPr>
        <p:spPr>
          <a:xfrm>
            <a:off x="6251296" y="1828800"/>
            <a:ext cx="5373472" cy="68580"/>
          </a:xfrm>
          <a:prstGeom prst="rect">
            <a:avLst/>
          </a:prstGeom>
          <a:solidFill>
            <a:srgbClr val="A9761A"/>
          </a:solidFill>
          <a:ln w="12700">
            <a:solidFill>
              <a:srgbClr val="333333"/>
            </a:solidFill>
            <a:prstDash val="solid"/>
          </a:ln>
        </p:spPr>
      </p:sp>
      <p:sp>
        <p:nvSpPr>
          <p:cNvPr id="12" name="Text 10"/>
          <p:cNvSpPr txBox="1"/>
          <p:nvPr/>
        </p:nvSpPr>
        <p:spPr>
          <a:xfrm>
            <a:off x="6525616" y="2029968"/>
            <a:ext cx="4824832" cy="237744"/>
          </a:xfrm>
          <a:prstGeom prst="rect">
            <a:avLst/>
          </a:prstGeom>
          <a:noFill/>
          <a:ln/>
        </p:spPr>
        <p:txBody>
          <a:bodyPr wrap="square" lIns="0" tIns="0" rIns="0" bIns="0" rtlCol="0" anchor="ctr"/>
          <a:lstStyle/>
          <a:p>
            <a:pPr indent="0" marL="0">
              <a:buNone/>
            </a:pPr>
            <a:r>
              <a:rPr lang="en-US" sz="1400" b="1" spc="140" kern="0" dirty="0">
                <a:solidFill>
                  <a:srgbClr val="A9761A"/>
                </a:solidFill>
                <a:latin typeface="Arial" pitchFamily="34" charset="0"/>
                <a:ea typeface="Arial" pitchFamily="34" charset="-122"/>
                <a:cs typeface="Arial" pitchFamily="34" charset="-120"/>
              </a:rPr>
              <a:t>MODELLED — AND HOW HARD</a:t>
            </a:r>
            <a:endParaRPr lang="en-US" sz="1400" dirty="0"/>
          </a:p>
        </p:txBody>
      </p:sp>
      <p:sp>
        <p:nvSpPr>
          <p:cNvPr id="13" name="Text 11"/>
          <p:cNvSpPr txBox="1"/>
          <p:nvPr/>
        </p:nvSpPr>
        <p:spPr>
          <a:xfrm>
            <a:off x="6525616" y="2359152"/>
            <a:ext cx="4824832" cy="3602736"/>
          </a:xfrm>
          <a:prstGeom prst="rect">
            <a:avLst/>
          </a:prstGeom>
          <a:noFill/>
          <a:ln/>
        </p:spPr>
        <p:txBody>
          <a:bodyPr wrap="square" lIns="0" tIns="0" rIns="0" bIns="0" rtlCol="0" anchor="t"/>
          <a:lstStyle/>
          <a:p>
            <a:pPr marL="342900" indent="-342900">
              <a:lnSpc>
                <a:spcPts val="1800"/>
              </a:lnSpc>
              <a:spcAft>
                <a:spcPts val="500"/>
              </a:spcAft>
              <a:buSzPct val="100000"/>
              <a:buChar char="•"/>
            </a:pPr>
            <a:r>
              <a:rPr lang="en-US" sz="1400" dirty="0">
                <a:solidFill>
                  <a:srgbClr val="3C4350"/>
                </a:solidFill>
                <a:latin typeface="Arial" pitchFamily="34" charset="0"/>
                <a:ea typeface="Arial" pitchFamily="34" charset="-122"/>
                <a:cs typeface="Arial" pitchFamily="34" charset="-120"/>
              </a:rPr>
              <a:t>Salaries annualised ×12, basic only. 13th month and employer contributions excluded.</a:t>
            </a:r>
            <a:endParaRPr lang="en-US" sz="1400" dirty="0"/>
          </a:p>
          <a:p>
            <a:pPr marL="342900" indent="-342900">
              <a:lnSpc>
                <a:spcPts val="1800"/>
              </a:lnSpc>
              <a:spcAft>
                <a:spcPts val="500"/>
              </a:spcAft>
              <a:buSzPct val="100000"/>
              <a:buChar char="•"/>
            </a:pPr>
            <a:r>
              <a:rPr lang="en-US" sz="1400" dirty="0">
                <a:solidFill>
                  <a:srgbClr val="3C4350"/>
                </a:solidFill>
                <a:latin typeface="Arial" pitchFamily="34" charset="0"/>
                <a:ea typeface="Arial" pitchFamily="34" charset="-122"/>
                <a:cs typeface="Arial" pitchFamily="34" charset="-120"/>
              </a:rPr>
              <a:t>Replacement cost at 75% of annual basic; ₱508,194 blended band B/C.</a:t>
            </a:r>
            <a:endParaRPr lang="en-US" sz="1400" dirty="0"/>
          </a:p>
          <a:p>
            <a:pPr marL="342900" indent="-342900">
              <a:lnSpc>
                <a:spcPts val="1800"/>
              </a:lnSpc>
              <a:spcAft>
                <a:spcPts val="500"/>
              </a:spcAft>
              <a:buSzPct val="100000"/>
              <a:buChar char="•"/>
            </a:pPr>
            <a:r>
              <a:rPr lang="en-US" sz="1400" dirty="0">
                <a:solidFill>
                  <a:srgbClr val="3C4350"/>
                </a:solidFill>
                <a:latin typeface="Arial" pitchFamily="34" charset="0"/>
                <a:ea typeface="Arial" pitchFamily="34" charset="-122"/>
                <a:cs typeface="Arial" pitchFamily="34" charset="-120"/>
              </a:rPr>
              <a:t>Excess attrition among the turned down modelled at 15 points, halved from the 24 observed.</a:t>
            </a:r>
            <a:endParaRPr lang="en-US" sz="1400" dirty="0"/>
          </a:p>
          <a:p>
            <a:pPr marL="342900" indent="-342900">
              <a:lnSpc>
                <a:spcPts val="1800"/>
              </a:lnSpc>
              <a:spcAft>
                <a:spcPts val="500"/>
              </a:spcAft>
              <a:buSzPct val="100000"/>
              <a:buChar char="•"/>
            </a:pPr>
            <a:r>
              <a:rPr lang="en-US" sz="1400" dirty="0">
                <a:solidFill>
                  <a:srgbClr val="3C4350"/>
                </a:solidFill>
                <a:latin typeface="Arial" pitchFamily="34" charset="0"/>
                <a:ea typeface="Arial" pitchFamily="34" charset="-122"/>
                <a:cs typeface="Arial" pitchFamily="34" charset="-120"/>
              </a:rPr>
              <a:t>Days to fill: 58 external, 21 internal. Backfill assumed one band down and hired externally.</a:t>
            </a:r>
            <a:endParaRPr lang="en-US" sz="1400" dirty="0"/>
          </a:p>
          <a:p>
            <a:pPr marL="342900" indent="-342900">
              <a:lnSpc>
                <a:spcPts val="1800"/>
              </a:lnSpc>
              <a:spcAft>
                <a:spcPts val="500"/>
              </a:spcAft>
              <a:buSzPct val="100000"/>
              <a:buChar char="•"/>
            </a:pPr>
            <a:r>
              <a:rPr lang="en-US" sz="1400" dirty="0">
                <a:solidFill>
                  <a:srgbClr val="3C4350"/>
                </a:solidFill>
                <a:latin typeface="Arial" pitchFamily="34" charset="0"/>
                <a:ea typeface="Arial" pitchFamily="34" charset="-122"/>
                <a:cs typeface="Arial" pitchFamily="34" charset="-120"/>
              </a:rPr>
              <a:t>336 vacancies a year company-wide; 60 internal requisitions a year in the pilot (BRD).</a:t>
            </a:r>
            <a:endParaRPr lang="en-US" sz="1400" dirty="0"/>
          </a:p>
          <a:p>
            <a:pPr marL="342900" indent="-342900">
              <a:lnSpc>
                <a:spcPts val="1800"/>
              </a:lnSpc>
              <a:spcAft>
                <a:spcPts val="500"/>
              </a:spcAft>
              <a:buSzPct val="100000"/>
              <a:buChar char="•"/>
            </a:pPr>
            <a:r>
              <a:rPr lang="en-US" sz="1400" dirty="0">
                <a:solidFill>
                  <a:srgbClr val="3C4350"/>
                </a:solidFill>
                <a:latin typeface="Arial" pitchFamily="34" charset="0"/>
                <a:ea typeface="Arial" pitchFamily="34" charset="-122"/>
                <a:cs typeface="Arial" pitchFamily="34" charset="-120"/>
              </a:rPr>
              <a:t>Shelf retention: 174 participants a year at a 3-point lift, cut from 13 observed.</a:t>
            </a:r>
            <a:endParaRPr lang="en-US" sz="1400" dirty="0"/>
          </a:p>
          <a:p>
            <a:pPr marL="342900" indent="-342900">
              <a:lnSpc>
                <a:spcPts val="1800"/>
              </a:lnSpc>
              <a:spcAft>
                <a:spcPts val="500"/>
              </a:spcAft>
              <a:buSzPct val="100000"/>
              <a:buChar char="•"/>
            </a:pPr>
            <a:r>
              <a:rPr lang="en-US" sz="1400" dirty="0">
                <a:solidFill>
                  <a:srgbClr val="3C4350"/>
                </a:solidFill>
                <a:latin typeface="Arial" pitchFamily="34" charset="0"/>
                <a:ea typeface="Arial" pitchFamily="34" charset="-122"/>
                <a:cs typeface="Arial" pitchFamily="34" charset="-120"/>
              </a:rPr>
              <a:t>Vendor band is an RFP planning range, not a quote. ₱61 = US$1, 10% discount.</a:t>
            </a:r>
            <a:endParaRPr lang="en-US" sz="1400" dirty="0"/>
          </a:p>
        </p:txBody>
      </p:sp>
      <p:sp>
        <p:nvSpPr>
          <p:cNvPr id="14" name="Text 12"/>
          <p:cNvSpPr txBox="1"/>
          <p:nvPr/>
        </p:nvSpPr>
        <p:spPr>
          <a:xfrm>
            <a:off x="566928" y="6345936"/>
            <a:ext cx="10417759" cy="329184"/>
          </a:xfrm>
          <a:prstGeom prst="rect">
            <a:avLst/>
          </a:prstGeom>
          <a:noFill/>
          <a:ln/>
        </p:spPr>
        <p:txBody>
          <a:bodyPr wrap="square" lIns="0" tIns="0" rIns="0" bIns="0" rtlCol="0" anchor="t"/>
          <a:lstStyle/>
          <a:p>
            <a:pPr indent="0" marL="0">
              <a:lnSpc>
                <a:spcPts val="1700"/>
              </a:lnSpc>
              <a:buNone/>
            </a:pPr>
            <a:r>
              <a:rPr lang="en-US" sz="1400" dirty="0">
                <a:solidFill>
                  <a:srgbClr val="A69E92"/>
                </a:solidFill>
                <a:latin typeface="Arial" pitchFamily="34" charset="0"/>
                <a:ea typeface="Arial" pitchFamily="34" charset="-122"/>
                <a:cs typeface="Arial" pitchFamily="34" charset="-120"/>
              </a:rPr>
              <a:t>Working model: exec-model.py · Full CBA: V2_CBA.md · Internal — do not distribute outside the organization.</a:t>
            </a:r>
            <a:endParaRPr lang="en-US" sz="1400" dirty="0"/>
          </a:p>
        </p:txBody>
      </p:sp>
      <p:sp>
        <p:nvSpPr>
          <p:cNvPr id="15" name="Text 13"/>
          <p:cNvSpPr txBox="1"/>
          <p:nvPr/>
        </p:nvSpPr>
        <p:spPr>
          <a:xfrm>
            <a:off x="11167567" y="6382512"/>
            <a:ext cx="457200" cy="256032"/>
          </a:xfrm>
          <a:prstGeom prst="rect">
            <a:avLst/>
          </a:prstGeom>
          <a:noFill/>
          <a:ln/>
        </p:spPr>
        <p:txBody>
          <a:bodyPr wrap="square" lIns="0" tIns="0" rIns="0" bIns="0" rtlCol="0" anchor="ctr"/>
          <a:lstStyle/>
          <a:p>
            <a:pPr algn="r" indent="0" marL="0">
              <a:buNone/>
            </a:pPr>
            <a:r>
              <a:rPr lang="en-US" sz="1400" dirty="0">
                <a:solidFill>
                  <a:srgbClr val="B6AFA3"/>
                </a:solidFill>
                <a:latin typeface="Arial" pitchFamily="34" charset="0"/>
                <a:ea typeface="Arial" pitchFamily="34" charset="-122"/>
                <a:cs typeface="Arial" pitchFamily="34" charset="-120"/>
              </a:rPr>
              <a:t>14</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20624"/>
            <a:ext cx="420624" cy="68580"/>
          </a:xfrm>
          <a:prstGeom prst="rect">
            <a:avLst/>
          </a:prstGeom>
          <a:solidFill>
            <a:srgbClr val="C00000"/>
          </a:solidFill>
          <a:ln w="12700">
            <a:solidFill>
              <a:srgbClr val="333333"/>
            </a:solidFill>
            <a:prstDash val="solid"/>
          </a:ln>
        </p:spPr>
      </p:sp>
      <p:sp>
        <p:nvSpPr>
          <p:cNvPr id="3" name="Text 1"/>
          <p:cNvSpPr txBox="1"/>
          <p:nvPr/>
        </p:nvSpPr>
        <p:spPr>
          <a:xfrm>
            <a:off x="1115568" y="338328"/>
            <a:ext cx="10509199" cy="237744"/>
          </a:xfrm>
          <a:prstGeom prst="rect">
            <a:avLst/>
          </a:prstGeom>
          <a:noFill/>
          <a:ln/>
        </p:spPr>
        <p:txBody>
          <a:bodyPr wrap="square" lIns="0" tIns="0" rIns="0" bIns="0" rtlCol="0" anchor="ctr"/>
          <a:lstStyle/>
          <a:p>
            <a:pPr indent="0" marL="0">
              <a:buNone/>
            </a:pPr>
            <a:r>
              <a:rPr lang="en-US" sz="1400" b="1" spc="240" kern="0" dirty="0">
                <a:solidFill>
                  <a:srgbClr val="C00000"/>
                </a:solidFill>
                <a:latin typeface="Arial" pitchFamily="34" charset="0"/>
                <a:ea typeface="Arial" pitchFamily="34" charset="-122"/>
                <a:cs typeface="Arial" pitchFamily="34" charset="-120"/>
              </a:rPr>
              <a:t>APPENDIX</a:t>
            </a:r>
            <a:endParaRPr lang="en-US" sz="1400" dirty="0"/>
          </a:p>
        </p:txBody>
      </p:sp>
      <p:sp>
        <p:nvSpPr>
          <p:cNvPr id="4" name="Text 2"/>
          <p:cNvSpPr txBox="1"/>
          <p:nvPr/>
        </p:nvSpPr>
        <p:spPr>
          <a:xfrm>
            <a:off x="566928" y="694944"/>
            <a:ext cx="11057839" cy="566928"/>
          </a:xfrm>
          <a:prstGeom prst="rect">
            <a:avLst/>
          </a:prstGeom>
          <a:noFill/>
          <a:ln/>
        </p:spPr>
        <p:txBody>
          <a:bodyPr wrap="square" lIns="0" tIns="0" rIns="0" bIns="0" rtlCol="0" anchor="t"/>
          <a:lstStyle/>
          <a:p>
            <a:pPr indent="0" marL="0">
              <a:buNone/>
            </a:pPr>
            <a:r>
              <a:rPr lang="en-US" sz="3300" b="1" dirty="0">
                <a:solidFill>
                  <a:srgbClr val="141821"/>
                </a:solidFill>
                <a:latin typeface="Arial" pitchFamily="34" charset="0"/>
                <a:ea typeface="Arial" pitchFamily="34" charset="-122"/>
                <a:cs typeface="Arial" pitchFamily="34" charset="-120"/>
              </a:rPr>
              <a:t>What could go wrong, and what we have done about it.</a:t>
            </a:r>
            <a:endParaRPr lang="en-US" sz="3300" dirty="0"/>
          </a:p>
        </p:txBody>
      </p:sp>
      <p:sp>
        <p:nvSpPr>
          <p:cNvPr id="5" name="Text 3"/>
          <p:cNvSpPr txBox="1"/>
          <p:nvPr/>
        </p:nvSpPr>
        <p:spPr>
          <a:xfrm>
            <a:off x="566928" y="1298448"/>
            <a:ext cx="9509742" cy="310896"/>
          </a:xfrm>
          <a:prstGeom prst="rect">
            <a:avLst/>
          </a:prstGeom>
          <a:noFill/>
          <a:ln/>
        </p:spPr>
        <p:txBody>
          <a:bodyPr wrap="square" lIns="0" tIns="0" rIns="0" bIns="0" rtlCol="0" anchor="t"/>
          <a:lstStyle/>
          <a:p>
            <a:pPr indent="0" marL="0">
              <a:buNone/>
            </a:pPr>
            <a:r>
              <a:rPr lang="en-US" sz="1600" dirty="0">
                <a:solidFill>
                  <a:srgbClr val="7C8595"/>
                </a:solidFill>
                <a:latin typeface="Arial" pitchFamily="34" charset="0"/>
                <a:ea typeface="Arial" pitchFamily="34" charset="-122"/>
                <a:cs typeface="Arial" pitchFamily="34" charset="-120"/>
              </a:rPr>
              <a:t>The two gates are free — both are decisions, not budget. If neither can be secured, do not start the build.</a:t>
            </a:r>
            <a:endParaRPr lang="en-US" sz="1600" dirty="0"/>
          </a:p>
        </p:txBody>
      </p:sp>
      <p:sp>
        <p:nvSpPr>
          <p:cNvPr id="6" name="Text 4"/>
          <p:cNvSpPr txBox="1"/>
          <p:nvPr/>
        </p:nvSpPr>
        <p:spPr>
          <a:xfrm>
            <a:off x="585216" y="1975104"/>
            <a:ext cx="3017520" cy="219456"/>
          </a:xfrm>
          <a:prstGeom prst="rect">
            <a:avLst/>
          </a:prstGeom>
          <a:noFill/>
          <a:ln/>
        </p:spPr>
        <p:txBody>
          <a:bodyPr wrap="square" lIns="0" tIns="0" rIns="0" bIns="0" rtlCol="0" anchor="ctr"/>
          <a:lstStyle/>
          <a:p>
            <a:pPr indent="0" marL="0">
              <a:buNone/>
            </a:pPr>
            <a:r>
              <a:rPr lang="en-US" sz="1400" b="1" spc="140" kern="0" dirty="0">
                <a:solidFill>
                  <a:srgbClr val="7C8595"/>
                </a:solidFill>
                <a:latin typeface="Arial" pitchFamily="34" charset="0"/>
                <a:ea typeface="Arial" pitchFamily="34" charset="-122"/>
                <a:cs typeface="Arial" pitchFamily="34" charset="-120"/>
              </a:rPr>
              <a:t>RISK</a:t>
            </a:r>
            <a:endParaRPr lang="en-US" sz="1400" dirty="0"/>
          </a:p>
        </p:txBody>
      </p:sp>
      <p:sp>
        <p:nvSpPr>
          <p:cNvPr id="7" name="Text 5"/>
          <p:cNvSpPr txBox="1"/>
          <p:nvPr/>
        </p:nvSpPr>
        <p:spPr>
          <a:xfrm>
            <a:off x="4480560" y="1975104"/>
            <a:ext cx="3017520" cy="219456"/>
          </a:xfrm>
          <a:prstGeom prst="rect">
            <a:avLst/>
          </a:prstGeom>
          <a:noFill/>
          <a:ln/>
        </p:spPr>
        <p:txBody>
          <a:bodyPr wrap="square" lIns="0" tIns="0" rIns="0" bIns="0" rtlCol="0" anchor="ctr"/>
          <a:lstStyle/>
          <a:p>
            <a:pPr indent="0" marL="0">
              <a:buNone/>
            </a:pPr>
            <a:r>
              <a:rPr lang="en-US" sz="1400" b="1" spc="140" kern="0" dirty="0">
                <a:solidFill>
                  <a:srgbClr val="7C8595"/>
                </a:solidFill>
                <a:latin typeface="Arial" pitchFamily="34" charset="0"/>
                <a:ea typeface="Arial" pitchFamily="34" charset="-122"/>
                <a:cs typeface="Arial" pitchFamily="34" charset="-120"/>
              </a:rPr>
              <a:t>IMPACT</a:t>
            </a:r>
            <a:endParaRPr lang="en-US" sz="1400" dirty="0"/>
          </a:p>
        </p:txBody>
      </p:sp>
      <p:sp>
        <p:nvSpPr>
          <p:cNvPr id="8" name="Text 6"/>
          <p:cNvSpPr txBox="1"/>
          <p:nvPr/>
        </p:nvSpPr>
        <p:spPr>
          <a:xfrm>
            <a:off x="7863840" y="1975104"/>
            <a:ext cx="3657600" cy="219456"/>
          </a:xfrm>
          <a:prstGeom prst="rect">
            <a:avLst/>
          </a:prstGeom>
          <a:noFill/>
          <a:ln/>
        </p:spPr>
        <p:txBody>
          <a:bodyPr wrap="square" lIns="0" tIns="0" rIns="0" bIns="0" rtlCol="0" anchor="ctr"/>
          <a:lstStyle/>
          <a:p>
            <a:pPr indent="0" marL="0">
              <a:buNone/>
            </a:pPr>
            <a:r>
              <a:rPr lang="en-US" sz="1400" b="1" spc="140" kern="0" dirty="0">
                <a:solidFill>
                  <a:srgbClr val="7C8595"/>
                </a:solidFill>
                <a:latin typeface="Arial" pitchFamily="34" charset="0"/>
                <a:ea typeface="Arial" pitchFamily="34" charset="-122"/>
                <a:cs typeface="Arial" pitchFamily="34" charset="-120"/>
              </a:rPr>
              <a:t>WHAT WE HAVE DONE</a:t>
            </a:r>
            <a:endParaRPr lang="en-US" sz="1400" dirty="0"/>
          </a:p>
        </p:txBody>
      </p:sp>
      <p:sp>
        <p:nvSpPr>
          <p:cNvPr id="9" name="Shape 7"/>
          <p:cNvSpPr/>
          <p:nvPr/>
        </p:nvSpPr>
        <p:spPr>
          <a:xfrm>
            <a:off x="566928" y="2487168"/>
            <a:ext cx="676656" cy="274320"/>
          </a:xfrm>
          <a:prstGeom prst="roundRect">
            <a:avLst>
              <a:gd name="adj" fmla="val 50000"/>
            </a:avLst>
          </a:prstGeom>
          <a:solidFill>
            <a:srgbClr val="FCEDED"/>
          </a:solidFill>
          <a:ln w="12700">
            <a:solidFill>
              <a:srgbClr val="333333"/>
            </a:solidFill>
            <a:prstDash val="solid"/>
          </a:ln>
        </p:spPr>
      </p:sp>
      <p:sp>
        <p:nvSpPr>
          <p:cNvPr id="10" name="Text 8"/>
          <p:cNvSpPr txBox="1"/>
          <p:nvPr/>
        </p:nvSpPr>
        <p:spPr>
          <a:xfrm>
            <a:off x="566928" y="2487168"/>
            <a:ext cx="676656" cy="274320"/>
          </a:xfrm>
          <a:prstGeom prst="rect">
            <a:avLst/>
          </a:prstGeom>
          <a:noFill/>
          <a:ln/>
        </p:spPr>
        <p:txBody>
          <a:bodyPr wrap="square" lIns="0" tIns="0" rIns="0" bIns="0" rtlCol="0" anchor="ctr"/>
          <a:lstStyle/>
          <a:p>
            <a:pPr algn="ctr" indent="0" marL="0">
              <a:buNone/>
            </a:pPr>
            <a:r>
              <a:rPr lang="en-US" sz="1400" b="1" dirty="0">
                <a:solidFill>
                  <a:srgbClr val="C00000"/>
                </a:solidFill>
                <a:latin typeface="Arial" pitchFamily="34" charset="0"/>
                <a:ea typeface="Arial" pitchFamily="34" charset="-122"/>
                <a:cs typeface="Arial" pitchFamily="34" charset="-120"/>
              </a:rPr>
              <a:t>GATE</a:t>
            </a:r>
            <a:endParaRPr lang="en-US" sz="1400" dirty="0"/>
          </a:p>
        </p:txBody>
      </p:sp>
      <p:sp>
        <p:nvSpPr>
          <p:cNvPr id="11" name="Text 9"/>
          <p:cNvSpPr txBox="1"/>
          <p:nvPr/>
        </p:nvSpPr>
        <p:spPr>
          <a:xfrm>
            <a:off x="1371600" y="2304288"/>
            <a:ext cx="2962656" cy="658368"/>
          </a:xfrm>
          <a:prstGeom prst="rect">
            <a:avLst/>
          </a:prstGeom>
          <a:noFill/>
          <a:ln/>
        </p:spPr>
        <p:txBody>
          <a:bodyPr wrap="square" lIns="0" tIns="0" rIns="0" bIns="0" rtlCol="0" anchor="ctr"/>
          <a:lstStyle/>
          <a:p>
            <a:pPr indent="0" marL="0">
              <a:lnSpc>
                <a:spcPts val="2000"/>
              </a:lnSpc>
              <a:buNone/>
            </a:pPr>
            <a:r>
              <a:rPr lang="en-US" sz="1550" b="1" dirty="0">
                <a:solidFill>
                  <a:srgbClr val="141821"/>
                </a:solidFill>
                <a:latin typeface="Arial" pitchFamily="34" charset="0"/>
                <a:ea typeface="Arial" pitchFamily="34" charset="-122"/>
                <a:cs typeface="Arial" pitchFamily="34" charset="-120"/>
              </a:rPr>
              <a:t>Managers do not post</a:t>
            </a:r>
            <a:endParaRPr lang="en-US" sz="1550" dirty="0"/>
          </a:p>
        </p:txBody>
      </p:sp>
      <p:sp>
        <p:nvSpPr>
          <p:cNvPr id="12" name="Text 10"/>
          <p:cNvSpPr txBox="1"/>
          <p:nvPr/>
        </p:nvSpPr>
        <p:spPr>
          <a:xfrm>
            <a:off x="4480560" y="2304288"/>
            <a:ext cx="3200400" cy="658368"/>
          </a:xfrm>
          <a:prstGeom prst="rect">
            <a:avLst/>
          </a:prstGeom>
          <a:noFill/>
          <a:ln/>
        </p:spPr>
        <p:txBody>
          <a:bodyPr wrap="square" lIns="0" tIns="0" rIns="0" bIns="0" rtlCol="0" anchor="ctr"/>
          <a:lstStyle/>
          <a:p>
            <a:pPr indent="0" marL="0">
              <a:lnSpc>
                <a:spcPts val="1900"/>
              </a:lnSpc>
              <a:buNone/>
            </a:pPr>
            <a:r>
              <a:rPr lang="en-US" sz="1450" dirty="0">
                <a:solidFill>
                  <a:srgbClr val="3C4350"/>
                </a:solidFill>
                <a:latin typeface="Arial" pitchFamily="34" charset="0"/>
                <a:ea typeface="Arial" pitchFamily="34" charset="-122"/>
                <a:cs typeface="Arial" pitchFamily="34" charset="-120"/>
              </a:rPr>
              <a:t>Empty shelves, and the marketplace dies in week one.</a:t>
            </a:r>
            <a:endParaRPr lang="en-US" sz="1450" dirty="0"/>
          </a:p>
        </p:txBody>
      </p:sp>
      <p:sp>
        <p:nvSpPr>
          <p:cNvPr id="13" name="Text 11"/>
          <p:cNvSpPr txBox="1"/>
          <p:nvPr/>
        </p:nvSpPr>
        <p:spPr>
          <a:xfrm>
            <a:off x="7863840" y="2304288"/>
            <a:ext cx="3703320" cy="658368"/>
          </a:xfrm>
          <a:prstGeom prst="rect">
            <a:avLst/>
          </a:prstGeom>
          <a:noFill/>
          <a:ln/>
        </p:spPr>
        <p:txBody>
          <a:bodyPr wrap="square" lIns="0" tIns="0" rIns="0" bIns="0" rtlCol="0" anchor="ctr"/>
          <a:lstStyle/>
          <a:p>
            <a:pPr indent="0" marL="0">
              <a:lnSpc>
                <a:spcPts val="1900"/>
              </a:lnSpc>
              <a:buNone/>
            </a:pPr>
            <a:r>
              <a:rPr lang="en-US" sz="1450" dirty="0">
                <a:solidFill>
                  <a:srgbClr val="3C4350"/>
                </a:solidFill>
                <a:latin typeface="Arial" pitchFamily="34" charset="0"/>
                <a:ea typeface="Arial" pitchFamily="34" charset="-122"/>
                <a:cs typeface="Arial" pitchFamily="34" charset="-120"/>
              </a:rPr>
              <a:t>Twenty-five opportunities committed before launch. Six named champions. "Talent Exporter" recognition to ExCo.</a:t>
            </a:r>
            <a:endParaRPr lang="en-US" sz="1450" dirty="0"/>
          </a:p>
        </p:txBody>
      </p:sp>
      <p:sp>
        <p:nvSpPr>
          <p:cNvPr id="14" name="Shape 12"/>
          <p:cNvSpPr/>
          <p:nvPr/>
        </p:nvSpPr>
        <p:spPr>
          <a:xfrm>
            <a:off x="566928" y="3017520"/>
            <a:ext cx="11057839" cy="0"/>
          </a:xfrm>
          <a:prstGeom prst="line">
            <a:avLst/>
          </a:prstGeom>
          <a:noFill/>
          <a:ln w="12700">
            <a:solidFill>
              <a:srgbClr val="E4DFD6"/>
            </a:solidFill>
            <a:prstDash val="solid"/>
          </a:ln>
        </p:spPr>
      </p:sp>
      <p:sp>
        <p:nvSpPr>
          <p:cNvPr id="15" name="Shape 13"/>
          <p:cNvSpPr/>
          <p:nvPr/>
        </p:nvSpPr>
        <p:spPr>
          <a:xfrm>
            <a:off x="566928" y="3273552"/>
            <a:ext cx="676656" cy="274320"/>
          </a:xfrm>
          <a:prstGeom prst="roundRect">
            <a:avLst>
              <a:gd name="adj" fmla="val 50000"/>
            </a:avLst>
          </a:prstGeom>
          <a:solidFill>
            <a:srgbClr val="FCEDED"/>
          </a:solidFill>
          <a:ln w="12700">
            <a:solidFill>
              <a:srgbClr val="333333"/>
            </a:solidFill>
            <a:prstDash val="solid"/>
          </a:ln>
        </p:spPr>
      </p:sp>
      <p:sp>
        <p:nvSpPr>
          <p:cNvPr id="16" name="Text 14"/>
          <p:cNvSpPr txBox="1"/>
          <p:nvPr/>
        </p:nvSpPr>
        <p:spPr>
          <a:xfrm>
            <a:off x="566928" y="3273552"/>
            <a:ext cx="676656" cy="274320"/>
          </a:xfrm>
          <a:prstGeom prst="rect">
            <a:avLst/>
          </a:prstGeom>
          <a:noFill/>
          <a:ln/>
        </p:spPr>
        <p:txBody>
          <a:bodyPr wrap="square" lIns="0" tIns="0" rIns="0" bIns="0" rtlCol="0" anchor="ctr"/>
          <a:lstStyle/>
          <a:p>
            <a:pPr algn="ctr" indent="0" marL="0">
              <a:buNone/>
            </a:pPr>
            <a:r>
              <a:rPr lang="en-US" sz="1400" b="1" dirty="0">
                <a:solidFill>
                  <a:srgbClr val="C00000"/>
                </a:solidFill>
                <a:latin typeface="Arial" pitchFamily="34" charset="0"/>
                <a:ea typeface="Arial" pitchFamily="34" charset="-122"/>
                <a:cs typeface="Arial" pitchFamily="34" charset="-120"/>
              </a:rPr>
              <a:t>GATE</a:t>
            </a:r>
            <a:endParaRPr lang="en-US" sz="1400" dirty="0"/>
          </a:p>
        </p:txBody>
      </p:sp>
      <p:sp>
        <p:nvSpPr>
          <p:cNvPr id="17" name="Text 15"/>
          <p:cNvSpPr txBox="1"/>
          <p:nvPr/>
        </p:nvSpPr>
        <p:spPr>
          <a:xfrm>
            <a:off x="1371600" y="3090672"/>
            <a:ext cx="2962656" cy="658368"/>
          </a:xfrm>
          <a:prstGeom prst="rect">
            <a:avLst/>
          </a:prstGeom>
          <a:noFill/>
          <a:ln/>
        </p:spPr>
        <p:txBody>
          <a:bodyPr wrap="square" lIns="0" tIns="0" rIns="0" bIns="0" rtlCol="0" anchor="ctr"/>
          <a:lstStyle/>
          <a:p>
            <a:pPr indent="0" marL="0">
              <a:lnSpc>
                <a:spcPts val="2000"/>
              </a:lnSpc>
              <a:buNone/>
            </a:pPr>
            <a:r>
              <a:rPr lang="en-US" sz="1550" b="1" dirty="0">
                <a:solidFill>
                  <a:srgbClr val="141821"/>
                </a:solidFill>
                <a:latin typeface="Arial" pitchFamily="34" charset="0"/>
                <a:ea typeface="Arial" pitchFamily="34" charset="-122"/>
                <a:cs typeface="Arial" pitchFamily="34" charset="-120"/>
              </a:rPr>
              <a:t>Recruitment declines the source field</a:t>
            </a:r>
            <a:endParaRPr lang="en-US" sz="1550" dirty="0"/>
          </a:p>
        </p:txBody>
      </p:sp>
      <p:sp>
        <p:nvSpPr>
          <p:cNvPr id="18" name="Text 16"/>
          <p:cNvSpPr txBox="1"/>
          <p:nvPr/>
        </p:nvSpPr>
        <p:spPr>
          <a:xfrm>
            <a:off x="4480560" y="3090672"/>
            <a:ext cx="3200400" cy="658368"/>
          </a:xfrm>
          <a:prstGeom prst="rect">
            <a:avLst/>
          </a:prstGeom>
          <a:noFill/>
          <a:ln/>
        </p:spPr>
        <p:txBody>
          <a:bodyPr wrap="square" lIns="0" tIns="0" rIns="0" bIns="0" rtlCol="0" anchor="ctr"/>
          <a:lstStyle/>
          <a:p>
            <a:pPr indent="0" marL="0">
              <a:lnSpc>
                <a:spcPts val="1900"/>
              </a:lnSpc>
              <a:buNone/>
            </a:pPr>
            <a:r>
              <a:rPr lang="en-US" sz="1450" dirty="0">
                <a:solidFill>
                  <a:srgbClr val="3C4350"/>
                </a:solidFill>
                <a:latin typeface="Arial" pitchFamily="34" charset="0"/>
                <a:ea typeface="Arial" pitchFamily="34" charset="-122"/>
                <a:cs typeface="Arial" pitchFamily="34" charset="-120"/>
              </a:rPr>
              <a:t>No attributed hire can be proved. We come back in a year with anecdotes.</a:t>
            </a:r>
            <a:endParaRPr lang="en-US" sz="1450" dirty="0"/>
          </a:p>
        </p:txBody>
      </p:sp>
      <p:sp>
        <p:nvSpPr>
          <p:cNvPr id="19" name="Text 17"/>
          <p:cNvSpPr txBox="1"/>
          <p:nvPr/>
        </p:nvSpPr>
        <p:spPr>
          <a:xfrm>
            <a:off x="7863840" y="3090672"/>
            <a:ext cx="3703320" cy="658368"/>
          </a:xfrm>
          <a:prstGeom prst="rect">
            <a:avLst/>
          </a:prstGeom>
          <a:noFill/>
          <a:ln/>
        </p:spPr>
        <p:txBody>
          <a:bodyPr wrap="square" lIns="0" tIns="0" rIns="0" bIns="0" rtlCol="0" anchor="ctr"/>
          <a:lstStyle/>
          <a:p>
            <a:pPr indent="0" marL="0">
              <a:lnSpc>
                <a:spcPts val="1900"/>
              </a:lnSpc>
              <a:buNone/>
            </a:pPr>
            <a:r>
              <a:rPr lang="en-US" sz="1450" dirty="0">
                <a:solidFill>
                  <a:srgbClr val="3C4350"/>
                </a:solidFill>
                <a:latin typeface="Arial" pitchFamily="34" charset="0"/>
                <a:ea typeface="Arial" pitchFamily="34" charset="-122"/>
                <a:cs typeface="Arial" pitchFamily="34" charset="-120"/>
              </a:rPr>
              <a:t>Secure it before the build starts. It is a form configuration, not an integration.</a:t>
            </a:r>
            <a:endParaRPr lang="en-US" sz="1450" dirty="0"/>
          </a:p>
        </p:txBody>
      </p:sp>
      <p:sp>
        <p:nvSpPr>
          <p:cNvPr id="20" name="Shape 18"/>
          <p:cNvSpPr/>
          <p:nvPr/>
        </p:nvSpPr>
        <p:spPr>
          <a:xfrm>
            <a:off x="566928" y="3803904"/>
            <a:ext cx="11057839" cy="0"/>
          </a:xfrm>
          <a:prstGeom prst="line">
            <a:avLst/>
          </a:prstGeom>
          <a:noFill/>
          <a:ln w="12700">
            <a:solidFill>
              <a:srgbClr val="E4DFD6"/>
            </a:solidFill>
            <a:prstDash val="solid"/>
          </a:ln>
        </p:spPr>
      </p:sp>
      <p:sp>
        <p:nvSpPr>
          <p:cNvPr id="21" name="Shape 19"/>
          <p:cNvSpPr/>
          <p:nvPr/>
        </p:nvSpPr>
        <p:spPr>
          <a:xfrm>
            <a:off x="566928" y="4059936"/>
            <a:ext cx="676656" cy="274320"/>
          </a:xfrm>
          <a:prstGeom prst="roundRect">
            <a:avLst>
              <a:gd name="adj" fmla="val 50000"/>
            </a:avLst>
          </a:prstGeom>
          <a:solidFill>
            <a:srgbClr val="FBF2DF"/>
          </a:solidFill>
          <a:ln w="12700">
            <a:solidFill>
              <a:srgbClr val="333333"/>
            </a:solidFill>
            <a:prstDash val="solid"/>
          </a:ln>
        </p:spPr>
      </p:sp>
      <p:sp>
        <p:nvSpPr>
          <p:cNvPr id="22" name="Text 20"/>
          <p:cNvSpPr txBox="1"/>
          <p:nvPr/>
        </p:nvSpPr>
        <p:spPr>
          <a:xfrm>
            <a:off x="566928" y="4059936"/>
            <a:ext cx="676656" cy="274320"/>
          </a:xfrm>
          <a:prstGeom prst="rect">
            <a:avLst/>
          </a:prstGeom>
          <a:noFill/>
          <a:ln/>
        </p:spPr>
        <p:txBody>
          <a:bodyPr wrap="square" lIns="0" tIns="0" rIns="0" bIns="0" rtlCol="0" anchor="ctr"/>
          <a:lstStyle/>
          <a:p>
            <a:pPr algn="ctr" indent="0" marL="0">
              <a:buNone/>
            </a:pPr>
            <a:r>
              <a:rPr lang="en-US" sz="1400" b="1" dirty="0">
                <a:solidFill>
                  <a:srgbClr val="A9761A"/>
                </a:solidFill>
                <a:latin typeface="Arial" pitchFamily="34" charset="0"/>
                <a:ea typeface="Arial" pitchFamily="34" charset="-122"/>
                <a:cs typeface="Arial" pitchFamily="34" charset="-120"/>
              </a:rPr>
              <a:t>HIGH</a:t>
            </a:r>
            <a:endParaRPr lang="en-US" sz="1400" dirty="0"/>
          </a:p>
        </p:txBody>
      </p:sp>
      <p:sp>
        <p:nvSpPr>
          <p:cNvPr id="23" name="Text 21"/>
          <p:cNvSpPr txBox="1"/>
          <p:nvPr/>
        </p:nvSpPr>
        <p:spPr>
          <a:xfrm>
            <a:off x="1371600" y="3877056"/>
            <a:ext cx="2962656" cy="658368"/>
          </a:xfrm>
          <a:prstGeom prst="rect">
            <a:avLst/>
          </a:prstGeom>
          <a:noFill/>
          <a:ln/>
        </p:spPr>
        <p:txBody>
          <a:bodyPr wrap="square" lIns="0" tIns="0" rIns="0" bIns="0" rtlCol="0" anchor="ctr"/>
          <a:lstStyle/>
          <a:p>
            <a:pPr indent="0" marL="0">
              <a:lnSpc>
                <a:spcPts val="2000"/>
              </a:lnSpc>
              <a:buNone/>
            </a:pPr>
            <a:r>
              <a:rPr lang="en-US" sz="1550" b="1" dirty="0">
                <a:solidFill>
                  <a:srgbClr val="141821"/>
                </a:solidFill>
                <a:latin typeface="Arial" pitchFamily="34" charset="0"/>
                <a:ea typeface="Arial" pitchFamily="34" charset="-122"/>
                <a:cs typeface="Arial" pitchFamily="34" charset="-120"/>
              </a:rPr>
              <a:t>Employees arrive to an empty profile</a:t>
            </a:r>
            <a:endParaRPr lang="en-US" sz="1550" dirty="0"/>
          </a:p>
        </p:txBody>
      </p:sp>
      <p:sp>
        <p:nvSpPr>
          <p:cNvPr id="24" name="Text 22"/>
          <p:cNvSpPr txBox="1"/>
          <p:nvPr/>
        </p:nvSpPr>
        <p:spPr>
          <a:xfrm>
            <a:off x="4480560" y="3877056"/>
            <a:ext cx="3200400" cy="658368"/>
          </a:xfrm>
          <a:prstGeom prst="rect">
            <a:avLst/>
          </a:prstGeom>
          <a:noFill/>
          <a:ln/>
        </p:spPr>
        <p:txBody>
          <a:bodyPr wrap="square" lIns="0" tIns="0" rIns="0" bIns="0" rtlCol="0" anchor="ctr"/>
          <a:lstStyle/>
          <a:p>
            <a:pPr indent="0" marL="0">
              <a:lnSpc>
                <a:spcPts val="1900"/>
              </a:lnSpc>
              <a:buNone/>
            </a:pPr>
            <a:r>
              <a:rPr lang="en-US" sz="1450" dirty="0">
                <a:solidFill>
                  <a:srgbClr val="3C4350"/>
                </a:solidFill>
                <a:latin typeface="Arial" pitchFamily="34" charset="0"/>
                <a:ea typeface="Arial" pitchFamily="34" charset="-122"/>
                <a:cs typeface="Arial" pitchFamily="34" charset="-120"/>
              </a:rPr>
              <a:t>No skills on file means no matches, an empty board, and no second visit.</a:t>
            </a:r>
            <a:endParaRPr lang="en-US" sz="1450" dirty="0"/>
          </a:p>
        </p:txBody>
      </p:sp>
      <p:sp>
        <p:nvSpPr>
          <p:cNvPr id="25" name="Text 23"/>
          <p:cNvSpPr txBox="1"/>
          <p:nvPr/>
        </p:nvSpPr>
        <p:spPr>
          <a:xfrm>
            <a:off x="7863840" y="3877056"/>
            <a:ext cx="3703320" cy="658368"/>
          </a:xfrm>
          <a:prstGeom prst="rect">
            <a:avLst/>
          </a:prstGeom>
          <a:noFill/>
          <a:ln/>
        </p:spPr>
        <p:txBody>
          <a:bodyPr wrap="square" lIns="0" tIns="0" rIns="0" bIns="0" rtlCol="0" anchor="ctr"/>
          <a:lstStyle/>
          <a:p>
            <a:pPr indent="0" marL="0">
              <a:lnSpc>
                <a:spcPts val="1900"/>
              </a:lnSpc>
              <a:buNone/>
            </a:pPr>
            <a:r>
              <a:rPr lang="en-US" sz="1450" dirty="0">
                <a:solidFill>
                  <a:srgbClr val="3C4350"/>
                </a:solidFill>
                <a:latin typeface="Arial" pitchFamily="34" charset="0"/>
                <a:ea typeface="Arial" pitchFamily="34" charset="-122"/>
                <a:cs typeface="Arial" pitchFamily="34" charset="-120"/>
              </a:rPr>
              <a:t>Pre-load from MyDevelopment and LinkedIn. Correcting a draft beats authoring one.</a:t>
            </a:r>
            <a:endParaRPr lang="en-US" sz="1450" dirty="0"/>
          </a:p>
        </p:txBody>
      </p:sp>
      <p:sp>
        <p:nvSpPr>
          <p:cNvPr id="26" name="Shape 24"/>
          <p:cNvSpPr/>
          <p:nvPr/>
        </p:nvSpPr>
        <p:spPr>
          <a:xfrm>
            <a:off x="566928" y="4590288"/>
            <a:ext cx="11057839" cy="0"/>
          </a:xfrm>
          <a:prstGeom prst="line">
            <a:avLst/>
          </a:prstGeom>
          <a:noFill/>
          <a:ln w="12700">
            <a:solidFill>
              <a:srgbClr val="E4DFD6"/>
            </a:solidFill>
            <a:prstDash val="solid"/>
          </a:ln>
        </p:spPr>
      </p:sp>
      <p:sp>
        <p:nvSpPr>
          <p:cNvPr id="27" name="Shape 25"/>
          <p:cNvSpPr/>
          <p:nvPr/>
        </p:nvSpPr>
        <p:spPr>
          <a:xfrm>
            <a:off x="566928" y="4846320"/>
            <a:ext cx="676656" cy="274320"/>
          </a:xfrm>
          <a:prstGeom prst="roundRect">
            <a:avLst>
              <a:gd name="adj" fmla="val 50000"/>
            </a:avLst>
          </a:prstGeom>
          <a:solidFill>
            <a:srgbClr val="FBF2DF"/>
          </a:solidFill>
          <a:ln w="12700">
            <a:solidFill>
              <a:srgbClr val="333333"/>
            </a:solidFill>
            <a:prstDash val="solid"/>
          </a:ln>
        </p:spPr>
      </p:sp>
      <p:sp>
        <p:nvSpPr>
          <p:cNvPr id="28" name="Text 26"/>
          <p:cNvSpPr txBox="1"/>
          <p:nvPr/>
        </p:nvSpPr>
        <p:spPr>
          <a:xfrm>
            <a:off x="566928" y="4846320"/>
            <a:ext cx="676656" cy="274320"/>
          </a:xfrm>
          <a:prstGeom prst="rect">
            <a:avLst/>
          </a:prstGeom>
          <a:noFill/>
          <a:ln/>
        </p:spPr>
        <p:txBody>
          <a:bodyPr wrap="square" lIns="0" tIns="0" rIns="0" bIns="0" rtlCol="0" anchor="ctr"/>
          <a:lstStyle/>
          <a:p>
            <a:pPr algn="ctr" indent="0" marL="0">
              <a:buNone/>
            </a:pPr>
            <a:r>
              <a:rPr lang="en-US" sz="1400" b="1" dirty="0">
                <a:solidFill>
                  <a:srgbClr val="A9761A"/>
                </a:solidFill>
                <a:latin typeface="Arial" pitchFamily="34" charset="0"/>
                <a:ea typeface="Arial" pitchFamily="34" charset="-122"/>
                <a:cs typeface="Arial" pitchFamily="34" charset="-120"/>
              </a:rPr>
              <a:t>HIGH</a:t>
            </a:r>
            <a:endParaRPr lang="en-US" sz="1400" dirty="0"/>
          </a:p>
        </p:txBody>
      </p:sp>
      <p:sp>
        <p:nvSpPr>
          <p:cNvPr id="29" name="Text 27"/>
          <p:cNvSpPr txBox="1"/>
          <p:nvPr/>
        </p:nvSpPr>
        <p:spPr>
          <a:xfrm>
            <a:off x="1371600" y="4663440"/>
            <a:ext cx="2962656" cy="658368"/>
          </a:xfrm>
          <a:prstGeom prst="rect">
            <a:avLst/>
          </a:prstGeom>
          <a:noFill/>
          <a:ln/>
        </p:spPr>
        <p:txBody>
          <a:bodyPr wrap="square" lIns="0" tIns="0" rIns="0" bIns="0" rtlCol="0" anchor="ctr"/>
          <a:lstStyle/>
          <a:p>
            <a:pPr indent="0" marL="0">
              <a:lnSpc>
                <a:spcPts val="2000"/>
              </a:lnSpc>
              <a:buNone/>
            </a:pPr>
            <a:r>
              <a:rPr lang="en-US" sz="1550" b="1" dirty="0">
                <a:solidFill>
                  <a:srgbClr val="141821"/>
                </a:solidFill>
                <a:latin typeface="Arial" pitchFamily="34" charset="0"/>
                <a:ea typeface="Arial" pitchFamily="34" charset="-122"/>
                <a:cs typeface="Arial" pitchFamily="34" charset="-120"/>
              </a:rPr>
              <a:t>The retention lift is smaller than modelled</a:t>
            </a:r>
            <a:endParaRPr lang="en-US" sz="1550" dirty="0"/>
          </a:p>
        </p:txBody>
      </p:sp>
      <p:sp>
        <p:nvSpPr>
          <p:cNvPr id="30" name="Text 28"/>
          <p:cNvSpPr txBox="1"/>
          <p:nvPr/>
        </p:nvSpPr>
        <p:spPr>
          <a:xfrm>
            <a:off x="4480560" y="4663440"/>
            <a:ext cx="3200400" cy="658368"/>
          </a:xfrm>
          <a:prstGeom prst="rect">
            <a:avLst/>
          </a:prstGeom>
          <a:noFill/>
          <a:ln/>
        </p:spPr>
        <p:txBody>
          <a:bodyPr wrap="square" lIns="0" tIns="0" rIns="0" bIns="0" rtlCol="0" anchor="ctr"/>
          <a:lstStyle/>
          <a:p>
            <a:pPr indent="0" marL="0">
              <a:lnSpc>
                <a:spcPts val="1900"/>
              </a:lnSpc>
              <a:buNone/>
            </a:pPr>
            <a:r>
              <a:rPr lang="en-US" sz="1450" dirty="0">
                <a:solidFill>
                  <a:srgbClr val="3C4350"/>
                </a:solidFill>
                <a:latin typeface="Arial" pitchFamily="34" charset="0"/>
                <a:ea typeface="Arial" pitchFamily="34" charset="-122"/>
                <a:cs typeface="Arial" pitchFamily="34" charset="-120"/>
              </a:rPr>
              <a:t>The benefit case thins. At zero it falls back to the measured floor.</a:t>
            </a:r>
            <a:endParaRPr lang="en-US" sz="1450" dirty="0"/>
          </a:p>
        </p:txBody>
      </p:sp>
      <p:sp>
        <p:nvSpPr>
          <p:cNvPr id="31" name="Text 29"/>
          <p:cNvSpPr txBox="1"/>
          <p:nvPr/>
        </p:nvSpPr>
        <p:spPr>
          <a:xfrm>
            <a:off x="7863840" y="4663440"/>
            <a:ext cx="3703320" cy="658368"/>
          </a:xfrm>
          <a:prstGeom prst="rect">
            <a:avLst/>
          </a:prstGeom>
          <a:noFill/>
          <a:ln/>
        </p:spPr>
        <p:txBody>
          <a:bodyPr wrap="square" lIns="0" tIns="0" rIns="0" bIns="0" rtlCol="0" anchor="ctr"/>
          <a:lstStyle/>
          <a:p>
            <a:pPr indent="0" marL="0">
              <a:lnSpc>
                <a:spcPts val="1900"/>
              </a:lnSpc>
              <a:buNone/>
            </a:pPr>
            <a:r>
              <a:rPr lang="en-US" sz="1450" dirty="0">
                <a:solidFill>
                  <a:srgbClr val="3C4350"/>
                </a:solidFill>
                <a:latin typeface="Arial" pitchFamily="34" charset="0"/>
                <a:ea typeface="Arial" pitchFamily="34" charset="-122"/>
                <a:cs typeface="Arial" pitchFamily="34" charset="-120"/>
              </a:rPr>
              <a:t>Already halved from what the data shows. The year-one holdout settles it either way.</a:t>
            </a:r>
            <a:endParaRPr lang="en-US" sz="1450" dirty="0"/>
          </a:p>
        </p:txBody>
      </p:sp>
      <p:sp>
        <p:nvSpPr>
          <p:cNvPr id="32" name="Shape 30"/>
          <p:cNvSpPr/>
          <p:nvPr/>
        </p:nvSpPr>
        <p:spPr>
          <a:xfrm>
            <a:off x="566928" y="5376672"/>
            <a:ext cx="11057839" cy="0"/>
          </a:xfrm>
          <a:prstGeom prst="line">
            <a:avLst/>
          </a:prstGeom>
          <a:noFill/>
          <a:ln w="12700">
            <a:solidFill>
              <a:srgbClr val="E4DFD6"/>
            </a:solidFill>
            <a:prstDash val="solid"/>
          </a:ln>
        </p:spPr>
      </p:sp>
      <p:sp>
        <p:nvSpPr>
          <p:cNvPr id="33" name="Shape 31"/>
          <p:cNvSpPr/>
          <p:nvPr/>
        </p:nvSpPr>
        <p:spPr>
          <a:xfrm>
            <a:off x="566928" y="5632704"/>
            <a:ext cx="676656" cy="274320"/>
          </a:xfrm>
          <a:prstGeom prst="roundRect">
            <a:avLst>
              <a:gd name="adj" fmla="val 50000"/>
            </a:avLst>
          </a:prstGeom>
          <a:solidFill>
            <a:srgbClr val="ECEAE5"/>
          </a:solidFill>
          <a:ln w="12700">
            <a:solidFill>
              <a:srgbClr val="333333"/>
            </a:solidFill>
            <a:prstDash val="solid"/>
          </a:ln>
        </p:spPr>
      </p:sp>
      <p:sp>
        <p:nvSpPr>
          <p:cNvPr id="34" name="Text 32"/>
          <p:cNvSpPr txBox="1"/>
          <p:nvPr/>
        </p:nvSpPr>
        <p:spPr>
          <a:xfrm>
            <a:off x="566928" y="5632704"/>
            <a:ext cx="676656" cy="274320"/>
          </a:xfrm>
          <a:prstGeom prst="rect">
            <a:avLst/>
          </a:prstGeom>
          <a:noFill/>
          <a:ln/>
        </p:spPr>
        <p:txBody>
          <a:bodyPr wrap="square" lIns="0" tIns="0" rIns="0" bIns="0" rtlCol="0" anchor="ctr"/>
          <a:lstStyle/>
          <a:p>
            <a:pPr algn="ctr" indent="0" marL="0">
              <a:buNone/>
            </a:pPr>
            <a:r>
              <a:rPr lang="en-US" sz="1400" b="1" dirty="0">
                <a:solidFill>
                  <a:srgbClr val="7C8595"/>
                </a:solidFill>
                <a:latin typeface="Arial" pitchFamily="34" charset="0"/>
                <a:ea typeface="Arial" pitchFamily="34" charset="-122"/>
                <a:cs typeface="Arial" pitchFamily="34" charset="-120"/>
              </a:rPr>
              <a:t>MED</a:t>
            </a:r>
            <a:endParaRPr lang="en-US" sz="1400" dirty="0"/>
          </a:p>
        </p:txBody>
      </p:sp>
      <p:sp>
        <p:nvSpPr>
          <p:cNvPr id="35" name="Text 33"/>
          <p:cNvSpPr txBox="1"/>
          <p:nvPr/>
        </p:nvSpPr>
        <p:spPr>
          <a:xfrm>
            <a:off x="1371600" y="5449824"/>
            <a:ext cx="2962656" cy="658368"/>
          </a:xfrm>
          <a:prstGeom prst="rect">
            <a:avLst/>
          </a:prstGeom>
          <a:noFill/>
          <a:ln/>
        </p:spPr>
        <p:txBody>
          <a:bodyPr wrap="square" lIns="0" tIns="0" rIns="0" bIns="0" rtlCol="0" anchor="ctr"/>
          <a:lstStyle/>
          <a:p>
            <a:pPr indent="0" marL="0">
              <a:lnSpc>
                <a:spcPts val="2000"/>
              </a:lnSpc>
              <a:buNone/>
            </a:pPr>
            <a:r>
              <a:rPr lang="en-US" sz="1550" b="1" dirty="0">
                <a:solidFill>
                  <a:srgbClr val="141821"/>
                </a:solidFill>
                <a:latin typeface="Arial" pitchFamily="34" charset="0"/>
                <a:ea typeface="Arial" pitchFamily="34" charset="-122"/>
                <a:cs typeface="Arial" pitchFamily="34" charset="-120"/>
              </a:rPr>
              <a:t>Build overruns</a:t>
            </a:r>
            <a:endParaRPr lang="en-US" sz="1550" dirty="0"/>
          </a:p>
        </p:txBody>
      </p:sp>
      <p:sp>
        <p:nvSpPr>
          <p:cNvPr id="36" name="Text 34"/>
          <p:cNvSpPr txBox="1"/>
          <p:nvPr/>
        </p:nvSpPr>
        <p:spPr>
          <a:xfrm>
            <a:off x="4480560" y="5449824"/>
            <a:ext cx="3200400" cy="658368"/>
          </a:xfrm>
          <a:prstGeom prst="rect">
            <a:avLst/>
          </a:prstGeom>
          <a:noFill/>
          <a:ln/>
        </p:spPr>
        <p:txBody>
          <a:bodyPr wrap="square" lIns="0" tIns="0" rIns="0" bIns="0" rtlCol="0" anchor="ctr"/>
          <a:lstStyle/>
          <a:p>
            <a:pPr indent="0" marL="0">
              <a:lnSpc>
                <a:spcPts val="1900"/>
              </a:lnSpc>
              <a:buNone/>
            </a:pPr>
            <a:r>
              <a:rPr lang="en-US" sz="1450" dirty="0">
                <a:solidFill>
                  <a:srgbClr val="3C4350"/>
                </a:solidFill>
                <a:latin typeface="Arial" pitchFamily="34" charset="0"/>
                <a:ea typeface="Arial" pitchFamily="34" charset="-122"/>
                <a:cs typeface="Arial" pitchFamily="34" charset="-120"/>
              </a:rPr>
              <a:t>Three-year cost rises toward ₱2.9M; ratio falls to about 3.2.</a:t>
            </a:r>
            <a:endParaRPr lang="en-US" sz="1450" dirty="0"/>
          </a:p>
        </p:txBody>
      </p:sp>
      <p:sp>
        <p:nvSpPr>
          <p:cNvPr id="37" name="Text 35"/>
          <p:cNvSpPr txBox="1"/>
          <p:nvPr/>
        </p:nvSpPr>
        <p:spPr>
          <a:xfrm>
            <a:off x="7863840" y="5449824"/>
            <a:ext cx="3703320" cy="658368"/>
          </a:xfrm>
          <a:prstGeom prst="rect">
            <a:avLst/>
          </a:prstGeom>
          <a:noFill/>
          <a:ln/>
        </p:spPr>
        <p:txBody>
          <a:bodyPr wrap="square" lIns="0" tIns="0" rIns="0" bIns="0" rtlCol="0" anchor="ctr"/>
          <a:lstStyle/>
          <a:p>
            <a:pPr indent="0" marL="0">
              <a:lnSpc>
                <a:spcPts val="1900"/>
              </a:lnSpc>
              <a:buNone/>
            </a:pPr>
            <a:r>
              <a:rPr lang="en-US" sz="1450" dirty="0">
                <a:solidFill>
                  <a:srgbClr val="3C4350"/>
                </a:solidFill>
                <a:latin typeface="Arial" pitchFamily="34" charset="0"/>
                <a:ea typeface="Arial" pitchFamily="34" charset="-122"/>
                <a:cs typeface="Arial" pitchFamily="34" charset="-120"/>
              </a:rPr>
              <a:t>Still clears, and still far under the vendor bands.</a:t>
            </a:r>
            <a:endParaRPr lang="en-US" sz="1450" dirty="0"/>
          </a:p>
        </p:txBody>
      </p:sp>
      <p:sp>
        <p:nvSpPr>
          <p:cNvPr id="38" name="Text 36"/>
          <p:cNvSpPr txBox="1"/>
          <p:nvPr/>
        </p:nvSpPr>
        <p:spPr>
          <a:xfrm>
            <a:off x="11167567" y="6382512"/>
            <a:ext cx="457200" cy="256032"/>
          </a:xfrm>
          <a:prstGeom prst="rect">
            <a:avLst/>
          </a:prstGeom>
          <a:noFill/>
          <a:ln/>
        </p:spPr>
        <p:txBody>
          <a:bodyPr wrap="square" lIns="0" tIns="0" rIns="0" bIns="0" rtlCol="0" anchor="ctr"/>
          <a:lstStyle/>
          <a:p>
            <a:pPr algn="r" indent="0" marL="0">
              <a:buNone/>
            </a:pPr>
            <a:r>
              <a:rPr lang="en-US" sz="1400" dirty="0">
                <a:solidFill>
                  <a:srgbClr val="B6AFA3"/>
                </a:solidFill>
                <a:latin typeface="Arial" pitchFamily="34" charset="0"/>
                <a:ea typeface="Arial" pitchFamily="34" charset="-122"/>
                <a:cs typeface="Arial" pitchFamily="34" charset="-120"/>
              </a:rPr>
              <a:t>15</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Home Credit Philippines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Growth — a talent marketplace for Home Credit PH</dc:title>
  <dc:subject>PptxGenJS Presentation</dc:subject>
  <dc:creator>Ruffa Gayla Gonzales</dc:creator>
  <cp:lastModifiedBy>Ruffa Gayla Gonzales</cp:lastModifiedBy>
  <cp:revision>1</cp:revision>
  <dcterms:created xsi:type="dcterms:W3CDTF">2026-09-14T15:21:27Z</dcterms:created>
  <dcterms:modified xsi:type="dcterms:W3CDTF">2026-09-14T15:21:27Z</dcterms:modified>
</cp:coreProperties>
</file>