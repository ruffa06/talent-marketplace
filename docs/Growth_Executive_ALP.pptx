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Fifteen minutes: roughly seven on the deck, eight in the product. I will show you the problem, show you the thing working, then show you the money.
One sentence up front: we fill 17% of our roles from the inside, the benchmark is 30%, and the gap is costing us about 5.3 million pesos a year. Growth closes it for 2.05 million over three years, which is 614 pesos per employee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case on one slide. Everything after it is evidence.
The 17% is ours: 170 accepted out of 1,008 vacancies posted between 2024 and 2026. The 30% is the published market benchmark for internal fill; mature marketplaces run 40-50%.
The 67/38 number is the one I would hold onto. It is not modelled, it is a headcount we can check in the HRIS: 67 people raised their hand in 2025, we told them no, and 29 of them have since left. That is 43% versus a company average of 19%.
If asked "is this causal" — no, not proven. It is an association, and the exposure window runs longer than a year so the true excess is smaller than 24 points. I model it at 15. The holdout in the adoption plan is how we settle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funnel left to right and it looks like a selection problem. It is not.
463 applications across three years, from a company of 20,587 people. That is the real number: fewer than eight internal applications a week, company-wide. People are not being rejected in droves — they are not applying, because they cannot see the roles.
The bottom band is the part that should worry us, and I want to be precise about what is measured and what is not.
MEASURED: 67 people raised their hand in 2025, we said no, and 29 have since left. 43% of that cohort. That comes straight out of HRIS and anyone can re-pull it.
NOT MEASURED: what to compare it against. An earlier draft of this used 19% as a company average. I have withdrawn that — it traced back to a placeholder tile in the v1 prototype dashboard, not to Payroll. The right comparator is attrition among band B and C non-mass staff, because that is who these applicants are; a whole-company rate would be dragged up by mass operations. HR has been asked for it.
The 16 and the 5.2 million on this slide assume a 28% comparator, which is what the 15-point excess I model implies. The appendix shows the case from 20% to 35%. If anyone asks the obvious question — what if the comparator is 35% — the answer is that the expected case still clears a ratio of 4.3, and I would rather show you that range than defend a number I cannot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twenty seconds. It is the bridge between the problem and the product.
The point to land: every one of these three is a systems gap, not a talent gap or a manager-attitude gap. That matters because it means the fix is buildable rather than cultural, and buildable things have costs and timelines you can approve.
If a panel member pushes on manager hoarding — it is real, and it is on the risk slide. But hoarding cannot explain 463 applications; you cannot hoard a role nobody applied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then straight into the demo.
The four shelves matter because a vacancy is a once-a-year event but a gig is a once-a-month one. If the only thing on the marketplace is permanent roles, most people have no reason to come back, and the people we turn down leave with nothing. The gigs, immersions and service offers are the second door — and they are the answer to the 67/38 problem.
On the AI: it is Claude, called in batch when a post goes live. It scores against verified skills, self-declared skills, stated aspiration and track record. The reasoning is shown on every card, and a low score never stops anyone applying. That was a deliberate design decision — an opaque gate would have killed trust in week one.
Cost of the AI is 40,544 pesos a year at 1,113 people. It is on the cost slide and it is not inside IT's 1,785,500 build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the creativity and innovation criterion, and it is forty seconds.
The honest framing: internal talent marketplaces are not a new product category. Gloat, Fuel50 and Eightfold have existed for years. What is designed here rather than copied is the response to a problem the category has not solved — that a marketplace which only sells permanent roles manufactures rejection, and rejection is what pushes people out. Our own 67/38 cohort is the evidence. The four shelves exist because of it.
On provenance: most systems treat a self-declared skill and a demonstrated one as the same string. Ours does not — verified, HR-uploaded and self-declared carry different weight in the match rubric, and the employee can see which is which on their own profile. That is what stops the skills inventory rotting into a wish list.
If the Chief AI Officer asks what is genuinely AI here rather than rules: the model reads unstructured job posts and unstructured profiles and produces a scored, explained judgement about adjacency — it understands that workforce planning is close to capacity planning without anyone maintaining a synonym table. The deliberate constraints are that it never ranks people against each other, never gates an application, and always shows its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minutes. Four beats, in this order, and do not improvise beyond them.
1. Sign in as Taylor Swift. Go to My Matches. Point out that the matches are 80% and above, and read one "why this score" line out loud. The panel needs to hear that the machine explains itself.
2. Go to My Profile and add a skill. Come back to My Matches. New opportunities appear. This is the single most persuasive twenty seconds in the demo — the marketplace is live, not a mockup.
3. Switch role to a manager. Post a gig. Switch to HR admin, approve it. Switch back to employee, and it is on the shelf with an applicant count. This proves the full loop, including governance.
4. Close out a completed immersion with a rating, then open the employee profile and show it recorded there. That is how a skill becomes verified rather than claimed.
If the demo fails: the screenshots in the appendix cover beats 1 and 3. Do not spend more than thirty seconds troubleshooting.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CFO will test. Three things to say before being asked.
FIRST — the hiring-cost row is small on purpose. A Band C hire costs 35,367 pesos through TA. Of that, 3,378 is HR and TA cost per hire which we still pay on an internal move, so it is not a saving. And filling a Band C role internally creates a Band B vacancy we then hire for externally at 6,977. Net of both, one Band C internal fill saves 25,012 pesos of hiring cost, not 35,367. I have netted the backfill everywhere.
SECOND — vacancy days. 58 days to fill externally versus 21 internally. 37 days saved on the senior role at its own day rate, minus 58 days on the backfilled seat at its lower day rate. That nets to 61,247 on a Band C move. It is lost output, not cash.
THIRD — turnover is the biggest line and it rests on the measured 67/38 cohort, discounted from 24 points of excess attrition to 15, and priced at 75% of blended Band B/C annual basic, which is 508,194.
If challenged that 5.3 million is too small to matter: agreed, on its own. The point is that we capture it for 614 pesos per employee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"let us get to 30%" is the kind of target that gets approved and then quietly missed. The arithmetic says why.
463 applications produced 170 hires over three years — a 37% success rate. If that rate holds, 30% of 336 vacancies means 101 internal hires a year, which needs 275 applications, up from 154. Nearly double.
The catch is genuine and I would rather raise it than have it raised at me. Doubling applications while holding the success rate means rejecting 174 people a year instead of 98. Our own data says a rejected internal applicant leaves at 43%. Scale that naively and we would be building a machine that generates attrition.
The four shelves are the mitigation. A vacancy is zero-sum — one slot, one winner. A gig is not. An immersion is not. A service offer is not. Those absorb the people a vacancy turns away, and they are the reason the retention benefit in the model is defensible rather than wishful.
This is the answer if anyone asks what is actually innovative here versus a job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scrupulous here: I built these bands from how enterprise HR SaaS is typically structured. They are not quotes and no vendor in the set publishes per-seat pricing. If anyone treats them as firm, correct them.
The two tiers are genuinely different products. Fuel50 and Gloat sell an opportunity marketplace and career pathing — closest to what we have built. Eightfold and Workday sell a skills-inference layer inside a wider suite, which is more capability than we need and usually comes with a multi-module commitment.
The honest case for buying, which I would rather make myself than have made at me: they have spent years on a skills ontology, they benchmark against other companies, and they carry a support SLA. We have none of that, and our 0.2 to 0.3 FTE of ownership from year two is the thin end of that problem.
The case against, at our size: 1,113 seats is below every vendor minimum, so we would pay for a minimum contract value rather than for seats — the worst possible per-seat economics. And none of them ship developmental job immersion, which is a Home Credit policy instrument, or service offers, or day-one wiring into HC Connect and MyDevelopment.
So the recommendation is sequencing, not ideology: build cheap now to prove people actually use it, and if it works across the whole company, run a real RFP with real usage data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seconds. Name the three, say why, move on. Do not read the right column.
Three of eight, not six — I would rather claim three convincingly than eight loosely. People &amp; Culture, Deep Focus on Tech and Expand Horizons all depend on internal talent supply, and none of them can be met by hiring alone at the pace the plan assumes.
The strongest single argument in this room: Deep Focus on Tech needs engineers and data people we are currently buying at a premium through headhunters, and our own Operations and Risk populations contain people who could cross into that work if there were a route. Gigs and immersions are that route, and they cost us nothing but a manager saying yes.
The asset is not the app. It is the first live, verified skills inventory this company has had — and it stays current because people update it to get matched, which is the reason every previous attempt at a skills database died.
If the Chief AI Officer asks where AI sits: it reads unstructured job posts and profiles and returns an explained score. It does not make selection decisions, does not rank people against each other, and never gates an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to hold: 2.05 million over three years, 614 pesos per employee per year, twelve-month payback.
Note the time base, because the two money slides differ. Slide 8 is per year — the value we forgo annually. This slide is a three-year total, because that is how the build is funded.
On the two ratios. 4.6 is the expected case and it includes retention across the 174 people a year who take a gig, an immersion or a service offer — that stream is a judgement, discounted from a 13-point observed gap in the v1 data to 3 points. 1.1 is the floor: only the extra internal fills and the turnover we can measure, nothing else. I am showing both deliberately. The honest position is that this clears on measured benefits alone, and clears comfortably once the shelves work.
On the build: 1,785,500 is IT's own man-hour costing, not my estimate, and it excludes AI — which is why Claude sits on its own line at 40,544 a year. Our earlier bottom-up planning estimate was 873,000; IT's number is higher and I am using theirs.
Excluded from the cost, and material: 0.2 to 0.3 FTE of internal ownership from year two. At 0.25 FTE the three-year cost is about 3.4 million and the expected ratio falls to roughly 2.8. I would rather you heard that from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to answer the question the CFO is already forming: if the pilot is 2 million, is the company 38 million? No. It is 5.26 million, because the build never moves.
The number to say out loud is 86 pesos per employee per year at full rollout, against 614 at the pilot. Going from 1,113 people to all 20,470 costs 55 pesos per extra employee per year. That is the argument for approving a pilot rather than haggling over scope: the asset is bought once and every wave after it is nearly free.
The AI line deserves a sentence. It is 63% of the run at full scale because it is the only cost that tracks headcount directly. Three things control it and all three are already designed in: we score in batch rather than per page view, we only rescore when a post or a profile actually changes, and we run on the cheaper model tier. The figure here is costed on the older Sonnet price we budgeted with — current pricing would cut this line by roughly a third, which I have deliberately not claimed.
On the benefit side, be careful and be honest. The 5.29 million a year on slide 8 was always a company-wide number — 336 vacancies a year is the whole company. The pilot only ever captures its own slice, about 0.94 million. So full rollout is 2.6 times the cost for 5.6 times the mobility benefit.
If someone asks about the shelf retention benefit at full scale: it models out at about 17 million a year, because mass operations is 18,479 people. I am deliberately not putting that on the slide. It rests on a 3-point judgement applied to a population we have never tested it on, and quoting a 10:1 ratio would damage everything else in this pack. Mention it only if asked, and label it as untested.
Close with the red box: this is context, not the ask. The ask is still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This is the slide IT, the DPO and the Chief AI Officer will each want, for different reasons.
For IT: there is no new system of record. Growth reads from HRIS, MyDevelopment and HC Connect, and the only thing it writes back into a corporate system is one source-field value on a requisition. Supabase gives us Postgres, authentication, row-level security and scheduled jobs in one managed service — that is the lever that took a separate API service out of the build.
For the DPO: row-level security means a manager sees applicants to their own post and nothing else. Authentication is Azure AD single sign-on, so joiners and leavers are handled by the process we already run — nobody has to remember to deprovision. LinkedIn data is employee-supplied and opt-in. Retention is profile-while-employed plus twelve months, referral log twenty-four. The DPIA is costed into the build and is a launch gate, not a follow-up.
For the Chief AI Officer, four design constraints, and I would say all four out loud. One: the prompt carries skills, role text and stated aspiration — no name, no employee ID, no band, no salary, no protected attributes. Two: it scores a person against a post, never people against each other. Three: it never gates an application; a low score is advice, and anyone can apply anyway. Four: the reasoning is shown on every card, so an employee can see why and disagree.
On commercial data terms specifically: zero-data-retention is an available enterprise configuration, and confirming it in the DPA with Anthropic is on the pre-build checklist. I am not claiming it is already in place — that is a procurement action, and it should be closed before the first real profile is loaded.
On cost control, since the previous slide raised it: batch scoring, rescoring only on change, and the cheaper model tier are the three levers, and all three are already in the design rather than being things we would bolt on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for every internal marketplace is the same: it launches, it is empty, people look once and never return. So the first three items all happen before anyone is invited in.
On seeding skills — this is why MyDevelopment and LinkedIn matter. A blank profile is a dead profile. If we pre-fill from records we already hold and ask the employee to correct rather than author, completion goes from a twenty-minute chore to a two-minute one. Data protection position: LinkedIn data is employee-supplied and opt-in, and the DPIA covers it.
On the quarterly email — this is the mechanism that does the heavy lifting on the previous slide. We need applications to go from 154 to 275 a year. A quarterly note saying "here are your three best matches, by name" is the cheapest way to get there. It costs 15,987 pesos a year, it is on the cost slide, and it is the line I would defend last if the budget were cut.
On measurement — the holdout is not optional. It is what turns the retention number from an argument into a finding, and it is what I would want to bring back to this room in twelve months.
Further comms detail if asked: the launch film features one real internal mover telling their own story; a monthly "new on the shelves" digest; and a standing item in the ExCo pack showing posts, applications and fills by function — visibility of who is NOT posting is what moves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asks and then stop talking. Do not summarise.
The second ask is the one people underestimate. Without a "Growth Marketplace" source value in HC Connect, every internal hire that came through the marketplace is invisible in our own data and gets attributed to the recruitment tool. It costs nothing and it is the difference between coming back here in a year with evidence and coming back with anecdotes. Get it agreed before the build starts, not after.
The third ask is the one that determines whether this works. Six managers, each committing one gig or one immersion before launch. If nobody in this room will name them, the honest answer is that the organisation is not ready and we should not spend the 1.78 million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turn to when someone says the hiring-cost saving looks small.
It is small, and that is the honest answer. Internal mobility does not eliminate a hire — it moves the hire one band down the chain, where it is cheaper and faster but not free. Most business cases for talent marketplaces quietly skip this. Ours does not.
The earlier draft of this business case used a 350,000-peso avoided agency fee per internal fill. I retired it: it was cited to the v1 paper, that paper does not contain it, and it conflicts with TA's own 2025 cost-per-hire file. Everything here now comes from that file and from Payroll.
Where the value genuinely is: the 158,510 of output we keep by filling a Band C role in 21 days instead of 58, and the 76,229 of replacement cost we do not pay because the person stayed.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to this the moment anyone questions the turnover line, and volunteer it if the CFO looks sceptical.
Three layers, and I want them kept apart.
MEASURED: 67 turned down in 2025, 38 still employed in September 2026. HRIS fact, re-pullable. Payroll band averages are also fact.
DERIVED: the blend. 186 Band B and 103 Band C external hires in 2025 weight the two band averages into 56,466 a month, 677,592 a year. Arithmetic, no judgement.
ASSUMED: two things. First, replacement at 75% of annual basic — published ranges run 50 to 200% of salary depending on seniority, so 75% of basic is deliberately at the low end, and using basic rather than total cost understates it again. Second, the comparator attrition rate, which we do not have.
On that second one: I had 19% in an earlier draft. It came from a demo tile in the v1 prototype that read "94% versus 81% company average" — illustrative placeholder text I wrote, never a Payroll figure. Withdrawing it is the right call and I would rather say so than have it found.
The table is the answer to "what if you are wrong". Across the whole plausible range the expected case stays above 4.3. What moves is the floor — the measured-only case — which is exactly why confirming this number is the first thing on the measurement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this. It is here so that any number challenged from the floor can be answered by turning to one slide.
The division is deliberate: the left column is data we hold and can re-pull, the right column is judgement. If a panel member wants to argue, point them at the right column — that is where the argument is, and I have already taken the conservative side of every item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these are gates rather than risks: manager supply and the source field. Both are decisions this room can make today, both cost nothing, and the project should not start without them. Saying that out loud is what makes the rest of the risk table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C00000"/>
          </a:solidFill>
          <a:ln w="12700">
            <a:solidFill>
              <a:srgbClr val="333333"/>
            </a:solidFill>
            <a:prstDash val="solid"/>
          </a:ln>
        </p:spPr>
      </p:sp>
      <p:sp>
        <p:nvSpPr>
          <p:cNvPr id="3" name="Shape 1"/>
          <p:cNvSpPr/>
          <p:nvPr/>
        </p:nvSpPr>
        <p:spPr>
          <a:xfrm>
            <a:off x="1051560" y="1115568"/>
            <a:ext cx="841248" cy="841248"/>
          </a:xfrm>
          <a:prstGeom prst="roundRect">
            <a:avLst>
              <a:gd name="adj" fmla="val 23913"/>
            </a:avLst>
          </a:prstGeom>
          <a:solidFill>
            <a:srgbClr val="C00000"/>
          </a:solidFill>
          <a:ln w="12700">
            <a:solidFill>
              <a:srgbClr val="333333"/>
            </a:solidFill>
            <a:prstDash val="solid"/>
          </a:ln>
        </p:spPr>
      </p:sp>
      <p:pic>
        <p:nvPicPr>
          <p:cNvPr id="4" name="Image 0" descr="preencoded.png">    </p:cNvPr>
          <p:cNvPicPr>
            <a:picLocks noChangeAspect="1"/>
          </p:cNvPicPr>
          <p:nvPr/>
        </p:nvPicPr>
        <p:blipFill>
          <a:blip r:embed="rId1"/>
          <a:stretch>
            <a:fillRect/>
          </a:stretch>
        </p:blipFill>
        <p:spPr>
          <a:xfrm>
            <a:off x="1202985" y="1266993"/>
            <a:ext cx="538399" cy="538399"/>
          </a:xfrm>
          <a:prstGeom prst="rect">
            <a:avLst/>
          </a:prstGeom>
        </p:spPr>
      </p:pic>
      <p:sp>
        <p:nvSpPr>
          <p:cNvPr id="5" name="Text 2"/>
          <p:cNvSpPr txBox="1"/>
          <p:nvPr/>
        </p:nvSpPr>
        <p:spPr>
          <a:xfrm>
            <a:off x="1051560" y="2139696"/>
            <a:ext cx="8229600" cy="960120"/>
          </a:xfrm>
          <a:prstGeom prst="rect">
            <a:avLst/>
          </a:prstGeom>
          <a:noFill/>
          <a:ln/>
        </p:spPr>
        <p:txBody>
          <a:bodyPr wrap="square" lIns="0" tIns="0" rIns="0" bIns="0" rtlCol="0" anchor="ctr"/>
          <a:lstStyle/>
          <a:p>
            <a:pPr indent="0" marL="0">
              <a:buNone/>
            </a:pPr>
            <a:r>
              <a:rPr lang="en-US" sz="6200" b="1" dirty="0">
                <a:solidFill>
                  <a:srgbClr val="222834"/>
                </a:solidFill>
                <a:latin typeface="Arial" pitchFamily="34" charset="0"/>
                <a:ea typeface="Arial" pitchFamily="34" charset="-122"/>
                <a:cs typeface="Arial" pitchFamily="34" charset="-120"/>
              </a:rPr>
              <a:t>Growth</a:t>
            </a:r>
            <a:endParaRPr lang="en-US" sz="6200" dirty="0"/>
          </a:p>
        </p:txBody>
      </p:sp>
      <p:sp>
        <p:nvSpPr>
          <p:cNvPr id="6" name="Text 3"/>
          <p:cNvSpPr txBox="1"/>
          <p:nvPr/>
        </p:nvSpPr>
        <p:spPr>
          <a:xfrm>
            <a:off x="1051560" y="3127248"/>
            <a:ext cx="8595360" cy="384048"/>
          </a:xfrm>
          <a:prstGeom prst="rect">
            <a:avLst/>
          </a:prstGeom>
          <a:noFill/>
          <a:ln/>
        </p:spPr>
        <p:txBody>
          <a:bodyPr wrap="square" lIns="0" tIns="0" rIns="0" bIns="0" rtlCol="0" anchor="ctr"/>
          <a:lstStyle/>
          <a:p>
            <a:pPr indent="0" marL="0">
              <a:buNone/>
            </a:pPr>
            <a:r>
              <a:rPr lang="en-US" sz="2000" dirty="0">
                <a:solidFill>
                  <a:srgbClr val="4B5363"/>
                </a:solidFill>
                <a:latin typeface="Arial" pitchFamily="34" charset="0"/>
                <a:ea typeface="Arial" pitchFamily="34" charset="-122"/>
                <a:cs typeface="Arial" pitchFamily="34" charset="-120"/>
              </a:rPr>
              <a:t>An internal talent marketplace for Home Credit Philippines</a:t>
            </a:r>
            <a:endParaRPr lang="en-US" sz="2000" dirty="0"/>
          </a:p>
        </p:txBody>
      </p:sp>
      <p:sp>
        <p:nvSpPr>
          <p:cNvPr id="7" name="Shape 4"/>
          <p:cNvSpPr/>
          <p:nvPr/>
        </p:nvSpPr>
        <p:spPr>
          <a:xfrm>
            <a:off x="1051560" y="3712464"/>
            <a:ext cx="1371600" cy="54864"/>
          </a:xfrm>
          <a:prstGeom prst="rect">
            <a:avLst/>
          </a:prstGeom>
          <a:solidFill>
            <a:srgbClr val="C00000"/>
          </a:solidFill>
          <a:ln w="12700">
            <a:solidFill>
              <a:srgbClr val="333333"/>
            </a:solidFill>
            <a:prstDash val="solid"/>
          </a:ln>
        </p:spPr>
      </p:sp>
      <p:sp>
        <p:nvSpPr>
          <p:cNvPr id="8" name="Text 5"/>
          <p:cNvSpPr txBox="1"/>
          <p:nvPr/>
        </p:nvSpPr>
        <p:spPr>
          <a:xfrm>
            <a:off x="1051560" y="3968496"/>
            <a:ext cx="10241280" cy="310896"/>
          </a:xfrm>
          <a:prstGeom prst="rect">
            <a:avLst/>
          </a:prstGeom>
          <a:noFill/>
          <a:ln/>
        </p:spPr>
        <p:txBody>
          <a:bodyPr wrap="square" lIns="0" tIns="0" rIns="0" bIns="0" rtlCol="0" anchor="ctr"/>
          <a:lstStyle/>
          <a:p>
            <a:pPr indent="0" marL="0">
              <a:buNone/>
            </a:pPr>
            <a:r>
              <a:rPr lang="en-US" sz="1600" b="1" dirty="0">
                <a:solidFill>
                  <a:srgbClr val="222834"/>
                </a:solidFill>
                <a:latin typeface="Arial" pitchFamily="34" charset="0"/>
                <a:ea typeface="Arial" pitchFamily="34" charset="-122"/>
                <a:cs typeface="Arial" pitchFamily="34" charset="-120"/>
              </a:rPr>
              <a:t>Action Learning Project</a:t>
            </a:r>
            <a:pPr indent="0" marL="0">
              <a:buNone/>
            </a:pPr>
            <a:r>
              <a:rPr lang="en-US" sz="1600" dirty="0">
                <a:solidFill>
                  <a:srgbClr val="858D9B"/>
                </a:solidFill>
                <a:latin typeface="Arial" pitchFamily="34" charset="0"/>
                <a:ea typeface="Arial" pitchFamily="34" charset="-122"/>
                <a:cs typeface="Arial" pitchFamily="34" charset="-120"/>
              </a:rPr>
              <a:t>   ·   Ruffa Gayla Gonzales, Organisational Effectiveness   ·   September 2026</a:t>
            </a:r>
            <a:endParaRPr lang="en-US" sz="1600" dirty="0"/>
          </a:p>
        </p:txBody>
      </p:sp>
      <p:sp>
        <p:nvSpPr>
          <p:cNvPr id="9" name="Shape 6"/>
          <p:cNvSpPr/>
          <p:nvPr/>
        </p:nvSpPr>
        <p:spPr>
          <a:xfrm>
            <a:off x="1051560" y="4864608"/>
            <a:ext cx="1965960" cy="0"/>
          </a:xfrm>
          <a:prstGeom prst="line">
            <a:avLst/>
          </a:prstGeom>
          <a:noFill/>
          <a:ln w="12700">
            <a:solidFill>
              <a:srgbClr val="E9E1D3"/>
            </a:solidFill>
            <a:prstDash val="solid"/>
          </a:ln>
        </p:spPr>
      </p:sp>
      <p:sp>
        <p:nvSpPr>
          <p:cNvPr id="10" name="Text 7"/>
          <p:cNvSpPr txBox="1"/>
          <p:nvPr/>
        </p:nvSpPr>
        <p:spPr>
          <a:xfrm>
            <a:off x="1051560" y="4956048"/>
            <a:ext cx="2011680" cy="420624"/>
          </a:xfrm>
          <a:prstGeom prst="rect">
            <a:avLst/>
          </a:prstGeom>
          <a:noFill/>
          <a:ln/>
        </p:spPr>
        <p:txBody>
          <a:bodyPr wrap="square" lIns="0" tIns="0" rIns="0" bIns="0" rtlCol="0" anchor="ctr"/>
          <a:lstStyle/>
          <a:p>
            <a:pPr indent="0" marL="0">
              <a:buNone/>
            </a:pPr>
            <a:r>
              <a:rPr lang="en-US" sz="2800" b="1" dirty="0">
                <a:solidFill>
                  <a:srgbClr val="C00000"/>
                </a:solidFill>
                <a:latin typeface="Arial" pitchFamily="34" charset="0"/>
                <a:ea typeface="Arial" pitchFamily="34" charset="-122"/>
                <a:cs typeface="Arial" pitchFamily="34" charset="-120"/>
              </a:rPr>
              <a:t>17%</a:t>
            </a:r>
            <a:endParaRPr lang="en-US" sz="2800" dirty="0"/>
          </a:p>
        </p:txBody>
      </p:sp>
      <p:sp>
        <p:nvSpPr>
          <p:cNvPr id="11" name="Text 8"/>
          <p:cNvSpPr txBox="1"/>
          <p:nvPr/>
        </p:nvSpPr>
        <p:spPr>
          <a:xfrm>
            <a:off x="1051560" y="5394960"/>
            <a:ext cx="2011680" cy="51206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of roles filled</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from inside</a:t>
            </a:r>
            <a:endParaRPr lang="en-US" sz="1400" dirty="0"/>
          </a:p>
        </p:txBody>
      </p:sp>
      <p:sp>
        <p:nvSpPr>
          <p:cNvPr id="12" name="Shape 9"/>
          <p:cNvSpPr/>
          <p:nvPr/>
        </p:nvSpPr>
        <p:spPr>
          <a:xfrm>
            <a:off x="3383280" y="4864608"/>
            <a:ext cx="1965960" cy="0"/>
          </a:xfrm>
          <a:prstGeom prst="line">
            <a:avLst/>
          </a:prstGeom>
          <a:noFill/>
          <a:ln w="12700">
            <a:solidFill>
              <a:srgbClr val="E9E1D3"/>
            </a:solidFill>
            <a:prstDash val="solid"/>
          </a:ln>
        </p:spPr>
      </p:sp>
      <p:sp>
        <p:nvSpPr>
          <p:cNvPr id="13" name="Text 10"/>
          <p:cNvSpPr txBox="1"/>
          <p:nvPr/>
        </p:nvSpPr>
        <p:spPr>
          <a:xfrm>
            <a:off x="3383280" y="4956048"/>
            <a:ext cx="2011680" cy="420624"/>
          </a:xfrm>
          <a:prstGeom prst="rect">
            <a:avLst/>
          </a:prstGeom>
          <a:noFill/>
          <a:ln/>
        </p:spPr>
        <p:txBody>
          <a:bodyPr wrap="square" lIns="0" tIns="0" rIns="0" bIns="0" rtlCol="0" anchor="ctr"/>
          <a:lstStyle/>
          <a:p>
            <a:pPr indent="0" marL="0">
              <a:buNone/>
            </a:pPr>
            <a:r>
              <a:rPr lang="en-US" sz="2800" b="1" dirty="0">
                <a:solidFill>
                  <a:srgbClr val="222834"/>
                </a:solidFill>
                <a:latin typeface="Arial" pitchFamily="34" charset="0"/>
                <a:ea typeface="Arial" pitchFamily="34" charset="-122"/>
                <a:cs typeface="Arial" pitchFamily="34" charset="-120"/>
              </a:rPr>
              <a:t>₱5.3M</a:t>
            </a:r>
            <a:endParaRPr lang="en-US" sz="2800" dirty="0"/>
          </a:p>
        </p:txBody>
      </p:sp>
      <p:sp>
        <p:nvSpPr>
          <p:cNvPr id="14" name="Text 11"/>
          <p:cNvSpPr txBox="1"/>
          <p:nvPr/>
        </p:nvSpPr>
        <p:spPr>
          <a:xfrm>
            <a:off x="3383280" y="5394960"/>
            <a:ext cx="2011680" cy="51206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a year that</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costs us</a:t>
            </a:r>
            <a:endParaRPr lang="en-US" sz="1400" dirty="0"/>
          </a:p>
        </p:txBody>
      </p:sp>
      <p:sp>
        <p:nvSpPr>
          <p:cNvPr id="15" name="Shape 12"/>
          <p:cNvSpPr/>
          <p:nvPr/>
        </p:nvSpPr>
        <p:spPr>
          <a:xfrm>
            <a:off x="5715000" y="4864608"/>
            <a:ext cx="1965960" cy="0"/>
          </a:xfrm>
          <a:prstGeom prst="line">
            <a:avLst/>
          </a:prstGeom>
          <a:noFill/>
          <a:ln w="12700">
            <a:solidFill>
              <a:srgbClr val="E9E1D3"/>
            </a:solidFill>
            <a:prstDash val="solid"/>
          </a:ln>
        </p:spPr>
      </p:sp>
      <p:sp>
        <p:nvSpPr>
          <p:cNvPr id="16" name="Text 13"/>
          <p:cNvSpPr txBox="1"/>
          <p:nvPr/>
        </p:nvSpPr>
        <p:spPr>
          <a:xfrm>
            <a:off x="5715000" y="4956048"/>
            <a:ext cx="2011680" cy="420624"/>
          </a:xfrm>
          <a:prstGeom prst="rect">
            <a:avLst/>
          </a:prstGeom>
          <a:noFill/>
          <a:ln/>
        </p:spPr>
        <p:txBody>
          <a:bodyPr wrap="square" lIns="0" tIns="0" rIns="0" bIns="0" rtlCol="0" anchor="ctr"/>
          <a:lstStyle/>
          <a:p>
            <a:pPr indent="0" marL="0">
              <a:buNone/>
            </a:pPr>
            <a:r>
              <a:rPr lang="en-US" sz="2800" b="1" dirty="0">
                <a:solidFill>
                  <a:srgbClr val="222834"/>
                </a:solidFill>
                <a:latin typeface="Arial" pitchFamily="34" charset="0"/>
                <a:ea typeface="Arial" pitchFamily="34" charset="-122"/>
                <a:cs typeface="Arial" pitchFamily="34" charset="-120"/>
              </a:rPr>
              <a:t>₱2.05M</a:t>
            </a:r>
            <a:endParaRPr lang="en-US" sz="2800" dirty="0"/>
          </a:p>
        </p:txBody>
      </p:sp>
      <p:sp>
        <p:nvSpPr>
          <p:cNvPr id="17" name="Text 14"/>
          <p:cNvSpPr txBox="1"/>
          <p:nvPr/>
        </p:nvSpPr>
        <p:spPr>
          <a:xfrm>
            <a:off x="5715000" y="5394960"/>
            <a:ext cx="2011680" cy="51206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to build and run</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for three years</a:t>
            </a:r>
            <a:endParaRPr lang="en-US" sz="1400" dirty="0"/>
          </a:p>
        </p:txBody>
      </p:sp>
      <p:sp>
        <p:nvSpPr>
          <p:cNvPr id="18" name="Shape 15"/>
          <p:cNvSpPr/>
          <p:nvPr/>
        </p:nvSpPr>
        <p:spPr>
          <a:xfrm>
            <a:off x="8046720" y="4864608"/>
            <a:ext cx="1965960" cy="0"/>
          </a:xfrm>
          <a:prstGeom prst="line">
            <a:avLst/>
          </a:prstGeom>
          <a:noFill/>
          <a:ln w="12700">
            <a:solidFill>
              <a:srgbClr val="E9E1D3"/>
            </a:solidFill>
            <a:prstDash val="solid"/>
          </a:ln>
        </p:spPr>
      </p:sp>
      <p:sp>
        <p:nvSpPr>
          <p:cNvPr id="19" name="Text 16"/>
          <p:cNvSpPr txBox="1"/>
          <p:nvPr/>
        </p:nvSpPr>
        <p:spPr>
          <a:xfrm>
            <a:off x="8046720" y="4956048"/>
            <a:ext cx="2011680" cy="420624"/>
          </a:xfrm>
          <a:prstGeom prst="rect">
            <a:avLst/>
          </a:prstGeom>
          <a:noFill/>
          <a:ln/>
        </p:spPr>
        <p:txBody>
          <a:bodyPr wrap="square" lIns="0" tIns="0" rIns="0" bIns="0" rtlCol="0" anchor="ctr"/>
          <a:lstStyle/>
          <a:p>
            <a:pPr indent="0" marL="0">
              <a:buNone/>
            </a:pPr>
            <a:r>
              <a:rPr lang="en-US" sz="2800" b="1" dirty="0">
                <a:solidFill>
                  <a:srgbClr val="0E7C66"/>
                </a:solidFill>
                <a:latin typeface="Arial" pitchFamily="34" charset="0"/>
                <a:ea typeface="Arial" pitchFamily="34" charset="-122"/>
                <a:cs typeface="Arial" pitchFamily="34" charset="-120"/>
              </a:rPr>
              <a:t>12 mo</a:t>
            </a:r>
            <a:endParaRPr lang="en-US" sz="2800" dirty="0"/>
          </a:p>
        </p:txBody>
      </p:sp>
      <p:sp>
        <p:nvSpPr>
          <p:cNvPr id="20" name="Text 17"/>
          <p:cNvSpPr txBox="1"/>
          <p:nvPr/>
        </p:nvSpPr>
        <p:spPr>
          <a:xfrm>
            <a:off x="8046720" y="5394960"/>
            <a:ext cx="2011680" cy="51206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to pay for</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itself</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EXECUTIVE SUMMARY</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222834"/>
                </a:solidFill>
                <a:latin typeface="Arial" pitchFamily="34" charset="0"/>
                <a:ea typeface="Arial" pitchFamily="34" charset="-122"/>
                <a:cs typeface="Arial" pitchFamily="34" charset="-120"/>
              </a:rPr>
              <a:t>We are buying from outside what we already have inside.</a:t>
            </a:r>
            <a:endParaRPr lang="en-US" sz="2900" dirty="0"/>
          </a:p>
        </p:txBody>
      </p:sp>
      <p:sp>
        <p:nvSpPr>
          <p:cNvPr id="5" name="Shape 3"/>
          <p:cNvSpPr/>
          <p:nvPr/>
        </p:nvSpPr>
        <p:spPr>
          <a:xfrm>
            <a:off x="566928" y="1700784"/>
            <a:ext cx="6026522" cy="4590288"/>
          </a:xfrm>
          <a:prstGeom prst="roundRect">
            <a:avLst>
              <a:gd name="adj" fmla="val 797"/>
            </a:avLst>
          </a:prstGeom>
          <a:solidFill>
            <a:srgbClr val="F6F2EA"/>
          </a:solidFill>
          <a:ln w="12700">
            <a:solidFill>
              <a:srgbClr val="333333"/>
            </a:solidFill>
            <a:prstDash val="solid"/>
          </a:ln>
        </p:spPr>
      </p:sp>
      <p:sp>
        <p:nvSpPr>
          <p:cNvPr id="6" name="Text 4"/>
          <p:cNvSpPr txBox="1"/>
          <p:nvPr/>
        </p:nvSpPr>
        <p:spPr>
          <a:xfrm>
            <a:off x="877824" y="1883664"/>
            <a:ext cx="5404730"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THE PROBLEM</a:t>
            </a:r>
            <a:endParaRPr lang="en-US" sz="1400" dirty="0"/>
          </a:p>
        </p:txBody>
      </p:sp>
      <p:sp>
        <p:nvSpPr>
          <p:cNvPr id="7" name="Text 5"/>
          <p:cNvSpPr txBox="1"/>
          <p:nvPr/>
        </p:nvSpPr>
        <p:spPr>
          <a:xfrm>
            <a:off x="877824" y="2212848"/>
            <a:ext cx="5404730" cy="950976"/>
          </a:xfrm>
          <a:prstGeom prst="rect">
            <a:avLst/>
          </a:prstGeom>
          <a:noFill/>
          <a:ln/>
        </p:spPr>
        <p:txBody>
          <a:bodyPr wrap="square" lIns="0" tIns="0" rIns="0" bIns="0" rtlCol="0" anchor="t"/>
          <a:lstStyle/>
          <a:p>
            <a:pPr indent="0" marL="0">
              <a:lnSpc>
                <a:spcPts val="2400"/>
              </a:lnSpc>
              <a:buNone/>
            </a:pPr>
            <a:r>
              <a:rPr lang="en-US" sz="1700" dirty="0">
                <a:solidFill>
                  <a:srgbClr val="222834"/>
                </a:solidFill>
                <a:latin typeface="Arial" pitchFamily="34" charset="0"/>
                <a:ea typeface="Arial" pitchFamily="34" charset="-122"/>
                <a:cs typeface="Arial" pitchFamily="34" charset="-120"/>
              </a:rPr>
              <a:t>Over 2024–2026 we opened 1,008 vacancies. 463 people applied from inside. 170 got the job — a 17% internal fill rate against a 30% market benchmark.</a:t>
            </a:r>
            <a:endParaRPr lang="en-US" sz="1700" dirty="0"/>
          </a:p>
        </p:txBody>
      </p:sp>
      <p:sp>
        <p:nvSpPr>
          <p:cNvPr id="8" name="Shape 6"/>
          <p:cNvSpPr/>
          <p:nvPr/>
        </p:nvSpPr>
        <p:spPr>
          <a:xfrm>
            <a:off x="877824" y="3273552"/>
            <a:ext cx="5404730" cy="0"/>
          </a:xfrm>
          <a:prstGeom prst="line">
            <a:avLst/>
          </a:prstGeom>
          <a:noFill/>
          <a:ln w="12700">
            <a:solidFill>
              <a:srgbClr val="E9E1D3"/>
            </a:solidFill>
            <a:prstDash val="solid"/>
          </a:ln>
        </p:spPr>
      </p:sp>
      <p:sp>
        <p:nvSpPr>
          <p:cNvPr id="9" name="Text 7"/>
          <p:cNvSpPr txBox="1"/>
          <p:nvPr/>
        </p:nvSpPr>
        <p:spPr>
          <a:xfrm>
            <a:off x="877824" y="3419856"/>
            <a:ext cx="5404730" cy="1170432"/>
          </a:xfrm>
          <a:prstGeom prst="rect">
            <a:avLst/>
          </a:prstGeom>
          <a:noFill/>
          <a:ln/>
        </p:spPr>
        <p:txBody>
          <a:bodyPr wrap="square" lIns="0" tIns="0" rIns="0" bIns="0" rtlCol="0" anchor="t"/>
          <a:lstStyle/>
          <a:p>
            <a:pPr indent="0" marL="0">
              <a:lnSpc>
                <a:spcPts val="2200"/>
              </a:lnSpc>
              <a:buNone/>
            </a:pPr>
            <a:r>
              <a:rPr lang="en-US" sz="1600" b="1" dirty="0">
                <a:solidFill>
                  <a:srgbClr val="222834"/>
                </a:solidFill>
                <a:latin typeface="Arial" pitchFamily="34" charset="0"/>
                <a:ea typeface="Arial" pitchFamily="34" charset="-122"/>
                <a:cs typeface="Arial" pitchFamily="34" charset="-120"/>
              </a:rPr>
              <a:t>And saying no has a price. </a:t>
            </a:r>
            <a:pPr indent="0" marL="0">
              <a:lnSpc>
                <a:spcPts val="2200"/>
              </a:lnSpc>
              <a:buNone/>
            </a:pPr>
            <a:r>
              <a:rPr lang="en-US" sz="1600" dirty="0">
                <a:solidFill>
                  <a:srgbClr val="4B5363"/>
                </a:solidFill>
                <a:latin typeface="Arial" pitchFamily="34" charset="0"/>
                <a:ea typeface="Arial" pitchFamily="34" charset="-122"/>
                <a:cs typeface="Arial" pitchFamily="34" charset="-120"/>
              </a:rPr>
              <a:t>Of the 67 internal applicants we turned down in 2025, only 38 are still with Home Credit. 43% of that cohort has already left us.</a:t>
            </a:r>
            <a:endParaRPr lang="en-US" sz="1600" dirty="0"/>
          </a:p>
        </p:txBody>
      </p:sp>
      <p:sp>
        <p:nvSpPr>
          <p:cNvPr id="10" name="Shape 8"/>
          <p:cNvSpPr/>
          <p:nvPr/>
        </p:nvSpPr>
        <p:spPr>
          <a:xfrm>
            <a:off x="877824" y="4663440"/>
            <a:ext cx="5404730" cy="0"/>
          </a:xfrm>
          <a:prstGeom prst="line">
            <a:avLst/>
          </a:prstGeom>
          <a:noFill/>
          <a:ln w="12700">
            <a:solidFill>
              <a:srgbClr val="E9E1D3"/>
            </a:solidFill>
            <a:prstDash val="solid"/>
          </a:ln>
        </p:spPr>
      </p:sp>
      <p:sp>
        <p:nvSpPr>
          <p:cNvPr id="11" name="Text 9"/>
          <p:cNvSpPr txBox="1"/>
          <p:nvPr/>
        </p:nvSpPr>
        <p:spPr>
          <a:xfrm>
            <a:off x="877824" y="4809744"/>
            <a:ext cx="5404730"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THE CAUSE</a:t>
            </a:r>
            <a:endParaRPr lang="en-US" sz="1400" dirty="0"/>
          </a:p>
        </p:txBody>
      </p:sp>
      <p:sp>
        <p:nvSpPr>
          <p:cNvPr id="12" name="Text 10"/>
          <p:cNvSpPr txBox="1"/>
          <p:nvPr/>
        </p:nvSpPr>
        <p:spPr>
          <a:xfrm>
            <a:off x="877824" y="5102352"/>
            <a:ext cx="5404730" cy="950976"/>
          </a:xfrm>
          <a:prstGeom prst="rect">
            <a:avLst/>
          </a:prstGeom>
          <a:noFill/>
          <a:ln/>
        </p:spPr>
        <p:txBody>
          <a:bodyPr wrap="square" lIns="0" tIns="0" rIns="0" bIns="0" rtlCol="0" anchor="t"/>
          <a:lstStyle/>
          <a:p>
            <a:pPr indent="0" marL="0">
              <a:lnSpc>
                <a:spcPts val="2100"/>
              </a:lnSpc>
              <a:buNone/>
            </a:pPr>
            <a:r>
              <a:rPr lang="en-US" sz="1500" dirty="0">
                <a:solidFill>
                  <a:srgbClr val="4B5363"/>
                </a:solidFill>
                <a:latin typeface="Arial" pitchFamily="34" charset="0"/>
                <a:ea typeface="Arial" pitchFamily="34" charset="-122"/>
                <a:cs typeface="Arial" pitchFamily="34" charset="-120"/>
              </a:rPr>
              <a:t>Not selection — visibility. Nothing shows an employee a role they would fit, and nothing tells a manager the person they need is already on payroll.</a:t>
            </a:r>
            <a:endParaRPr lang="en-US" sz="1500" dirty="0"/>
          </a:p>
        </p:txBody>
      </p:sp>
      <p:sp>
        <p:nvSpPr>
          <p:cNvPr id="13" name="Text 11"/>
          <p:cNvSpPr txBox="1"/>
          <p:nvPr/>
        </p:nvSpPr>
        <p:spPr>
          <a:xfrm>
            <a:off x="6867770" y="1737360"/>
            <a:ext cx="4756997"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WHAT WE ARE ASKING FOR</a:t>
            </a:r>
            <a:endParaRPr lang="en-US" sz="1400" dirty="0"/>
          </a:p>
        </p:txBody>
      </p:sp>
      <p:sp>
        <p:nvSpPr>
          <p:cNvPr id="14" name="Text 12"/>
          <p:cNvSpPr txBox="1"/>
          <p:nvPr/>
        </p:nvSpPr>
        <p:spPr>
          <a:xfrm>
            <a:off x="6867770" y="2029968"/>
            <a:ext cx="4756997" cy="603504"/>
          </a:xfrm>
          <a:prstGeom prst="rect">
            <a:avLst/>
          </a:prstGeom>
          <a:noFill/>
          <a:ln/>
        </p:spPr>
        <p:txBody>
          <a:bodyPr wrap="square" lIns="0" tIns="0" rIns="0" bIns="0" rtlCol="0" anchor="t"/>
          <a:lstStyle/>
          <a:p>
            <a:pPr indent="0" marL="0">
              <a:lnSpc>
                <a:spcPts val="2300"/>
              </a:lnSpc>
              <a:buNone/>
            </a:pPr>
            <a:r>
              <a:rPr lang="en-US" sz="1700" b="1" dirty="0">
                <a:solidFill>
                  <a:srgbClr val="222834"/>
                </a:solidFill>
                <a:latin typeface="Arial" pitchFamily="34" charset="0"/>
                <a:ea typeface="Arial" pitchFamily="34" charset="-122"/>
                <a:cs typeface="Arial" pitchFamily="34" charset="-120"/>
              </a:rPr>
              <a:t>Build Growth for a 1,113-person pilot — IT, HR and Operations, mass and non-mass.</a:t>
            </a:r>
            <a:endParaRPr lang="en-US" sz="1700" dirty="0"/>
          </a:p>
        </p:txBody>
      </p:sp>
      <p:sp>
        <p:nvSpPr>
          <p:cNvPr id="15" name="Text 13"/>
          <p:cNvSpPr txBox="1"/>
          <p:nvPr/>
        </p:nvSpPr>
        <p:spPr>
          <a:xfrm>
            <a:off x="6867770" y="2724912"/>
            <a:ext cx="1997939" cy="365760"/>
          </a:xfrm>
          <a:prstGeom prst="rect">
            <a:avLst/>
          </a:prstGeom>
          <a:noFill/>
          <a:ln/>
        </p:spPr>
        <p:txBody>
          <a:bodyPr wrap="square" lIns="0" tIns="0" rIns="0" bIns="0" rtlCol="0" anchor="ctr"/>
          <a:lstStyle/>
          <a:p>
            <a:pPr indent="0" marL="0">
              <a:buNone/>
            </a:pPr>
            <a:r>
              <a:rPr lang="en-US" sz="2100" b="1" dirty="0">
                <a:solidFill>
                  <a:srgbClr val="222834"/>
                </a:solidFill>
                <a:latin typeface="Arial" pitchFamily="34" charset="0"/>
                <a:ea typeface="Arial" pitchFamily="34" charset="-122"/>
                <a:cs typeface="Arial" pitchFamily="34" charset="-120"/>
              </a:rPr>
              <a:t>₱2.05M</a:t>
            </a:r>
            <a:endParaRPr lang="en-US" sz="2100" dirty="0"/>
          </a:p>
        </p:txBody>
      </p:sp>
      <p:sp>
        <p:nvSpPr>
          <p:cNvPr id="16" name="Text 14"/>
          <p:cNvSpPr txBox="1"/>
          <p:nvPr/>
        </p:nvSpPr>
        <p:spPr>
          <a:xfrm>
            <a:off x="8865709" y="2724912"/>
            <a:ext cx="2759058" cy="365760"/>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three-year cost, all in</a:t>
            </a:r>
            <a:endParaRPr lang="en-US" sz="1500" dirty="0"/>
          </a:p>
        </p:txBody>
      </p:sp>
      <p:sp>
        <p:nvSpPr>
          <p:cNvPr id="17" name="Shape 15"/>
          <p:cNvSpPr/>
          <p:nvPr/>
        </p:nvSpPr>
        <p:spPr>
          <a:xfrm>
            <a:off x="6867770" y="3273552"/>
            <a:ext cx="4756997" cy="0"/>
          </a:xfrm>
          <a:prstGeom prst="line">
            <a:avLst/>
          </a:prstGeom>
          <a:noFill/>
          <a:ln w="12700">
            <a:solidFill>
              <a:srgbClr val="E7E1D7"/>
            </a:solidFill>
            <a:prstDash val="solid"/>
          </a:ln>
        </p:spPr>
      </p:sp>
      <p:sp>
        <p:nvSpPr>
          <p:cNvPr id="18" name="Text 16"/>
          <p:cNvSpPr txBox="1"/>
          <p:nvPr/>
        </p:nvSpPr>
        <p:spPr>
          <a:xfrm>
            <a:off x="6867770" y="3456432"/>
            <a:ext cx="1997939" cy="365760"/>
          </a:xfrm>
          <a:prstGeom prst="rect">
            <a:avLst/>
          </a:prstGeom>
          <a:noFill/>
          <a:ln/>
        </p:spPr>
        <p:txBody>
          <a:bodyPr wrap="square" lIns="0" tIns="0" rIns="0" bIns="0" rtlCol="0" anchor="ctr"/>
          <a:lstStyle/>
          <a:p>
            <a:pPr indent="0" marL="0">
              <a:buNone/>
            </a:pPr>
            <a:r>
              <a:rPr lang="en-US" sz="2100" b="1" dirty="0">
                <a:solidFill>
                  <a:srgbClr val="222834"/>
                </a:solidFill>
                <a:latin typeface="Arial" pitchFamily="34" charset="0"/>
                <a:ea typeface="Arial" pitchFamily="34" charset="-122"/>
                <a:cs typeface="Arial" pitchFamily="34" charset="-120"/>
              </a:rPr>
              <a:t>₱614</a:t>
            </a:r>
            <a:endParaRPr lang="en-US" sz="2100" dirty="0"/>
          </a:p>
        </p:txBody>
      </p:sp>
      <p:sp>
        <p:nvSpPr>
          <p:cNvPr id="19" name="Text 17"/>
          <p:cNvSpPr txBox="1"/>
          <p:nvPr/>
        </p:nvSpPr>
        <p:spPr>
          <a:xfrm>
            <a:off x="8865709" y="3456432"/>
            <a:ext cx="2759058" cy="365760"/>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per employee a year</a:t>
            </a:r>
            <a:endParaRPr lang="en-US" sz="1500" dirty="0"/>
          </a:p>
        </p:txBody>
      </p:sp>
      <p:sp>
        <p:nvSpPr>
          <p:cNvPr id="20" name="Shape 18"/>
          <p:cNvSpPr/>
          <p:nvPr/>
        </p:nvSpPr>
        <p:spPr>
          <a:xfrm>
            <a:off x="6867770" y="4005072"/>
            <a:ext cx="4756997" cy="0"/>
          </a:xfrm>
          <a:prstGeom prst="line">
            <a:avLst/>
          </a:prstGeom>
          <a:noFill/>
          <a:ln w="12700">
            <a:solidFill>
              <a:srgbClr val="E7E1D7"/>
            </a:solidFill>
            <a:prstDash val="solid"/>
          </a:ln>
        </p:spPr>
      </p:sp>
      <p:sp>
        <p:nvSpPr>
          <p:cNvPr id="21" name="Text 19"/>
          <p:cNvSpPr txBox="1"/>
          <p:nvPr/>
        </p:nvSpPr>
        <p:spPr>
          <a:xfrm>
            <a:off x="6867770" y="4187952"/>
            <a:ext cx="1997939" cy="365760"/>
          </a:xfrm>
          <a:prstGeom prst="rect">
            <a:avLst/>
          </a:prstGeom>
          <a:noFill/>
          <a:ln/>
        </p:spPr>
        <p:txBody>
          <a:bodyPr wrap="square" lIns="0" tIns="0" rIns="0" bIns="0" rtlCol="0" anchor="ctr"/>
          <a:lstStyle/>
          <a:p>
            <a:pPr indent="0" marL="0">
              <a:buNone/>
            </a:pPr>
            <a:r>
              <a:rPr lang="en-US" sz="2100" b="1" dirty="0">
                <a:solidFill>
                  <a:srgbClr val="0E7C66"/>
                </a:solidFill>
                <a:latin typeface="Arial" pitchFamily="34" charset="0"/>
                <a:ea typeface="Arial" pitchFamily="34" charset="-122"/>
                <a:cs typeface="Arial" pitchFamily="34" charset="-120"/>
              </a:rPr>
              <a:t>12 months</a:t>
            </a:r>
            <a:endParaRPr lang="en-US" sz="2100" dirty="0"/>
          </a:p>
        </p:txBody>
      </p:sp>
      <p:sp>
        <p:nvSpPr>
          <p:cNvPr id="22" name="Text 20"/>
          <p:cNvSpPr txBox="1"/>
          <p:nvPr/>
        </p:nvSpPr>
        <p:spPr>
          <a:xfrm>
            <a:off x="8865709" y="4187952"/>
            <a:ext cx="2759058" cy="365760"/>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to pay for itself</a:t>
            </a:r>
            <a:endParaRPr lang="en-US" sz="1500" dirty="0"/>
          </a:p>
        </p:txBody>
      </p:sp>
      <p:sp>
        <p:nvSpPr>
          <p:cNvPr id="23" name="Shape 21"/>
          <p:cNvSpPr/>
          <p:nvPr/>
        </p:nvSpPr>
        <p:spPr>
          <a:xfrm>
            <a:off x="6867770" y="4736592"/>
            <a:ext cx="4756997" cy="0"/>
          </a:xfrm>
          <a:prstGeom prst="line">
            <a:avLst/>
          </a:prstGeom>
          <a:noFill/>
          <a:ln w="12700">
            <a:solidFill>
              <a:srgbClr val="E7E1D7"/>
            </a:solidFill>
            <a:prstDash val="solid"/>
          </a:ln>
        </p:spPr>
      </p:sp>
      <p:sp>
        <p:nvSpPr>
          <p:cNvPr id="24" name="Text 22"/>
          <p:cNvSpPr txBox="1"/>
          <p:nvPr/>
        </p:nvSpPr>
        <p:spPr>
          <a:xfrm>
            <a:off x="6867770" y="4919472"/>
            <a:ext cx="1997939" cy="365760"/>
          </a:xfrm>
          <a:prstGeom prst="rect">
            <a:avLst/>
          </a:prstGeom>
          <a:noFill/>
          <a:ln/>
        </p:spPr>
        <p:txBody>
          <a:bodyPr wrap="square" lIns="0" tIns="0" rIns="0" bIns="0" rtlCol="0" anchor="ctr"/>
          <a:lstStyle/>
          <a:p>
            <a:pPr indent="0" marL="0">
              <a:buNone/>
            </a:pPr>
            <a:r>
              <a:rPr lang="en-US" sz="2100" b="1" dirty="0">
                <a:solidFill>
                  <a:srgbClr val="0E7C66"/>
                </a:solidFill>
                <a:latin typeface="Arial" pitchFamily="34" charset="0"/>
                <a:ea typeface="Arial" pitchFamily="34" charset="-122"/>
                <a:cs typeface="Arial" pitchFamily="34" charset="-120"/>
              </a:rPr>
              <a:t>5× – 14×</a:t>
            </a:r>
            <a:endParaRPr lang="en-US" sz="2100" dirty="0"/>
          </a:p>
        </p:txBody>
      </p:sp>
      <p:sp>
        <p:nvSpPr>
          <p:cNvPr id="25" name="Text 23"/>
          <p:cNvSpPr txBox="1"/>
          <p:nvPr/>
        </p:nvSpPr>
        <p:spPr>
          <a:xfrm>
            <a:off x="8865709" y="4919472"/>
            <a:ext cx="2759058" cy="365760"/>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cheaper than buying a platform</a:t>
            </a:r>
            <a:endParaRPr lang="en-US" sz="1500" dirty="0"/>
          </a:p>
        </p:txBody>
      </p:sp>
      <p:sp>
        <p:nvSpPr>
          <p:cNvPr id="26" name="Shape 24"/>
          <p:cNvSpPr/>
          <p:nvPr/>
        </p:nvSpPr>
        <p:spPr>
          <a:xfrm>
            <a:off x="6867770" y="5724144"/>
            <a:ext cx="4756997" cy="566928"/>
          </a:xfrm>
          <a:prstGeom prst="roundRect">
            <a:avLst>
              <a:gd name="adj" fmla="val 6452"/>
            </a:avLst>
          </a:prstGeom>
          <a:solidFill>
            <a:srgbClr val="FDF0F0"/>
          </a:solidFill>
          <a:ln w="12700">
            <a:solidFill>
              <a:srgbClr val="333333"/>
            </a:solidFill>
            <a:prstDash val="solid"/>
          </a:ln>
        </p:spPr>
      </p:sp>
      <p:sp>
        <p:nvSpPr>
          <p:cNvPr id="27" name="Text 25"/>
          <p:cNvSpPr txBox="1"/>
          <p:nvPr/>
        </p:nvSpPr>
        <p:spPr>
          <a:xfrm>
            <a:off x="7087226" y="5724144"/>
            <a:ext cx="4318085" cy="566928"/>
          </a:xfrm>
          <a:prstGeom prst="rect">
            <a:avLst/>
          </a:prstGeom>
          <a:noFill/>
          <a:ln/>
        </p:spPr>
        <p:txBody>
          <a:bodyPr wrap="square" lIns="0" tIns="0" rIns="0" bIns="0" rtlCol="0" anchor="ctr"/>
          <a:lstStyle/>
          <a:p>
            <a:pPr indent="0" marL="0">
              <a:buNone/>
            </a:pPr>
            <a:r>
              <a:rPr lang="en-US" sz="1500" b="1" dirty="0">
                <a:solidFill>
                  <a:srgbClr val="C00000"/>
                </a:solidFill>
                <a:latin typeface="Arial" pitchFamily="34" charset="0"/>
                <a:ea typeface="Arial" pitchFamily="34" charset="-122"/>
                <a:cs typeface="Arial" pitchFamily="34" charset="-120"/>
              </a:rPr>
              <a:t>Working prototype already built. </a:t>
            </a:r>
            <a:pPr indent="0" marL="0">
              <a:buNone/>
            </a:pPr>
            <a:r>
              <a:rPr lang="en-US" sz="1500" dirty="0">
                <a:solidFill>
                  <a:srgbClr val="4B5363"/>
                </a:solidFill>
                <a:latin typeface="Arial" pitchFamily="34" charset="0"/>
                <a:ea typeface="Arial" pitchFamily="34" charset="-122"/>
                <a:cs typeface="Arial" pitchFamily="34" charset="-120"/>
              </a:rPr>
              <a:t>You will see it in eight minutes.</a:t>
            </a:r>
            <a:endParaRPr lang="en-US" sz="1500" dirty="0"/>
          </a:p>
        </p:txBody>
      </p:sp>
      <p:sp>
        <p:nvSpPr>
          <p:cNvPr id="28" name="Text 26"/>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THE PROBLEM</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222834"/>
                </a:solidFill>
                <a:latin typeface="Arial" pitchFamily="34" charset="0"/>
                <a:ea typeface="Arial" pitchFamily="34" charset="-122"/>
                <a:cs typeface="Arial" pitchFamily="34" charset="-120"/>
              </a:rPr>
              <a:t>Four out of five roles go to someone we have not met.</a:t>
            </a:r>
            <a:endParaRPr lang="en-US" sz="29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Internal job posting data, 2024 to 2026 — three years, company-wide.</a:t>
            </a:r>
            <a:endParaRPr lang="en-US" sz="1600" dirty="0"/>
          </a:p>
        </p:txBody>
      </p:sp>
      <p:sp>
        <p:nvSpPr>
          <p:cNvPr id="6" name="Shape 4"/>
          <p:cNvSpPr/>
          <p:nvPr/>
        </p:nvSpPr>
        <p:spPr>
          <a:xfrm>
            <a:off x="566928" y="1837944"/>
            <a:ext cx="3566160" cy="1554480"/>
          </a:xfrm>
          <a:prstGeom prst="roundRect">
            <a:avLst>
              <a:gd name="adj" fmla="val 2353"/>
            </a:avLst>
          </a:prstGeom>
          <a:solidFill>
            <a:srgbClr val="F6F2EA"/>
          </a:solidFill>
          <a:ln w="12700">
            <a:solidFill>
              <a:srgbClr val="333333"/>
            </a:solidFill>
            <a:prstDash val="solid"/>
          </a:ln>
        </p:spPr>
      </p:sp>
      <p:sp>
        <p:nvSpPr>
          <p:cNvPr id="7" name="Text 5"/>
          <p:cNvSpPr txBox="1"/>
          <p:nvPr/>
        </p:nvSpPr>
        <p:spPr>
          <a:xfrm>
            <a:off x="786384" y="1965960"/>
            <a:ext cx="3127248" cy="530352"/>
          </a:xfrm>
          <a:prstGeom prst="rect">
            <a:avLst/>
          </a:prstGeom>
          <a:noFill/>
          <a:ln/>
        </p:spPr>
        <p:txBody>
          <a:bodyPr wrap="square" lIns="0" tIns="0" rIns="0" bIns="0" rtlCol="0" anchor="ctr"/>
          <a:lstStyle/>
          <a:p>
            <a:pPr indent="0" marL="0">
              <a:buNone/>
            </a:pPr>
            <a:r>
              <a:rPr lang="en-US" sz="3400" b="1" dirty="0">
                <a:solidFill>
                  <a:srgbClr val="222834"/>
                </a:solidFill>
                <a:latin typeface="Arial" pitchFamily="34" charset="0"/>
                <a:ea typeface="Arial" pitchFamily="34" charset="-122"/>
                <a:cs typeface="Arial" pitchFamily="34" charset="-120"/>
              </a:rPr>
              <a:t>1,008</a:t>
            </a:r>
            <a:endParaRPr lang="en-US" sz="3400" dirty="0"/>
          </a:p>
        </p:txBody>
      </p:sp>
      <p:sp>
        <p:nvSpPr>
          <p:cNvPr id="8" name="Text 6"/>
          <p:cNvSpPr txBox="1"/>
          <p:nvPr/>
        </p:nvSpPr>
        <p:spPr>
          <a:xfrm>
            <a:off x="786384" y="2514600"/>
            <a:ext cx="3127248" cy="274320"/>
          </a:xfrm>
          <a:prstGeom prst="rect">
            <a:avLst/>
          </a:prstGeom>
          <a:noFill/>
          <a:ln/>
        </p:spPr>
        <p:txBody>
          <a:bodyPr wrap="square" lIns="0" tIns="0" rIns="0" bIns="0" rtlCol="0" anchor="t"/>
          <a:lstStyle/>
          <a:p>
            <a:pPr indent="0" marL="0">
              <a:buNone/>
            </a:pPr>
            <a:r>
              <a:rPr lang="en-US" sz="1450" b="1" dirty="0">
                <a:solidFill>
                  <a:srgbClr val="4B5363"/>
                </a:solidFill>
                <a:latin typeface="Arial" pitchFamily="34" charset="0"/>
                <a:ea typeface="Arial" pitchFamily="34" charset="-122"/>
                <a:cs typeface="Arial" pitchFamily="34" charset="-120"/>
              </a:rPr>
              <a:t>vacancies opened</a:t>
            </a:r>
            <a:endParaRPr lang="en-US" sz="1450" dirty="0"/>
          </a:p>
        </p:txBody>
      </p:sp>
      <p:sp>
        <p:nvSpPr>
          <p:cNvPr id="9" name="Shape 7"/>
          <p:cNvSpPr/>
          <p:nvPr/>
        </p:nvSpPr>
        <p:spPr>
          <a:xfrm>
            <a:off x="4389120" y="1965960"/>
            <a:ext cx="2560320" cy="1298448"/>
          </a:xfrm>
          <a:prstGeom prst="roundRect">
            <a:avLst>
              <a:gd name="adj" fmla="val 2817"/>
            </a:avLst>
          </a:prstGeom>
          <a:solidFill>
            <a:srgbClr val="E9E1D3"/>
          </a:solidFill>
          <a:ln w="12700">
            <a:solidFill>
              <a:srgbClr val="333333"/>
            </a:solidFill>
            <a:prstDash val="solid"/>
          </a:ln>
        </p:spPr>
      </p:sp>
      <p:sp>
        <p:nvSpPr>
          <p:cNvPr id="10" name="Text 8"/>
          <p:cNvSpPr txBox="1"/>
          <p:nvPr/>
        </p:nvSpPr>
        <p:spPr>
          <a:xfrm>
            <a:off x="4608576" y="2093976"/>
            <a:ext cx="2121408" cy="530352"/>
          </a:xfrm>
          <a:prstGeom prst="rect">
            <a:avLst/>
          </a:prstGeom>
          <a:noFill/>
          <a:ln/>
        </p:spPr>
        <p:txBody>
          <a:bodyPr wrap="square" lIns="0" tIns="0" rIns="0" bIns="0" rtlCol="0" anchor="ctr"/>
          <a:lstStyle/>
          <a:p>
            <a:pPr indent="0" marL="0">
              <a:buNone/>
            </a:pPr>
            <a:r>
              <a:rPr lang="en-US" sz="3400" b="1" dirty="0">
                <a:solidFill>
                  <a:srgbClr val="222834"/>
                </a:solidFill>
                <a:latin typeface="Arial" pitchFamily="34" charset="0"/>
                <a:ea typeface="Arial" pitchFamily="34" charset="-122"/>
                <a:cs typeface="Arial" pitchFamily="34" charset="-120"/>
              </a:rPr>
              <a:t>463</a:t>
            </a:r>
            <a:endParaRPr lang="en-US" sz="3400" dirty="0"/>
          </a:p>
        </p:txBody>
      </p:sp>
      <p:sp>
        <p:nvSpPr>
          <p:cNvPr id="11" name="Text 9"/>
          <p:cNvSpPr txBox="1"/>
          <p:nvPr/>
        </p:nvSpPr>
        <p:spPr>
          <a:xfrm>
            <a:off x="4608576" y="2642616"/>
            <a:ext cx="2121408" cy="274320"/>
          </a:xfrm>
          <a:prstGeom prst="rect">
            <a:avLst/>
          </a:prstGeom>
          <a:noFill/>
          <a:ln/>
        </p:spPr>
        <p:txBody>
          <a:bodyPr wrap="square" lIns="0" tIns="0" rIns="0" bIns="0" rtlCol="0" anchor="t"/>
          <a:lstStyle/>
          <a:p>
            <a:pPr indent="0" marL="0">
              <a:buNone/>
            </a:pPr>
            <a:r>
              <a:rPr lang="en-US" sz="1450" b="1" dirty="0">
                <a:solidFill>
                  <a:srgbClr val="4B5363"/>
                </a:solidFill>
                <a:latin typeface="Arial" pitchFamily="34" charset="0"/>
                <a:ea typeface="Arial" pitchFamily="34" charset="-122"/>
                <a:cs typeface="Arial" pitchFamily="34" charset="-120"/>
              </a:rPr>
              <a:t>internal applicants</a:t>
            </a:r>
            <a:endParaRPr lang="en-US" sz="1450" dirty="0"/>
          </a:p>
        </p:txBody>
      </p:sp>
      <p:sp>
        <p:nvSpPr>
          <p:cNvPr id="12" name="Shape 10"/>
          <p:cNvSpPr/>
          <p:nvPr/>
        </p:nvSpPr>
        <p:spPr>
          <a:xfrm>
            <a:off x="7205472" y="2093976"/>
            <a:ext cx="1645920" cy="1042416"/>
          </a:xfrm>
          <a:prstGeom prst="roundRect">
            <a:avLst>
              <a:gd name="adj" fmla="val 3509"/>
            </a:avLst>
          </a:prstGeom>
          <a:solidFill>
            <a:srgbClr val="C00000"/>
          </a:solidFill>
          <a:ln w="12700">
            <a:solidFill>
              <a:srgbClr val="333333"/>
            </a:solidFill>
            <a:prstDash val="solid"/>
          </a:ln>
        </p:spPr>
      </p:sp>
      <p:sp>
        <p:nvSpPr>
          <p:cNvPr id="13" name="Text 11"/>
          <p:cNvSpPr txBox="1"/>
          <p:nvPr/>
        </p:nvSpPr>
        <p:spPr>
          <a:xfrm>
            <a:off x="7424928" y="2221992"/>
            <a:ext cx="1207008" cy="530352"/>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170</a:t>
            </a:r>
            <a:endParaRPr lang="en-US" sz="3400" dirty="0"/>
          </a:p>
        </p:txBody>
      </p:sp>
      <p:sp>
        <p:nvSpPr>
          <p:cNvPr id="14" name="Text 12"/>
          <p:cNvSpPr txBox="1"/>
          <p:nvPr/>
        </p:nvSpPr>
        <p:spPr>
          <a:xfrm>
            <a:off x="7424928" y="2770632"/>
            <a:ext cx="1207008" cy="274320"/>
          </a:xfrm>
          <a:prstGeom prst="rect">
            <a:avLst/>
          </a:prstGeom>
          <a:noFill/>
          <a:ln/>
        </p:spPr>
        <p:txBody>
          <a:bodyPr wrap="square" lIns="0" tIns="0" rIns="0" bIns="0" rtlCol="0" anchor="t"/>
          <a:lstStyle/>
          <a:p>
            <a:pPr indent="0" marL="0">
              <a:buNone/>
            </a:pPr>
            <a:r>
              <a:rPr lang="en-US" sz="1450" b="1" dirty="0">
                <a:solidFill>
                  <a:srgbClr val="F6DADA"/>
                </a:solidFill>
                <a:latin typeface="Arial" pitchFamily="34" charset="0"/>
                <a:ea typeface="Arial" pitchFamily="34" charset="-122"/>
                <a:cs typeface="Arial" pitchFamily="34" charset="-120"/>
              </a:rPr>
              <a:t>internal hires</a:t>
            </a:r>
            <a:endParaRPr lang="en-US" sz="1450" dirty="0"/>
          </a:p>
        </p:txBody>
      </p:sp>
      <p:sp>
        <p:nvSpPr>
          <p:cNvPr id="15" name="Shape 13"/>
          <p:cNvSpPr/>
          <p:nvPr/>
        </p:nvSpPr>
        <p:spPr>
          <a:xfrm>
            <a:off x="9162288" y="2048256"/>
            <a:ext cx="45720" cy="1133856"/>
          </a:xfrm>
          <a:prstGeom prst="rect">
            <a:avLst/>
          </a:prstGeom>
          <a:solidFill>
            <a:srgbClr val="C00000"/>
          </a:solidFill>
          <a:ln w="12700">
            <a:solidFill>
              <a:srgbClr val="333333"/>
            </a:solidFill>
            <a:prstDash val="solid"/>
          </a:ln>
        </p:spPr>
      </p:sp>
      <p:sp>
        <p:nvSpPr>
          <p:cNvPr id="16" name="Text 14"/>
          <p:cNvSpPr txBox="1"/>
          <p:nvPr/>
        </p:nvSpPr>
        <p:spPr>
          <a:xfrm>
            <a:off x="9381744" y="2011680"/>
            <a:ext cx="2231136" cy="530352"/>
          </a:xfrm>
          <a:prstGeom prst="rect">
            <a:avLst/>
          </a:prstGeom>
          <a:noFill/>
          <a:ln/>
        </p:spPr>
        <p:txBody>
          <a:bodyPr wrap="square" lIns="0" tIns="0" rIns="0" bIns="0" rtlCol="0" anchor="ctr"/>
          <a:lstStyle/>
          <a:p>
            <a:pPr indent="0" marL="0">
              <a:buNone/>
            </a:pPr>
            <a:r>
              <a:rPr lang="en-US" sz="3800" b="1" dirty="0">
                <a:solidFill>
                  <a:srgbClr val="C00000"/>
                </a:solidFill>
                <a:latin typeface="Arial" pitchFamily="34" charset="0"/>
                <a:ea typeface="Arial" pitchFamily="34" charset="-122"/>
                <a:cs typeface="Arial" pitchFamily="34" charset="-120"/>
              </a:rPr>
              <a:t>17%</a:t>
            </a:r>
            <a:endParaRPr lang="en-US" sz="3800" dirty="0"/>
          </a:p>
        </p:txBody>
      </p:sp>
      <p:sp>
        <p:nvSpPr>
          <p:cNvPr id="17" name="Text 15"/>
          <p:cNvSpPr txBox="1"/>
          <p:nvPr/>
        </p:nvSpPr>
        <p:spPr>
          <a:xfrm>
            <a:off x="9381744" y="2560320"/>
            <a:ext cx="2231136" cy="256032"/>
          </a:xfrm>
          <a:prstGeom prst="rect">
            <a:avLst/>
          </a:prstGeom>
          <a:noFill/>
          <a:ln/>
        </p:spPr>
        <p:txBody>
          <a:bodyPr wrap="square" lIns="0" tIns="0" rIns="0" bIns="0" rtlCol="0" anchor="t"/>
          <a:lstStyle/>
          <a:p>
            <a:pPr indent="0" marL="0">
              <a:buNone/>
            </a:pPr>
            <a:r>
              <a:rPr lang="en-US" sz="1500" b="1" dirty="0">
                <a:solidFill>
                  <a:srgbClr val="4B5363"/>
                </a:solidFill>
                <a:latin typeface="Arial" pitchFamily="34" charset="0"/>
                <a:ea typeface="Arial" pitchFamily="34" charset="-122"/>
                <a:cs typeface="Arial" pitchFamily="34" charset="-120"/>
              </a:rPr>
              <a:t>internal fill rate</a:t>
            </a:r>
            <a:endParaRPr lang="en-US" sz="1500" dirty="0"/>
          </a:p>
        </p:txBody>
      </p:sp>
      <p:sp>
        <p:nvSpPr>
          <p:cNvPr id="18" name="Text 16"/>
          <p:cNvSpPr txBox="1"/>
          <p:nvPr/>
        </p:nvSpPr>
        <p:spPr>
          <a:xfrm>
            <a:off x="9381744" y="2834640"/>
            <a:ext cx="2231136" cy="256032"/>
          </a:xfrm>
          <a:prstGeom prst="rect">
            <a:avLst/>
          </a:prstGeom>
          <a:noFill/>
          <a:ln/>
        </p:spPr>
        <p:txBody>
          <a:bodyPr wrap="square" lIns="0" tIns="0" rIns="0" bIns="0" rtlCol="0" anchor="t"/>
          <a:lstStyle/>
          <a:p>
            <a:pPr indent="0" marL="0">
              <a:buNone/>
            </a:pPr>
            <a:r>
              <a:rPr lang="en-US" sz="1400" dirty="0">
                <a:solidFill>
                  <a:srgbClr val="858D9B"/>
                </a:solidFill>
                <a:latin typeface="Arial" pitchFamily="34" charset="0"/>
                <a:ea typeface="Arial" pitchFamily="34" charset="-122"/>
                <a:cs typeface="Arial" pitchFamily="34" charset="-120"/>
              </a:rPr>
              <a:t>the benchmark is 30%</a:t>
            </a:r>
            <a:endParaRPr lang="en-US" sz="1400" dirty="0"/>
          </a:p>
        </p:txBody>
      </p:sp>
      <p:sp>
        <p:nvSpPr>
          <p:cNvPr id="19" name="Shape 17"/>
          <p:cNvSpPr/>
          <p:nvPr/>
        </p:nvSpPr>
        <p:spPr>
          <a:xfrm>
            <a:off x="566928" y="3931920"/>
            <a:ext cx="11057839" cy="1956816"/>
          </a:xfrm>
          <a:prstGeom prst="roundRect">
            <a:avLst>
              <a:gd name="adj" fmla="val 1869"/>
            </a:avLst>
          </a:prstGeom>
          <a:solidFill>
            <a:srgbClr val="FDF0F0"/>
          </a:solidFill>
          <a:ln w="12700">
            <a:solidFill>
              <a:srgbClr val="333333"/>
            </a:solidFill>
            <a:prstDash val="solid"/>
          </a:ln>
        </p:spPr>
      </p:sp>
      <p:sp>
        <p:nvSpPr>
          <p:cNvPr id="20" name="Shape 18"/>
          <p:cNvSpPr/>
          <p:nvPr/>
        </p:nvSpPr>
        <p:spPr>
          <a:xfrm>
            <a:off x="566928" y="3931920"/>
            <a:ext cx="91440" cy="1956816"/>
          </a:xfrm>
          <a:prstGeom prst="rect">
            <a:avLst/>
          </a:prstGeom>
          <a:solidFill>
            <a:srgbClr val="C00000"/>
          </a:solidFill>
          <a:ln w="12700">
            <a:solidFill>
              <a:srgbClr val="333333"/>
            </a:solidFill>
            <a:prstDash val="solid"/>
          </a:ln>
        </p:spPr>
      </p:sp>
      <p:sp>
        <p:nvSpPr>
          <p:cNvPr id="21" name="Text 19"/>
          <p:cNvSpPr txBox="1"/>
          <p:nvPr/>
        </p:nvSpPr>
        <p:spPr>
          <a:xfrm>
            <a:off x="987552" y="4151376"/>
            <a:ext cx="5394960" cy="329184"/>
          </a:xfrm>
          <a:prstGeom prst="rect">
            <a:avLst/>
          </a:prstGeom>
          <a:noFill/>
          <a:ln/>
        </p:spPr>
        <p:txBody>
          <a:bodyPr wrap="square" lIns="0" tIns="0" rIns="0" bIns="0" rtlCol="0" anchor="ctr"/>
          <a:lstStyle/>
          <a:p>
            <a:pPr indent="0" marL="0">
              <a:buNone/>
            </a:pPr>
            <a:r>
              <a:rPr lang="en-US" sz="2000" b="1" dirty="0">
                <a:solidFill>
                  <a:srgbClr val="222834"/>
                </a:solidFill>
                <a:latin typeface="Arial" pitchFamily="34" charset="0"/>
                <a:ea typeface="Arial" pitchFamily="34" charset="-122"/>
                <a:cs typeface="Arial" pitchFamily="34" charset="-120"/>
              </a:rPr>
              <a:t>Then look at the people we turned down.</a:t>
            </a:r>
            <a:endParaRPr lang="en-US" sz="2000" dirty="0"/>
          </a:p>
        </p:txBody>
      </p:sp>
      <p:sp>
        <p:nvSpPr>
          <p:cNvPr id="22" name="Text 20"/>
          <p:cNvSpPr txBox="1"/>
          <p:nvPr/>
        </p:nvSpPr>
        <p:spPr>
          <a:xfrm>
            <a:off x="987552" y="4572000"/>
            <a:ext cx="5394960" cy="969264"/>
          </a:xfrm>
          <a:prstGeom prst="rect">
            <a:avLst/>
          </a:prstGeom>
          <a:noFill/>
          <a:ln/>
        </p:spPr>
        <p:txBody>
          <a:bodyPr wrap="square" lIns="0" tIns="0" rIns="0" bIns="0" rtlCol="0" anchor="t"/>
          <a:lstStyle/>
          <a:p>
            <a:pPr indent="0" marL="0">
              <a:lnSpc>
                <a:spcPts val="2300"/>
              </a:lnSpc>
              <a:buNone/>
            </a:pPr>
            <a:r>
              <a:rPr lang="en-US" sz="1600" dirty="0">
                <a:solidFill>
                  <a:srgbClr val="4B5363"/>
                </a:solidFill>
                <a:latin typeface="Arial" pitchFamily="34" charset="0"/>
                <a:ea typeface="Arial" pitchFamily="34" charset="-122"/>
                <a:cs typeface="Arial" pitchFamily="34" charset="-120"/>
              </a:rPr>
              <a:t>In 2025 we said no to 67 internal applicants. Today 38 are still here. We have already lost 29 of them.</a:t>
            </a:r>
            <a:endParaRPr lang="en-US" sz="1600" dirty="0"/>
          </a:p>
        </p:txBody>
      </p:sp>
      <p:sp>
        <p:nvSpPr>
          <p:cNvPr id="23" name="Text 21"/>
          <p:cNvSpPr txBox="1"/>
          <p:nvPr/>
        </p:nvSpPr>
        <p:spPr>
          <a:xfrm>
            <a:off x="6492240" y="4224528"/>
            <a:ext cx="1627632" cy="493776"/>
          </a:xfrm>
          <a:prstGeom prst="rect">
            <a:avLst/>
          </a:prstGeom>
          <a:noFill/>
          <a:ln/>
        </p:spPr>
        <p:txBody>
          <a:bodyPr wrap="square" lIns="0" tIns="0" rIns="0" bIns="0" rtlCol="0" anchor="ctr"/>
          <a:lstStyle/>
          <a:p>
            <a:pPr indent="0" marL="0">
              <a:buNone/>
            </a:pPr>
            <a:r>
              <a:rPr lang="en-US" sz="2900" b="1" dirty="0">
                <a:solidFill>
                  <a:srgbClr val="C00000"/>
                </a:solidFill>
                <a:latin typeface="Arial" pitchFamily="34" charset="0"/>
                <a:ea typeface="Arial" pitchFamily="34" charset="-122"/>
                <a:cs typeface="Arial" pitchFamily="34" charset="-120"/>
              </a:rPr>
              <a:t>43%</a:t>
            </a:r>
            <a:endParaRPr lang="en-US" sz="2900" dirty="0"/>
          </a:p>
        </p:txBody>
      </p:sp>
      <p:sp>
        <p:nvSpPr>
          <p:cNvPr id="24" name="Text 22"/>
          <p:cNvSpPr txBox="1"/>
          <p:nvPr/>
        </p:nvSpPr>
        <p:spPr>
          <a:xfrm>
            <a:off x="6492240" y="4754880"/>
            <a:ext cx="1627632" cy="69494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of that cohort has</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already left</a:t>
            </a:r>
            <a:endParaRPr lang="en-US" sz="1400" dirty="0"/>
          </a:p>
        </p:txBody>
      </p:sp>
      <p:sp>
        <p:nvSpPr>
          <p:cNvPr id="25" name="Shape 23"/>
          <p:cNvSpPr/>
          <p:nvPr/>
        </p:nvSpPr>
        <p:spPr>
          <a:xfrm>
            <a:off x="8065008" y="4261104"/>
            <a:ext cx="18288" cy="1060704"/>
          </a:xfrm>
          <a:prstGeom prst="rect">
            <a:avLst/>
          </a:prstGeom>
          <a:solidFill>
            <a:srgbClr val="E9E1D3"/>
          </a:solidFill>
          <a:ln w="12700">
            <a:solidFill>
              <a:srgbClr val="333333"/>
            </a:solidFill>
            <a:prstDash val="solid"/>
          </a:ln>
        </p:spPr>
      </p:sp>
      <p:sp>
        <p:nvSpPr>
          <p:cNvPr id="26" name="Text 24"/>
          <p:cNvSpPr txBox="1"/>
          <p:nvPr/>
        </p:nvSpPr>
        <p:spPr>
          <a:xfrm>
            <a:off x="8211312" y="4224528"/>
            <a:ext cx="1627632" cy="493776"/>
          </a:xfrm>
          <a:prstGeom prst="rect">
            <a:avLst/>
          </a:prstGeom>
          <a:noFill/>
          <a:ln/>
        </p:spPr>
        <p:txBody>
          <a:bodyPr wrap="square" lIns="0" tIns="0" rIns="0" bIns="0" rtlCol="0" anchor="ctr"/>
          <a:lstStyle/>
          <a:p>
            <a:pPr indent="0" marL="0">
              <a:buNone/>
            </a:pPr>
            <a:r>
              <a:rPr lang="en-US" sz="2900" b="1" dirty="0">
                <a:solidFill>
                  <a:srgbClr val="222834"/>
                </a:solidFill>
                <a:latin typeface="Arial" pitchFamily="34" charset="0"/>
                <a:ea typeface="Arial" pitchFamily="34" charset="-122"/>
                <a:cs typeface="Arial" pitchFamily="34" charset="-120"/>
              </a:rPr>
              <a:t>16</a:t>
            </a:r>
            <a:endParaRPr lang="en-US" sz="2900" dirty="0"/>
          </a:p>
        </p:txBody>
      </p:sp>
      <p:sp>
        <p:nvSpPr>
          <p:cNvPr id="27" name="Text 25"/>
          <p:cNvSpPr txBox="1"/>
          <p:nvPr/>
        </p:nvSpPr>
        <p:spPr>
          <a:xfrm>
            <a:off x="8211312" y="4754880"/>
            <a:ext cx="1627632" cy="69494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more than a 28%</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comparator predicts</a:t>
            </a:r>
            <a:endParaRPr lang="en-US" sz="1400" dirty="0"/>
          </a:p>
        </p:txBody>
      </p:sp>
      <p:sp>
        <p:nvSpPr>
          <p:cNvPr id="28" name="Text 26"/>
          <p:cNvSpPr txBox="1"/>
          <p:nvPr/>
        </p:nvSpPr>
        <p:spPr>
          <a:xfrm>
            <a:off x="9930384" y="4224528"/>
            <a:ext cx="1627632" cy="493776"/>
          </a:xfrm>
          <a:prstGeom prst="rect">
            <a:avLst/>
          </a:prstGeom>
          <a:noFill/>
          <a:ln/>
        </p:spPr>
        <p:txBody>
          <a:bodyPr wrap="square" lIns="0" tIns="0" rIns="0" bIns="0" rtlCol="0" anchor="ctr"/>
          <a:lstStyle/>
          <a:p>
            <a:pPr indent="0" marL="0">
              <a:buNone/>
            </a:pPr>
            <a:r>
              <a:rPr lang="en-US" sz="2900" b="1" dirty="0">
                <a:solidFill>
                  <a:srgbClr val="222834"/>
                </a:solidFill>
                <a:latin typeface="Arial" pitchFamily="34" charset="0"/>
                <a:ea typeface="Arial" pitchFamily="34" charset="-122"/>
                <a:cs typeface="Arial" pitchFamily="34" charset="-120"/>
              </a:rPr>
              <a:t>₱5.2M</a:t>
            </a:r>
            <a:endParaRPr lang="en-US" sz="2900" dirty="0"/>
          </a:p>
        </p:txBody>
      </p:sp>
      <p:sp>
        <p:nvSpPr>
          <p:cNvPr id="29" name="Text 27"/>
          <p:cNvSpPr txBox="1"/>
          <p:nvPr/>
        </p:nvSpPr>
        <p:spPr>
          <a:xfrm>
            <a:off x="9930384" y="4754880"/>
            <a:ext cx="1627632" cy="694944"/>
          </a:xfrm>
          <a:prstGeom prst="rect">
            <a:avLst/>
          </a:prstGeom>
          <a:noFill/>
          <a:ln/>
        </p:spPr>
        <p:txBody>
          <a:bodyPr wrap="square" lIns="0" tIns="0" rIns="0" bIns="0" rtlCol="0" anchor="t"/>
          <a:lstStyle/>
          <a:p>
            <a:pPr indent="0" marL="0">
              <a:lnSpc>
                <a:spcPts val="1700"/>
              </a:lnSpc>
              <a:buNone/>
            </a:pPr>
            <a:r>
              <a:rPr lang="en-US" sz="1400" dirty="0">
                <a:solidFill>
                  <a:srgbClr val="858D9B"/>
                </a:solidFill>
                <a:latin typeface="Arial" pitchFamily="34" charset="0"/>
                <a:ea typeface="Arial" pitchFamily="34" charset="-122"/>
                <a:cs typeface="Arial" pitchFamily="34" charset="-120"/>
              </a:rPr>
              <a:t>replacement cost</a:t>
            </a:r>
            <a:endParaRPr lang="en-US" sz="1400" dirty="0"/>
          </a:p>
          <a:p>
            <a:pPr indent="0" marL="0">
              <a:lnSpc>
                <a:spcPts val="1700"/>
              </a:lnSpc>
              <a:buNone/>
            </a:pPr>
            <a:r>
              <a:rPr lang="en-US" sz="1400" dirty="0">
                <a:solidFill>
                  <a:srgbClr val="858D9B"/>
                </a:solidFill>
                <a:latin typeface="Arial" pitchFamily="34" charset="0"/>
                <a:ea typeface="Arial" pitchFamily="34" charset="-122"/>
                <a:cs typeface="Arial" pitchFamily="34" charset="-120"/>
              </a:rPr>
              <a:t>of that excess</a:t>
            </a:r>
            <a:endParaRPr lang="en-US" sz="1400" dirty="0"/>
          </a:p>
        </p:txBody>
      </p:sp>
      <p:sp>
        <p:nvSpPr>
          <p:cNvPr id="30" name="Text 28"/>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The 67 and the 38 are HRIS fact. The comparator attrition rate is not yet confirmed — see appendix. Source: HC Connect 2024–2026.</a:t>
            </a:r>
            <a:endParaRPr lang="en-US" sz="1400" dirty="0"/>
          </a:p>
        </p:txBody>
      </p:sp>
      <p:sp>
        <p:nvSpPr>
          <p:cNvPr id="31" name="Text 29"/>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WHY IT HAPPENS</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222834"/>
                </a:solidFill>
                <a:latin typeface="Arial" pitchFamily="34" charset="0"/>
                <a:ea typeface="Arial" pitchFamily="34" charset="-122"/>
                <a:cs typeface="Arial" pitchFamily="34" charset="-120"/>
              </a:rPr>
              <a:t>Three blind spots, none of which is a people problem.</a:t>
            </a:r>
            <a:endParaRPr lang="en-US" sz="2900" dirty="0"/>
          </a:p>
        </p:txBody>
      </p:sp>
      <p:sp>
        <p:nvSpPr>
          <p:cNvPr id="5" name="Shape 3"/>
          <p:cNvSpPr/>
          <p:nvPr/>
        </p:nvSpPr>
        <p:spPr>
          <a:xfrm>
            <a:off x="566928" y="1920240"/>
            <a:ext cx="3503066" cy="2615184"/>
          </a:xfrm>
          <a:prstGeom prst="roundRect">
            <a:avLst>
              <a:gd name="adj" fmla="val 1399"/>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6" name="Shape 4"/>
          <p:cNvSpPr/>
          <p:nvPr/>
        </p:nvSpPr>
        <p:spPr>
          <a:xfrm>
            <a:off x="566928" y="1920240"/>
            <a:ext cx="3503066" cy="68580"/>
          </a:xfrm>
          <a:prstGeom prst="rect">
            <a:avLst/>
          </a:prstGeom>
          <a:solidFill>
            <a:srgbClr val="C00000"/>
          </a:solidFill>
          <a:ln w="12700">
            <a:solidFill>
              <a:srgbClr val="333333"/>
            </a:solidFill>
            <a:prstDash val="solid"/>
          </a:ln>
        </p:spPr>
      </p:sp>
      <p:sp>
        <p:nvSpPr>
          <p:cNvPr id="7" name="Text 5"/>
          <p:cNvSpPr txBox="1"/>
          <p:nvPr/>
        </p:nvSpPr>
        <p:spPr>
          <a:xfrm>
            <a:off x="841248" y="2121408"/>
            <a:ext cx="914400" cy="402336"/>
          </a:xfrm>
          <a:prstGeom prst="rect">
            <a:avLst/>
          </a:prstGeom>
          <a:noFill/>
          <a:ln/>
        </p:spPr>
        <p:txBody>
          <a:bodyPr wrap="square" lIns="0" tIns="0" rIns="0" bIns="0" rtlCol="0" anchor="ctr"/>
          <a:lstStyle/>
          <a:p>
            <a:pPr indent="0" marL="0">
              <a:buNone/>
            </a:pPr>
            <a:r>
              <a:rPr lang="en-US" sz="2400" b="1" spc="100" kern="0" dirty="0">
                <a:solidFill>
                  <a:srgbClr val="C00000"/>
                </a:solidFill>
                <a:latin typeface="Arial" pitchFamily="34" charset="0"/>
                <a:ea typeface="Arial" pitchFamily="34" charset="-122"/>
                <a:cs typeface="Arial" pitchFamily="34" charset="-120"/>
              </a:rPr>
              <a:t>01</a:t>
            </a:r>
            <a:endParaRPr lang="en-US" sz="2400" dirty="0"/>
          </a:p>
        </p:txBody>
      </p:sp>
      <p:sp>
        <p:nvSpPr>
          <p:cNvPr id="8" name="Text 6"/>
          <p:cNvSpPr txBox="1"/>
          <p:nvPr/>
        </p:nvSpPr>
        <p:spPr>
          <a:xfrm>
            <a:off x="841248" y="2615184"/>
            <a:ext cx="2954426" cy="603504"/>
          </a:xfrm>
          <a:prstGeom prst="rect">
            <a:avLst/>
          </a:prstGeom>
          <a:noFill/>
          <a:ln/>
        </p:spPr>
        <p:txBody>
          <a:bodyPr wrap="square" lIns="0" tIns="0" rIns="0" bIns="0" rtlCol="0" anchor="t"/>
          <a:lstStyle/>
          <a:p>
            <a:pPr indent="0" marL="0">
              <a:lnSpc>
                <a:spcPts val="2400"/>
              </a:lnSpc>
              <a:buNone/>
            </a:pPr>
            <a:r>
              <a:rPr lang="en-US" sz="1800" b="1" dirty="0">
                <a:solidFill>
                  <a:srgbClr val="222834"/>
                </a:solidFill>
                <a:latin typeface="Arial" pitchFamily="34" charset="0"/>
                <a:ea typeface="Arial" pitchFamily="34" charset="-122"/>
                <a:cs typeface="Arial" pitchFamily="34" charset="-120"/>
              </a:rPr>
              <a:t>Employees cannot see it</a:t>
            </a:r>
            <a:endParaRPr lang="en-US" sz="1800" dirty="0"/>
          </a:p>
        </p:txBody>
      </p:sp>
      <p:sp>
        <p:nvSpPr>
          <p:cNvPr id="9" name="Text 7"/>
          <p:cNvSpPr txBox="1"/>
          <p:nvPr/>
        </p:nvSpPr>
        <p:spPr>
          <a:xfrm>
            <a:off x="841248" y="3273552"/>
            <a:ext cx="2954426" cy="1115568"/>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Vacancies sit in a tool nobody browses. Gigs and immersions are arranged privately. You hear about the role after it is filled.</a:t>
            </a:r>
            <a:endParaRPr lang="en-US" sz="1500" dirty="0"/>
          </a:p>
        </p:txBody>
      </p:sp>
      <p:sp>
        <p:nvSpPr>
          <p:cNvPr id="10" name="Shape 8"/>
          <p:cNvSpPr/>
          <p:nvPr/>
        </p:nvSpPr>
        <p:spPr>
          <a:xfrm>
            <a:off x="4344314" y="1920240"/>
            <a:ext cx="3503066" cy="2615184"/>
          </a:xfrm>
          <a:prstGeom prst="roundRect">
            <a:avLst>
              <a:gd name="adj" fmla="val 1399"/>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11" name="Shape 9"/>
          <p:cNvSpPr/>
          <p:nvPr/>
        </p:nvSpPr>
        <p:spPr>
          <a:xfrm>
            <a:off x="4344314" y="1920240"/>
            <a:ext cx="3503066" cy="68580"/>
          </a:xfrm>
          <a:prstGeom prst="rect">
            <a:avLst/>
          </a:prstGeom>
          <a:solidFill>
            <a:srgbClr val="9E6B12"/>
          </a:solidFill>
          <a:ln w="12700">
            <a:solidFill>
              <a:srgbClr val="333333"/>
            </a:solidFill>
            <a:prstDash val="solid"/>
          </a:ln>
        </p:spPr>
      </p:sp>
      <p:sp>
        <p:nvSpPr>
          <p:cNvPr id="12" name="Text 10"/>
          <p:cNvSpPr txBox="1"/>
          <p:nvPr/>
        </p:nvSpPr>
        <p:spPr>
          <a:xfrm>
            <a:off x="4618634" y="2121408"/>
            <a:ext cx="914400" cy="402336"/>
          </a:xfrm>
          <a:prstGeom prst="rect">
            <a:avLst/>
          </a:prstGeom>
          <a:noFill/>
          <a:ln/>
        </p:spPr>
        <p:txBody>
          <a:bodyPr wrap="square" lIns="0" tIns="0" rIns="0" bIns="0" rtlCol="0" anchor="ctr"/>
          <a:lstStyle/>
          <a:p>
            <a:pPr indent="0" marL="0">
              <a:buNone/>
            </a:pPr>
            <a:r>
              <a:rPr lang="en-US" sz="2400" b="1" spc="100" kern="0" dirty="0">
                <a:solidFill>
                  <a:srgbClr val="9E6B12"/>
                </a:solidFill>
                <a:latin typeface="Arial" pitchFamily="34" charset="0"/>
                <a:ea typeface="Arial" pitchFamily="34" charset="-122"/>
                <a:cs typeface="Arial" pitchFamily="34" charset="-120"/>
              </a:rPr>
              <a:t>02</a:t>
            </a:r>
            <a:endParaRPr lang="en-US" sz="2400" dirty="0"/>
          </a:p>
        </p:txBody>
      </p:sp>
      <p:sp>
        <p:nvSpPr>
          <p:cNvPr id="13" name="Text 11"/>
          <p:cNvSpPr txBox="1"/>
          <p:nvPr/>
        </p:nvSpPr>
        <p:spPr>
          <a:xfrm>
            <a:off x="4618634" y="2615184"/>
            <a:ext cx="2954426" cy="603504"/>
          </a:xfrm>
          <a:prstGeom prst="rect">
            <a:avLst/>
          </a:prstGeom>
          <a:noFill/>
          <a:ln/>
        </p:spPr>
        <p:txBody>
          <a:bodyPr wrap="square" lIns="0" tIns="0" rIns="0" bIns="0" rtlCol="0" anchor="t"/>
          <a:lstStyle/>
          <a:p>
            <a:pPr indent="0" marL="0">
              <a:lnSpc>
                <a:spcPts val="2400"/>
              </a:lnSpc>
              <a:buNone/>
            </a:pPr>
            <a:r>
              <a:rPr lang="en-US" sz="1800" b="1" dirty="0">
                <a:solidFill>
                  <a:srgbClr val="222834"/>
                </a:solidFill>
                <a:latin typeface="Arial" pitchFamily="34" charset="0"/>
                <a:ea typeface="Arial" pitchFamily="34" charset="-122"/>
                <a:cs typeface="Arial" pitchFamily="34" charset="-120"/>
              </a:rPr>
              <a:t>The manager cannot find them</a:t>
            </a:r>
            <a:endParaRPr lang="en-US" sz="1800" dirty="0"/>
          </a:p>
        </p:txBody>
      </p:sp>
      <p:sp>
        <p:nvSpPr>
          <p:cNvPr id="14" name="Text 12"/>
          <p:cNvSpPr txBox="1"/>
          <p:nvPr/>
        </p:nvSpPr>
        <p:spPr>
          <a:xfrm>
            <a:off x="4618634" y="3273552"/>
            <a:ext cx="2954426" cy="1115568"/>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There is no skills inventory. A hiring manager cannot ask "who inside can already do this?", so the default is to post externally.</a:t>
            </a:r>
            <a:endParaRPr lang="en-US" sz="1500" dirty="0"/>
          </a:p>
        </p:txBody>
      </p:sp>
      <p:sp>
        <p:nvSpPr>
          <p:cNvPr id="15" name="Shape 13"/>
          <p:cNvSpPr/>
          <p:nvPr/>
        </p:nvSpPr>
        <p:spPr>
          <a:xfrm>
            <a:off x="8121701" y="1920240"/>
            <a:ext cx="3503066" cy="2615184"/>
          </a:xfrm>
          <a:prstGeom prst="roundRect">
            <a:avLst>
              <a:gd name="adj" fmla="val 1399"/>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16" name="Shape 14"/>
          <p:cNvSpPr/>
          <p:nvPr/>
        </p:nvSpPr>
        <p:spPr>
          <a:xfrm>
            <a:off x="8121701" y="1920240"/>
            <a:ext cx="3503066" cy="68580"/>
          </a:xfrm>
          <a:prstGeom prst="rect">
            <a:avLst/>
          </a:prstGeom>
          <a:solidFill>
            <a:srgbClr val="0E7C66"/>
          </a:solidFill>
          <a:ln w="12700">
            <a:solidFill>
              <a:srgbClr val="333333"/>
            </a:solidFill>
            <a:prstDash val="solid"/>
          </a:ln>
        </p:spPr>
      </p:sp>
      <p:sp>
        <p:nvSpPr>
          <p:cNvPr id="17" name="Text 15"/>
          <p:cNvSpPr txBox="1"/>
          <p:nvPr/>
        </p:nvSpPr>
        <p:spPr>
          <a:xfrm>
            <a:off x="8396021" y="2121408"/>
            <a:ext cx="914400" cy="402336"/>
          </a:xfrm>
          <a:prstGeom prst="rect">
            <a:avLst/>
          </a:prstGeom>
          <a:noFill/>
          <a:ln/>
        </p:spPr>
        <p:txBody>
          <a:bodyPr wrap="square" lIns="0" tIns="0" rIns="0" bIns="0" rtlCol="0" anchor="ctr"/>
          <a:lstStyle/>
          <a:p>
            <a:pPr indent="0" marL="0">
              <a:buNone/>
            </a:pPr>
            <a:r>
              <a:rPr lang="en-US" sz="2400" b="1" spc="100" kern="0" dirty="0">
                <a:solidFill>
                  <a:srgbClr val="0E7C66"/>
                </a:solidFill>
                <a:latin typeface="Arial" pitchFamily="34" charset="0"/>
                <a:ea typeface="Arial" pitchFamily="34" charset="-122"/>
                <a:cs typeface="Arial" pitchFamily="34" charset="-120"/>
              </a:rPr>
              <a:t>03</a:t>
            </a:r>
            <a:endParaRPr lang="en-US" sz="2400" dirty="0"/>
          </a:p>
        </p:txBody>
      </p:sp>
      <p:sp>
        <p:nvSpPr>
          <p:cNvPr id="18" name="Text 16"/>
          <p:cNvSpPr txBox="1"/>
          <p:nvPr/>
        </p:nvSpPr>
        <p:spPr>
          <a:xfrm>
            <a:off x="8396021" y="2615184"/>
            <a:ext cx="2954426" cy="603504"/>
          </a:xfrm>
          <a:prstGeom prst="rect">
            <a:avLst/>
          </a:prstGeom>
          <a:noFill/>
          <a:ln/>
        </p:spPr>
        <p:txBody>
          <a:bodyPr wrap="square" lIns="0" tIns="0" rIns="0" bIns="0" rtlCol="0" anchor="t"/>
          <a:lstStyle/>
          <a:p>
            <a:pPr indent="0" marL="0">
              <a:lnSpc>
                <a:spcPts val="2400"/>
              </a:lnSpc>
              <a:buNone/>
            </a:pPr>
            <a:r>
              <a:rPr lang="en-US" sz="1800" b="1" dirty="0">
                <a:solidFill>
                  <a:srgbClr val="222834"/>
                </a:solidFill>
                <a:latin typeface="Arial" pitchFamily="34" charset="0"/>
                <a:ea typeface="Arial" pitchFamily="34" charset="-122"/>
                <a:cs typeface="Arial" pitchFamily="34" charset="-120"/>
              </a:rPr>
              <a:t>The record does not exist</a:t>
            </a:r>
            <a:endParaRPr lang="en-US" sz="1800" dirty="0"/>
          </a:p>
        </p:txBody>
      </p:sp>
      <p:sp>
        <p:nvSpPr>
          <p:cNvPr id="19" name="Text 17"/>
          <p:cNvSpPr txBox="1"/>
          <p:nvPr/>
        </p:nvSpPr>
        <p:spPr>
          <a:xfrm>
            <a:off x="8396021" y="3273552"/>
            <a:ext cx="2954426" cy="1115568"/>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Skills live in CVs, IDPs and people's memories. Nothing is verified, nothing is current, none of it is searchable.</a:t>
            </a:r>
            <a:endParaRPr lang="en-US" sz="1500" dirty="0"/>
          </a:p>
        </p:txBody>
      </p:sp>
      <p:sp>
        <p:nvSpPr>
          <p:cNvPr id="20" name="Shape 18"/>
          <p:cNvSpPr/>
          <p:nvPr/>
        </p:nvSpPr>
        <p:spPr>
          <a:xfrm>
            <a:off x="566928" y="4791456"/>
            <a:ext cx="11057839" cy="1444752"/>
          </a:xfrm>
          <a:prstGeom prst="roundRect">
            <a:avLst>
              <a:gd name="adj" fmla="val 2532"/>
            </a:avLst>
          </a:prstGeom>
          <a:solidFill>
            <a:srgbClr val="F6F2EA"/>
          </a:solidFill>
          <a:ln w="12700">
            <a:solidFill>
              <a:srgbClr val="333333"/>
            </a:solidFill>
            <a:prstDash val="solid"/>
          </a:ln>
        </p:spPr>
      </p:sp>
      <p:sp>
        <p:nvSpPr>
          <p:cNvPr id="21" name="Text 19"/>
          <p:cNvSpPr txBox="1"/>
          <p:nvPr/>
        </p:nvSpPr>
        <p:spPr>
          <a:xfrm>
            <a:off x="932688" y="4992624"/>
            <a:ext cx="6634704" cy="621792"/>
          </a:xfrm>
          <a:prstGeom prst="rect">
            <a:avLst/>
          </a:prstGeom>
          <a:noFill/>
          <a:ln/>
        </p:spPr>
        <p:txBody>
          <a:bodyPr wrap="square" lIns="0" tIns="0" rIns="0" bIns="0" rtlCol="0" anchor="ctr"/>
          <a:lstStyle/>
          <a:p>
            <a:pPr indent="0" marL="0">
              <a:lnSpc>
                <a:spcPts val="2600"/>
              </a:lnSpc>
              <a:buNone/>
            </a:pPr>
            <a:r>
              <a:rPr lang="en-US" sz="1900" b="1" dirty="0">
                <a:solidFill>
                  <a:srgbClr val="222834"/>
                </a:solidFill>
                <a:latin typeface="Arial" pitchFamily="34" charset="0"/>
                <a:ea typeface="Arial" pitchFamily="34" charset="-122"/>
                <a:cs typeface="Arial" pitchFamily="34" charset="-120"/>
              </a:rPr>
              <a:t>The constraint is not that our people are unqualified. It is that the market inside Home Credit has no shelves.</a:t>
            </a:r>
            <a:endParaRPr lang="en-US" sz="1900" dirty="0"/>
          </a:p>
        </p:txBody>
      </p:sp>
      <p:sp>
        <p:nvSpPr>
          <p:cNvPr id="22" name="Text 20"/>
          <p:cNvSpPr txBox="1"/>
          <p:nvPr/>
        </p:nvSpPr>
        <p:spPr>
          <a:xfrm>
            <a:off x="932688" y="5614416"/>
            <a:ext cx="6634704" cy="548640"/>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463 applications in three years is not apathy. People say they believe they can grow here — they cannot find where.</a:t>
            </a:r>
            <a:endParaRPr lang="en-US" sz="1500" dirty="0"/>
          </a:p>
        </p:txBody>
      </p:sp>
      <p:sp>
        <p:nvSpPr>
          <p:cNvPr id="23" name="Shape 21"/>
          <p:cNvSpPr/>
          <p:nvPr/>
        </p:nvSpPr>
        <p:spPr>
          <a:xfrm>
            <a:off x="7865102" y="5047488"/>
            <a:ext cx="45720" cy="877824"/>
          </a:xfrm>
          <a:prstGeom prst="rect">
            <a:avLst/>
          </a:prstGeom>
          <a:solidFill>
            <a:srgbClr val="C00000"/>
          </a:solidFill>
          <a:ln w="12700">
            <a:solidFill>
              <a:srgbClr val="333333"/>
            </a:solidFill>
            <a:prstDash val="solid"/>
          </a:ln>
        </p:spPr>
      </p:sp>
      <p:sp>
        <p:nvSpPr>
          <p:cNvPr id="24" name="Text 22"/>
          <p:cNvSpPr txBox="1"/>
          <p:nvPr/>
        </p:nvSpPr>
        <p:spPr>
          <a:xfrm>
            <a:off x="8307415" y="5010912"/>
            <a:ext cx="3206773" cy="475488"/>
          </a:xfrm>
          <a:prstGeom prst="rect">
            <a:avLst/>
          </a:prstGeom>
          <a:noFill/>
          <a:ln/>
        </p:spPr>
        <p:txBody>
          <a:bodyPr wrap="square" lIns="0" tIns="0" rIns="0" bIns="0" rtlCol="0" anchor="ctr"/>
          <a:lstStyle/>
          <a:p>
            <a:pPr indent="0" marL="0">
              <a:buNone/>
            </a:pPr>
            <a:r>
              <a:rPr lang="en-US" sz="3200" b="1" dirty="0">
                <a:solidFill>
                  <a:srgbClr val="C00000"/>
                </a:solidFill>
                <a:latin typeface="Arial" pitchFamily="34" charset="0"/>
                <a:ea typeface="Arial" pitchFamily="34" charset="-122"/>
                <a:cs typeface="Arial" pitchFamily="34" charset="-120"/>
              </a:rPr>
              <a:t>88%</a:t>
            </a:r>
            <a:endParaRPr lang="en-US" sz="3200" dirty="0"/>
          </a:p>
        </p:txBody>
      </p:sp>
      <p:sp>
        <p:nvSpPr>
          <p:cNvPr id="25" name="Text 23"/>
          <p:cNvSpPr txBox="1"/>
          <p:nvPr/>
        </p:nvSpPr>
        <p:spPr>
          <a:xfrm>
            <a:off x="8307415" y="5486400"/>
            <a:ext cx="3206773" cy="512064"/>
          </a:xfrm>
          <a:prstGeom prst="rect">
            <a:avLst/>
          </a:prstGeom>
          <a:noFill/>
          <a:ln/>
        </p:spPr>
        <p:txBody>
          <a:bodyPr wrap="square" lIns="0" tIns="0" rIns="0" bIns="0" rtlCol="0" anchor="t"/>
          <a:lstStyle/>
          <a:p>
            <a:pPr indent="0" marL="0">
              <a:lnSpc>
                <a:spcPts val="1800"/>
              </a:lnSpc>
              <a:buNone/>
            </a:pPr>
            <a:r>
              <a:rPr lang="en-US" sz="1400" dirty="0">
                <a:solidFill>
                  <a:srgbClr val="4B5363"/>
                </a:solidFill>
                <a:latin typeface="Arial" pitchFamily="34" charset="0"/>
                <a:ea typeface="Arial" pitchFamily="34" charset="-122"/>
                <a:cs typeface="Arial" pitchFamily="34" charset="-120"/>
              </a:rPr>
              <a:t>believe they can grow at Home Credit</a:t>
            </a:r>
            <a:endParaRPr lang="en-US" sz="1400" dirty="0"/>
          </a:p>
          <a:p>
            <a:pPr indent="0" marL="0">
              <a:lnSpc>
                <a:spcPts val="1800"/>
              </a:lnSpc>
              <a:buNone/>
            </a:pPr>
            <a:r>
              <a:rPr lang="en-US" sz="1400" dirty="0">
                <a:solidFill>
                  <a:srgbClr val="4B5363"/>
                </a:solidFill>
                <a:latin typeface="Arial" pitchFamily="34" charset="0"/>
                <a:ea typeface="Arial" pitchFamily="34" charset="-122"/>
                <a:cs typeface="Arial" pitchFamily="34" charset="-120"/>
              </a:rPr>
              <a:t>eNPS on growth opportunity</a:t>
            </a:r>
            <a:endParaRPr lang="en-US" sz="1400" dirty="0"/>
          </a:p>
        </p:txBody>
      </p:sp>
      <p:sp>
        <p:nvSpPr>
          <p:cNvPr id="26" name="Text 24"/>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THE SOLUTION</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One place. Every opportunity. Scored against you.</a:t>
            </a:r>
            <a:endParaRPr lang="en-US" sz="3300" dirty="0"/>
          </a:p>
        </p:txBody>
      </p:sp>
      <p:sp>
        <p:nvSpPr>
          <p:cNvPr id="5" name="Text 3"/>
          <p:cNvSpPr txBox="1"/>
          <p:nvPr/>
        </p:nvSpPr>
        <p:spPr>
          <a:xfrm>
            <a:off x="566928" y="1883664"/>
            <a:ext cx="5031317"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FOUR SHELVES</a:t>
            </a:r>
            <a:endParaRPr lang="en-US" sz="1400" dirty="0"/>
          </a:p>
        </p:txBody>
      </p:sp>
      <p:sp>
        <p:nvSpPr>
          <p:cNvPr id="6" name="Shape 4"/>
          <p:cNvSpPr/>
          <p:nvPr/>
        </p:nvSpPr>
        <p:spPr>
          <a:xfrm>
            <a:off x="566928" y="2304288"/>
            <a:ext cx="50292" cy="603504"/>
          </a:xfrm>
          <a:prstGeom prst="rect">
            <a:avLst/>
          </a:prstGeom>
          <a:solidFill>
            <a:srgbClr val="C00000"/>
          </a:solidFill>
          <a:ln w="12700">
            <a:solidFill>
              <a:srgbClr val="333333"/>
            </a:solidFill>
            <a:prstDash val="solid"/>
          </a:ln>
        </p:spPr>
      </p:sp>
      <p:sp>
        <p:nvSpPr>
          <p:cNvPr id="7" name="Text 5"/>
          <p:cNvSpPr txBox="1"/>
          <p:nvPr/>
        </p:nvSpPr>
        <p:spPr>
          <a:xfrm>
            <a:off x="804672" y="2267712"/>
            <a:ext cx="4793573" cy="292608"/>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Vacancies</a:t>
            </a:r>
            <a:endParaRPr lang="en-US" sz="1700" dirty="0"/>
          </a:p>
        </p:txBody>
      </p:sp>
      <p:sp>
        <p:nvSpPr>
          <p:cNvPr id="8" name="Text 6"/>
          <p:cNvSpPr txBox="1"/>
          <p:nvPr/>
        </p:nvSpPr>
        <p:spPr>
          <a:xfrm>
            <a:off x="804672" y="2560320"/>
            <a:ext cx="4793573" cy="42062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Permanent internal roles, mirrored from HC Connect</a:t>
            </a:r>
            <a:endParaRPr lang="en-US" sz="1450" dirty="0"/>
          </a:p>
        </p:txBody>
      </p:sp>
      <p:sp>
        <p:nvSpPr>
          <p:cNvPr id="9" name="Shape 7"/>
          <p:cNvSpPr/>
          <p:nvPr/>
        </p:nvSpPr>
        <p:spPr>
          <a:xfrm>
            <a:off x="566928" y="3145536"/>
            <a:ext cx="50292" cy="603504"/>
          </a:xfrm>
          <a:prstGeom prst="rect">
            <a:avLst/>
          </a:prstGeom>
          <a:solidFill>
            <a:srgbClr val="9E6B12"/>
          </a:solidFill>
          <a:ln w="12700">
            <a:solidFill>
              <a:srgbClr val="333333"/>
            </a:solidFill>
            <a:prstDash val="solid"/>
          </a:ln>
        </p:spPr>
      </p:sp>
      <p:sp>
        <p:nvSpPr>
          <p:cNvPr id="10" name="Text 8"/>
          <p:cNvSpPr txBox="1"/>
          <p:nvPr/>
        </p:nvSpPr>
        <p:spPr>
          <a:xfrm>
            <a:off x="804672" y="3108960"/>
            <a:ext cx="4793573" cy="292608"/>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Gigs</a:t>
            </a:r>
            <a:endParaRPr lang="en-US" sz="1700" dirty="0"/>
          </a:p>
        </p:txBody>
      </p:sp>
      <p:sp>
        <p:nvSpPr>
          <p:cNvPr id="11" name="Text 9"/>
          <p:cNvSpPr txBox="1"/>
          <p:nvPr/>
        </p:nvSpPr>
        <p:spPr>
          <a:xfrm>
            <a:off x="804672" y="3401568"/>
            <a:ext cx="4793573" cy="42062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Short projects, days to weeks, alongside the day job</a:t>
            </a:r>
            <a:endParaRPr lang="en-US" sz="1450" dirty="0"/>
          </a:p>
        </p:txBody>
      </p:sp>
      <p:sp>
        <p:nvSpPr>
          <p:cNvPr id="12" name="Shape 10"/>
          <p:cNvSpPr/>
          <p:nvPr/>
        </p:nvSpPr>
        <p:spPr>
          <a:xfrm>
            <a:off x="566928" y="3986784"/>
            <a:ext cx="50292" cy="603504"/>
          </a:xfrm>
          <a:prstGeom prst="rect">
            <a:avLst/>
          </a:prstGeom>
          <a:solidFill>
            <a:srgbClr val="0E7C66"/>
          </a:solidFill>
          <a:ln w="12700">
            <a:solidFill>
              <a:srgbClr val="333333"/>
            </a:solidFill>
            <a:prstDash val="solid"/>
          </a:ln>
        </p:spPr>
      </p:sp>
      <p:sp>
        <p:nvSpPr>
          <p:cNvPr id="13" name="Text 11"/>
          <p:cNvSpPr txBox="1"/>
          <p:nvPr/>
        </p:nvSpPr>
        <p:spPr>
          <a:xfrm>
            <a:off x="804672" y="3950208"/>
            <a:ext cx="4793573" cy="292608"/>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Job immersions</a:t>
            </a:r>
            <a:endParaRPr lang="en-US" sz="1700" dirty="0"/>
          </a:p>
        </p:txBody>
      </p:sp>
      <p:sp>
        <p:nvSpPr>
          <p:cNvPr id="14" name="Text 12"/>
          <p:cNvSpPr txBox="1"/>
          <p:nvPr/>
        </p:nvSpPr>
        <p:spPr>
          <a:xfrm>
            <a:off x="804672" y="4242816"/>
            <a:ext cx="4793573" cy="42062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Three to nine months in another function</a:t>
            </a:r>
            <a:endParaRPr lang="en-US" sz="1450" dirty="0"/>
          </a:p>
        </p:txBody>
      </p:sp>
      <p:sp>
        <p:nvSpPr>
          <p:cNvPr id="15" name="Shape 13"/>
          <p:cNvSpPr/>
          <p:nvPr/>
        </p:nvSpPr>
        <p:spPr>
          <a:xfrm>
            <a:off x="566928" y="4828032"/>
            <a:ext cx="50292" cy="603504"/>
          </a:xfrm>
          <a:prstGeom prst="rect">
            <a:avLst/>
          </a:prstGeom>
          <a:solidFill>
            <a:srgbClr val="4A5468"/>
          </a:solidFill>
          <a:ln w="12700">
            <a:solidFill>
              <a:srgbClr val="333333"/>
            </a:solidFill>
            <a:prstDash val="solid"/>
          </a:ln>
        </p:spPr>
      </p:sp>
      <p:sp>
        <p:nvSpPr>
          <p:cNvPr id="16" name="Text 14"/>
          <p:cNvSpPr txBox="1"/>
          <p:nvPr/>
        </p:nvSpPr>
        <p:spPr>
          <a:xfrm>
            <a:off x="804672" y="4791456"/>
            <a:ext cx="4793573" cy="292608"/>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Service offers</a:t>
            </a:r>
            <a:endParaRPr lang="en-US" sz="1700" dirty="0"/>
          </a:p>
        </p:txBody>
      </p:sp>
      <p:sp>
        <p:nvSpPr>
          <p:cNvPr id="17" name="Text 15"/>
          <p:cNvSpPr txBox="1"/>
          <p:nvPr/>
        </p:nvSpPr>
        <p:spPr>
          <a:xfrm>
            <a:off x="804672" y="5084064"/>
            <a:ext cx="4793573" cy="42062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An employee offering a skill to the business</a:t>
            </a:r>
            <a:endParaRPr lang="en-US" sz="1450" dirty="0"/>
          </a:p>
        </p:txBody>
      </p:sp>
      <p:sp>
        <p:nvSpPr>
          <p:cNvPr id="18" name="Shape 16"/>
          <p:cNvSpPr/>
          <p:nvPr/>
        </p:nvSpPr>
        <p:spPr>
          <a:xfrm>
            <a:off x="566928" y="5577840"/>
            <a:ext cx="5031317" cy="731520"/>
          </a:xfrm>
          <a:prstGeom prst="roundRect">
            <a:avLst>
              <a:gd name="adj" fmla="val 5000"/>
            </a:avLst>
          </a:prstGeom>
          <a:solidFill>
            <a:srgbClr val="F6F2EA"/>
          </a:solidFill>
          <a:ln w="12700">
            <a:solidFill>
              <a:srgbClr val="333333"/>
            </a:solidFill>
            <a:prstDash val="solid"/>
          </a:ln>
        </p:spPr>
      </p:sp>
      <p:sp>
        <p:nvSpPr>
          <p:cNvPr id="19" name="Text 17"/>
          <p:cNvSpPr txBox="1"/>
          <p:nvPr/>
        </p:nvSpPr>
        <p:spPr>
          <a:xfrm>
            <a:off x="804672" y="5577840"/>
            <a:ext cx="4555829" cy="731520"/>
          </a:xfrm>
          <a:prstGeom prst="rect">
            <a:avLst/>
          </a:prstGeom>
          <a:noFill/>
          <a:ln/>
        </p:spPr>
        <p:txBody>
          <a:bodyPr wrap="square" lIns="0" tIns="0" rIns="0" bIns="0" rtlCol="0" anchor="ctr"/>
          <a:lstStyle/>
          <a:p>
            <a:pPr indent="0" marL="0">
              <a:lnSpc>
                <a:spcPts val="1900"/>
              </a:lnSpc>
              <a:buNone/>
            </a:pPr>
            <a:r>
              <a:rPr lang="en-US" sz="1450" b="1" dirty="0">
                <a:solidFill>
                  <a:srgbClr val="222834"/>
                </a:solidFill>
                <a:latin typeface="Arial" pitchFamily="34" charset="0"/>
                <a:ea typeface="Arial" pitchFamily="34" charset="-122"/>
                <a:cs typeface="Arial" pitchFamily="34" charset="-120"/>
              </a:rPr>
              <a:t>Plus a skills passport. </a:t>
            </a:r>
            <a:pPr indent="0" marL="0">
              <a:lnSpc>
                <a:spcPts val="1900"/>
              </a:lnSpc>
              <a:buNone/>
            </a:pPr>
            <a:r>
              <a:rPr lang="en-US" sz="1450" dirty="0">
                <a:solidFill>
                  <a:srgbClr val="4B5363"/>
                </a:solidFill>
                <a:latin typeface="Arial" pitchFamily="34" charset="0"/>
                <a:ea typeface="Arial" pitchFamily="34" charset="-122"/>
                <a:cs typeface="Arial" pitchFamily="34" charset="-120"/>
              </a:rPr>
              <a:t>Seeded from MyDevelopment and LinkedIn, verified by delivery.</a:t>
            </a:r>
            <a:endParaRPr lang="en-US" sz="1450" dirty="0"/>
          </a:p>
        </p:txBody>
      </p:sp>
      <p:sp>
        <p:nvSpPr>
          <p:cNvPr id="20" name="Text 18"/>
          <p:cNvSpPr txBox="1"/>
          <p:nvPr/>
        </p:nvSpPr>
        <p:spPr>
          <a:xfrm>
            <a:off x="6018869" y="1883664"/>
            <a:ext cx="5605898"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EVERY POST IS SCORED AGAINST YOUR PROFILE</a:t>
            </a:r>
            <a:endParaRPr lang="en-US" sz="1400" dirty="0"/>
          </a:p>
        </p:txBody>
      </p:sp>
      <p:pic>
        <p:nvPicPr>
          <p:cNvPr id="21" name="Image 0" descr="preencoded.png">    </p:cNvPr>
          <p:cNvPicPr>
            <a:picLocks noChangeAspect="1"/>
          </p:cNvPicPr>
          <p:nvPr/>
        </p:nvPicPr>
        <p:blipFill>
          <a:blip r:embed="rId1"/>
          <a:stretch>
            <a:fillRect/>
          </a:stretch>
        </p:blipFill>
        <p:spPr>
          <a:xfrm>
            <a:off x="6018869" y="2267712"/>
            <a:ext cx="5605898" cy="3268239"/>
          </a:xfrm>
          <a:prstGeom prst="rect">
            <a:avLst/>
          </a:prstGeom>
          <a:effectLst>
            <a:outerShdw sx="100000" sy="100000" kx="0" ky="0" algn="bl" rotWithShape="0" blurRad="152400" dist="25400" dir="5400000">
              <a:srgbClr val="8A7A62">
                <a:alpha val="11000"/>
              </a:srgbClr>
            </a:outerShdw>
          </a:effectLst>
        </p:spPr>
      </p:pic>
      <p:sp>
        <p:nvSpPr>
          <p:cNvPr id="22" name="Text 19"/>
          <p:cNvSpPr txBox="1"/>
          <p:nvPr/>
        </p:nvSpPr>
        <p:spPr>
          <a:xfrm>
            <a:off x="6018869" y="5663967"/>
            <a:ext cx="5605898" cy="512064"/>
          </a:xfrm>
          <a:prstGeom prst="rect">
            <a:avLst/>
          </a:prstGeom>
          <a:noFill/>
          <a:ln/>
        </p:spPr>
        <p:txBody>
          <a:bodyPr wrap="square" lIns="0" tIns="0" rIns="0" bIns="0" rtlCol="0" anchor="t"/>
          <a:lstStyle/>
          <a:p>
            <a:pPr indent="0" marL="0">
              <a:lnSpc>
                <a:spcPts val="2000"/>
              </a:lnSpc>
              <a:buNone/>
            </a:pPr>
            <a:r>
              <a:rPr lang="en-US" sz="1500" dirty="0">
                <a:solidFill>
                  <a:srgbClr val="858D9B"/>
                </a:solidFill>
                <a:latin typeface="Arial" pitchFamily="34" charset="0"/>
                <a:ea typeface="Arial" pitchFamily="34" charset="-122"/>
                <a:cs typeface="Arial" pitchFamily="34" charset="-120"/>
              </a:rPr>
              <a:t>An AI model reads the post and your profile, returns a score, and says why. It never blocks an application.</a:t>
            </a:r>
            <a:endParaRPr lang="en-US" sz="1500" dirty="0"/>
          </a:p>
        </p:txBody>
      </p:sp>
      <p:sp>
        <p:nvSpPr>
          <p:cNvPr id="23" name="Text 20"/>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WHAT IS NEW HERE</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Four choices that make this more than a job board.</a:t>
            </a:r>
            <a:endParaRPr lang="en-US" sz="3300" dirty="0"/>
          </a:p>
        </p:txBody>
      </p:sp>
      <p:sp>
        <p:nvSpPr>
          <p:cNvPr id="5" name="Shape 3"/>
          <p:cNvSpPr/>
          <p:nvPr/>
        </p:nvSpPr>
        <p:spPr>
          <a:xfrm>
            <a:off x="566928" y="1975104"/>
            <a:ext cx="5391760" cy="1572768"/>
          </a:xfrm>
          <a:prstGeom prst="roundRect">
            <a:avLst>
              <a:gd name="adj" fmla="val 2326"/>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6" name="Shape 4"/>
          <p:cNvSpPr/>
          <p:nvPr/>
        </p:nvSpPr>
        <p:spPr>
          <a:xfrm>
            <a:off x="566928" y="1975104"/>
            <a:ext cx="54864" cy="1572768"/>
          </a:xfrm>
          <a:prstGeom prst="rect">
            <a:avLst/>
          </a:prstGeom>
          <a:solidFill>
            <a:srgbClr val="C00000"/>
          </a:solidFill>
          <a:ln w="12700">
            <a:solidFill>
              <a:srgbClr val="333333"/>
            </a:solidFill>
            <a:prstDash val="solid"/>
          </a:ln>
        </p:spPr>
      </p:sp>
      <p:sp>
        <p:nvSpPr>
          <p:cNvPr id="7" name="Shape 5"/>
          <p:cNvSpPr/>
          <p:nvPr/>
        </p:nvSpPr>
        <p:spPr>
          <a:xfrm>
            <a:off x="841248" y="2212848"/>
            <a:ext cx="365760" cy="365760"/>
          </a:xfrm>
          <a:prstGeom prst="ellipse">
            <a:avLst/>
          </a:prstGeom>
          <a:solidFill>
            <a:srgbClr val="C00000"/>
          </a:solidFill>
          <a:ln w="12700">
            <a:solidFill>
              <a:srgbClr val="333333"/>
            </a:solidFill>
            <a:prstDash val="solid"/>
          </a:ln>
        </p:spPr>
      </p:sp>
      <p:sp>
        <p:nvSpPr>
          <p:cNvPr id="8" name="Text 6"/>
          <p:cNvSpPr txBox="1"/>
          <p:nvPr/>
        </p:nvSpPr>
        <p:spPr>
          <a:xfrm>
            <a:off x="841248" y="221284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txBox="1"/>
          <p:nvPr/>
        </p:nvSpPr>
        <p:spPr>
          <a:xfrm>
            <a:off x="1371600" y="2176272"/>
            <a:ext cx="4331056" cy="347472"/>
          </a:xfrm>
          <a:prstGeom prst="rect">
            <a:avLst/>
          </a:prstGeom>
          <a:noFill/>
          <a:ln/>
        </p:spPr>
        <p:txBody>
          <a:bodyPr wrap="square" lIns="0" tIns="0" rIns="0" bIns="0" rtlCol="0" anchor="ctr"/>
          <a:lstStyle/>
          <a:p>
            <a:pPr indent="0" marL="0">
              <a:buNone/>
            </a:pPr>
            <a:r>
              <a:rPr lang="en-US" sz="1700" b="1" dirty="0">
                <a:solidFill>
                  <a:srgbClr val="222834"/>
                </a:solidFill>
                <a:latin typeface="Arial" pitchFamily="34" charset="0"/>
                <a:ea typeface="Arial" pitchFamily="34" charset="-122"/>
                <a:cs typeface="Arial" pitchFamily="34" charset="-120"/>
              </a:rPr>
              <a:t>A rejection has somewhere to go</a:t>
            </a:r>
            <a:endParaRPr lang="en-US" sz="1700" dirty="0"/>
          </a:p>
        </p:txBody>
      </p:sp>
      <p:sp>
        <p:nvSpPr>
          <p:cNvPr id="10" name="Text 8"/>
          <p:cNvSpPr txBox="1"/>
          <p:nvPr/>
        </p:nvSpPr>
        <p:spPr>
          <a:xfrm>
            <a:off x="1371600" y="2560320"/>
            <a:ext cx="4331056" cy="841248"/>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Every marketplace on the market is a board: one slot, one winner, everyone else leaves with nothing. Growth routes a "no" to a gig, an immersion or a service offer.</a:t>
            </a:r>
            <a:endParaRPr lang="en-US" sz="1450" dirty="0"/>
          </a:p>
        </p:txBody>
      </p:sp>
      <p:sp>
        <p:nvSpPr>
          <p:cNvPr id="11" name="Shape 9"/>
          <p:cNvSpPr/>
          <p:nvPr/>
        </p:nvSpPr>
        <p:spPr>
          <a:xfrm>
            <a:off x="6233008" y="1975104"/>
            <a:ext cx="5391760" cy="1572768"/>
          </a:xfrm>
          <a:prstGeom prst="roundRect">
            <a:avLst>
              <a:gd name="adj" fmla="val 2326"/>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12" name="Shape 10"/>
          <p:cNvSpPr/>
          <p:nvPr/>
        </p:nvSpPr>
        <p:spPr>
          <a:xfrm>
            <a:off x="6233008" y="1975104"/>
            <a:ext cx="54864" cy="1572768"/>
          </a:xfrm>
          <a:prstGeom prst="rect">
            <a:avLst/>
          </a:prstGeom>
          <a:solidFill>
            <a:srgbClr val="0E7C66"/>
          </a:solidFill>
          <a:ln w="12700">
            <a:solidFill>
              <a:srgbClr val="333333"/>
            </a:solidFill>
            <a:prstDash val="solid"/>
          </a:ln>
        </p:spPr>
      </p:sp>
      <p:sp>
        <p:nvSpPr>
          <p:cNvPr id="13" name="Shape 11"/>
          <p:cNvSpPr/>
          <p:nvPr/>
        </p:nvSpPr>
        <p:spPr>
          <a:xfrm>
            <a:off x="6507328" y="2212848"/>
            <a:ext cx="365760" cy="365760"/>
          </a:xfrm>
          <a:prstGeom prst="ellipse">
            <a:avLst/>
          </a:prstGeom>
          <a:solidFill>
            <a:srgbClr val="0E7C66"/>
          </a:solidFill>
          <a:ln w="12700">
            <a:solidFill>
              <a:srgbClr val="333333"/>
            </a:solidFill>
            <a:prstDash val="solid"/>
          </a:ln>
        </p:spPr>
      </p:sp>
      <p:sp>
        <p:nvSpPr>
          <p:cNvPr id="14" name="Text 12"/>
          <p:cNvSpPr txBox="1"/>
          <p:nvPr/>
        </p:nvSpPr>
        <p:spPr>
          <a:xfrm>
            <a:off x="6507328" y="221284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txBox="1"/>
          <p:nvPr/>
        </p:nvSpPr>
        <p:spPr>
          <a:xfrm>
            <a:off x="7037680" y="2176272"/>
            <a:ext cx="4331056" cy="347472"/>
          </a:xfrm>
          <a:prstGeom prst="rect">
            <a:avLst/>
          </a:prstGeom>
          <a:noFill/>
          <a:ln/>
        </p:spPr>
        <p:txBody>
          <a:bodyPr wrap="square" lIns="0" tIns="0" rIns="0" bIns="0" rtlCol="0" anchor="ctr"/>
          <a:lstStyle/>
          <a:p>
            <a:pPr indent="0" marL="0">
              <a:buNone/>
            </a:pPr>
            <a:r>
              <a:rPr lang="en-US" sz="1700" b="1" dirty="0">
                <a:solidFill>
                  <a:srgbClr val="222834"/>
                </a:solidFill>
                <a:latin typeface="Arial" pitchFamily="34" charset="0"/>
                <a:ea typeface="Arial" pitchFamily="34" charset="-122"/>
                <a:cs typeface="Arial" pitchFamily="34" charset="-120"/>
              </a:rPr>
              <a:t>The AI explains itself, and never gates</a:t>
            </a:r>
            <a:endParaRPr lang="en-US" sz="1700" dirty="0"/>
          </a:p>
        </p:txBody>
      </p:sp>
      <p:sp>
        <p:nvSpPr>
          <p:cNvPr id="16" name="Text 14"/>
          <p:cNvSpPr txBox="1"/>
          <p:nvPr/>
        </p:nvSpPr>
        <p:spPr>
          <a:xfrm>
            <a:off x="7037680" y="2560320"/>
            <a:ext cx="4331056" cy="841248"/>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Each match shows its reasoning in plain language, and no score can block an application. An opaque ranking engine would have cost us trust in week one.</a:t>
            </a:r>
            <a:endParaRPr lang="en-US" sz="1450" dirty="0"/>
          </a:p>
        </p:txBody>
      </p:sp>
      <p:sp>
        <p:nvSpPr>
          <p:cNvPr id="17" name="Shape 15"/>
          <p:cNvSpPr/>
          <p:nvPr/>
        </p:nvSpPr>
        <p:spPr>
          <a:xfrm>
            <a:off x="566928" y="3694176"/>
            <a:ext cx="5391760" cy="1572768"/>
          </a:xfrm>
          <a:prstGeom prst="roundRect">
            <a:avLst>
              <a:gd name="adj" fmla="val 2326"/>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18" name="Shape 16"/>
          <p:cNvSpPr/>
          <p:nvPr/>
        </p:nvSpPr>
        <p:spPr>
          <a:xfrm>
            <a:off x="566928" y="3694176"/>
            <a:ext cx="54864" cy="1572768"/>
          </a:xfrm>
          <a:prstGeom prst="rect">
            <a:avLst/>
          </a:prstGeom>
          <a:solidFill>
            <a:srgbClr val="9E6B12"/>
          </a:solidFill>
          <a:ln w="12700">
            <a:solidFill>
              <a:srgbClr val="333333"/>
            </a:solidFill>
            <a:prstDash val="solid"/>
          </a:ln>
        </p:spPr>
      </p:sp>
      <p:sp>
        <p:nvSpPr>
          <p:cNvPr id="19" name="Shape 17"/>
          <p:cNvSpPr/>
          <p:nvPr/>
        </p:nvSpPr>
        <p:spPr>
          <a:xfrm>
            <a:off x="841248" y="3931920"/>
            <a:ext cx="365760" cy="365760"/>
          </a:xfrm>
          <a:prstGeom prst="ellipse">
            <a:avLst/>
          </a:prstGeom>
          <a:solidFill>
            <a:srgbClr val="9E6B12"/>
          </a:solidFill>
          <a:ln w="12700">
            <a:solidFill>
              <a:srgbClr val="333333"/>
            </a:solidFill>
            <a:prstDash val="solid"/>
          </a:ln>
        </p:spPr>
      </p:sp>
      <p:sp>
        <p:nvSpPr>
          <p:cNvPr id="20" name="Text 18"/>
          <p:cNvSpPr txBox="1"/>
          <p:nvPr/>
        </p:nvSpPr>
        <p:spPr>
          <a:xfrm>
            <a:off x="841248" y="393192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9"/>
          <p:cNvSpPr txBox="1"/>
          <p:nvPr/>
        </p:nvSpPr>
        <p:spPr>
          <a:xfrm>
            <a:off x="1371600" y="3895344"/>
            <a:ext cx="4331056" cy="347472"/>
          </a:xfrm>
          <a:prstGeom prst="rect">
            <a:avLst/>
          </a:prstGeom>
          <a:noFill/>
          <a:ln/>
        </p:spPr>
        <p:txBody>
          <a:bodyPr wrap="square" lIns="0" tIns="0" rIns="0" bIns="0" rtlCol="0" anchor="ctr"/>
          <a:lstStyle/>
          <a:p>
            <a:pPr indent="0" marL="0">
              <a:buNone/>
            </a:pPr>
            <a:r>
              <a:rPr lang="en-US" sz="1700" b="1" dirty="0">
                <a:solidFill>
                  <a:srgbClr val="222834"/>
                </a:solidFill>
                <a:latin typeface="Arial" pitchFamily="34" charset="0"/>
                <a:ea typeface="Arial" pitchFamily="34" charset="-122"/>
                <a:cs typeface="Arial" pitchFamily="34" charset="-120"/>
              </a:rPr>
              <a:t>Skills carry provenance</a:t>
            </a:r>
            <a:endParaRPr lang="en-US" sz="1700" dirty="0"/>
          </a:p>
        </p:txBody>
      </p:sp>
      <p:sp>
        <p:nvSpPr>
          <p:cNvPr id="22" name="Text 20"/>
          <p:cNvSpPr txBox="1"/>
          <p:nvPr/>
        </p:nvSpPr>
        <p:spPr>
          <a:xfrm>
            <a:off x="1371600" y="4279392"/>
            <a:ext cx="4331056" cy="841248"/>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Verified by delivered work, uploaded by HR, or self-declared — and the rubric weights them differently. A claimed skill is never treated as a proven one.</a:t>
            </a:r>
            <a:endParaRPr lang="en-US" sz="1450" dirty="0"/>
          </a:p>
        </p:txBody>
      </p:sp>
      <p:sp>
        <p:nvSpPr>
          <p:cNvPr id="23" name="Shape 21"/>
          <p:cNvSpPr/>
          <p:nvPr/>
        </p:nvSpPr>
        <p:spPr>
          <a:xfrm>
            <a:off x="6233008" y="3694176"/>
            <a:ext cx="5391760" cy="1572768"/>
          </a:xfrm>
          <a:prstGeom prst="roundRect">
            <a:avLst>
              <a:gd name="adj" fmla="val 2326"/>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24" name="Shape 22"/>
          <p:cNvSpPr/>
          <p:nvPr/>
        </p:nvSpPr>
        <p:spPr>
          <a:xfrm>
            <a:off x="6233008" y="3694176"/>
            <a:ext cx="54864" cy="1572768"/>
          </a:xfrm>
          <a:prstGeom prst="rect">
            <a:avLst/>
          </a:prstGeom>
          <a:solidFill>
            <a:srgbClr val="5A6473"/>
          </a:solidFill>
          <a:ln w="12700">
            <a:solidFill>
              <a:srgbClr val="333333"/>
            </a:solidFill>
            <a:prstDash val="solid"/>
          </a:ln>
        </p:spPr>
      </p:sp>
      <p:sp>
        <p:nvSpPr>
          <p:cNvPr id="25" name="Shape 23"/>
          <p:cNvSpPr/>
          <p:nvPr/>
        </p:nvSpPr>
        <p:spPr>
          <a:xfrm>
            <a:off x="6507328" y="3931920"/>
            <a:ext cx="365760" cy="365760"/>
          </a:xfrm>
          <a:prstGeom prst="ellipse">
            <a:avLst/>
          </a:prstGeom>
          <a:solidFill>
            <a:srgbClr val="5A6473"/>
          </a:solidFill>
          <a:ln w="12700">
            <a:solidFill>
              <a:srgbClr val="333333"/>
            </a:solidFill>
            <a:prstDash val="solid"/>
          </a:ln>
        </p:spPr>
      </p:sp>
      <p:sp>
        <p:nvSpPr>
          <p:cNvPr id="26" name="Text 24"/>
          <p:cNvSpPr txBox="1"/>
          <p:nvPr/>
        </p:nvSpPr>
        <p:spPr>
          <a:xfrm>
            <a:off x="6507328" y="393192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7" name="Text 25"/>
          <p:cNvSpPr txBox="1"/>
          <p:nvPr/>
        </p:nvSpPr>
        <p:spPr>
          <a:xfrm>
            <a:off x="7037680" y="3895344"/>
            <a:ext cx="4331056" cy="347472"/>
          </a:xfrm>
          <a:prstGeom prst="rect">
            <a:avLst/>
          </a:prstGeom>
          <a:noFill/>
          <a:ln/>
        </p:spPr>
        <p:txBody>
          <a:bodyPr wrap="square" lIns="0" tIns="0" rIns="0" bIns="0" rtlCol="0" anchor="ctr"/>
          <a:lstStyle/>
          <a:p>
            <a:pPr indent="0" marL="0">
              <a:buNone/>
            </a:pPr>
            <a:r>
              <a:rPr lang="en-US" sz="1700" b="1" dirty="0">
                <a:solidFill>
                  <a:srgbClr val="222834"/>
                </a:solidFill>
                <a:latin typeface="Arial" pitchFamily="34" charset="0"/>
                <a:ea typeface="Arial" pitchFamily="34" charset="-122"/>
                <a:cs typeface="Arial" pitchFamily="34" charset="-120"/>
              </a:rPr>
              <a:t>Built before it was bought</a:t>
            </a:r>
            <a:endParaRPr lang="en-US" sz="1700" dirty="0"/>
          </a:p>
        </p:txBody>
      </p:sp>
      <p:sp>
        <p:nvSpPr>
          <p:cNvPr id="28" name="Text 26"/>
          <p:cNvSpPr txBox="1"/>
          <p:nvPr/>
        </p:nvSpPr>
        <p:spPr>
          <a:xfrm>
            <a:off x="7037680" y="4279392"/>
            <a:ext cx="4331056" cy="841248"/>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A working prototype exists today, made inside Organisational Effectiveness. We are asking you to fund a build you can use in this room, not a slide.</a:t>
            </a:r>
            <a:endParaRPr lang="en-US" sz="1450" dirty="0"/>
          </a:p>
        </p:txBody>
      </p:sp>
      <p:sp>
        <p:nvSpPr>
          <p:cNvPr id="29" name="Shape 27"/>
          <p:cNvSpPr/>
          <p:nvPr/>
        </p:nvSpPr>
        <p:spPr>
          <a:xfrm>
            <a:off x="566928" y="5376672"/>
            <a:ext cx="11057839" cy="914400"/>
          </a:xfrm>
          <a:prstGeom prst="roundRect">
            <a:avLst>
              <a:gd name="adj" fmla="val 4000"/>
            </a:avLst>
          </a:prstGeom>
          <a:solidFill>
            <a:srgbClr val="F6F2EA"/>
          </a:solidFill>
          <a:ln w="12700">
            <a:solidFill>
              <a:srgbClr val="333333"/>
            </a:solidFill>
            <a:prstDash val="solid"/>
          </a:ln>
        </p:spPr>
      </p:sp>
      <p:sp>
        <p:nvSpPr>
          <p:cNvPr id="30" name="Text 28"/>
          <p:cNvSpPr txBox="1"/>
          <p:nvPr/>
        </p:nvSpPr>
        <p:spPr>
          <a:xfrm>
            <a:off x="877824" y="5376672"/>
            <a:ext cx="10436047" cy="914400"/>
          </a:xfrm>
          <a:prstGeom prst="rect">
            <a:avLst/>
          </a:prstGeom>
          <a:noFill/>
          <a:ln/>
        </p:spPr>
        <p:txBody>
          <a:bodyPr wrap="square" lIns="0" tIns="0" rIns="0" bIns="0" rtlCol="0" anchor="ctr"/>
          <a:lstStyle/>
          <a:p>
            <a:pPr indent="0" marL="0">
              <a:lnSpc>
                <a:spcPts val="2100"/>
              </a:lnSpc>
              <a:buNone/>
            </a:pPr>
            <a:r>
              <a:rPr lang="en-US" sz="1500" b="1" dirty="0">
                <a:solidFill>
                  <a:srgbClr val="222834"/>
                </a:solidFill>
                <a:latin typeface="Arial" pitchFamily="34" charset="0"/>
                <a:ea typeface="Arial" pitchFamily="34" charset="-122"/>
                <a:cs typeface="Arial" pitchFamily="34" charset="-120"/>
              </a:rPr>
              <a:t>The first two are the ones that matter. </a:t>
            </a:r>
            <a:pPr indent="0" marL="0">
              <a:lnSpc>
                <a:spcPts val="2100"/>
              </a:lnSpc>
              <a:buNone/>
            </a:pPr>
            <a:r>
              <a:rPr lang="en-US" sz="1500" dirty="0">
                <a:solidFill>
                  <a:srgbClr val="4B5363"/>
                </a:solidFill>
                <a:latin typeface="Arial" pitchFamily="34" charset="0"/>
                <a:ea typeface="Arial" pitchFamily="34" charset="-122"/>
                <a:cs typeface="Arial" pitchFamily="34" charset="-120"/>
              </a:rPr>
              <a:t>A board raises applications and therefore raises rejections, and our data says rejection is what makes people leave.</a:t>
            </a:r>
            <a:endParaRPr lang="en-US" sz="1500" dirty="0"/>
          </a:p>
        </p:txBody>
      </p:sp>
      <p:sp>
        <p:nvSpPr>
          <p:cNvPr id="31" name="Text 29"/>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C00000"/>
          </a:solidFill>
          <a:ln w="12700">
            <a:solidFill>
              <a:srgbClr val="333333"/>
            </a:solidFill>
            <a:prstDash val="solid"/>
          </a:ln>
        </p:spPr>
      </p:sp>
      <p:sp>
        <p:nvSpPr>
          <p:cNvPr id="3" name="Text 1"/>
          <p:cNvSpPr txBox="1"/>
          <p:nvPr/>
        </p:nvSpPr>
        <p:spPr>
          <a:xfrm>
            <a:off x="1051560" y="1335024"/>
            <a:ext cx="7315200" cy="274320"/>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LIVE DEMONSTRATION</a:t>
            </a:r>
            <a:endParaRPr lang="en-US" sz="1400" dirty="0"/>
          </a:p>
        </p:txBody>
      </p:sp>
      <p:sp>
        <p:nvSpPr>
          <p:cNvPr id="4" name="Text 2"/>
          <p:cNvSpPr txBox="1"/>
          <p:nvPr/>
        </p:nvSpPr>
        <p:spPr>
          <a:xfrm>
            <a:off x="1051560" y="1755648"/>
            <a:ext cx="6400800" cy="1554480"/>
          </a:xfrm>
          <a:prstGeom prst="rect">
            <a:avLst/>
          </a:prstGeom>
          <a:noFill/>
          <a:ln/>
        </p:spPr>
        <p:txBody>
          <a:bodyPr wrap="square" lIns="0" tIns="0" rIns="0" bIns="0" rtlCol="0" anchor="t"/>
          <a:lstStyle/>
          <a:p>
            <a:pPr indent="0" marL="0">
              <a:lnSpc>
                <a:spcPts val="5000"/>
              </a:lnSpc>
              <a:buNone/>
            </a:pPr>
            <a:r>
              <a:rPr lang="en-US" sz="4000" b="1" dirty="0">
                <a:solidFill>
                  <a:srgbClr val="222834"/>
                </a:solidFill>
                <a:latin typeface="Arial" pitchFamily="34" charset="0"/>
                <a:ea typeface="Arial" pitchFamily="34" charset="-122"/>
                <a:cs typeface="Arial" pitchFamily="34" charset="-120"/>
              </a:rPr>
              <a:t>Let me show you</a:t>
            </a:r>
            <a:endParaRPr lang="en-US" sz="4000" dirty="0"/>
          </a:p>
          <a:p>
            <a:pPr indent="0" marL="0">
              <a:lnSpc>
                <a:spcPts val="5000"/>
              </a:lnSpc>
              <a:buNone/>
            </a:pPr>
            <a:r>
              <a:rPr lang="en-US" sz="4000" b="1" dirty="0">
                <a:solidFill>
                  <a:srgbClr val="222834"/>
                </a:solidFill>
                <a:latin typeface="Arial" pitchFamily="34" charset="0"/>
                <a:ea typeface="Arial" pitchFamily="34" charset="-122"/>
                <a:cs typeface="Arial" pitchFamily="34" charset="-120"/>
              </a:rPr>
              <a:t>the working product.</a:t>
            </a:r>
            <a:endParaRPr lang="en-US" sz="4000" dirty="0"/>
          </a:p>
        </p:txBody>
      </p:sp>
      <p:sp>
        <p:nvSpPr>
          <p:cNvPr id="5" name="Shape 3"/>
          <p:cNvSpPr/>
          <p:nvPr/>
        </p:nvSpPr>
        <p:spPr>
          <a:xfrm>
            <a:off x="1051560" y="3493008"/>
            <a:ext cx="1371600" cy="54864"/>
          </a:xfrm>
          <a:prstGeom prst="rect">
            <a:avLst/>
          </a:prstGeom>
          <a:solidFill>
            <a:srgbClr val="C00000"/>
          </a:solidFill>
          <a:ln w="12700">
            <a:solidFill>
              <a:srgbClr val="333333"/>
            </a:solidFill>
            <a:prstDash val="solid"/>
          </a:ln>
        </p:spPr>
      </p:sp>
      <p:sp>
        <p:nvSpPr>
          <p:cNvPr id="6" name="Shape 4"/>
          <p:cNvSpPr/>
          <p:nvPr/>
        </p:nvSpPr>
        <p:spPr>
          <a:xfrm>
            <a:off x="1051560" y="3803904"/>
            <a:ext cx="365760" cy="365760"/>
          </a:xfrm>
          <a:prstGeom prst="ellipse">
            <a:avLst/>
          </a:prstGeom>
          <a:solidFill>
            <a:srgbClr val="C00000"/>
          </a:solidFill>
          <a:ln w="12700">
            <a:solidFill>
              <a:srgbClr val="333333"/>
            </a:solidFill>
            <a:prstDash val="solid"/>
          </a:ln>
        </p:spPr>
      </p:sp>
      <p:sp>
        <p:nvSpPr>
          <p:cNvPr id="7" name="Text 5"/>
          <p:cNvSpPr txBox="1"/>
          <p:nvPr/>
        </p:nvSpPr>
        <p:spPr>
          <a:xfrm>
            <a:off x="1051560" y="38039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1572768" y="3803904"/>
            <a:ext cx="5852160" cy="365760"/>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An employee finds a match they never would have seen</a:t>
            </a:r>
            <a:endParaRPr lang="en-US" sz="1600" dirty="0"/>
          </a:p>
        </p:txBody>
      </p:sp>
      <p:sp>
        <p:nvSpPr>
          <p:cNvPr id="9" name="Shape 7"/>
          <p:cNvSpPr/>
          <p:nvPr/>
        </p:nvSpPr>
        <p:spPr>
          <a:xfrm>
            <a:off x="1051560" y="4370832"/>
            <a:ext cx="365760" cy="365760"/>
          </a:xfrm>
          <a:prstGeom prst="ellipse">
            <a:avLst/>
          </a:prstGeom>
          <a:solidFill>
            <a:srgbClr val="C00000"/>
          </a:solidFill>
          <a:ln w="12700">
            <a:solidFill>
              <a:srgbClr val="333333"/>
            </a:solidFill>
            <a:prstDash val="solid"/>
          </a:ln>
        </p:spPr>
      </p:sp>
      <p:sp>
        <p:nvSpPr>
          <p:cNvPr id="10" name="Text 8"/>
          <p:cNvSpPr txBox="1"/>
          <p:nvPr/>
        </p:nvSpPr>
        <p:spPr>
          <a:xfrm>
            <a:off x="1051560" y="437083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1572768" y="4370832"/>
            <a:ext cx="5852160" cy="365760"/>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They add one skill — and the matches change in front of you</a:t>
            </a:r>
            <a:endParaRPr lang="en-US" sz="1600" dirty="0"/>
          </a:p>
        </p:txBody>
      </p:sp>
      <p:sp>
        <p:nvSpPr>
          <p:cNvPr id="12" name="Shape 10"/>
          <p:cNvSpPr/>
          <p:nvPr/>
        </p:nvSpPr>
        <p:spPr>
          <a:xfrm>
            <a:off x="1051560" y="4937760"/>
            <a:ext cx="365760" cy="365760"/>
          </a:xfrm>
          <a:prstGeom prst="ellipse">
            <a:avLst/>
          </a:prstGeom>
          <a:solidFill>
            <a:srgbClr val="C00000"/>
          </a:solidFill>
          <a:ln w="12700">
            <a:solidFill>
              <a:srgbClr val="333333"/>
            </a:solidFill>
            <a:prstDash val="solid"/>
          </a:ln>
        </p:spPr>
      </p:sp>
      <p:sp>
        <p:nvSpPr>
          <p:cNvPr id="13" name="Text 11"/>
          <p:cNvSpPr txBox="1"/>
          <p:nvPr/>
        </p:nvSpPr>
        <p:spPr>
          <a:xfrm>
            <a:off x="1051560" y="493776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2"/>
          <p:cNvSpPr txBox="1"/>
          <p:nvPr/>
        </p:nvSpPr>
        <p:spPr>
          <a:xfrm>
            <a:off x="1572768" y="4937760"/>
            <a:ext cx="5852160" cy="365760"/>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A manager posts a gig; HR approves it; it appears on the shelf</a:t>
            </a:r>
            <a:endParaRPr lang="en-US" sz="1600" dirty="0"/>
          </a:p>
        </p:txBody>
      </p:sp>
      <p:sp>
        <p:nvSpPr>
          <p:cNvPr id="15" name="Shape 13"/>
          <p:cNvSpPr/>
          <p:nvPr/>
        </p:nvSpPr>
        <p:spPr>
          <a:xfrm>
            <a:off x="1051560" y="5504688"/>
            <a:ext cx="365760" cy="365760"/>
          </a:xfrm>
          <a:prstGeom prst="ellipse">
            <a:avLst/>
          </a:prstGeom>
          <a:solidFill>
            <a:srgbClr val="C00000"/>
          </a:solidFill>
          <a:ln w="12700">
            <a:solidFill>
              <a:srgbClr val="333333"/>
            </a:solidFill>
            <a:prstDash val="solid"/>
          </a:ln>
        </p:spPr>
      </p:sp>
      <p:sp>
        <p:nvSpPr>
          <p:cNvPr id="16" name="Text 14"/>
          <p:cNvSpPr txBox="1"/>
          <p:nvPr/>
        </p:nvSpPr>
        <p:spPr>
          <a:xfrm>
            <a:off x="1051560" y="550468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7" name="Text 15"/>
          <p:cNvSpPr txBox="1"/>
          <p:nvPr/>
        </p:nvSpPr>
        <p:spPr>
          <a:xfrm>
            <a:off x="1572768" y="5504688"/>
            <a:ext cx="5852160" cy="365760"/>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Work is closed out — and lands on the employee profile</a:t>
            </a:r>
            <a:endParaRPr lang="en-US" sz="1600" dirty="0"/>
          </a:p>
        </p:txBody>
      </p:sp>
      <p:pic>
        <p:nvPicPr>
          <p:cNvPr id="18" name="Image 0" descr="preencoded.png">    </p:cNvPr>
          <p:cNvPicPr>
            <a:picLocks noChangeAspect="1"/>
          </p:cNvPicPr>
          <p:nvPr/>
        </p:nvPicPr>
        <p:blipFill>
          <a:blip r:embed="rId1"/>
          <a:stretch>
            <a:fillRect/>
          </a:stretch>
        </p:blipFill>
        <p:spPr>
          <a:xfrm>
            <a:off x="7589520" y="1298448"/>
            <a:ext cx="4023360" cy="3145536"/>
          </a:xfrm>
          <a:prstGeom prst="rect">
            <a:avLst/>
          </a:prstGeom>
          <a:effectLst>
            <a:outerShdw sx="100000" sy="100000" kx="0" ky="0" algn="bl" rotWithShape="0" blurRad="152400" dist="25400" dir="5400000">
              <a:srgbClr val="8A7A62">
                <a:alpha val="11000"/>
              </a:srgbClr>
            </a:outerShdw>
          </a:effectLst>
        </p:spPr>
      </p:pic>
      <p:sp>
        <p:nvSpPr>
          <p:cNvPr id="19" name="Text 16"/>
          <p:cNvSpPr txBox="1"/>
          <p:nvPr/>
        </p:nvSpPr>
        <p:spPr>
          <a:xfrm>
            <a:off x="7589520" y="4626864"/>
            <a:ext cx="4023360" cy="640080"/>
          </a:xfrm>
          <a:prstGeom prst="rect">
            <a:avLst/>
          </a:prstGeom>
          <a:noFill/>
          <a:ln/>
        </p:spPr>
        <p:txBody>
          <a:bodyPr wrap="square" lIns="0" tIns="0" rIns="0" bIns="0" rtlCol="0" anchor="t"/>
          <a:lstStyle/>
          <a:p>
            <a:pPr indent="0" marL="0">
              <a:lnSpc>
                <a:spcPts val="2000"/>
              </a:lnSpc>
              <a:buNone/>
            </a:pPr>
            <a:r>
              <a:rPr lang="en-US" sz="1500" dirty="0">
                <a:solidFill>
                  <a:srgbClr val="858D9B"/>
                </a:solidFill>
                <a:latin typeface="Arial" pitchFamily="34" charset="0"/>
                <a:ea typeface="Arial" pitchFamily="34" charset="-122"/>
                <a:cs typeface="Arial" pitchFamily="34" charset="-120"/>
              </a:rPr>
              <a:t>Built and running today. No vendor, no licence, no integration project.</a:t>
            </a:r>
            <a:endParaRPr lang="en-US" sz="1500" dirty="0"/>
          </a:p>
        </p:txBody>
      </p:sp>
      <p:sp>
        <p:nvSpPr>
          <p:cNvPr id="20" name="Text 17"/>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THE FINANCIAL CASE</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Staying at 17% costs us ₱5.3M every year.</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Per year, company-wide, at 336 vacancies a year. Not a three-year total. Net of the backfill each internal move creates.</a:t>
            </a:r>
            <a:endParaRPr lang="en-US" sz="1600" dirty="0"/>
          </a:p>
        </p:txBody>
      </p:sp>
      <p:sp>
        <p:nvSpPr>
          <p:cNvPr id="6" name="Shape 4"/>
          <p:cNvSpPr/>
          <p:nvPr/>
        </p:nvSpPr>
        <p:spPr>
          <a:xfrm>
            <a:off x="6812280" y="1755648"/>
            <a:ext cx="2514600" cy="3163824"/>
          </a:xfrm>
          <a:prstGeom prst="roundRect">
            <a:avLst>
              <a:gd name="adj" fmla="val 1455"/>
            </a:avLst>
          </a:prstGeom>
          <a:solidFill>
            <a:srgbClr val="FDF0F0"/>
          </a:solidFill>
          <a:ln w="12700">
            <a:solidFill>
              <a:srgbClr val="333333"/>
            </a:solidFill>
            <a:prstDash val="solid"/>
          </a:ln>
        </p:spPr>
      </p:sp>
      <p:sp>
        <p:nvSpPr>
          <p:cNvPr id="7" name="Text 5"/>
          <p:cNvSpPr txBox="1"/>
          <p:nvPr/>
        </p:nvSpPr>
        <p:spPr>
          <a:xfrm>
            <a:off x="4526280" y="1828800"/>
            <a:ext cx="2331720" cy="402336"/>
          </a:xfrm>
          <a:prstGeom prst="rect">
            <a:avLst/>
          </a:prstGeom>
          <a:noFill/>
          <a:ln/>
        </p:spPr>
        <p:txBody>
          <a:bodyPr wrap="square" lIns="0" tIns="0" rIns="0" bIns="0" rtlCol="0" anchor="ctr"/>
          <a:lstStyle/>
          <a:p>
            <a:pPr algn="ctr" indent="0" marL="0">
              <a:buNone/>
            </a:pPr>
            <a:r>
              <a:rPr lang="en-US" sz="2600" b="1" dirty="0">
                <a:solidFill>
                  <a:srgbClr val="858D9B"/>
                </a:solidFill>
                <a:latin typeface="Arial" pitchFamily="34" charset="0"/>
                <a:ea typeface="Arial" pitchFamily="34" charset="-122"/>
                <a:cs typeface="Arial" pitchFamily="34" charset="-120"/>
              </a:rPr>
              <a:t>17%</a:t>
            </a:r>
            <a:endParaRPr lang="en-US" sz="2600" dirty="0"/>
          </a:p>
        </p:txBody>
      </p:sp>
      <p:sp>
        <p:nvSpPr>
          <p:cNvPr id="8" name="Text 6"/>
          <p:cNvSpPr txBox="1"/>
          <p:nvPr/>
        </p:nvSpPr>
        <p:spPr>
          <a:xfrm>
            <a:off x="4526280" y="2249424"/>
            <a:ext cx="2331720" cy="237744"/>
          </a:xfrm>
          <a:prstGeom prst="rect">
            <a:avLst/>
          </a:prstGeom>
          <a:noFill/>
          <a:ln/>
        </p:spPr>
        <p:txBody>
          <a:bodyPr wrap="square" lIns="0" tIns="0" rIns="0" bIns="0" rtlCol="0" anchor="ctr"/>
          <a:lstStyle/>
          <a:p>
            <a:pPr algn="ctr" indent="0" marL="0">
              <a:buNone/>
            </a:pPr>
            <a:r>
              <a:rPr lang="en-US" sz="1400" dirty="0">
                <a:solidFill>
                  <a:srgbClr val="858D9B"/>
                </a:solidFill>
                <a:latin typeface="Arial" pitchFamily="34" charset="0"/>
                <a:ea typeface="Arial" pitchFamily="34" charset="-122"/>
                <a:cs typeface="Arial" pitchFamily="34" charset="-120"/>
              </a:rPr>
              <a:t>where we are</a:t>
            </a:r>
            <a:endParaRPr lang="en-US" sz="1400" dirty="0"/>
          </a:p>
        </p:txBody>
      </p:sp>
      <p:sp>
        <p:nvSpPr>
          <p:cNvPr id="9" name="Text 7"/>
          <p:cNvSpPr txBox="1"/>
          <p:nvPr/>
        </p:nvSpPr>
        <p:spPr>
          <a:xfrm>
            <a:off x="6903720" y="1828800"/>
            <a:ext cx="2331720" cy="402336"/>
          </a:xfrm>
          <a:prstGeom prst="rect">
            <a:avLst/>
          </a:prstGeom>
          <a:noFill/>
          <a:ln/>
        </p:spPr>
        <p:txBody>
          <a:bodyPr wrap="square" lIns="0" tIns="0" rIns="0" bIns="0" rtlCol="0" anchor="ctr"/>
          <a:lstStyle/>
          <a:p>
            <a:pPr algn="ctr" indent="0" marL="0">
              <a:buNone/>
            </a:pPr>
            <a:r>
              <a:rPr lang="en-US" sz="2600" b="1" dirty="0">
                <a:solidFill>
                  <a:srgbClr val="C00000"/>
                </a:solidFill>
                <a:latin typeface="Arial" pitchFamily="34" charset="0"/>
                <a:ea typeface="Arial" pitchFamily="34" charset="-122"/>
                <a:cs typeface="Arial" pitchFamily="34" charset="-120"/>
              </a:rPr>
              <a:t>30%</a:t>
            </a:r>
            <a:endParaRPr lang="en-US" sz="2600" dirty="0"/>
          </a:p>
        </p:txBody>
      </p:sp>
      <p:sp>
        <p:nvSpPr>
          <p:cNvPr id="10" name="Text 8"/>
          <p:cNvSpPr txBox="1"/>
          <p:nvPr/>
        </p:nvSpPr>
        <p:spPr>
          <a:xfrm>
            <a:off x="6903720" y="2249424"/>
            <a:ext cx="2331720" cy="237744"/>
          </a:xfrm>
          <a:prstGeom prst="rect">
            <a:avLst/>
          </a:prstGeom>
          <a:noFill/>
          <a:ln/>
        </p:spPr>
        <p:txBody>
          <a:bodyPr wrap="square" lIns="0" tIns="0" rIns="0" bIns="0" rtlCol="0" anchor="ctr"/>
          <a:lstStyle/>
          <a:p>
            <a:pPr algn="ctr" indent="0" marL="0">
              <a:buNone/>
            </a:pPr>
            <a:r>
              <a:rPr lang="en-US" sz="1400" dirty="0">
                <a:solidFill>
                  <a:srgbClr val="858D9B"/>
                </a:solidFill>
                <a:latin typeface="Arial" pitchFamily="34" charset="0"/>
                <a:ea typeface="Arial" pitchFamily="34" charset="-122"/>
                <a:cs typeface="Arial" pitchFamily="34" charset="-120"/>
              </a:rPr>
              <a:t>the benchmark</a:t>
            </a:r>
            <a:endParaRPr lang="en-US" sz="1400" dirty="0"/>
          </a:p>
        </p:txBody>
      </p:sp>
      <p:sp>
        <p:nvSpPr>
          <p:cNvPr id="11" name="Text 9"/>
          <p:cNvSpPr txBox="1"/>
          <p:nvPr/>
        </p:nvSpPr>
        <p:spPr>
          <a:xfrm>
            <a:off x="9281160" y="1828800"/>
            <a:ext cx="2331720" cy="402336"/>
          </a:xfrm>
          <a:prstGeom prst="rect">
            <a:avLst/>
          </a:prstGeom>
          <a:noFill/>
          <a:ln/>
        </p:spPr>
        <p:txBody>
          <a:bodyPr wrap="square" lIns="0" tIns="0" rIns="0" bIns="0" rtlCol="0" anchor="ctr"/>
          <a:lstStyle/>
          <a:p>
            <a:pPr algn="ctr" indent="0" marL="0">
              <a:buNone/>
            </a:pPr>
            <a:r>
              <a:rPr lang="en-US" sz="2600" b="1" dirty="0">
                <a:solidFill>
                  <a:srgbClr val="0E7C66"/>
                </a:solidFill>
                <a:latin typeface="Arial" pitchFamily="34" charset="0"/>
                <a:ea typeface="Arial" pitchFamily="34" charset="-122"/>
                <a:cs typeface="Arial" pitchFamily="34" charset="-120"/>
              </a:rPr>
              <a:t>50%</a:t>
            </a:r>
            <a:endParaRPr lang="en-US" sz="2600" dirty="0"/>
          </a:p>
        </p:txBody>
      </p:sp>
      <p:sp>
        <p:nvSpPr>
          <p:cNvPr id="12" name="Text 10"/>
          <p:cNvSpPr txBox="1"/>
          <p:nvPr/>
        </p:nvSpPr>
        <p:spPr>
          <a:xfrm>
            <a:off x="9281160" y="2249424"/>
            <a:ext cx="2331720" cy="237744"/>
          </a:xfrm>
          <a:prstGeom prst="rect">
            <a:avLst/>
          </a:prstGeom>
          <a:noFill/>
          <a:ln/>
        </p:spPr>
        <p:txBody>
          <a:bodyPr wrap="square" lIns="0" tIns="0" rIns="0" bIns="0" rtlCol="0" anchor="ctr"/>
          <a:lstStyle/>
          <a:p>
            <a:pPr algn="ctr" indent="0" marL="0">
              <a:buNone/>
            </a:pPr>
            <a:r>
              <a:rPr lang="en-US" sz="1400" dirty="0">
                <a:solidFill>
                  <a:srgbClr val="858D9B"/>
                </a:solidFill>
                <a:latin typeface="Arial" pitchFamily="34" charset="0"/>
                <a:ea typeface="Arial" pitchFamily="34" charset="-122"/>
                <a:cs typeface="Arial" pitchFamily="34" charset="-120"/>
              </a:rPr>
              <a:t>mature marketplaces</a:t>
            </a:r>
            <a:endParaRPr lang="en-US" sz="1400" dirty="0"/>
          </a:p>
        </p:txBody>
      </p:sp>
      <p:sp>
        <p:nvSpPr>
          <p:cNvPr id="13" name="Text 11"/>
          <p:cNvSpPr txBox="1"/>
          <p:nvPr/>
        </p:nvSpPr>
        <p:spPr>
          <a:xfrm>
            <a:off x="603504" y="2670048"/>
            <a:ext cx="3749040" cy="512064"/>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Internal fills, a year</a:t>
            </a:r>
            <a:endParaRPr lang="en-US" sz="1600" dirty="0"/>
          </a:p>
        </p:txBody>
      </p:sp>
      <p:sp>
        <p:nvSpPr>
          <p:cNvPr id="14" name="Text 12"/>
          <p:cNvSpPr txBox="1"/>
          <p:nvPr/>
        </p:nvSpPr>
        <p:spPr>
          <a:xfrm>
            <a:off x="4526280" y="2670048"/>
            <a:ext cx="2331720" cy="512064"/>
          </a:xfrm>
          <a:prstGeom prst="rect">
            <a:avLst/>
          </a:prstGeom>
          <a:noFill/>
          <a:ln/>
        </p:spPr>
        <p:txBody>
          <a:bodyPr wrap="square" lIns="0" tIns="0" rIns="0" bIns="0" rtlCol="0" anchor="ctr"/>
          <a:lstStyle/>
          <a:p>
            <a:pPr algn="ctr" indent="0" marL="0">
              <a:buNone/>
            </a:pPr>
            <a:r>
              <a:rPr lang="en-US" sz="1700" dirty="0">
                <a:solidFill>
                  <a:srgbClr val="858D9B"/>
                </a:solidFill>
                <a:latin typeface="Arial" pitchFamily="34" charset="0"/>
                <a:ea typeface="Arial" pitchFamily="34" charset="-122"/>
                <a:cs typeface="Arial" pitchFamily="34" charset="-120"/>
              </a:rPr>
              <a:t>57</a:t>
            </a:r>
            <a:endParaRPr lang="en-US" sz="1700" dirty="0"/>
          </a:p>
        </p:txBody>
      </p:sp>
      <p:sp>
        <p:nvSpPr>
          <p:cNvPr id="15" name="Text 13"/>
          <p:cNvSpPr txBox="1"/>
          <p:nvPr/>
        </p:nvSpPr>
        <p:spPr>
          <a:xfrm>
            <a:off x="6903720" y="2670048"/>
            <a:ext cx="2331720" cy="512064"/>
          </a:xfrm>
          <a:prstGeom prst="rect">
            <a:avLst/>
          </a:prstGeom>
          <a:noFill/>
          <a:ln/>
        </p:spPr>
        <p:txBody>
          <a:bodyPr wrap="square" lIns="0" tIns="0" rIns="0" bIns="0" rtlCol="0" anchor="ctr"/>
          <a:lstStyle/>
          <a:p>
            <a:pPr algn="ctr" indent="0" marL="0">
              <a:buNone/>
            </a:pPr>
            <a:r>
              <a:rPr lang="en-US" sz="1700" b="1" dirty="0">
                <a:solidFill>
                  <a:srgbClr val="222834"/>
                </a:solidFill>
                <a:latin typeface="Arial" pitchFamily="34" charset="0"/>
                <a:ea typeface="Arial" pitchFamily="34" charset="-122"/>
                <a:cs typeface="Arial" pitchFamily="34" charset="-120"/>
              </a:rPr>
              <a:t>101</a:t>
            </a:r>
            <a:endParaRPr lang="en-US" sz="1700" dirty="0"/>
          </a:p>
        </p:txBody>
      </p:sp>
      <p:sp>
        <p:nvSpPr>
          <p:cNvPr id="16" name="Text 14"/>
          <p:cNvSpPr txBox="1"/>
          <p:nvPr/>
        </p:nvSpPr>
        <p:spPr>
          <a:xfrm>
            <a:off x="9281160" y="2670048"/>
            <a:ext cx="2331720" cy="512064"/>
          </a:xfrm>
          <a:prstGeom prst="rect">
            <a:avLst/>
          </a:prstGeom>
          <a:noFill/>
          <a:ln/>
        </p:spPr>
        <p:txBody>
          <a:bodyPr wrap="square" lIns="0" tIns="0" rIns="0" bIns="0" rtlCol="0" anchor="ctr"/>
          <a:lstStyle/>
          <a:p>
            <a:pPr algn="ctr" indent="0" marL="0">
              <a:buNone/>
            </a:pPr>
            <a:r>
              <a:rPr lang="en-US" sz="1700" dirty="0">
                <a:solidFill>
                  <a:srgbClr val="222834"/>
                </a:solidFill>
                <a:latin typeface="Arial" pitchFamily="34" charset="0"/>
                <a:ea typeface="Arial" pitchFamily="34" charset="-122"/>
                <a:cs typeface="Arial" pitchFamily="34" charset="-120"/>
              </a:rPr>
              <a:t>168</a:t>
            </a:r>
            <a:endParaRPr lang="en-US" sz="1700" dirty="0"/>
          </a:p>
        </p:txBody>
      </p:sp>
      <p:sp>
        <p:nvSpPr>
          <p:cNvPr id="17" name="Shape 15"/>
          <p:cNvSpPr/>
          <p:nvPr/>
        </p:nvSpPr>
        <p:spPr>
          <a:xfrm>
            <a:off x="566928" y="3200400"/>
            <a:ext cx="11057839" cy="0"/>
          </a:xfrm>
          <a:prstGeom prst="line">
            <a:avLst/>
          </a:prstGeom>
          <a:noFill/>
          <a:ln w="12700">
            <a:solidFill>
              <a:srgbClr val="E7E1D7"/>
            </a:solidFill>
            <a:prstDash val="solid"/>
          </a:ln>
        </p:spPr>
      </p:sp>
      <p:sp>
        <p:nvSpPr>
          <p:cNvPr id="18" name="Text 16"/>
          <p:cNvSpPr txBox="1"/>
          <p:nvPr/>
        </p:nvSpPr>
        <p:spPr>
          <a:xfrm>
            <a:off x="603504" y="3236976"/>
            <a:ext cx="3749040" cy="512064"/>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Hiring cost avoided, a year</a:t>
            </a:r>
            <a:endParaRPr lang="en-US" sz="1600" dirty="0"/>
          </a:p>
        </p:txBody>
      </p:sp>
      <p:sp>
        <p:nvSpPr>
          <p:cNvPr id="19" name="Text 17"/>
          <p:cNvSpPr txBox="1"/>
          <p:nvPr/>
        </p:nvSpPr>
        <p:spPr>
          <a:xfrm>
            <a:off x="4526280" y="3236976"/>
            <a:ext cx="2331720" cy="512064"/>
          </a:xfrm>
          <a:prstGeom prst="rect">
            <a:avLst/>
          </a:prstGeom>
          <a:noFill/>
          <a:ln/>
        </p:spPr>
        <p:txBody>
          <a:bodyPr wrap="square" lIns="0" tIns="0" rIns="0" bIns="0" rtlCol="0" anchor="ctr"/>
          <a:lstStyle/>
          <a:p>
            <a:pPr algn="ctr" indent="0" marL="0">
              <a:buNone/>
            </a:pPr>
            <a:r>
              <a:rPr lang="en-US" sz="1700" dirty="0">
                <a:solidFill>
                  <a:srgbClr val="858D9B"/>
                </a:solidFill>
                <a:latin typeface="Arial" pitchFamily="34" charset="0"/>
                <a:ea typeface="Arial" pitchFamily="34" charset="-122"/>
                <a:cs typeface="Arial" pitchFamily="34" charset="-120"/>
              </a:rPr>
              <a:t>—</a:t>
            </a:r>
            <a:endParaRPr lang="en-US" sz="1700" dirty="0"/>
          </a:p>
        </p:txBody>
      </p:sp>
      <p:sp>
        <p:nvSpPr>
          <p:cNvPr id="20" name="Text 18"/>
          <p:cNvSpPr txBox="1"/>
          <p:nvPr/>
        </p:nvSpPr>
        <p:spPr>
          <a:xfrm>
            <a:off x="6903720" y="3236976"/>
            <a:ext cx="2331720" cy="512064"/>
          </a:xfrm>
          <a:prstGeom prst="rect">
            <a:avLst/>
          </a:prstGeom>
          <a:noFill/>
          <a:ln/>
        </p:spPr>
        <p:txBody>
          <a:bodyPr wrap="square" lIns="0" tIns="0" rIns="0" bIns="0" rtlCol="0" anchor="ctr"/>
          <a:lstStyle/>
          <a:p>
            <a:pPr algn="ctr" indent="0" marL="0">
              <a:buNone/>
            </a:pPr>
            <a:r>
              <a:rPr lang="en-US" sz="1700" b="1" dirty="0">
                <a:solidFill>
                  <a:srgbClr val="222834"/>
                </a:solidFill>
                <a:latin typeface="Arial" pitchFamily="34" charset="0"/>
                <a:ea typeface="Arial" pitchFamily="34" charset="-122"/>
                <a:cs typeface="Arial" pitchFamily="34" charset="-120"/>
              </a:rPr>
              <a:t>₱0.35M</a:t>
            </a:r>
            <a:endParaRPr lang="en-US" sz="1700" dirty="0"/>
          </a:p>
        </p:txBody>
      </p:sp>
      <p:sp>
        <p:nvSpPr>
          <p:cNvPr id="21" name="Text 19"/>
          <p:cNvSpPr txBox="1"/>
          <p:nvPr/>
        </p:nvSpPr>
        <p:spPr>
          <a:xfrm>
            <a:off x="9281160" y="3236976"/>
            <a:ext cx="2331720" cy="512064"/>
          </a:xfrm>
          <a:prstGeom prst="rect">
            <a:avLst/>
          </a:prstGeom>
          <a:noFill/>
          <a:ln/>
        </p:spPr>
        <p:txBody>
          <a:bodyPr wrap="square" lIns="0" tIns="0" rIns="0" bIns="0" rtlCol="0" anchor="ctr"/>
          <a:lstStyle/>
          <a:p>
            <a:pPr algn="ctr" indent="0" marL="0">
              <a:buNone/>
            </a:pPr>
            <a:r>
              <a:rPr lang="en-US" sz="1700" dirty="0">
                <a:solidFill>
                  <a:srgbClr val="222834"/>
                </a:solidFill>
                <a:latin typeface="Arial" pitchFamily="34" charset="0"/>
                <a:ea typeface="Arial" pitchFamily="34" charset="-122"/>
                <a:cs typeface="Arial" pitchFamily="34" charset="-120"/>
              </a:rPr>
              <a:t>₱0.88M</a:t>
            </a:r>
            <a:endParaRPr lang="en-US" sz="1700" dirty="0"/>
          </a:p>
        </p:txBody>
      </p:sp>
      <p:sp>
        <p:nvSpPr>
          <p:cNvPr id="22" name="Shape 20"/>
          <p:cNvSpPr/>
          <p:nvPr/>
        </p:nvSpPr>
        <p:spPr>
          <a:xfrm>
            <a:off x="566928" y="3767328"/>
            <a:ext cx="11057839" cy="0"/>
          </a:xfrm>
          <a:prstGeom prst="line">
            <a:avLst/>
          </a:prstGeom>
          <a:noFill/>
          <a:ln w="12700">
            <a:solidFill>
              <a:srgbClr val="E7E1D7"/>
            </a:solidFill>
            <a:prstDash val="solid"/>
          </a:ln>
        </p:spPr>
      </p:sp>
      <p:sp>
        <p:nvSpPr>
          <p:cNvPr id="23" name="Text 21"/>
          <p:cNvSpPr txBox="1"/>
          <p:nvPr/>
        </p:nvSpPr>
        <p:spPr>
          <a:xfrm>
            <a:off x="603504" y="3803904"/>
            <a:ext cx="3749040" cy="512064"/>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Vacancy days saved, a year</a:t>
            </a:r>
            <a:endParaRPr lang="en-US" sz="1600" dirty="0"/>
          </a:p>
        </p:txBody>
      </p:sp>
      <p:sp>
        <p:nvSpPr>
          <p:cNvPr id="24" name="Text 22"/>
          <p:cNvSpPr txBox="1"/>
          <p:nvPr/>
        </p:nvSpPr>
        <p:spPr>
          <a:xfrm>
            <a:off x="4526280" y="3803904"/>
            <a:ext cx="2331720" cy="512064"/>
          </a:xfrm>
          <a:prstGeom prst="rect">
            <a:avLst/>
          </a:prstGeom>
          <a:noFill/>
          <a:ln/>
        </p:spPr>
        <p:txBody>
          <a:bodyPr wrap="square" lIns="0" tIns="0" rIns="0" bIns="0" rtlCol="0" anchor="ctr"/>
          <a:lstStyle/>
          <a:p>
            <a:pPr algn="ctr" indent="0" marL="0">
              <a:buNone/>
            </a:pPr>
            <a:r>
              <a:rPr lang="en-US" sz="1700" dirty="0">
                <a:solidFill>
                  <a:srgbClr val="858D9B"/>
                </a:solidFill>
                <a:latin typeface="Arial" pitchFamily="34" charset="0"/>
                <a:ea typeface="Arial" pitchFamily="34" charset="-122"/>
                <a:cs typeface="Arial" pitchFamily="34" charset="-120"/>
              </a:rPr>
              <a:t>—</a:t>
            </a:r>
            <a:endParaRPr lang="en-US" sz="1700" dirty="0"/>
          </a:p>
        </p:txBody>
      </p:sp>
      <p:sp>
        <p:nvSpPr>
          <p:cNvPr id="25" name="Text 23"/>
          <p:cNvSpPr txBox="1"/>
          <p:nvPr/>
        </p:nvSpPr>
        <p:spPr>
          <a:xfrm>
            <a:off x="6903720" y="3803904"/>
            <a:ext cx="2331720" cy="512064"/>
          </a:xfrm>
          <a:prstGeom prst="rect">
            <a:avLst/>
          </a:prstGeom>
          <a:noFill/>
          <a:ln/>
        </p:spPr>
        <p:txBody>
          <a:bodyPr wrap="square" lIns="0" tIns="0" rIns="0" bIns="0" rtlCol="0" anchor="ctr"/>
          <a:lstStyle/>
          <a:p>
            <a:pPr algn="ctr" indent="0" marL="0">
              <a:buNone/>
            </a:pPr>
            <a:r>
              <a:rPr lang="en-US" sz="1700" b="1" dirty="0">
                <a:solidFill>
                  <a:srgbClr val="222834"/>
                </a:solidFill>
                <a:latin typeface="Arial" pitchFamily="34" charset="0"/>
                <a:ea typeface="Arial" pitchFamily="34" charset="-122"/>
                <a:cs typeface="Arial" pitchFamily="34" charset="-120"/>
              </a:rPr>
              <a:t>₱1.57M</a:t>
            </a:r>
            <a:endParaRPr lang="en-US" sz="1700" dirty="0"/>
          </a:p>
        </p:txBody>
      </p:sp>
      <p:sp>
        <p:nvSpPr>
          <p:cNvPr id="26" name="Text 24"/>
          <p:cNvSpPr txBox="1"/>
          <p:nvPr/>
        </p:nvSpPr>
        <p:spPr>
          <a:xfrm>
            <a:off x="9281160" y="3803904"/>
            <a:ext cx="2331720" cy="512064"/>
          </a:xfrm>
          <a:prstGeom prst="rect">
            <a:avLst/>
          </a:prstGeom>
          <a:noFill/>
          <a:ln/>
        </p:spPr>
        <p:txBody>
          <a:bodyPr wrap="square" lIns="0" tIns="0" rIns="0" bIns="0" rtlCol="0" anchor="ctr"/>
          <a:lstStyle/>
          <a:p>
            <a:pPr algn="ctr" indent="0" marL="0">
              <a:buNone/>
            </a:pPr>
            <a:r>
              <a:rPr lang="en-US" sz="1700" dirty="0">
                <a:solidFill>
                  <a:srgbClr val="222834"/>
                </a:solidFill>
                <a:latin typeface="Arial" pitchFamily="34" charset="0"/>
                <a:ea typeface="Arial" pitchFamily="34" charset="-122"/>
                <a:cs typeface="Arial" pitchFamily="34" charset="-120"/>
              </a:rPr>
              <a:t>₱3.97M</a:t>
            </a:r>
            <a:endParaRPr lang="en-US" sz="1700" dirty="0"/>
          </a:p>
        </p:txBody>
      </p:sp>
      <p:sp>
        <p:nvSpPr>
          <p:cNvPr id="27" name="Shape 25"/>
          <p:cNvSpPr/>
          <p:nvPr/>
        </p:nvSpPr>
        <p:spPr>
          <a:xfrm>
            <a:off x="566928" y="4334256"/>
            <a:ext cx="11057839" cy="0"/>
          </a:xfrm>
          <a:prstGeom prst="line">
            <a:avLst/>
          </a:prstGeom>
          <a:noFill/>
          <a:ln w="12700">
            <a:solidFill>
              <a:srgbClr val="E7E1D7"/>
            </a:solidFill>
            <a:prstDash val="solid"/>
          </a:ln>
        </p:spPr>
      </p:sp>
      <p:sp>
        <p:nvSpPr>
          <p:cNvPr id="28" name="Text 26"/>
          <p:cNvSpPr txBox="1"/>
          <p:nvPr/>
        </p:nvSpPr>
        <p:spPr>
          <a:xfrm>
            <a:off x="603504" y="4370832"/>
            <a:ext cx="3749040" cy="512064"/>
          </a:xfrm>
          <a:prstGeom prst="rect">
            <a:avLst/>
          </a:prstGeom>
          <a:noFill/>
          <a:ln/>
        </p:spPr>
        <p:txBody>
          <a:bodyPr wrap="square" lIns="0" tIns="0" rIns="0" bIns="0" rtlCol="0" anchor="ctr"/>
          <a:lstStyle/>
          <a:p>
            <a:pPr indent="0" marL="0">
              <a:buNone/>
            </a:pPr>
            <a:r>
              <a:rPr lang="en-US" sz="1600" dirty="0">
                <a:solidFill>
                  <a:srgbClr val="4B5363"/>
                </a:solidFill>
                <a:latin typeface="Arial" pitchFamily="34" charset="0"/>
                <a:ea typeface="Arial" pitchFamily="34" charset="-122"/>
                <a:cs typeface="Arial" pitchFamily="34" charset="-120"/>
              </a:rPr>
              <a:t>Turnover avoided, a year</a:t>
            </a:r>
            <a:endParaRPr lang="en-US" sz="1600" dirty="0"/>
          </a:p>
        </p:txBody>
      </p:sp>
      <p:sp>
        <p:nvSpPr>
          <p:cNvPr id="29" name="Text 27"/>
          <p:cNvSpPr txBox="1"/>
          <p:nvPr/>
        </p:nvSpPr>
        <p:spPr>
          <a:xfrm>
            <a:off x="4526280" y="4370832"/>
            <a:ext cx="2331720" cy="512064"/>
          </a:xfrm>
          <a:prstGeom prst="rect">
            <a:avLst/>
          </a:prstGeom>
          <a:noFill/>
          <a:ln/>
        </p:spPr>
        <p:txBody>
          <a:bodyPr wrap="square" lIns="0" tIns="0" rIns="0" bIns="0" rtlCol="0" anchor="ctr"/>
          <a:lstStyle/>
          <a:p>
            <a:pPr algn="ctr" indent="0" marL="0">
              <a:buNone/>
            </a:pPr>
            <a:r>
              <a:rPr lang="en-US" sz="1700" dirty="0">
                <a:solidFill>
                  <a:srgbClr val="858D9B"/>
                </a:solidFill>
                <a:latin typeface="Arial" pitchFamily="34" charset="0"/>
                <a:ea typeface="Arial" pitchFamily="34" charset="-122"/>
                <a:cs typeface="Arial" pitchFamily="34" charset="-120"/>
              </a:rPr>
              <a:t>—</a:t>
            </a:r>
            <a:endParaRPr lang="en-US" sz="1700" dirty="0"/>
          </a:p>
        </p:txBody>
      </p:sp>
      <p:sp>
        <p:nvSpPr>
          <p:cNvPr id="30" name="Text 28"/>
          <p:cNvSpPr txBox="1"/>
          <p:nvPr/>
        </p:nvSpPr>
        <p:spPr>
          <a:xfrm>
            <a:off x="6903720" y="4370832"/>
            <a:ext cx="2331720" cy="512064"/>
          </a:xfrm>
          <a:prstGeom prst="rect">
            <a:avLst/>
          </a:prstGeom>
          <a:noFill/>
          <a:ln/>
        </p:spPr>
        <p:txBody>
          <a:bodyPr wrap="square" lIns="0" tIns="0" rIns="0" bIns="0" rtlCol="0" anchor="ctr"/>
          <a:lstStyle/>
          <a:p>
            <a:pPr algn="ctr" indent="0" marL="0">
              <a:buNone/>
            </a:pPr>
            <a:r>
              <a:rPr lang="en-US" sz="1700" b="1" dirty="0">
                <a:solidFill>
                  <a:srgbClr val="222834"/>
                </a:solidFill>
                <a:latin typeface="Arial" pitchFamily="34" charset="0"/>
                <a:ea typeface="Arial" pitchFamily="34" charset="-122"/>
                <a:cs typeface="Arial" pitchFamily="34" charset="-120"/>
              </a:rPr>
              <a:t>₱3.36M</a:t>
            </a:r>
            <a:endParaRPr lang="en-US" sz="1700" dirty="0"/>
          </a:p>
        </p:txBody>
      </p:sp>
      <p:sp>
        <p:nvSpPr>
          <p:cNvPr id="31" name="Text 29"/>
          <p:cNvSpPr txBox="1"/>
          <p:nvPr/>
        </p:nvSpPr>
        <p:spPr>
          <a:xfrm>
            <a:off x="9281160" y="4370832"/>
            <a:ext cx="2331720" cy="512064"/>
          </a:xfrm>
          <a:prstGeom prst="rect">
            <a:avLst/>
          </a:prstGeom>
          <a:noFill/>
          <a:ln/>
        </p:spPr>
        <p:txBody>
          <a:bodyPr wrap="square" lIns="0" tIns="0" rIns="0" bIns="0" rtlCol="0" anchor="ctr"/>
          <a:lstStyle/>
          <a:p>
            <a:pPr algn="ctr" indent="0" marL="0">
              <a:buNone/>
            </a:pPr>
            <a:r>
              <a:rPr lang="en-US" sz="1700" dirty="0">
                <a:solidFill>
                  <a:srgbClr val="222834"/>
                </a:solidFill>
                <a:latin typeface="Arial" pitchFamily="34" charset="0"/>
                <a:ea typeface="Arial" pitchFamily="34" charset="-122"/>
                <a:cs typeface="Arial" pitchFamily="34" charset="-120"/>
              </a:rPr>
              <a:t>₱8.49M</a:t>
            </a:r>
            <a:endParaRPr lang="en-US" sz="1700" dirty="0"/>
          </a:p>
        </p:txBody>
      </p:sp>
      <p:sp>
        <p:nvSpPr>
          <p:cNvPr id="32" name="Shape 30"/>
          <p:cNvSpPr/>
          <p:nvPr/>
        </p:nvSpPr>
        <p:spPr>
          <a:xfrm>
            <a:off x="566928" y="4992624"/>
            <a:ext cx="11057839" cy="658368"/>
          </a:xfrm>
          <a:prstGeom prst="roundRect">
            <a:avLst>
              <a:gd name="adj" fmla="val 5556"/>
            </a:avLst>
          </a:prstGeom>
          <a:solidFill>
            <a:srgbClr val="C00000"/>
          </a:solidFill>
          <a:ln w="12700">
            <a:solidFill>
              <a:srgbClr val="333333"/>
            </a:solidFill>
            <a:prstDash val="solid"/>
          </a:ln>
        </p:spPr>
      </p:sp>
      <p:sp>
        <p:nvSpPr>
          <p:cNvPr id="33" name="Text 31"/>
          <p:cNvSpPr txBox="1"/>
          <p:nvPr/>
        </p:nvSpPr>
        <p:spPr>
          <a:xfrm>
            <a:off x="841248" y="4992624"/>
            <a:ext cx="3749040" cy="658368"/>
          </a:xfrm>
          <a:prstGeom prst="rect">
            <a:avLst/>
          </a:prstGeom>
          <a:noFill/>
          <a:ln/>
        </p:spPr>
        <p:txBody>
          <a:bodyPr wrap="square" lIns="0" tIns="0" rIns="0" bIns="0" rtlCol="0" anchor="ctr"/>
          <a:lstStyle/>
          <a:p>
            <a:pPr indent="0" marL="0">
              <a:buNone/>
            </a:pPr>
            <a:r>
              <a:rPr lang="en-US" sz="1500" b="1" spc="80" kern="0" dirty="0">
                <a:solidFill>
                  <a:srgbClr val="FFFFFF"/>
                </a:solidFill>
                <a:latin typeface="Arial" pitchFamily="34" charset="0"/>
                <a:ea typeface="Arial" pitchFamily="34" charset="-122"/>
                <a:cs typeface="Arial" pitchFamily="34" charset="-120"/>
              </a:rPr>
              <a:t>VALUE WE FORGO EVERY YEAR</a:t>
            </a:r>
            <a:endParaRPr lang="en-US" sz="1500" dirty="0"/>
          </a:p>
        </p:txBody>
      </p:sp>
      <p:sp>
        <p:nvSpPr>
          <p:cNvPr id="34" name="Text 32"/>
          <p:cNvSpPr txBox="1"/>
          <p:nvPr/>
        </p:nvSpPr>
        <p:spPr>
          <a:xfrm>
            <a:off x="4526280" y="4992624"/>
            <a:ext cx="2331720" cy="658368"/>
          </a:xfrm>
          <a:prstGeom prst="rect">
            <a:avLst/>
          </a:prstGeom>
          <a:noFill/>
          <a:ln/>
        </p:spPr>
        <p:txBody>
          <a:bodyPr wrap="square" lIns="0" tIns="0" rIns="0" bIns="0" rtlCol="0" anchor="ctr"/>
          <a:lstStyle/>
          <a:p>
            <a:pPr algn="ctr" indent="0" marL="0">
              <a:buNone/>
            </a:pPr>
            <a:r>
              <a:rPr lang="en-US" sz="1800" b="1" dirty="0">
                <a:solidFill>
                  <a:srgbClr val="F0C2C2"/>
                </a:solidFill>
                <a:latin typeface="Arial" pitchFamily="34" charset="0"/>
                <a:ea typeface="Arial" pitchFamily="34" charset="-122"/>
                <a:cs typeface="Arial" pitchFamily="34" charset="-120"/>
              </a:rPr>
              <a:t>baseline</a:t>
            </a:r>
            <a:endParaRPr lang="en-US" sz="1800" dirty="0"/>
          </a:p>
        </p:txBody>
      </p:sp>
      <p:sp>
        <p:nvSpPr>
          <p:cNvPr id="35" name="Text 33"/>
          <p:cNvSpPr txBox="1"/>
          <p:nvPr/>
        </p:nvSpPr>
        <p:spPr>
          <a:xfrm>
            <a:off x="6903720" y="4992624"/>
            <a:ext cx="2331720"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₱5.29M</a:t>
            </a:r>
            <a:endParaRPr lang="en-US" sz="2200" dirty="0"/>
          </a:p>
        </p:txBody>
      </p:sp>
      <p:sp>
        <p:nvSpPr>
          <p:cNvPr id="36" name="Text 34"/>
          <p:cNvSpPr txBox="1"/>
          <p:nvPr/>
        </p:nvSpPr>
        <p:spPr>
          <a:xfrm>
            <a:off x="9281160" y="4992624"/>
            <a:ext cx="2331720"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₱13.34M</a:t>
            </a:r>
            <a:endParaRPr lang="en-US" sz="2200" dirty="0"/>
          </a:p>
        </p:txBody>
      </p:sp>
      <p:sp>
        <p:nvSpPr>
          <p:cNvPr id="37" name="Shape 35"/>
          <p:cNvSpPr/>
          <p:nvPr/>
        </p:nvSpPr>
        <p:spPr>
          <a:xfrm>
            <a:off x="566928" y="5760720"/>
            <a:ext cx="11057839" cy="566928"/>
          </a:xfrm>
          <a:prstGeom prst="roundRect">
            <a:avLst>
              <a:gd name="adj" fmla="val 6452"/>
            </a:avLst>
          </a:prstGeom>
          <a:solidFill>
            <a:srgbClr val="F6F2EA"/>
          </a:solidFill>
          <a:ln w="12700">
            <a:solidFill>
              <a:srgbClr val="333333"/>
            </a:solidFill>
            <a:prstDash val="solid"/>
          </a:ln>
        </p:spPr>
      </p:sp>
      <p:sp>
        <p:nvSpPr>
          <p:cNvPr id="38" name="Text 36"/>
          <p:cNvSpPr txBox="1"/>
          <p:nvPr/>
        </p:nvSpPr>
        <p:spPr>
          <a:xfrm>
            <a:off x="841248" y="5760720"/>
            <a:ext cx="10509199" cy="566928"/>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One extra internal fill is worth ₱119,822.  </a:t>
            </a:r>
            <a:pPr indent="0" marL="0">
              <a:buNone/>
            </a:pPr>
            <a:r>
              <a:rPr lang="en-US" sz="1500" dirty="0">
                <a:solidFill>
                  <a:srgbClr val="4B5363"/>
                </a:solidFill>
                <a:latin typeface="Arial" pitchFamily="34" charset="0"/>
                <a:ea typeface="Arial" pitchFamily="34" charset="-122"/>
                <a:cs typeface="Arial" pitchFamily="34" charset="-120"/>
              </a:rPr>
              <a:t>₱43,593 of hiring cost and vacancy days after the backfill, plus ₱76,229 of turnover we do not pay.</a:t>
            </a:r>
            <a:endParaRPr lang="en-US" sz="1500" dirty="0"/>
          </a:p>
        </p:txBody>
      </p:sp>
      <p:sp>
        <p:nvSpPr>
          <p:cNvPr id="39" name="Text 37"/>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WHAT 30% ACTUALLY TAKES</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We cannot get there on today's applicant flow.</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Every figure on this slide is a yearly rate. 463 applications over three years produced 170 hires — a 37% success rate.</a:t>
            </a:r>
            <a:endParaRPr lang="en-US" sz="1600" dirty="0"/>
          </a:p>
        </p:txBody>
      </p:sp>
      <p:sp>
        <p:nvSpPr>
          <p:cNvPr id="6" name="Shape 4"/>
          <p:cNvSpPr/>
          <p:nvPr/>
        </p:nvSpPr>
        <p:spPr>
          <a:xfrm>
            <a:off x="1984248" y="2029968"/>
            <a:ext cx="876267" cy="566928"/>
          </a:xfrm>
          <a:prstGeom prst="roundRect">
            <a:avLst>
              <a:gd name="adj" fmla="val 4839"/>
            </a:avLst>
          </a:prstGeom>
          <a:solidFill>
            <a:srgbClr val="E9E1D3"/>
          </a:solidFill>
          <a:ln w="12700">
            <a:solidFill>
              <a:srgbClr val="333333"/>
            </a:solidFill>
            <a:prstDash val="solid"/>
          </a:ln>
        </p:spPr>
      </p:sp>
      <p:sp>
        <p:nvSpPr>
          <p:cNvPr id="7" name="Shape 5"/>
          <p:cNvSpPr/>
          <p:nvPr/>
        </p:nvSpPr>
        <p:spPr>
          <a:xfrm>
            <a:off x="1984248" y="2029968"/>
            <a:ext cx="45720" cy="566928"/>
          </a:xfrm>
          <a:prstGeom prst="rect">
            <a:avLst/>
          </a:prstGeom>
          <a:solidFill>
            <a:srgbClr val="858D9B"/>
          </a:solidFill>
          <a:ln w="12700">
            <a:solidFill>
              <a:srgbClr val="333333"/>
            </a:solidFill>
            <a:prstDash val="solid"/>
          </a:ln>
        </p:spPr>
      </p:sp>
      <p:sp>
        <p:nvSpPr>
          <p:cNvPr id="8" name="Text 6"/>
          <p:cNvSpPr txBox="1"/>
          <p:nvPr/>
        </p:nvSpPr>
        <p:spPr>
          <a:xfrm>
            <a:off x="566928" y="1993392"/>
            <a:ext cx="1298448" cy="640080"/>
          </a:xfrm>
          <a:prstGeom prst="rect">
            <a:avLst/>
          </a:prstGeom>
          <a:noFill/>
          <a:ln/>
        </p:spPr>
        <p:txBody>
          <a:bodyPr wrap="square" lIns="0" tIns="0" rIns="0" bIns="0" rtlCol="0" anchor="ctr"/>
          <a:lstStyle/>
          <a:p>
            <a:pPr algn="r" indent="0" marL="0">
              <a:buNone/>
            </a:pPr>
            <a:r>
              <a:rPr lang="en-US" sz="3000" b="1" dirty="0">
                <a:solidFill>
                  <a:srgbClr val="858D9B"/>
                </a:solidFill>
                <a:latin typeface="Arial" pitchFamily="34" charset="0"/>
                <a:ea typeface="Arial" pitchFamily="34" charset="-122"/>
                <a:cs typeface="Arial" pitchFamily="34" charset="-120"/>
              </a:rPr>
              <a:t>154</a:t>
            </a:r>
            <a:endParaRPr lang="en-US" sz="3000" dirty="0"/>
          </a:p>
        </p:txBody>
      </p:sp>
      <p:sp>
        <p:nvSpPr>
          <p:cNvPr id="9" name="Text 7"/>
          <p:cNvSpPr txBox="1"/>
          <p:nvPr/>
        </p:nvSpPr>
        <p:spPr>
          <a:xfrm>
            <a:off x="2924523" y="2029968"/>
            <a:ext cx="2011680" cy="566928"/>
          </a:xfrm>
          <a:prstGeom prst="rect">
            <a:avLst/>
          </a:prstGeom>
          <a:noFill/>
          <a:ln/>
        </p:spPr>
        <p:txBody>
          <a:bodyPr wrap="square" lIns="0" tIns="0" rIns="0" bIns="0" rtlCol="0" anchor="ctr"/>
          <a:lstStyle/>
          <a:p>
            <a:pPr indent="0" marL="0">
              <a:buNone/>
            </a:pPr>
            <a:r>
              <a:rPr lang="en-US" sz="1550" dirty="0">
                <a:solidFill>
                  <a:srgbClr val="4B5363"/>
                </a:solidFill>
                <a:latin typeface="Arial" pitchFamily="34" charset="0"/>
                <a:ea typeface="Arial" pitchFamily="34" charset="-122"/>
                <a:cs typeface="Arial" pitchFamily="34" charset="-120"/>
              </a:rPr>
              <a:t>a year today</a:t>
            </a:r>
            <a:endParaRPr lang="en-US" sz="1550" dirty="0"/>
          </a:p>
        </p:txBody>
      </p:sp>
      <p:sp>
        <p:nvSpPr>
          <p:cNvPr id="10" name="Shape 8"/>
          <p:cNvSpPr/>
          <p:nvPr/>
        </p:nvSpPr>
        <p:spPr>
          <a:xfrm>
            <a:off x="1984248" y="3035808"/>
            <a:ext cx="1564762" cy="566928"/>
          </a:xfrm>
          <a:prstGeom prst="roundRect">
            <a:avLst>
              <a:gd name="adj" fmla="val 4839"/>
            </a:avLst>
          </a:prstGeom>
          <a:solidFill>
            <a:srgbClr val="FDF0F0"/>
          </a:solidFill>
          <a:ln w="12700">
            <a:solidFill>
              <a:srgbClr val="333333"/>
            </a:solidFill>
            <a:prstDash val="solid"/>
          </a:ln>
        </p:spPr>
      </p:sp>
      <p:sp>
        <p:nvSpPr>
          <p:cNvPr id="11" name="Shape 9"/>
          <p:cNvSpPr/>
          <p:nvPr/>
        </p:nvSpPr>
        <p:spPr>
          <a:xfrm>
            <a:off x="1984248" y="3035808"/>
            <a:ext cx="45720" cy="566928"/>
          </a:xfrm>
          <a:prstGeom prst="rect">
            <a:avLst/>
          </a:prstGeom>
          <a:solidFill>
            <a:srgbClr val="C00000"/>
          </a:solidFill>
          <a:ln w="12700">
            <a:solidFill>
              <a:srgbClr val="333333"/>
            </a:solidFill>
            <a:prstDash val="solid"/>
          </a:ln>
        </p:spPr>
      </p:sp>
      <p:sp>
        <p:nvSpPr>
          <p:cNvPr id="12" name="Text 10"/>
          <p:cNvSpPr txBox="1"/>
          <p:nvPr/>
        </p:nvSpPr>
        <p:spPr>
          <a:xfrm>
            <a:off x="566928" y="2999232"/>
            <a:ext cx="1298448" cy="640080"/>
          </a:xfrm>
          <a:prstGeom prst="rect">
            <a:avLst/>
          </a:prstGeom>
          <a:noFill/>
          <a:ln/>
        </p:spPr>
        <p:txBody>
          <a:bodyPr wrap="square" lIns="0" tIns="0" rIns="0" bIns="0" rtlCol="0" anchor="ctr"/>
          <a:lstStyle/>
          <a:p>
            <a:pPr algn="r" indent="0" marL="0">
              <a:buNone/>
            </a:pPr>
            <a:r>
              <a:rPr lang="en-US" sz="3000" b="1" dirty="0">
                <a:solidFill>
                  <a:srgbClr val="C00000"/>
                </a:solidFill>
                <a:latin typeface="Arial" pitchFamily="34" charset="0"/>
                <a:ea typeface="Arial" pitchFamily="34" charset="-122"/>
                <a:cs typeface="Arial" pitchFamily="34" charset="-120"/>
              </a:rPr>
              <a:t>275</a:t>
            </a:r>
            <a:endParaRPr lang="en-US" sz="3000" dirty="0"/>
          </a:p>
        </p:txBody>
      </p:sp>
      <p:sp>
        <p:nvSpPr>
          <p:cNvPr id="13" name="Text 11"/>
          <p:cNvSpPr txBox="1"/>
          <p:nvPr/>
        </p:nvSpPr>
        <p:spPr>
          <a:xfrm>
            <a:off x="3613018" y="3035808"/>
            <a:ext cx="2011680" cy="566928"/>
          </a:xfrm>
          <a:prstGeom prst="rect">
            <a:avLst/>
          </a:prstGeom>
          <a:noFill/>
          <a:ln/>
        </p:spPr>
        <p:txBody>
          <a:bodyPr wrap="square" lIns="0" tIns="0" rIns="0" bIns="0" rtlCol="0" anchor="ctr"/>
          <a:lstStyle/>
          <a:p>
            <a:pPr indent="0" marL="0">
              <a:buNone/>
            </a:pPr>
            <a:r>
              <a:rPr lang="en-US" sz="1550" b="1" dirty="0">
                <a:solidFill>
                  <a:srgbClr val="222834"/>
                </a:solidFill>
                <a:latin typeface="Arial" pitchFamily="34" charset="0"/>
                <a:ea typeface="Arial" pitchFamily="34" charset="-122"/>
                <a:cs typeface="Arial" pitchFamily="34" charset="-120"/>
              </a:rPr>
              <a:t>a year for 30%</a:t>
            </a:r>
            <a:endParaRPr lang="en-US" sz="1550" dirty="0"/>
          </a:p>
        </p:txBody>
      </p:sp>
      <p:sp>
        <p:nvSpPr>
          <p:cNvPr id="14" name="Shape 12"/>
          <p:cNvSpPr/>
          <p:nvPr/>
        </p:nvSpPr>
        <p:spPr>
          <a:xfrm>
            <a:off x="1984248" y="4041648"/>
            <a:ext cx="2606040" cy="566928"/>
          </a:xfrm>
          <a:prstGeom prst="roundRect">
            <a:avLst>
              <a:gd name="adj" fmla="val 4839"/>
            </a:avLst>
          </a:prstGeom>
          <a:solidFill>
            <a:srgbClr val="E8F4F0"/>
          </a:solidFill>
          <a:ln w="12700">
            <a:solidFill>
              <a:srgbClr val="333333"/>
            </a:solidFill>
            <a:prstDash val="solid"/>
          </a:ln>
        </p:spPr>
      </p:sp>
      <p:sp>
        <p:nvSpPr>
          <p:cNvPr id="15" name="Shape 13"/>
          <p:cNvSpPr/>
          <p:nvPr/>
        </p:nvSpPr>
        <p:spPr>
          <a:xfrm>
            <a:off x="1984248" y="4041648"/>
            <a:ext cx="45720" cy="566928"/>
          </a:xfrm>
          <a:prstGeom prst="rect">
            <a:avLst/>
          </a:prstGeom>
          <a:solidFill>
            <a:srgbClr val="0E7C66"/>
          </a:solidFill>
          <a:ln w="12700">
            <a:solidFill>
              <a:srgbClr val="333333"/>
            </a:solidFill>
            <a:prstDash val="solid"/>
          </a:ln>
        </p:spPr>
      </p:sp>
      <p:sp>
        <p:nvSpPr>
          <p:cNvPr id="16" name="Text 14"/>
          <p:cNvSpPr txBox="1"/>
          <p:nvPr/>
        </p:nvSpPr>
        <p:spPr>
          <a:xfrm>
            <a:off x="566928" y="4005072"/>
            <a:ext cx="1298448" cy="640080"/>
          </a:xfrm>
          <a:prstGeom prst="rect">
            <a:avLst/>
          </a:prstGeom>
          <a:noFill/>
          <a:ln/>
        </p:spPr>
        <p:txBody>
          <a:bodyPr wrap="square" lIns="0" tIns="0" rIns="0" bIns="0" rtlCol="0" anchor="ctr"/>
          <a:lstStyle/>
          <a:p>
            <a:pPr algn="r" indent="0" marL="0">
              <a:buNone/>
            </a:pPr>
            <a:r>
              <a:rPr lang="en-US" sz="3000" b="1" dirty="0">
                <a:solidFill>
                  <a:srgbClr val="0E7C66"/>
                </a:solidFill>
                <a:latin typeface="Arial" pitchFamily="34" charset="0"/>
                <a:ea typeface="Arial" pitchFamily="34" charset="-122"/>
                <a:cs typeface="Arial" pitchFamily="34" charset="-120"/>
              </a:rPr>
              <a:t>458</a:t>
            </a:r>
            <a:endParaRPr lang="en-US" sz="3000" dirty="0"/>
          </a:p>
        </p:txBody>
      </p:sp>
      <p:sp>
        <p:nvSpPr>
          <p:cNvPr id="17" name="Text 15"/>
          <p:cNvSpPr txBox="1"/>
          <p:nvPr/>
        </p:nvSpPr>
        <p:spPr>
          <a:xfrm>
            <a:off x="4654296" y="4041648"/>
            <a:ext cx="2011680" cy="566928"/>
          </a:xfrm>
          <a:prstGeom prst="rect">
            <a:avLst/>
          </a:prstGeom>
          <a:noFill/>
          <a:ln/>
        </p:spPr>
        <p:txBody>
          <a:bodyPr wrap="square" lIns="0" tIns="0" rIns="0" bIns="0" rtlCol="0" anchor="ctr"/>
          <a:lstStyle/>
          <a:p>
            <a:pPr indent="0" marL="0">
              <a:buNone/>
            </a:pPr>
            <a:r>
              <a:rPr lang="en-US" sz="1550" b="1" dirty="0">
                <a:solidFill>
                  <a:srgbClr val="222834"/>
                </a:solidFill>
                <a:latin typeface="Arial" pitchFamily="34" charset="0"/>
                <a:ea typeface="Arial" pitchFamily="34" charset="-122"/>
                <a:cs typeface="Arial" pitchFamily="34" charset="-120"/>
              </a:rPr>
              <a:t>a year for 50%</a:t>
            </a:r>
            <a:endParaRPr lang="en-US" sz="1550" dirty="0"/>
          </a:p>
        </p:txBody>
      </p:sp>
      <p:sp>
        <p:nvSpPr>
          <p:cNvPr id="18" name="Text 16"/>
          <p:cNvSpPr txBox="1"/>
          <p:nvPr/>
        </p:nvSpPr>
        <p:spPr>
          <a:xfrm>
            <a:off x="566928" y="5029200"/>
            <a:ext cx="5750076" cy="786384"/>
          </a:xfrm>
          <a:prstGeom prst="rect">
            <a:avLst/>
          </a:prstGeom>
          <a:noFill/>
          <a:ln/>
        </p:spPr>
        <p:txBody>
          <a:bodyPr wrap="square" lIns="0" tIns="0" rIns="0" bIns="0" rtlCol="0" anchor="t"/>
          <a:lstStyle/>
          <a:p>
            <a:pPr indent="0" marL="0">
              <a:lnSpc>
                <a:spcPts val="2100"/>
              </a:lnSpc>
              <a:buNone/>
            </a:pPr>
            <a:r>
              <a:rPr lang="en-US" sz="1500" dirty="0">
                <a:solidFill>
                  <a:srgbClr val="4B5363"/>
                </a:solidFill>
                <a:latin typeface="Arial" pitchFamily="34" charset="0"/>
                <a:ea typeface="Arial" pitchFamily="34" charset="-122"/>
                <a:cs typeface="Arial" pitchFamily="34" charset="-120"/>
              </a:rPr>
              <a:t>Internal applications have to rise 1.8× to reach the benchmark, and 3× to reach 50%. That is the whole job: make the roles visible and make people worth matching.</a:t>
            </a:r>
            <a:endParaRPr lang="en-US" sz="1500" dirty="0"/>
          </a:p>
        </p:txBody>
      </p:sp>
      <p:sp>
        <p:nvSpPr>
          <p:cNvPr id="19" name="Shape 17"/>
          <p:cNvSpPr/>
          <p:nvPr/>
        </p:nvSpPr>
        <p:spPr>
          <a:xfrm>
            <a:off x="6701052" y="1901952"/>
            <a:ext cx="4923715" cy="3913632"/>
          </a:xfrm>
          <a:prstGeom prst="roundRect">
            <a:avLst>
              <a:gd name="adj" fmla="val 935"/>
            </a:avLst>
          </a:prstGeom>
          <a:solidFill>
            <a:srgbClr val="FBF2E0"/>
          </a:solidFill>
          <a:ln w="12700">
            <a:solidFill>
              <a:srgbClr val="333333"/>
            </a:solidFill>
            <a:prstDash val="solid"/>
          </a:ln>
        </p:spPr>
      </p:sp>
      <p:sp>
        <p:nvSpPr>
          <p:cNvPr id="20" name="Shape 18"/>
          <p:cNvSpPr/>
          <p:nvPr/>
        </p:nvSpPr>
        <p:spPr>
          <a:xfrm>
            <a:off x="6701052" y="1901952"/>
            <a:ext cx="4923715" cy="77724"/>
          </a:xfrm>
          <a:prstGeom prst="rect">
            <a:avLst/>
          </a:prstGeom>
          <a:solidFill>
            <a:srgbClr val="9E6B12"/>
          </a:solidFill>
          <a:ln w="12700">
            <a:solidFill>
              <a:srgbClr val="333333"/>
            </a:solidFill>
            <a:prstDash val="solid"/>
          </a:ln>
        </p:spPr>
      </p:sp>
      <p:sp>
        <p:nvSpPr>
          <p:cNvPr id="21" name="Text 19"/>
          <p:cNvSpPr txBox="1"/>
          <p:nvPr/>
        </p:nvSpPr>
        <p:spPr>
          <a:xfrm>
            <a:off x="7030236" y="2121408"/>
            <a:ext cx="4265347" cy="237744"/>
          </a:xfrm>
          <a:prstGeom prst="rect">
            <a:avLst/>
          </a:prstGeom>
          <a:noFill/>
          <a:ln/>
        </p:spPr>
        <p:txBody>
          <a:bodyPr wrap="square" lIns="0" tIns="0" rIns="0" bIns="0" rtlCol="0" anchor="ctr"/>
          <a:lstStyle/>
          <a:p>
            <a:pPr indent="0" marL="0">
              <a:buNone/>
            </a:pPr>
            <a:r>
              <a:rPr lang="en-US" sz="1400" b="1" spc="180" kern="0" dirty="0">
                <a:solidFill>
                  <a:srgbClr val="9E6B12"/>
                </a:solidFill>
                <a:latin typeface="Arial" pitchFamily="34" charset="0"/>
                <a:ea typeface="Arial" pitchFamily="34" charset="-122"/>
                <a:cs typeface="Arial" pitchFamily="34" charset="-120"/>
              </a:rPr>
              <a:t>AND HERE IS THE CATCH</a:t>
            </a:r>
            <a:endParaRPr lang="en-US" sz="1400" dirty="0"/>
          </a:p>
        </p:txBody>
      </p:sp>
      <p:sp>
        <p:nvSpPr>
          <p:cNvPr id="22" name="Text 20"/>
          <p:cNvSpPr txBox="1"/>
          <p:nvPr/>
        </p:nvSpPr>
        <p:spPr>
          <a:xfrm>
            <a:off x="7030236" y="2395728"/>
            <a:ext cx="4265347" cy="694944"/>
          </a:xfrm>
          <a:prstGeom prst="rect">
            <a:avLst/>
          </a:prstGeom>
          <a:noFill/>
          <a:ln/>
        </p:spPr>
        <p:txBody>
          <a:bodyPr wrap="square" lIns="0" tIns="0" rIns="0" bIns="0" rtlCol="0" anchor="t"/>
          <a:lstStyle/>
          <a:p>
            <a:pPr indent="0" marL="0">
              <a:lnSpc>
                <a:spcPts val="2800"/>
              </a:lnSpc>
              <a:buNone/>
            </a:pPr>
            <a:r>
              <a:rPr lang="en-US" sz="2200" b="1" dirty="0">
                <a:solidFill>
                  <a:srgbClr val="222834"/>
                </a:solidFill>
                <a:latin typeface="Arial" pitchFamily="34" charset="0"/>
                <a:ea typeface="Arial" pitchFamily="34" charset="-122"/>
                <a:cs typeface="Arial" pitchFamily="34" charset="-120"/>
              </a:rPr>
              <a:t>More applications means more rejections.</a:t>
            </a:r>
            <a:endParaRPr lang="en-US" sz="2200" dirty="0"/>
          </a:p>
        </p:txBody>
      </p:sp>
      <p:sp>
        <p:nvSpPr>
          <p:cNvPr id="23" name="Text 21"/>
          <p:cNvSpPr txBox="1"/>
          <p:nvPr/>
        </p:nvSpPr>
        <p:spPr>
          <a:xfrm>
            <a:off x="7030236" y="3182112"/>
            <a:ext cx="4265347" cy="786384"/>
          </a:xfrm>
          <a:prstGeom prst="rect">
            <a:avLst/>
          </a:prstGeom>
          <a:noFill/>
          <a:ln/>
        </p:spPr>
        <p:txBody>
          <a:bodyPr wrap="square" lIns="0" tIns="0" rIns="0" bIns="0" rtlCol="0" anchor="t"/>
          <a:lstStyle/>
          <a:p>
            <a:pPr indent="0" marL="0">
              <a:lnSpc>
                <a:spcPts val="2100"/>
              </a:lnSpc>
              <a:buNone/>
            </a:pPr>
            <a:r>
              <a:rPr lang="en-US" sz="1550" dirty="0">
                <a:solidFill>
                  <a:srgbClr val="4B5363"/>
                </a:solidFill>
                <a:latin typeface="Arial" pitchFamily="34" charset="0"/>
                <a:ea typeface="Arial" pitchFamily="34" charset="-122"/>
                <a:cs typeface="Arial" pitchFamily="34" charset="-120"/>
              </a:rPr>
              <a:t>At a 30% fill rate we turn down 174 people a year instead of 98. On today's evidence, rejection is what makes them leave.</a:t>
            </a:r>
            <a:endParaRPr lang="en-US" sz="1550" dirty="0"/>
          </a:p>
        </p:txBody>
      </p:sp>
      <p:sp>
        <p:nvSpPr>
          <p:cNvPr id="24" name="Shape 22"/>
          <p:cNvSpPr/>
          <p:nvPr/>
        </p:nvSpPr>
        <p:spPr>
          <a:xfrm>
            <a:off x="7030236" y="4059936"/>
            <a:ext cx="4265347" cy="0"/>
          </a:xfrm>
          <a:prstGeom prst="line">
            <a:avLst/>
          </a:prstGeom>
          <a:noFill/>
          <a:ln w="12700">
            <a:solidFill>
              <a:srgbClr val="E9E1D3"/>
            </a:solidFill>
            <a:prstDash val="solid"/>
          </a:ln>
        </p:spPr>
      </p:sp>
      <p:sp>
        <p:nvSpPr>
          <p:cNvPr id="25" name="Text 23"/>
          <p:cNvSpPr txBox="1"/>
          <p:nvPr/>
        </p:nvSpPr>
        <p:spPr>
          <a:xfrm>
            <a:off x="7030236" y="4206240"/>
            <a:ext cx="4265347" cy="310896"/>
          </a:xfrm>
          <a:prstGeom prst="rect">
            <a:avLst/>
          </a:prstGeom>
          <a:noFill/>
          <a:ln/>
        </p:spPr>
        <p:txBody>
          <a:bodyPr wrap="square" lIns="0" tIns="0" rIns="0" bIns="0" rtlCol="0" anchor="ctr"/>
          <a:lstStyle/>
          <a:p>
            <a:pPr indent="0" marL="0">
              <a:buNone/>
            </a:pPr>
            <a:r>
              <a:rPr lang="en-US" sz="1600" b="1" dirty="0">
                <a:solidFill>
                  <a:srgbClr val="222834"/>
                </a:solidFill>
                <a:latin typeface="Arial" pitchFamily="34" charset="0"/>
                <a:ea typeface="Arial" pitchFamily="34" charset="-122"/>
                <a:cs typeface="Arial" pitchFamily="34" charset="-120"/>
              </a:rPr>
              <a:t>So it cannot only sell jobs.</a:t>
            </a:r>
            <a:endParaRPr lang="en-US" sz="1600" dirty="0"/>
          </a:p>
        </p:txBody>
      </p:sp>
      <p:sp>
        <p:nvSpPr>
          <p:cNvPr id="26" name="Text 24"/>
          <p:cNvSpPr txBox="1"/>
          <p:nvPr/>
        </p:nvSpPr>
        <p:spPr>
          <a:xfrm>
            <a:off x="7030236" y="4572000"/>
            <a:ext cx="4265347" cy="1115568"/>
          </a:xfrm>
          <a:prstGeom prst="rect">
            <a:avLst/>
          </a:prstGeom>
          <a:noFill/>
          <a:ln/>
        </p:spPr>
        <p:txBody>
          <a:bodyPr wrap="square" lIns="0" tIns="0" rIns="0" bIns="0" rtlCol="0" anchor="t"/>
          <a:lstStyle/>
          <a:p>
            <a:pPr indent="0" marL="0">
              <a:lnSpc>
                <a:spcPts val="2100"/>
              </a:lnSpc>
              <a:buNone/>
            </a:pPr>
            <a:r>
              <a:rPr lang="en-US" sz="1500" dirty="0">
                <a:solidFill>
                  <a:srgbClr val="4B5363"/>
                </a:solidFill>
                <a:latin typeface="Arial" pitchFamily="34" charset="0"/>
                <a:ea typeface="Arial" pitchFamily="34" charset="-122"/>
                <a:cs typeface="Arial" pitchFamily="34" charset="-120"/>
              </a:rPr>
              <a:t>A "no" routes to a gig, an immersion or a service offer instead of to the exit. That is why Growth has four shelves and not one.</a:t>
            </a:r>
            <a:endParaRPr lang="en-US" sz="1500" dirty="0"/>
          </a:p>
        </p:txBody>
      </p:sp>
      <p:sp>
        <p:nvSpPr>
          <p:cNvPr id="27" name="Text 25"/>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BUILD OR BUY</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222834"/>
                </a:solidFill>
                <a:latin typeface="Arial" pitchFamily="34" charset="0"/>
                <a:ea typeface="Arial" pitchFamily="34" charset="-122"/>
                <a:cs typeface="Arial" pitchFamily="34" charset="-120"/>
              </a:rPr>
              <a:t>The two things we could buy instead, and what they are.</a:t>
            </a:r>
            <a:endParaRPr lang="en-US" sz="29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Three-year planning bands at 1,113 seats. These are not quotes.</a:t>
            </a:r>
            <a:endParaRPr lang="en-US" sz="1600" dirty="0"/>
          </a:p>
        </p:txBody>
      </p:sp>
      <p:sp>
        <p:nvSpPr>
          <p:cNvPr id="6" name="Shape 4"/>
          <p:cNvSpPr/>
          <p:nvPr/>
        </p:nvSpPr>
        <p:spPr>
          <a:xfrm>
            <a:off x="566928" y="1956816"/>
            <a:ext cx="5391760" cy="2029968"/>
          </a:xfrm>
          <a:prstGeom prst="roundRect">
            <a:avLst>
              <a:gd name="adj" fmla="val 1802"/>
            </a:avLst>
          </a:prstGeom>
          <a:solidFill>
            <a:srgbClr val="F6F2EA"/>
          </a:solidFill>
          <a:ln w="12700">
            <a:solidFill>
              <a:srgbClr val="333333"/>
            </a:solidFill>
            <a:prstDash val="solid"/>
          </a:ln>
        </p:spPr>
      </p:sp>
      <p:sp>
        <p:nvSpPr>
          <p:cNvPr id="7" name="Text 5"/>
          <p:cNvSpPr txBox="1"/>
          <p:nvPr/>
        </p:nvSpPr>
        <p:spPr>
          <a:xfrm>
            <a:off x="841248" y="2121408"/>
            <a:ext cx="4843120" cy="237744"/>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CAREER AND MOBILITY TOOLS</a:t>
            </a:r>
            <a:endParaRPr lang="en-US" sz="1400" dirty="0"/>
          </a:p>
        </p:txBody>
      </p:sp>
      <p:sp>
        <p:nvSpPr>
          <p:cNvPr id="8" name="Text 6"/>
          <p:cNvSpPr txBox="1"/>
          <p:nvPr/>
        </p:nvSpPr>
        <p:spPr>
          <a:xfrm>
            <a:off x="841248" y="2395728"/>
            <a:ext cx="1920240" cy="457200"/>
          </a:xfrm>
          <a:prstGeom prst="rect">
            <a:avLst/>
          </a:prstGeom>
          <a:noFill/>
          <a:ln/>
        </p:spPr>
        <p:txBody>
          <a:bodyPr wrap="square" lIns="0" tIns="0" rIns="0" bIns="0" rtlCol="0" anchor="ctr"/>
          <a:lstStyle/>
          <a:p>
            <a:pPr indent="0" marL="0">
              <a:buNone/>
            </a:pPr>
            <a:r>
              <a:rPr lang="en-US" sz="2800" b="1" dirty="0">
                <a:solidFill>
                  <a:srgbClr val="222834"/>
                </a:solidFill>
                <a:latin typeface="Arial" pitchFamily="34" charset="0"/>
                <a:ea typeface="Arial" pitchFamily="34" charset="-122"/>
                <a:cs typeface="Arial" pitchFamily="34" charset="-120"/>
              </a:rPr>
              <a:t>₱10.7M</a:t>
            </a:r>
            <a:endParaRPr lang="en-US" sz="2800" dirty="0"/>
          </a:p>
        </p:txBody>
      </p:sp>
      <p:sp>
        <p:nvSpPr>
          <p:cNvPr id="9" name="Text 7"/>
          <p:cNvSpPr txBox="1"/>
          <p:nvPr/>
        </p:nvSpPr>
        <p:spPr>
          <a:xfrm>
            <a:off x="2798064" y="2432304"/>
            <a:ext cx="1737360" cy="384048"/>
          </a:xfrm>
          <a:prstGeom prst="rect">
            <a:avLst/>
          </a:prstGeom>
          <a:noFill/>
          <a:ln/>
        </p:spPr>
        <p:txBody>
          <a:bodyPr wrap="square" lIns="0" tIns="0" rIns="0" bIns="0" rtlCol="0" anchor="ctr"/>
          <a:lstStyle/>
          <a:p>
            <a:pPr indent="0" marL="0">
              <a:buNone/>
            </a:pPr>
            <a:r>
              <a:rPr lang="en-US" sz="1500" dirty="0">
                <a:solidFill>
                  <a:srgbClr val="858D9B"/>
                </a:solidFill>
                <a:latin typeface="Arial" pitchFamily="34" charset="0"/>
                <a:ea typeface="Arial" pitchFamily="34" charset="-122"/>
                <a:cs typeface="Arial" pitchFamily="34" charset="-120"/>
              </a:rPr>
              <a:t>US$175,000</a:t>
            </a:r>
            <a:endParaRPr lang="en-US" sz="1500" dirty="0"/>
          </a:p>
        </p:txBody>
      </p:sp>
      <p:sp>
        <p:nvSpPr>
          <p:cNvPr id="10" name="Text 8"/>
          <p:cNvSpPr txBox="1"/>
          <p:nvPr/>
        </p:nvSpPr>
        <p:spPr>
          <a:xfrm>
            <a:off x="841248" y="2889504"/>
            <a:ext cx="4843120" cy="256032"/>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Fuel50 · Gloat</a:t>
            </a:r>
            <a:endParaRPr lang="en-US" sz="1500" dirty="0"/>
          </a:p>
        </p:txBody>
      </p:sp>
      <p:sp>
        <p:nvSpPr>
          <p:cNvPr id="11" name="Text 9"/>
          <p:cNvSpPr txBox="1"/>
          <p:nvPr/>
        </p:nvSpPr>
        <p:spPr>
          <a:xfrm>
            <a:off x="841248" y="3182112"/>
            <a:ext cx="4843120" cy="69494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Opportunity marketplace and career pathing, as a point solution. At our seat count we would pay a vendor minimum, not a per-seat rate.</a:t>
            </a:r>
            <a:endParaRPr lang="en-US" sz="1450" dirty="0"/>
          </a:p>
        </p:txBody>
      </p:sp>
      <p:sp>
        <p:nvSpPr>
          <p:cNvPr id="12" name="Shape 10"/>
          <p:cNvSpPr/>
          <p:nvPr/>
        </p:nvSpPr>
        <p:spPr>
          <a:xfrm>
            <a:off x="6233008" y="1956816"/>
            <a:ext cx="5391760" cy="2029968"/>
          </a:xfrm>
          <a:prstGeom prst="roundRect">
            <a:avLst>
              <a:gd name="adj" fmla="val 1802"/>
            </a:avLst>
          </a:prstGeom>
          <a:solidFill>
            <a:srgbClr val="F6F2EA"/>
          </a:solidFill>
          <a:ln w="12700">
            <a:solidFill>
              <a:srgbClr val="333333"/>
            </a:solidFill>
            <a:prstDash val="solid"/>
          </a:ln>
        </p:spPr>
      </p:sp>
      <p:sp>
        <p:nvSpPr>
          <p:cNvPr id="13" name="Text 11"/>
          <p:cNvSpPr txBox="1"/>
          <p:nvPr/>
        </p:nvSpPr>
        <p:spPr>
          <a:xfrm>
            <a:off x="6507328" y="2121408"/>
            <a:ext cx="4843120" cy="237744"/>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TALENT INTELLIGENCE SUITES</a:t>
            </a:r>
            <a:endParaRPr lang="en-US" sz="1400" dirty="0"/>
          </a:p>
        </p:txBody>
      </p:sp>
      <p:sp>
        <p:nvSpPr>
          <p:cNvPr id="14" name="Text 12"/>
          <p:cNvSpPr txBox="1"/>
          <p:nvPr/>
        </p:nvSpPr>
        <p:spPr>
          <a:xfrm>
            <a:off x="6507328" y="2395728"/>
            <a:ext cx="1920240" cy="457200"/>
          </a:xfrm>
          <a:prstGeom prst="rect">
            <a:avLst/>
          </a:prstGeom>
          <a:noFill/>
          <a:ln/>
        </p:spPr>
        <p:txBody>
          <a:bodyPr wrap="square" lIns="0" tIns="0" rIns="0" bIns="0" rtlCol="0" anchor="ctr"/>
          <a:lstStyle/>
          <a:p>
            <a:pPr indent="0" marL="0">
              <a:buNone/>
            </a:pPr>
            <a:r>
              <a:rPr lang="en-US" sz="2800" b="1" dirty="0">
                <a:solidFill>
                  <a:srgbClr val="222834"/>
                </a:solidFill>
                <a:latin typeface="Arial" pitchFamily="34" charset="0"/>
                <a:ea typeface="Arial" pitchFamily="34" charset="-122"/>
                <a:cs typeface="Arial" pitchFamily="34" charset="-120"/>
              </a:rPr>
              <a:t>₱29.3M</a:t>
            </a:r>
            <a:endParaRPr lang="en-US" sz="2800" dirty="0"/>
          </a:p>
        </p:txBody>
      </p:sp>
      <p:sp>
        <p:nvSpPr>
          <p:cNvPr id="15" name="Text 13"/>
          <p:cNvSpPr txBox="1"/>
          <p:nvPr/>
        </p:nvSpPr>
        <p:spPr>
          <a:xfrm>
            <a:off x="8464144" y="2432304"/>
            <a:ext cx="1737360" cy="384048"/>
          </a:xfrm>
          <a:prstGeom prst="rect">
            <a:avLst/>
          </a:prstGeom>
          <a:noFill/>
          <a:ln/>
        </p:spPr>
        <p:txBody>
          <a:bodyPr wrap="square" lIns="0" tIns="0" rIns="0" bIns="0" rtlCol="0" anchor="ctr"/>
          <a:lstStyle/>
          <a:p>
            <a:pPr indent="0" marL="0">
              <a:buNone/>
            </a:pPr>
            <a:r>
              <a:rPr lang="en-US" sz="1500" dirty="0">
                <a:solidFill>
                  <a:srgbClr val="858D9B"/>
                </a:solidFill>
                <a:latin typeface="Arial" pitchFamily="34" charset="0"/>
                <a:ea typeface="Arial" pitchFamily="34" charset="-122"/>
                <a:cs typeface="Arial" pitchFamily="34" charset="-120"/>
              </a:rPr>
              <a:t>US$480,000</a:t>
            </a:r>
            <a:endParaRPr lang="en-US" sz="1500" dirty="0"/>
          </a:p>
        </p:txBody>
      </p:sp>
      <p:sp>
        <p:nvSpPr>
          <p:cNvPr id="16" name="Text 14"/>
          <p:cNvSpPr txBox="1"/>
          <p:nvPr/>
        </p:nvSpPr>
        <p:spPr>
          <a:xfrm>
            <a:off x="6507328" y="2889504"/>
            <a:ext cx="4843120" cy="256032"/>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Eightfold · Workday Talent Marketplace</a:t>
            </a:r>
            <a:endParaRPr lang="en-US" sz="1500" dirty="0"/>
          </a:p>
        </p:txBody>
      </p:sp>
      <p:sp>
        <p:nvSpPr>
          <p:cNvPr id="17" name="Text 15"/>
          <p:cNvSpPr txBox="1"/>
          <p:nvPr/>
        </p:nvSpPr>
        <p:spPr>
          <a:xfrm>
            <a:off x="6507328" y="3182112"/>
            <a:ext cx="4843120" cy="69494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A skills-inference engine inside a wider HR suite, with implementation services and usually a multi-module commitment.</a:t>
            </a:r>
            <a:endParaRPr lang="en-US" sz="1450" dirty="0"/>
          </a:p>
        </p:txBody>
      </p:sp>
      <p:sp>
        <p:nvSpPr>
          <p:cNvPr id="18" name="Text 16"/>
          <p:cNvSpPr txBox="1"/>
          <p:nvPr/>
        </p:nvSpPr>
        <p:spPr>
          <a:xfrm>
            <a:off x="566928" y="4224528"/>
            <a:ext cx="5391760" cy="237744"/>
          </a:xfrm>
          <a:prstGeom prst="rect">
            <a:avLst/>
          </a:prstGeom>
          <a:noFill/>
          <a:ln/>
        </p:spPr>
        <p:txBody>
          <a:bodyPr wrap="square" lIns="0" tIns="0" rIns="0" bIns="0" rtlCol="0" anchor="ctr"/>
          <a:lstStyle/>
          <a:p>
            <a:pPr indent="0" marL="0">
              <a:buNone/>
            </a:pPr>
            <a:r>
              <a:rPr lang="en-US" sz="1400" b="1" spc="140" kern="0" dirty="0">
                <a:solidFill>
                  <a:srgbClr val="0E7C66"/>
                </a:solidFill>
                <a:latin typeface="Arial" pitchFamily="34" charset="0"/>
                <a:ea typeface="Arial" pitchFamily="34" charset="-122"/>
                <a:cs typeface="Arial" pitchFamily="34" charset="-120"/>
              </a:rPr>
              <a:t>WHAT BUYING WOULD GIVE US</a:t>
            </a:r>
            <a:endParaRPr lang="en-US" sz="1400" dirty="0"/>
          </a:p>
        </p:txBody>
      </p:sp>
      <p:sp>
        <p:nvSpPr>
          <p:cNvPr id="19" name="Text 17"/>
          <p:cNvSpPr txBox="1"/>
          <p:nvPr/>
        </p:nvSpPr>
        <p:spPr>
          <a:xfrm>
            <a:off x="6233008" y="4224528"/>
            <a:ext cx="5391760"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WHAT IT WOULD COST US BEYOND THE LICENCE</a:t>
            </a:r>
            <a:endParaRPr lang="en-US" sz="1400" dirty="0"/>
          </a:p>
        </p:txBody>
      </p:sp>
      <p:sp>
        <p:nvSpPr>
          <p:cNvPr id="20" name="Shape 18"/>
          <p:cNvSpPr/>
          <p:nvPr/>
        </p:nvSpPr>
        <p:spPr>
          <a:xfrm>
            <a:off x="566928" y="4553712"/>
            <a:ext cx="45720" cy="914400"/>
          </a:xfrm>
          <a:prstGeom prst="rect">
            <a:avLst/>
          </a:prstGeom>
          <a:solidFill>
            <a:srgbClr val="0E7C66"/>
          </a:solidFill>
          <a:ln w="12700">
            <a:solidFill>
              <a:srgbClr val="333333"/>
            </a:solidFill>
            <a:prstDash val="solid"/>
          </a:ln>
        </p:spPr>
      </p:sp>
      <p:sp>
        <p:nvSpPr>
          <p:cNvPr id="21" name="Text 19"/>
          <p:cNvSpPr txBox="1"/>
          <p:nvPr/>
        </p:nvSpPr>
        <p:spPr>
          <a:xfrm>
            <a:off x="786384" y="4517136"/>
            <a:ext cx="5117440" cy="987552"/>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A mature skills ontology we have not built, external benchmarking, a contractual support SLA, and a vendor roadmap. These are real and we do not have them.</a:t>
            </a:r>
            <a:endParaRPr lang="en-US" sz="1450" dirty="0"/>
          </a:p>
        </p:txBody>
      </p:sp>
      <p:sp>
        <p:nvSpPr>
          <p:cNvPr id="22" name="Shape 20"/>
          <p:cNvSpPr/>
          <p:nvPr/>
        </p:nvSpPr>
        <p:spPr>
          <a:xfrm>
            <a:off x="6233008" y="4553712"/>
            <a:ext cx="45720" cy="914400"/>
          </a:xfrm>
          <a:prstGeom prst="rect">
            <a:avLst/>
          </a:prstGeom>
          <a:solidFill>
            <a:srgbClr val="C00000"/>
          </a:solidFill>
          <a:ln w="12700">
            <a:solidFill>
              <a:srgbClr val="333333"/>
            </a:solidFill>
            <a:prstDash val="solid"/>
          </a:ln>
        </p:spPr>
      </p:sp>
      <p:sp>
        <p:nvSpPr>
          <p:cNvPr id="23" name="Text 21"/>
          <p:cNvSpPr txBox="1"/>
          <p:nvPr/>
        </p:nvSpPr>
        <p:spPr>
          <a:xfrm>
            <a:off x="6452464" y="4517136"/>
            <a:ext cx="5117440" cy="987552"/>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Fit. No vendor ships job immersion under Policy 211_2021, service offers, or HC Connect and MyDevelopment wiring. Four to nine months to implement, and they own the skills data model.</a:t>
            </a:r>
            <a:endParaRPr lang="en-US" sz="1450" dirty="0"/>
          </a:p>
        </p:txBody>
      </p:sp>
      <p:sp>
        <p:nvSpPr>
          <p:cNvPr id="24" name="Shape 22"/>
          <p:cNvSpPr/>
          <p:nvPr/>
        </p:nvSpPr>
        <p:spPr>
          <a:xfrm>
            <a:off x="566928" y="5650992"/>
            <a:ext cx="11057839" cy="640080"/>
          </a:xfrm>
          <a:prstGeom prst="roundRect">
            <a:avLst>
              <a:gd name="adj" fmla="val 5714"/>
            </a:avLst>
          </a:prstGeom>
          <a:solidFill>
            <a:srgbClr val="FDF0F0"/>
          </a:solidFill>
          <a:ln w="12700">
            <a:solidFill>
              <a:srgbClr val="333333"/>
            </a:solidFill>
            <a:prstDash val="solid"/>
          </a:ln>
        </p:spPr>
      </p:sp>
      <p:sp>
        <p:nvSpPr>
          <p:cNvPr id="25" name="Text 23"/>
          <p:cNvSpPr txBox="1"/>
          <p:nvPr/>
        </p:nvSpPr>
        <p:spPr>
          <a:xfrm>
            <a:off x="877824" y="5650992"/>
            <a:ext cx="10436047" cy="640080"/>
          </a:xfrm>
          <a:prstGeom prst="rect">
            <a:avLst/>
          </a:prstGeom>
          <a:noFill/>
          <a:ln/>
        </p:spPr>
        <p:txBody>
          <a:bodyPr wrap="square" lIns="0" tIns="0" rIns="0" bIns="0" rtlCol="0" anchor="ctr"/>
          <a:lstStyle/>
          <a:p>
            <a:pPr indent="0" marL="0">
              <a:lnSpc>
                <a:spcPts val="2000"/>
              </a:lnSpc>
              <a:buNone/>
            </a:pPr>
            <a:r>
              <a:rPr lang="en-US" sz="1500" b="1" dirty="0">
                <a:solidFill>
                  <a:srgbClr val="C00000"/>
                </a:solidFill>
                <a:latin typeface="Arial" pitchFamily="34" charset="0"/>
                <a:ea typeface="Arial" pitchFamily="34" charset="-122"/>
                <a:cs typeface="Arial" pitchFamily="34" charset="-120"/>
              </a:rPr>
              <a:t>Build now, revisit buying at scale. </a:t>
            </a:r>
            <a:pPr indent="0" marL="0">
              <a:lnSpc>
                <a:spcPts val="2000"/>
              </a:lnSpc>
              <a:buNone/>
            </a:pPr>
            <a:r>
              <a:rPr lang="en-US" sz="1500" dirty="0">
                <a:solidFill>
                  <a:srgbClr val="4B5363"/>
                </a:solidFill>
                <a:latin typeface="Arial" pitchFamily="34" charset="0"/>
                <a:ea typeface="Arial" pitchFamily="34" charset="-122"/>
                <a:cs typeface="Arial" pitchFamily="34" charset="-120"/>
              </a:rPr>
              <a:t>₱2.05M proves demand at 1,113 seats, where vendor minimums make per-seat economics worst. If it works across 20,587 people, buying becomes a fair question — with real usage data behind the RFP.</a:t>
            </a:r>
            <a:endParaRPr lang="en-US" sz="1500" dirty="0"/>
          </a:p>
        </p:txBody>
      </p:sp>
      <p:sp>
        <p:nvSpPr>
          <p:cNvPr id="26" name="Text 24"/>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No vendor here publishes per-seat pricing. Bands derive from how enterprise HR SaaS is structured. ₱61 = US$1.</a:t>
            </a:r>
            <a:endParaRPr lang="en-US" sz="1400" dirty="0"/>
          </a:p>
        </p:txBody>
      </p:sp>
      <p:sp>
        <p:nvSpPr>
          <p:cNvPr id="27" name="Text 25"/>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STRATEGIC ALIGNMENT</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222834"/>
                </a:solidFill>
                <a:latin typeface="Arial" pitchFamily="34" charset="0"/>
                <a:ea typeface="Arial" pitchFamily="34" charset="-122"/>
                <a:cs typeface="Arial" pitchFamily="34" charset="-120"/>
              </a:rPr>
              <a:t>Three of the eight priorities run on internal talent.</a:t>
            </a:r>
            <a:endParaRPr lang="en-US" sz="29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We cannot buy a bench, tech capability and a performance culture all at once.</a:t>
            </a:r>
            <a:endParaRPr lang="en-US" sz="1600" dirty="0"/>
          </a:p>
        </p:txBody>
      </p:sp>
      <p:sp>
        <p:nvSpPr>
          <p:cNvPr id="6" name="Text 4"/>
          <p:cNvSpPr txBox="1"/>
          <p:nvPr/>
        </p:nvSpPr>
        <p:spPr>
          <a:xfrm>
            <a:off x="566928" y="1938528"/>
            <a:ext cx="4589003" cy="237744"/>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THE EIGHT PRIORITIES '27–'29</a:t>
            </a:r>
            <a:endParaRPr lang="en-US" sz="1400" dirty="0"/>
          </a:p>
        </p:txBody>
      </p:sp>
      <p:sp>
        <p:nvSpPr>
          <p:cNvPr id="7" name="Shape 5"/>
          <p:cNvSpPr/>
          <p:nvPr/>
        </p:nvSpPr>
        <p:spPr>
          <a:xfrm>
            <a:off x="566928" y="2267712"/>
            <a:ext cx="4589003" cy="429768"/>
          </a:xfrm>
          <a:prstGeom prst="roundRect">
            <a:avLst>
              <a:gd name="adj" fmla="val 8511"/>
            </a:avLst>
          </a:prstGeom>
          <a:solidFill>
            <a:srgbClr val="FDF0F0"/>
          </a:solidFill>
          <a:ln w="12700">
            <a:solidFill>
              <a:srgbClr val="F2D4D4"/>
            </a:solidFill>
            <a:prstDash val="solid"/>
          </a:ln>
        </p:spPr>
      </p:sp>
      <p:sp>
        <p:nvSpPr>
          <p:cNvPr id="8" name="Shape 6"/>
          <p:cNvSpPr/>
          <p:nvPr/>
        </p:nvSpPr>
        <p:spPr>
          <a:xfrm>
            <a:off x="566928" y="2304288"/>
            <a:ext cx="45720" cy="356616"/>
          </a:xfrm>
          <a:prstGeom prst="rect">
            <a:avLst/>
          </a:prstGeom>
          <a:solidFill>
            <a:srgbClr val="C00000"/>
          </a:solidFill>
          <a:ln w="12700">
            <a:solidFill>
              <a:srgbClr val="333333"/>
            </a:solidFill>
            <a:prstDash val="solid"/>
          </a:ln>
        </p:spPr>
      </p:sp>
      <p:sp>
        <p:nvSpPr>
          <p:cNvPr id="9" name="Text 7"/>
          <p:cNvSpPr txBox="1"/>
          <p:nvPr/>
        </p:nvSpPr>
        <p:spPr>
          <a:xfrm>
            <a:off x="768096" y="2295144"/>
            <a:ext cx="4204955" cy="210312"/>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People &amp; Culture</a:t>
            </a:r>
            <a:endParaRPr lang="en-US" sz="1500" dirty="0"/>
          </a:p>
        </p:txBody>
      </p:sp>
      <p:sp>
        <p:nvSpPr>
          <p:cNvPr id="10" name="Text 8"/>
          <p:cNvSpPr txBox="1"/>
          <p:nvPr/>
        </p:nvSpPr>
        <p:spPr>
          <a:xfrm>
            <a:off x="768096" y="2496312"/>
            <a:ext cx="4204955" cy="192024"/>
          </a:xfrm>
          <a:prstGeom prst="rect">
            <a:avLst/>
          </a:prstGeom>
          <a:noFill/>
          <a:ln/>
        </p:spPr>
        <p:txBody>
          <a:bodyPr wrap="square" lIns="0" tIns="0" rIns="0" bIns="0" rtlCol="0" anchor="ctr"/>
          <a:lstStyle/>
          <a:p>
            <a:pPr indent="0" marL="0">
              <a:buNone/>
            </a:pPr>
            <a:r>
              <a:rPr lang="en-US" sz="1400" dirty="0">
                <a:solidFill>
                  <a:srgbClr val="4B5363"/>
                </a:solidFill>
                <a:latin typeface="Arial" pitchFamily="34" charset="0"/>
                <a:ea typeface="Arial" pitchFamily="34" charset="-122"/>
                <a:cs typeface="Arial" pitchFamily="34" charset="-120"/>
              </a:rPr>
              <a:t>Capabilities · performance culture</a:t>
            </a:r>
            <a:endParaRPr lang="en-US" sz="1400" dirty="0"/>
          </a:p>
        </p:txBody>
      </p:sp>
      <p:sp>
        <p:nvSpPr>
          <p:cNvPr id="11" name="Shape 9"/>
          <p:cNvSpPr/>
          <p:nvPr/>
        </p:nvSpPr>
        <p:spPr>
          <a:xfrm>
            <a:off x="566928" y="2766060"/>
            <a:ext cx="4589003" cy="429768"/>
          </a:xfrm>
          <a:prstGeom prst="roundRect">
            <a:avLst>
              <a:gd name="adj" fmla="val 8511"/>
            </a:avLst>
          </a:prstGeom>
          <a:solidFill>
            <a:srgbClr val="FDF0F0"/>
          </a:solidFill>
          <a:ln w="12700">
            <a:solidFill>
              <a:srgbClr val="F2D4D4"/>
            </a:solidFill>
            <a:prstDash val="solid"/>
          </a:ln>
        </p:spPr>
      </p:sp>
      <p:sp>
        <p:nvSpPr>
          <p:cNvPr id="12" name="Shape 10"/>
          <p:cNvSpPr/>
          <p:nvPr/>
        </p:nvSpPr>
        <p:spPr>
          <a:xfrm>
            <a:off x="566928" y="2802636"/>
            <a:ext cx="45720" cy="356616"/>
          </a:xfrm>
          <a:prstGeom prst="rect">
            <a:avLst/>
          </a:prstGeom>
          <a:solidFill>
            <a:srgbClr val="C00000"/>
          </a:solidFill>
          <a:ln w="12700">
            <a:solidFill>
              <a:srgbClr val="333333"/>
            </a:solidFill>
            <a:prstDash val="solid"/>
          </a:ln>
        </p:spPr>
      </p:sp>
      <p:sp>
        <p:nvSpPr>
          <p:cNvPr id="13" name="Text 11"/>
          <p:cNvSpPr txBox="1"/>
          <p:nvPr/>
        </p:nvSpPr>
        <p:spPr>
          <a:xfrm>
            <a:off x="768096" y="2793492"/>
            <a:ext cx="4204955" cy="210312"/>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Deep Focus on Tech</a:t>
            </a:r>
            <a:endParaRPr lang="en-US" sz="1500" dirty="0"/>
          </a:p>
        </p:txBody>
      </p:sp>
      <p:sp>
        <p:nvSpPr>
          <p:cNvPr id="14" name="Text 12"/>
          <p:cNvSpPr txBox="1"/>
          <p:nvPr/>
        </p:nvSpPr>
        <p:spPr>
          <a:xfrm>
            <a:off x="768096" y="2994660"/>
            <a:ext cx="4204955" cy="192024"/>
          </a:xfrm>
          <a:prstGeom prst="rect">
            <a:avLst/>
          </a:prstGeom>
          <a:noFill/>
          <a:ln/>
        </p:spPr>
        <p:txBody>
          <a:bodyPr wrap="square" lIns="0" tIns="0" rIns="0" bIns="0" rtlCol="0" anchor="ctr"/>
          <a:lstStyle/>
          <a:p>
            <a:pPr indent="0" marL="0">
              <a:buNone/>
            </a:pPr>
            <a:r>
              <a:rPr lang="en-US" sz="1400" dirty="0">
                <a:solidFill>
                  <a:srgbClr val="4B5363"/>
                </a:solidFill>
                <a:latin typeface="Arial" pitchFamily="34" charset="0"/>
                <a:ea typeface="Arial" pitchFamily="34" charset="-122"/>
                <a:cs typeface="Arial" pitchFamily="34" charset="-120"/>
              </a:rPr>
              <a:t>Core platform · Unified Data</a:t>
            </a:r>
            <a:endParaRPr lang="en-US" sz="1400" dirty="0"/>
          </a:p>
        </p:txBody>
      </p:sp>
      <p:sp>
        <p:nvSpPr>
          <p:cNvPr id="15" name="Shape 13"/>
          <p:cNvSpPr/>
          <p:nvPr/>
        </p:nvSpPr>
        <p:spPr>
          <a:xfrm>
            <a:off x="566928" y="3264408"/>
            <a:ext cx="4589003" cy="429768"/>
          </a:xfrm>
          <a:prstGeom prst="roundRect">
            <a:avLst>
              <a:gd name="adj" fmla="val 8511"/>
            </a:avLst>
          </a:prstGeom>
          <a:solidFill>
            <a:srgbClr val="FDF0F0"/>
          </a:solidFill>
          <a:ln w="12700">
            <a:solidFill>
              <a:srgbClr val="F2D4D4"/>
            </a:solidFill>
            <a:prstDash val="solid"/>
          </a:ln>
        </p:spPr>
      </p:sp>
      <p:sp>
        <p:nvSpPr>
          <p:cNvPr id="16" name="Shape 14"/>
          <p:cNvSpPr/>
          <p:nvPr/>
        </p:nvSpPr>
        <p:spPr>
          <a:xfrm>
            <a:off x="566928" y="3300984"/>
            <a:ext cx="45720" cy="356616"/>
          </a:xfrm>
          <a:prstGeom prst="rect">
            <a:avLst/>
          </a:prstGeom>
          <a:solidFill>
            <a:srgbClr val="C00000"/>
          </a:solidFill>
          <a:ln w="12700">
            <a:solidFill>
              <a:srgbClr val="333333"/>
            </a:solidFill>
            <a:prstDash val="solid"/>
          </a:ln>
        </p:spPr>
      </p:sp>
      <p:sp>
        <p:nvSpPr>
          <p:cNvPr id="17" name="Text 15"/>
          <p:cNvSpPr txBox="1"/>
          <p:nvPr/>
        </p:nvSpPr>
        <p:spPr>
          <a:xfrm>
            <a:off x="768096" y="3291840"/>
            <a:ext cx="4204955" cy="210312"/>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Expand Horizons</a:t>
            </a:r>
            <a:endParaRPr lang="en-US" sz="1500" dirty="0"/>
          </a:p>
        </p:txBody>
      </p:sp>
      <p:sp>
        <p:nvSpPr>
          <p:cNvPr id="18" name="Text 16"/>
          <p:cNvSpPr txBox="1"/>
          <p:nvPr/>
        </p:nvSpPr>
        <p:spPr>
          <a:xfrm>
            <a:off x="768096" y="3493008"/>
            <a:ext cx="4204955" cy="192024"/>
          </a:xfrm>
          <a:prstGeom prst="rect">
            <a:avLst/>
          </a:prstGeom>
          <a:noFill/>
          <a:ln/>
        </p:spPr>
        <p:txBody>
          <a:bodyPr wrap="square" lIns="0" tIns="0" rIns="0" bIns="0" rtlCol="0" anchor="ctr"/>
          <a:lstStyle/>
          <a:p>
            <a:pPr indent="0" marL="0">
              <a:buNone/>
            </a:pPr>
            <a:r>
              <a:rPr lang="en-US" sz="1400" dirty="0">
                <a:solidFill>
                  <a:srgbClr val="4B5363"/>
                </a:solidFill>
                <a:latin typeface="Arial" pitchFamily="34" charset="0"/>
                <a:ea typeface="Arial" pitchFamily="34" charset="-122"/>
                <a:cs typeface="Arial" pitchFamily="34" charset="-120"/>
              </a:rPr>
              <a:t>MSME · secured loans · e-commerce</a:t>
            </a:r>
            <a:endParaRPr lang="en-US" sz="1400" dirty="0"/>
          </a:p>
        </p:txBody>
      </p:sp>
      <p:sp>
        <p:nvSpPr>
          <p:cNvPr id="19" name="Shape 17"/>
          <p:cNvSpPr/>
          <p:nvPr/>
        </p:nvSpPr>
        <p:spPr>
          <a:xfrm>
            <a:off x="566928" y="3762756"/>
            <a:ext cx="4589003" cy="429768"/>
          </a:xfrm>
          <a:prstGeom prst="roundRect">
            <a:avLst>
              <a:gd name="adj" fmla="val 8511"/>
            </a:avLst>
          </a:prstGeom>
          <a:solidFill>
            <a:srgbClr val="FCFAF6"/>
          </a:solidFill>
          <a:ln w="12700">
            <a:solidFill>
              <a:srgbClr val="E7E1D7"/>
            </a:solidFill>
            <a:prstDash val="solid"/>
          </a:ln>
        </p:spPr>
      </p:sp>
      <p:sp>
        <p:nvSpPr>
          <p:cNvPr id="20" name="Text 18"/>
          <p:cNvSpPr txBox="1"/>
          <p:nvPr/>
        </p:nvSpPr>
        <p:spPr>
          <a:xfrm>
            <a:off x="768096" y="3790188"/>
            <a:ext cx="4204955" cy="210312"/>
          </a:xfrm>
          <a:prstGeom prst="rect">
            <a:avLst/>
          </a:prstGeom>
          <a:noFill/>
          <a:ln/>
        </p:spPr>
        <p:txBody>
          <a:bodyPr wrap="square" lIns="0" tIns="0" rIns="0" bIns="0" rtlCol="0" anchor="ctr"/>
          <a:lstStyle/>
          <a:p>
            <a:pPr indent="0" marL="0">
              <a:buNone/>
            </a:pPr>
            <a:r>
              <a:rPr lang="en-US" sz="1500" b="1" dirty="0">
                <a:solidFill>
                  <a:srgbClr val="858D9B"/>
                </a:solidFill>
                <a:latin typeface="Arial" pitchFamily="34" charset="0"/>
                <a:ea typeface="Arial" pitchFamily="34" charset="-122"/>
                <a:cs typeface="Arial" pitchFamily="34" charset="-120"/>
              </a:rPr>
              <a:t>POS — defend position</a:t>
            </a:r>
            <a:endParaRPr lang="en-US" sz="1500" dirty="0"/>
          </a:p>
        </p:txBody>
      </p:sp>
      <p:sp>
        <p:nvSpPr>
          <p:cNvPr id="21" name="Text 19"/>
          <p:cNvSpPr txBox="1"/>
          <p:nvPr/>
        </p:nvSpPr>
        <p:spPr>
          <a:xfrm>
            <a:off x="768096" y="3991356"/>
            <a:ext cx="4204955" cy="192024"/>
          </a:xfrm>
          <a:prstGeom prst="rect">
            <a:avLst/>
          </a:prstGeom>
          <a:noFill/>
          <a:ln/>
        </p:spPr>
        <p:txBody>
          <a:bodyPr wrap="square" lIns="0" tIns="0" rIns="0" bIns="0" rtlCol="0" anchor="ctr"/>
          <a:lstStyle/>
          <a:p>
            <a:pPr indent="0" marL="0">
              <a:buNone/>
            </a:pPr>
            <a:r>
              <a:rPr lang="en-US" sz="1400" dirty="0">
                <a:solidFill>
                  <a:srgbClr val="A8AEB9"/>
                </a:solidFill>
                <a:latin typeface="Arial" pitchFamily="34" charset="0"/>
                <a:ea typeface="Arial" pitchFamily="34" charset="-122"/>
                <a:cs typeface="Arial" pitchFamily="34" charset="-120"/>
              </a:rPr>
              <a:t>Acquisition and retention channel</a:t>
            </a:r>
            <a:endParaRPr lang="en-US" sz="1400" dirty="0"/>
          </a:p>
        </p:txBody>
      </p:sp>
      <p:sp>
        <p:nvSpPr>
          <p:cNvPr id="22" name="Shape 20"/>
          <p:cNvSpPr/>
          <p:nvPr/>
        </p:nvSpPr>
        <p:spPr>
          <a:xfrm>
            <a:off x="566928" y="4261104"/>
            <a:ext cx="4589003" cy="429768"/>
          </a:xfrm>
          <a:prstGeom prst="roundRect">
            <a:avLst>
              <a:gd name="adj" fmla="val 8511"/>
            </a:avLst>
          </a:prstGeom>
          <a:solidFill>
            <a:srgbClr val="FCFAF6"/>
          </a:solidFill>
          <a:ln w="12700">
            <a:solidFill>
              <a:srgbClr val="E7E1D7"/>
            </a:solidFill>
            <a:prstDash val="solid"/>
          </a:ln>
        </p:spPr>
      </p:sp>
      <p:sp>
        <p:nvSpPr>
          <p:cNvPr id="23" name="Text 21"/>
          <p:cNvSpPr txBox="1"/>
          <p:nvPr/>
        </p:nvSpPr>
        <p:spPr>
          <a:xfrm>
            <a:off x="768096" y="4288536"/>
            <a:ext cx="4204955" cy="210312"/>
          </a:xfrm>
          <a:prstGeom prst="rect">
            <a:avLst/>
          </a:prstGeom>
          <a:noFill/>
          <a:ln/>
        </p:spPr>
        <p:txBody>
          <a:bodyPr wrap="square" lIns="0" tIns="0" rIns="0" bIns="0" rtlCol="0" anchor="ctr"/>
          <a:lstStyle/>
          <a:p>
            <a:pPr indent="0" marL="0">
              <a:buNone/>
            </a:pPr>
            <a:r>
              <a:rPr lang="en-US" sz="1500" b="1" dirty="0">
                <a:solidFill>
                  <a:srgbClr val="858D9B"/>
                </a:solidFill>
                <a:latin typeface="Arial" pitchFamily="34" charset="0"/>
                <a:ea typeface="Arial" pitchFamily="34" charset="-122"/>
                <a:cs typeface="Arial" pitchFamily="34" charset="-120"/>
              </a:rPr>
              <a:t>Cash Loan</a:t>
            </a:r>
            <a:endParaRPr lang="en-US" sz="1500" dirty="0"/>
          </a:p>
        </p:txBody>
      </p:sp>
      <p:sp>
        <p:nvSpPr>
          <p:cNvPr id="24" name="Text 22"/>
          <p:cNvSpPr txBox="1"/>
          <p:nvPr/>
        </p:nvSpPr>
        <p:spPr>
          <a:xfrm>
            <a:off x="768096" y="4489704"/>
            <a:ext cx="4204955" cy="192024"/>
          </a:xfrm>
          <a:prstGeom prst="rect">
            <a:avLst/>
          </a:prstGeom>
          <a:noFill/>
          <a:ln/>
        </p:spPr>
        <p:txBody>
          <a:bodyPr wrap="square" lIns="0" tIns="0" rIns="0" bIns="0" rtlCol="0" anchor="ctr"/>
          <a:lstStyle/>
          <a:p>
            <a:pPr indent="0" marL="0">
              <a:buNone/>
            </a:pPr>
            <a:r>
              <a:rPr lang="en-US" sz="1400" dirty="0">
                <a:solidFill>
                  <a:srgbClr val="A8AEB9"/>
                </a:solidFill>
                <a:latin typeface="Arial" pitchFamily="34" charset="0"/>
                <a:ea typeface="Arial" pitchFamily="34" charset="-122"/>
                <a:cs typeface="Arial" pitchFamily="34" charset="-120"/>
              </a:rPr>
              <a:t>Profitable, sustainable CLX</a:t>
            </a:r>
            <a:endParaRPr lang="en-US" sz="1400" dirty="0"/>
          </a:p>
        </p:txBody>
      </p:sp>
      <p:sp>
        <p:nvSpPr>
          <p:cNvPr id="25" name="Shape 23"/>
          <p:cNvSpPr/>
          <p:nvPr/>
        </p:nvSpPr>
        <p:spPr>
          <a:xfrm>
            <a:off x="566928" y="4759452"/>
            <a:ext cx="4589003" cy="429768"/>
          </a:xfrm>
          <a:prstGeom prst="roundRect">
            <a:avLst>
              <a:gd name="adj" fmla="val 8511"/>
            </a:avLst>
          </a:prstGeom>
          <a:solidFill>
            <a:srgbClr val="FCFAF6"/>
          </a:solidFill>
          <a:ln w="12700">
            <a:solidFill>
              <a:srgbClr val="E7E1D7"/>
            </a:solidFill>
            <a:prstDash val="solid"/>
          </a:ln>
        </p:spPr>
      </p:sp>
      <p:sp>
        <p:nvSpPr>
          <p:cNvPr id="26" name="Text 24"/>
          <p:cNvSpPr txBox="1"/>
          <p:nvPr/>
        </p:nvSpPr>
        <p:spPr>
          <a:xfrm>
            <a:off x="768096" y="4786884"/>
            <a:ext cx="4204955" cy="210312"/>
          </a:xfrm>
          <a:prstGeom prst="rect">
            <a:avLst/>
          </a:prstGeom>
          <a:noFill/>
          <a:ln/>
        </p:spPr>
        <p:txBody>
          <a:bodyPr wrap="square" lIns="0" tIns="0" rIns="0" bIns="0" rtlCol="0" anchor="ctr"/>
          <a:lstStyle/>
          <a:p>
            <a:pPr indent="0" marL="0">
              <a:buNone/>
            </a:pPr>
            <a:r>
              <a:rPr lang="en-US" sz="1500" b="1" dirty="0">
                <a:solidFill>
                  <a:srgbClr val="858D9B"/>
                </a:solidFill>
                <a:latin typeface="Arial" pitchFamily="34" charset="0"/>
                <a:ea typeface="Arial" pitchFamily="34" charset="-122"/>
                <a:cs typeface="Arial" pitchFamily="34" charset="-120"/>
              </a:rPr>
              <a:t>App-led lifecycle</a:t>
            </a:r>
            <a:endParaRPr lang="en-US" sz="1500" dirty="0"/>
          </a:p>
        </p:txBody>
      </p:sp>
      <p:sp>
        <p:nvSpPr>
          <p:cNvPr id="27" name="Text 25"/>
          <p:cNvSpPr txBox="1"/>
          <p:nvPr/>
        </p:nvSpPr>
        <p:spPr>
          <a:xfrm>
            <a:off x="768096" y="4988052"/>
            <a:ext cx="4204955" cy="192024"/>
          </a:xfrm>
          <a:prstGeom prst="rect">
            <a:avLst/>
          </a:prstGeom>
          <a:noFill/>
          <a:ln/>
        </p:spPr>
        <p:txBody>
          <a:bodyPr wrap="square" lIns="0" tIns="0" rIns="0" bIns="0" rtlCol="0" anchor="ctr"/>
          <a:lstStyle/>
          <a:p>
            <a:pPr indent="0" marL="0">
              <a:buNone/>
            </a:pPr>
            <a:r>
              <a:rPr lang="en-US" sz="1400" dirty="0">
                <a:solidFill>
                  <a:srgbClr val="A8AEB9"/>
                </a:solidFill>
                <a:latin typeface="Arial" pitchFamily="34" charset="0"/>
                <a:ea typeface="Arial" pitchFamily="34" charset="-122"/>
                <a:cs typeface="Arial" pitchFamily="34" charset="-120"/>
              </a:rPr>
              <a:t>Personalised engagement</a:t>
            </a:r>
            <a:endParaRPr lang="en-US" sz="1400" dirty="0"/>
          </a:p>
        </p:txBody>
      </p:sp>
      <p:sp>
        <p:nvSpPr>
          <p:cNvPr id="28" name="Shape 26"/>
          <p:cNvSpPr/>
          <p:nvPr/>
        </p:nvSpPr>
        <p:spPr>
          <a:xfrm>
            <a:off x="566928" y="5257800"/>
            <a:ext cx="4589003" cy="429768"/>
          </a:xfrm>
          <a:prstGeom prst="roundRect">
            <a:avLst>
              <a:gd name="adj" fmla="val 8511"/>
            </a:avLst>
          </a:prstGeom>
          <a:solidFill>
            <a:srgbClr val="FCFAF6"/>
          </a:solidFill>
          <a:ln w="12700">
            <a:solidFill>
              <a:srgbClr val="E7E1D7"/>
            </a:solidFill>
            <a:prstDash val="solid"/>
          </a:ln>
        </p:spPr>
      </p:sp>
      <p:sp>
        <p:nvSpPr>
          <p:cNvPr id="29" name="Text 27"/>
          <p:cNvSpPr txBox="1"/>
          <p:nvPr/>
        </p:nvSpPr>
        <p:spPr>
          <a:xfrm>
            <a:off x="768096" y="5285232"/>
            <a:ext cx="4204955" cy="210312"/>
          </a:xfrm>
          <a:prstGeom prst="rect">
            <a:avLst/>
          </a:prstGeom>
          <a:noFill/>
          <a:ln/>
        </p:spPr>
        <p:txBody>
          <a:bodyPr wrap="square" lIns="0" tIns="0" rIns="0" bIns="0" rtlCol="0" anchor="ctr"/>
          <a:lstStyle/>
          <a:p>
            <a:pPr indent="0" marL="0">
              <a:buNone/>
            </a:pPr>
            <a:r>
              <a:rPr lang="en-US" sz="1500" b="1" dirty="0">
                <a:solidFill>
                  <a:srgbClr val="858D9B"/>
                </a:solidFill>
                <a:latin typeface="Arial" pitchFamily="34" charset="0"/>
                <a:ea typeface="Arial" pitchFamily="34" charset="-122"/>
                <a:cs typeface="Arial" pitchFamily="34" charset="-120"/>
              </a:rPr>
              <a:t>Risk &amp; Collections</a:t>
            </a:r>
            <a:endParaRPr lang="en-US" sz="1500" dirty="0"/>
          </a:p>
        </p:txBody>
      </p:sp>
      <p:sp>
        <p:nvSpPr>
          <p:cNvPr id="30" name="Text 28"/>
          <p:cNvSpPr txBox="1"/>
          <p:nvPr/>
        </p:nvSpPr>
        <p:spPr>
          <a:xfrm>
            <a:off x="768096" y="5486400"/>
            <a:ext cx="4204955" cy="192024"/>
          </a:xfrm>
          <a:prstGeom prst="rect">
            <a:avLst/>
          </a:prstGeom>
          <a:noFill/>
          <a:ln/>
        </p:spPr>
        <p:txBody>
          <a:bodyPr wrap="square" lIns="0" tIns="0" rIns="0" bIns="0" rtlCol="0" anchor="ctr"/>
          <a:lstStyle/>
          <a:p>
            <a:pPr indent="0" marL="0">
              <a:buNone/>
            </a:pPr>
            <a:r>
              <a:rPr lang="en-US" sz="1400" dirty="0">
                <a:solidFill>
                  <a:srgbClr val="A8AEB9"/>
                </a:solidFill>
                <a:latin typeface="Arial" pitchFamily="34" charset="0"/>
                <a:ea typeface="Arial" pitchFamily="34" charset="-122"/>
                <a:cs typeface="Arial" pitchFamily="34" charset="-120"/>
              </a:rPr>
              <a:t>Scorecards · CE tools</a:t>
            </a:r>
            <a:endParaRPr lang="en-US" sz="1400" dirty="0"/>
          </a:p>
        </p:txBody>
      </p:sp>
      <p:sp>
        <p:nvSpPr>
          <p:cNvPr id="31" name="Shape 29"/>
          <p:cNvSpPr/>
          <p:nvPr/>
        </p:nvSpPr>
        <p:spPr>
          <a:xfrm>
            <a:off x="566928" y="5756148"/>
            <a:ext cx="4589003" cy="429768"/>
          </a:xfrm>
          <a:prstGeom prst="roundRect">
            <a:avLst>
              <a:gd name="adj" fmla="val 8511"/>
            </a:avLst>
          </a:prstGeom>
          <a:solidFill>
            <a:srgbClr val="FCFAF6"/>
          </a:solidFill>
          <a:ln w="12700">
            <a:solidFill>
              <a:srgbClr val="E7E1D7"/>
            </a:solidFill>
            <a:prstDash val="solid"/>
          </a:ln>
        </p:spPr>
      </p:sp>
      <p:sp>
        <p:nvSpPr>
          <p:cNvPr id="32" name="Text 30"/>
          <p:cNvSpPr txBox="1"/>
          <p:nvPr/>
        </p:nvSpPr>
        <p:spPr>
          <a:xfrm>
            <a:off x="768096" y="5783580"/>
            <a:ext cx="4204955" cy="210312"/>
          </a:xfrm>
          <a:prstGeom prst="rect">
            <a:avLst/>
          </a:prstGeom>
          <a:noFill/>
          <a:ln/>
        </p:spPr>
        <p:txBody>
          <a:bodyPr wrap="square" lIns="0" tIns="0" rIns="0" bIns="0" rtlCol="0" anchor="ctr"/>
          <a:lstStyle/>
          <a:p>
            <a:pPr indent="0" marL="0">
              <a:buNone/>
            </a:pPr>
            <a:r>
              <a:rPr lang="en-US" sz="1500" b="1" dirty="0">
                <a:solidFill>
                  <a:srgbClr val="858D9B"/>
                </a:solidFill>
                <a:latin typeface="Arial" pitchFamily="34" charset="0"/>
                <a:ea typeface="Arial" pitchFamily="34" charset="-122"/>
                <a:cs typeface="Arial" pitchFamily="34" charset="-120"/>
              </a:rPr>
              <a:t>Secure local funding</a:t>
            </a:r>
            <a:endParaRPr lang="en-US" sz="1500" dirty="0"/>
          </a:p>
        </p:txBody>
      </p:sp>
      <p:sp>
        <p:nvSpPr>
          <p:cNvPr id="33" name="Text 31"/>
          <p:cNvSpPr txBox="1"/>
          <p:nvPr/>
        </p:nvSpPr>
        <p:spPr>
          <a:xfrm>
            <a:off x="768096" y="5984748"/>
            <a:ext cx="4204955" cy="192024"/>
          </a:xfrm>
          <a:prstGeom prst="rect">
            <a:avLst/>
          </a:prstGeom>
          <a:noFill/>
          <a:ln/>
        </p:spPr>
        <p:txBody>
          <a:bodyPr wrap="square" lIns="0" tIns="0" rIns="0" bIns="0" rtlCol="0" anchor="ctr"/>
          <a:lstStyle/>
          <a:p>
            <a:pPr indent="0" marL="0">
              <a:buNone/>
            </a:pPr>
            <a:r>
              <a:rPr lang="en-US" sz="1400" dirty="0">
                <a:solidFill>
                  <a:srgbClr val="A8AEB9"/>
                </a:solidFill>
                <a:latin typeface="Arial" pitchFamily="34" charset="0"/>
                <a:ea typeface="Arial" pitchFamily="34" charset="-122"/>
                <a:cs typeface="Arial" pitchFamily="34" charset="-120"/>
              </a:rPr>
              <a:t>Diversify base · hold spreads</a:t>
            </a:r>
            <a:endParaRPr lang="en-US" sz="1400" dirty="0"/>
          </a:p>
        </p:txBody>
      </p:sp>
      <p:sp>
        <p:nvSpPr>
          <p:cNvPr id="34" name="Text 32"/>
          <p:cNvSpPr txBox="1"/>
          <p:nvPr/>
        </p:nvSpPr>
        <p:spPr>
          <a:xfrm>
            <a:off x="5539979" y="1938528"/>
            <a:ext cx="6084788" cy="237744"/>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WHAT GROWTH DELIVERS AGAINST THEM</a:t>
            </a:r>
            <a:endParaRPr lang="en-US" sz="1400" dirty="0"/>
          </a:p>
        </p:txBody>
      </p:sp>
      <p:sp>
        <p:nvSpPr>
          <p:cNvPr id="35" name="Shape 33"/>
          <p:cNvSpPr/>
          <p:nvPr/>
        </p:nvSpPr>
        <p:spPr>
          <a:xfrm>
            <a:off x="5539979" y="2267712"/>
            <a:ext cx="6084788" cy="914400"/>
          </a:xfrm>
          <a:prstGeom prst="roundRect">
            <a:avLst>
              <a:gd name="adj" fmla="val 4000"/>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36" name="Shape 34"/>
          <p:cNvSpPr/>
          <p:nvPr/>
        </p:nvSpPr>
        <p:spPr>
          <a:xfrm>
            <a:off x="5539979" y="2267712"/>
            <a:ext cx="50292" cy="914400"/>
          </a:xfrm>
          <a:prstGeom prst="rect">
            <a:avLst/>
          </a:prstGeom>
          <a:solidFill>
            <a:srgbClr val="C00000"/>
          </a:solidFill>
          <a:ln w="12700">
            <a:solidFill>
              <a:srgbClr val="333333"/>
            </a:solidFill>
            <a:prstDash val="solid"/>
          </a:ln>
        </p:spPr>
      </p:sp>
      <p:sp>
        <p:nvSpPr>
          <p:cNvPr id="37" name="Text 35"/>
          <p:cNvSpPr txBox="1"/>
          <p:nvPr/>
        </p:nvSpPr>
        <p:spPr>
          <a:xfrm>
            <a:off x="5796011" y="2377440"/>
            <a:ext cx="5572724" cy="274320"/>
          </a:xfrm>
          <a:prstGeom prst="rect">
            <a:avLst/>
          </a:prstGeom>
          <a:noFill/>
          <a:ln/>
        </p:spPr>
        <p:txBody>
          <a:bodyPr wrap="square" lIns="0" tIns="0" rIns="0" bIns="0" rtlCol="0" anchor="ctr"/>
          <a:lstStyle/>
          <a:p>
            <a:pPr indent="0" marL="0">
              <a:buNone/>
            </a:pPr>
            <a:r>
              <a:rPr lang="en-US" sz="1600" b="1" dirty="0">
                <a:solidFill>
                  <a:srgbClr val="222834"/>
                </a:solidFill>
                <a:latin typeface="Arial" pitchFamily="34" charset="0"/>
                <a:ea typeface="Arial" pitchFamily="34" charset="-122"/>
                <a:cs typeface="Arial" pitchFamily="34" charset="-120"/>
              </a:rPr>
              <a:t>Builds tech talent from the inside</a:t>
            </a:r>
            <a:endParaRPr lang="en-US" sz="1600" dirty="0"/>
          </a:p>
        </p:txBody>
      </p:sp>
      <p:sp>
        <p:nvSpPr>
          <p:cNvPr id="38" name="Text 36"/>
          <p:cNvSpPr txBox="1"/>
          <p:nvPr/>
        </p:nvSpPr>
        <p:spPr>
          <a:xfrm>
            <a:off x="5796011" y="2670048"/>
            <a:ext cx="5572724" cy="438912"/>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Gigs and immersions let Operations, Risk and HR people do real IT and analytics work before we pay a headhunter for it.</a:t>
            </a:r>
            <a:endParaRPr lang="en-US" sz="1450" dirty="0"/>
          </a:p>
        </p:txBody>
      </p:sp>
      <p:sp>
        <p:nvSpPr>
          <p:cNvPr id="39" name="Shape 37"/>
          <p:cNvSpPr/>
          <p:nvPr/>
        </p:nvSpPr>
        <p:spPr>
          <a:xfrm>
            <a:off x="5539979" y="3273552"/>
            <a:ext cx="6084788" cy="914400"/>
          </a:xfrm>
          <a:prstGeom prst="roundRect">
            <a:avLst>
              <a:gd name="adj" fmla="val 4000"/>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40" name="Shape 38"/>
          <p:cNvSpPr/>
          <p:nvPr/>
        </p:nvSpPr>
        <p:spPr>
          <a:xfrm>
            <a:off x="5539979" y="3273552"/>
            <a:ext cx="50292" cy="914400"/>
          </a:xfrm>
          <a:prstGeom prst="rect">
            <a:avLst/>
          </a:prstGeom>
          <a:solidFill>
            <a:srgbClr val="C00000"/>
          </a:solidFill>
          <a:ln w="12700">
            <a:solidFill>
              <a:srgbClr val="333333"/>
            </a:solidFill>
            <a:prstDash val="solid"/>
          </a:ln>
        </p:spPr>
      </p:sp>
      <p:sp>
        <p:nvSpPr>
          <p:cNvPr id="41" name="Text 39"/>
          <p:cNvSpPr txBox="1"/>
          <p:nvPr/>
        </p:nvSpPr>
        <p:spPr>
          <a:xfrm>
            <a:off x="5796011" y="3383280"/>
            <a:ext cx="5572724" cy="274320"/>
          </a:xfrm>
          <a:prstGeom prst="rect">
            <a:avLst/>
          </a:prstGeom>
          <a:noFill/>
          <a:ln/>
        </p:spPr>
        <p:txBody>
          <a:bodyPr wrap="square" lIns="0" tIns="0" rIns="0" bIns="0" rtlCol="0" anchor="ctr"/>
          <a:lstStyle/>
          <a:p>
            <a:pPr indent="0" marL="0">
              <a:buNone/>
            </a:pPr>
            <a:r>
              <a:rPr lang="en-US" sz="1600" b="1" dirty="0">
                <a:solidFill>
                  <a:srgbClr val="222834"/>
                </a:solidFill>
                <a:latin typeface="Arial" pitchFamily="34" charset="0"/>
                <a:ea typeface="Arial" pitchFamily="34" charset="-122"/>
                <a:cs typeface="Arial" pitchFamily="34" charset="-120"/>
              </a:rPr>
              <a:t>Strengthens the middle-management bench</a:t>
            </a:r>
            <a:endParaRPr lang="en-US" sz="1600" dirty="0"/>
          </a:p>
        </p:txBody>
      </p:sp>
      <p:sp>
        <p:nvSpPr>
          <p:cNvPr id="42" name="Text 40"/>
          <p:cNvSpPr txBox="1"/>
          <p:nvPr/>
        </p:nvSpPr>
        <p:spPr>
          <a:xfrm>
            <a:off x="5796011" y="3675888"/>
            <a:ext cx="5572724" cy="438912"/>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Band B pivots and Band C lateral moves become visible, matched and tracked — from people already on payroll.</a:t>
            </a:r>
            <a:endParaRPr lang="en-US" sz="1450" dirty="0"/>
          </a:p>
        </p:txBody>
      </p:sp>
      <p:sp>
        <p:nvSpPr>
          <p:cNvPr id="43" name="Shape 41"/>
          <p:cNvSpPr/>
          <p:nvPr/>
        </p:nvSpPr>
        <p:spPr>
          <a:xfrm>
            <a:off x="5539979" y="4279392"/>
            <a:ext cx="6084788" cy="914400"/>
          </a:xfrm>
          <a:prstGeom prst="roundRect">
            <a:avLst>
              <a:gd name="adj" fmla="val 4000"/>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44" name="Shape 42"/>
          <p:cNvSpPr/>
          <p:nvPr/>
        </p:nvSpPr>
        <p:spPr>
          <a:xfrm>
            <a:off x="5539979" y="4279392"/>
            <a:ext cx="50292" cy="914400"/>
          </a:xfrm>
          <a:prstGeom prst="rect">
            <a:avLst/>
          </a:prstGeom>
          <a:solidFill>
            <a:srgbClr val="C00000"/>
          </a:solidFill>
          <a:ln w="12700">
            <a:solidFill>
              <a:srgbClr val="333333"/>
            </a:solidFill>
            <a:prstDash val="solid"/>
          </a:ln>
        </p:spPr>
      </p:sp>
      <p:sp>
        <p:nvSpPr>
          <p:cNvPr id="45" name="Text 43"/>
          <p:cNvSpPr txBox="1"/>
          <p:nvPr/>
        </p:nvSpPr>
        <p:spPr>
          <a:xfrm>
            <a:off x="5796011" y="4389120"/>
            <a:ext cx="5572724" cy="274320"/>
          </a:xfrm>
          <a:prstGeom prst="rect">
            <a:avLst/>
          </a:prstGeom>
          <a:noFill/>
          <a:ln/>
        </p:spPr>
        <p:txBody>
          <a:bodyPr wrap="square" lIns="0" tIns="0" rIns="0" bIns="0" rtlCol="0" anchor="ctr"/>
          <a:lstStyle/>
          <a:p>
            <a:pPr indent="0" marL="0">
              <a:buNone/>
            </a:pPr>
            <a:r>
              <a:rPr lang="en-US" sz="1600" b="1" dirty="0">
                <a:solidFill>
                  <a:srgbClr val="222834"/>
                </a:solidFill>
                <a:latin typeface="Arial" pitchFamily="34" charset="0"/>
                <a:ea typeface="Arial" pitchFamily="34" charset="-122"/>
                <a:cs typeface="Arial" pitchFamily="34" charset="-120"/>
              </a:rPr>
              <a:t>Creates the people half of Unified Data</a:t>
            </a:r>
            <a:endParaRPr lang="en-US" sz="1600" dirty="0"/>
          </a:p>
        </p:txBody>
      </p:sp>
      <p:sp>
        <p:nvSpPr>
          <p:cNvPr id="46" name="Text 44"/>
          <p:cNvSpPr txBox="1"/>
          <p:nvPr/>
        </p:nvSpPr>
        <p:spPr>
          <a:xfrm>
            <a:off x="5796011" y="4681728"/>
            <a:ext cx="5572724" cy="438912"/>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A live, verified skills inventory as a by-product. "Who can do X?" answered from data rather than memory.</a:t>
            </a:r>
            <a:endParaRPr lang="en-US" sz="1450" dirty="0"/>
          </a:p>
        </p:txBody>
      </p:sp>
      <p:sp>
        <p:nvSpPr>
          <p:cNvPr id="47" name="Shape 45"/>
          <p:cNvSpPr/>
          <p:nvPr/>
        </p:nvSpPr>
        <p:spPr>
          <a:xfrm>
            <a:off x="5539979" y="5285232"/>
            <a:ext cx="6084788" cy="914400"/>
          </a:xfrm>
          <a:prstGeom prst="roundRect">
            <a:avLst>
              <a:gd name="adj" fmla="val 4000"/>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48" name="Shape 46"/>
          <p:cNvSpPr/>
          <p:nvPr/>
        </p:nvSpPr>
        <p:spPr>
          <a:xfrm>
            <a:off x="5539979" y="5285232"/>
            <a:ext cx="50292" cy="914400"/>
          </a:xfrm>
          <a:prstGeom prst="rect">
            <a:avLst/>
          </a:prstGeom>
          <a:solidFill>
            <a:srgbClr val="C00000"/>
          </a:solidFill>
          <a:ln w="12700">
            <a:solidFill>
              <a:srgbClr val="333333"/>
            </a:solidFill>
            <a:prstDash val="solid"/>
          </a:ln>
        </p:spPr>
      </p:sp>
      <p:sp>
        <p:nvSpPr>
          <p:cNvPr id="49" name="Text 47"/>
          <p:cNvSpPr txBox="1"/>
          <p:nvPr/>
        </p:nvSpPr>
        <p:spPr>
          <a:xfrm>
            <a:off x="5796011" y="5394960"/>
            <a:ext cx="5572724" cy="274320"/>
          </a:xfrm>
          <a:prstGeom prst="rect">
            <a:avLst/>
          </a:prstGeom>
          <a:noFill/>
          <a:ln/>
        </p:spPr>
        <p:txBody>
          <a:bodyPr wrap="square" lIns="0" tIns="0" rIns="0" bIns="0" rtlCol="0" anchor="ctr"/>
          <a:lstStyle/>
          <a:p>
            <a:pPr indent="0" marL="0">
              <a:buNone/>
            </a:pPr>
            <a:r>
              <a:rPr lang="en-US" sz="1600" b="1" dirty="0">
                <a:solidFill>
                  <a:srgbClr val="222834"/>
                </a:solidFill>
                <a:latin typeface="Arial" pitchFamily="34" charset="0"/>
                <a:ea typeface="Arial" pitchFamily="34" charset="-122"/>
                <a:cs typeface="Arial" pitchFamily="34" charset="-120"/>
              </a:rPr>
              <a:t>Staffs new growth engines in days</a:t>
            </a:r>
            <a:endParaRPr lang="en-US" sz="1600" dirty="0"/>
          </a:p>
        </p:txBody>
      </p:sp>
      <p:sp>
        <p:nvSpPr>
          <p:cNvPr id="50" name="Text 48"/>
          <p:cNvSpPr txBox="1"/>
          <p:nvPr/>
        </p:nvSpPr>
        <p:spPr>
          <a:xfrm>
            <a:off x="5796011" y="5687568"/>
            <a:ext cx="5572724" cy="438912"/>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MSME, e-commerce and the app journey resourced from internal capacity instead of contractors.</a:t>
            </a:r>
            <a:endParaRPr lang="en-US" sz="1450" dirty="0"/>
          </a:p>
        </p:txBody>
      </p:sp>
      <p:sp>
        <p:nvSpPr>
          <p:cNvPr id="51" name="Text 49"/>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HCPH Strategic Priorities '27–'29, Go Wide Go Deep (draft) · HR Strategic Priorities · OneHR Operating Model.</a:t>
            </a:r>
            <a:endParaRPr lang="en-US" sz="1400" dirty="0"/>
          </a:p>
        </p:txBody>
      </p:sp>
      <p:sp>
        <p:nvSpPr>
          <p:cNvPr id="52" name="Text 50"/>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COST AND PAYBACK</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₱2.05M for three years. Paid back in twelve months.</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1,113 people in IT, HR and Operations. Unlike the last two slides, a three-year total.</a:t>
            </a:r>
            <a:endParaRPr lang="en-US" sz="1600" dirty="0"/>
          </a:p>
        </p:txBody>
      </p:sp>
      <p:sp>
        <p:nvSpPr>
          <p:cNvPr id="6" name="Shape 4"/>
          <p:cNvSpPr/>
          <p:nvPr/>
        </p:nvSpPr>
        <p:spPr>
          <a:xfrm>
            <a:off x="566928" y="1920240"/>
            <a:ext cx="5860655" cy="3054096"/>
          </a:xfrm>
          <a:prstGeom prst="roundRect">
            <a:avLst>
              <a:gd name="adj" fmla="val 1198"/>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7" name="Text 5"/>
          <p:cNvSpPr txBox="1"/>
          <p:nvPr/>
        </p:nvSpPr>
        <p:spPr>
          <a:xfrm>
            <a:off x="859536" y="2121408"/>
            <a:ext cx="5275439"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WHAT IT COSTS</a:t>
            </a:r>
            <a:endParaRPr lang="en-US" sz="1400" dirty="0"/>
          </a:p>
        </p:txBody>
      </p:sp>
      <p:sp>
        <p:nvSpPr>
          <p:cNvPr id="8" name="Text 6"/>
          <p:cNvSpPr txBox="1"/>
          <p:nvPr/>
        </p:nvSpPr>
        <p:spPr>
          <a:xfrm>
            <a:off x="859536" y="2468880"/>
            <a:ext cx="3483215" cy="402336"/>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Build — costed by IT in man-hours</a:t>
            </a:r>
            <a:endParaRPr lang="en-US" sz="1500" dirty="0"/>
          </a:p>
        </p:txBody>
      </p:sp>
      <p:sp>
        <p:nvSpPr>
          <p:cNvPr id="9" name="Text 7"/>
          <p:cNvSpPr txBox="1"/>
          <p:nvPr/>
        </p:nvSpPr>
        <p:spPr>
          <a:xfrm>
            <a:off x="4086719" y="2468880"/>
            <a:ext cx="731520" cy="402336"/>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one-off</a:t>
            </a:r>
            <a:endParaRPr lang="en-US" sz="1400" dirty="0"/>
          </a:p>
        </p:txBody>
      </p:sp>
      <p:sp>
        <p:nvSpPr>
          <p:cNvPr id="10" name="Text 8"/>
          <p:cNvSpPr txBox="1"/>
          <p:nvPr/>
        </p:nvSpPr>
        <p:spPr>
          <a:xfrm>
            <a:off x="4854815" y="2468880"/>
            <a:ext cx="1280160" cy="402336"/>
          </a:xfrm>
          <a:prstGeom prst="rect">
            <a:avLst/>
          </a:prstGeom>
          <a:noFill/>
          <a:ln/>
        </p:spPr>
        <p:txBody>
          <a:bodyPr wrap="square" lIns="0" tIns="0" rIns="0" bIns="0" rtlCol="0" anchor="ctr"/>
          <a:lstStyle/>
          <a:p>
            <a:pPr algn="r" indent="0" marL="0">
              <a:buNone/>
            </a:pPr>
            <a:r>
              <a:rPr lang="en-US" sz="1550" b="1" dirty="0">
                <a:solidFill>
                  <a:srgbClr val="222834"/>
                </a:solidFill>
                <a:latin typeface="Arial" pitchFamily="34" charset="0"/>
                <a:ea typeface="Arial" pitchFamily="34" charset="-122"/>
                <a:cs typeface="Arial" pitchFamily="34" charset="-120"/>
              </a:rPr>
              <a:t>₱1,785,500</a:t>
            </a:r>
            <a:endParaRPr lang="en-US" sz="1550" dirty="0"/>
          </a:p>
        </p:txBody>
      </p:sp>
      <p:sp>
        <p:nvSpPr>
          <p:cNvPr id="11" name="Shape 9"/>
          <p:cNvSpPr/>
          <p:nvPr/>
        </p:nvSpPr>
        <p:spPr>
          <a:xfrm>
            <a:off x="859536" y="2889504"/>
            <a:ext cx="5275439" cy="0"/>
          </a:xfrm>
          <a:prstGeom prst="line">
            <a:avLst/>
          </a:prstGeom>
          <a:noFill/>
          <a:ln w="12700">
            <a:solidFill>
              <a:srgbClr val="E7E1D7"/>
            </a:solidFill>
            <a:prstDash val="solid"/>
          </a:ln>
        </p:spPr>
      </p:sp>
      <p:sp>
        <p:nvSpPr>
          <p:cNvPr id="12" name="Text 10"/>
          <p:cNvSpPr txBox="1"/>
          <p:nvPr/>
        </p:nvSpPr>
        <p:spPr>
          <a:xfrm>
            <a:off x="859536" y="2926080"/>
            <a:ext cx="3483215" cy="402336"/>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AI matching (Claude)</a:t>
            </a:r>
            <a:endParaRPr lang="en-US" sz="1500" dirty="0"/>
          </a:p>
        </p:txBody>
      </p:sp>
      <p:sp>
        <p:nvSpPr>
          <p:cNvPr id="13" name="Text 11"/>
          <p:cNvSpPr txBox="1"/>
          <p:nvPr/>
        </p:nvSpPr>
        <p:spPr>
          <a:xfrm>
            <a:off x="4086719" y="2926080"/>
            <a:ext cx="731520" cy="402336"/>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a year</a:t>
            </a:r>
            <a:endParaRPr lang="en-US" sz="1400" dirty="0"/>
          </a:p>
        </p:txBody>
      </p:sp>
      <p:sp>
        <p:nvSpPr>
          <p:cNvPr id="14" name="Text 12"/>
          <p:cNvSpPr txBox="1"/>
          <p:nvPr/>
        </p:nvSpPr>
        <p:spPr>
          <a:xfrm>
            <a:off x="4854815" y="2926080"/>
            <a:ext cx="1280160" cy="402336"/>
          </a:xfrm>
          <a:prstGeom prst="rect">
            <a:avLst/>
          </a:prstGeom>
          <a:noFill/>
          <a:ln/>
        </p:spPr>
        <p:txBody>
          <a:bodyPr wrap="square" lIns="0" tIns="0" rIns="0" bIns="0" rtlCol="0" anchor="ctr"/>
          <a:lstStyle/>
          <a:p>
            <a:pPr algn="r" indent="0" marL="0">
              <a:buNone/>
            </a:pPr>
            <a:r>
              <a:rPr lang="en-US" sz="1550" b="1" dirty="0">
                <a:solidFill>
                  <a:srgbClr val="4B5363"/>
                </a:solidFill>
                <a:latin typeface="Arial" pitchFamily="34" charset="0"/>
                <a:ea typeface="Arial" pitchFamily="34" charset="-122"/>
                <a:cs typeface="Arial" pitchFamily="34" charset="-120"/>
              </a:rPr>
              <a:t>₱40,544</a:t>
            </a:r>
            <a:endParaRPr lang="en-US" sz="1550" dirty="0"/>
          </a:p>
        </p:txBody>
      </p:sp>
      <p:sp>
        <p:nvSpPr>
          <p:cNvPr id="15" name="Shape 13"/>
          <p:cNvSpPr/>
          <p:nvPr/>
        </p:nvSpPr>
        <p:spPr>
          <a:xfrm>
            <a:off x="859536" y="3346704"/>
            <a:ext cx="5275439" cy="0"/>
          </a:xfrm>
          <a:prstGeom prst="line">
            <a:avLst/>
          </a:prstGeom>
          <a:noFill/>
          <a:ln w="12700">
            <a:solidFill>
              <a:srgbClr val="E7E1D7"/>
            </a:solidFill>
            <a:prstDash val="solid"/>
          </a:ln>
        </p:spPr>
      </p:sp>
      <p:sp>
        <p:nvSpPr>
          <p:cNvPr id="16" name="Text 14"/>
          <p:cNvSpPr txBox="1"/>
          <p:nvPr/>
        </p:nvSpPr>
        <p:spPr>
          <a:xfrm>
            <a:off x="859536" y="3383280"/>
            <a:ext cx="3483215" cy="402336"/>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Platform, email, monitoring</a:t>
            </a:r>
            <a:endParaRPr lang="en-US" sz="1500" dirty="0"/>
          </a:p>
        </p:txBody>
      </p:sp>
      <p:sp>
        <p:nvSpPr>
          <p:cNvPr id="17" name="Text 15"/>
          <p:cNvSpPr txBox="1"/>
          <p:nvPr/>
        </p:nvSpPr>
        <p:spPr>
          <a:xfrm>
            <a:off x="4086719" y="3383280"/>
            <a:ext cx="731520" cy="402336"/>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a year</a:t>
            </a:r>
            <a:endParaRPr lang="en-US" sz="1400" dirty="0"/>
          </a:p>
        </p:txBody>
      </p:sp>
      <p:sp>
        <p:nvSpPr>
          <p:cNvPr id="18" name="Text 16"/>
          <p:cNvSpPr txBox="1"/>
          <p:nvPr/>
        </p:nvSpPr>
        <p:spPr>
          <a:xfrm>
            <a:off x="4854815" y="3383280"/>
            <a:ext cx="1280160" cy="402336"/>
          </a:xfrm>
          <a:prstGeom prst="rect">
            <a:avLst/>
          </a:prstGeom>
          <a:noFill/>
          <a:ln/>
        </p:spPr>
        <p:txBody>
          <a:bodyPr wrap="square" lIns="0" tIns="0" rIns="0" bIns="0" rtlCol="0" anchor="ctr"/>
          <a:lstStyle/>
          <a:p>
            <a:pPr algn="r" indent="0" marL="0">
              <a:buNone/>
            </a:pPr>
            <a:r>
              <a:rPr lang="en-US" sz="1550" b="1" dirty="0">
                <a:solidFill>
                  <a:srgbClr val="4B5363"/>
                </a:solidFill>
                <a:latin typeface="Arial" pitchFamily="34" charset="0"/>
                <a:ea typeface="Arial" pitchFamily="34" charset="-122"/>
                <a:cs typeface="Arial" pitchFamily="34" charset="-120"/>
              </a:rPr>
              <a:t>₱41,607</a:t>
            </a:r>
            <a:endParaRPr lang="en-US" sz="1550" dirty="0"/>
          </a:p>
        </p:txBody>
      </p:sp>
      <p:sp>
        <p:nvSpPr>
          <p:cNvPr id="19" name="Shape 17"/>
          <p:cNvSpPr/>
          <p:nvPr/>
        </p:nvSpPr>
        <p:spPr>
          <a:xfrm>
            <a:off x="859536" y="3803904"/>
            <a:ext cx="5275439" cy="0"/>
          </a:xfrm>
          <a:prstGeom prst="line">
            <a:avLst/>
          </a:prstGeom>
          <a:noFill/>
          <a:ln w="12700">
            <a:solidFill>
              <a:srgbClr val="E7E1D7"/>
            </a:solidFill>
            <a:prstDash val="solid"/>
          </a:ln>
        </p:spPr>
      </p:sp>
      <p:sp>
        <p:nvSpPr>
          <p:cNvPr id="20" name="Text 18"/>
          <p:cNvSpPr txBox="1"/>
          <p:nvPr/>
        </p:nvSpPr>
        <p:spPr>
          <a:xfrm>
            <a:off x="859536" y="3840480"/>
            <a:ext cx="3483215" cy="402336"/>
          </a:xfrm>
          <a:prstGeom prst="rect">
            <a:avLst/>
          </a:prstGeom>
          <a:noFill/>
          <a:ln/>
        </p:spPr>
        <p:txBody>
          <a:bodyPr wrap="square" lIns="0" tIns="0" rIns="0" bIns="0" rtlCol="0" anchor="ctr"/>
          <a:lstStyle/>
          <a:p>
            <a:pPr indent="0" marL="0">
              <a:buNone/>
            </a:pPr>
            <a:r>
              <a:rPr lang="en-US" sz="1500" dirty="0">
                <a:solidFill>
                  <a:srgbClr val="4B5363"/>
                </a:solidFill>
                <a:latin typeface="Arial" pitchFamily="34" charset="0"/>
                <a:ea typeface="Arial" pitchFamily="34" charset="-122"/>
                <a:cs typeface="Arial" pitchFamily="34" charset="-120"/>
              </a:rPr>
              <a:t>HR reconciliation, year 2 onward</a:t>
            </a:r>
            <a:endParaRPr lang="en-US" sz="1500" dirty="0"/>
          </a:p>
        </p:txBody>
      </p:sp>
      <p:sp>
        <p:nvSpPr>
          <p:cNvPr id="21" name="Text 19"/>
          <p:cNvSpPr txBox="1"/>
          <p:nvPr/>
        </p:nvSpPr>
        <p:spPr>
          <a:xfrm>
            <a:off x="4086719" y="3840480"/>
            <a:ext cx="731520" cy="402336"/>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a year</a:t>
            </a:r>
            <a:endParaRPr lang="en-US" sz="1400" dirty="0"/>
          </a:p>
        </p:txBody>
      </p:sp>
      <p:sp>
        <p:nvSpPr>
          <p:cNvPr id="22" name="Text 20"/>
          <p:cNvSpPr txBox="1"/>
          <p:nvPr/>
        </p:nvSpPr>
        <p:spPr>
          <a:xfrm>
            <a:off x="4854815" y="3840480"/>
            <a:ext cx="1280160" cy="402336"/>
          </a:xfrm>
          <a:prstGeom prst="rect">
            <a:avLst/>
          </a:prstGeom>
          <a:noFill/>
          <a:ln/>
        </p:spPr>
        <p:txBody>
          <a:bodyPr wrap="square" lIns="0" tIns="0" rIns="0" bIns="0" rtlCol="0" anchor="ctr"/>
          <a:lstStyle/>
          <a:p>
            <a:pPr algn="r" indent="0" marL="0">
              <a:buNone/>
            </a:pPr>
            <a:r>
              <a:rPr lang="en-US" sz="1550" b="1" dirty="0">
                <a:solidFill>
                  <a:srgbClr val="4B5363"/>
                </a:solidFill>
                <a:latin typeface="Arial" pitchFamily="34" charset="0"/>
                <a:ea typeface="Arial" pitchFamily="34" charset="-122"/>
                <a:cs typeface="Arial" pitchFamily="34" charset="-120"/>
              </a:rPr>
              <a:t>₱9,000</a:t>
            </a:r>
            <a:endParaRPr lang="en-US" sz="1550" dirty="0"/>
          </a:p>
        </p:txBody>
      </p:sp>
      <p:sp>
        <p:nvSpPr>
          <p:cNvPr id="23" name="Shape 21"/>
          <p:cNvSpPr/>
          <p:nvPr/>
        </p:nvSpPr>
        <p:spPr>
          <a:xfrm>
            <a:off x="859536" y="4261104"/>
            <a:ext cx="5275439" cy="0"/>
          </a:xfrm>
          <a:prstGeom prst="line">
            <a:avLst/>
          </a:prstGeom>
          <a:noFill/>
          <a:ln w="12700">
            <a:solidFill>
              <a:srgbClr val="E7E1D7"/>
            </a:solidFill>
            <a:prstDash val="solid"/>
          </a:ln>
        </p:spPr>
      </p:sp>
      <p:sp>
        <p:nvSpPr>
          <p:cNvPr id="24" name="Text 22"/>
          <p:cNvSpPr txBox="1"/>
          <p:nvPr/>
        </p:nvSpPr>
        <p:spPr>
          <a:xfrm>
            <a:off x="859536" y="4315968"/>
            <a:ext cx="3483215" cy="365760"/>
          </a:xfrm>
          <a:prstGeom prst="rect">
            <a:avLst/>
          </a:prstGeom>
          <a:noFill/>
          <a:ln/>
        </p:spPr>
        <p:txBody>
          <a:bodyPr wrap="square" lIns="0" tIns="0" rIns="0" bIns="0" rtlCol="0" anchor="ctr"/>
          <a:lstStyle/>
          <a:p>
            <a:pPr indent="0" marL="0">
              <a:buNone/>
            </a:pPr>
            <a:r>
              <a:rPr lang="en-US" sz="1500" b="1" spc="80" kern="0" dirty="0">
                <a:solidFill>
                  <a:srgbClr val="222834"/>
                </a:solidFill>
                <a:latin typeface="Arial" pitchFamily="34" charset="0"/>
                <a:ea typeface="Arial" pitchFamily="34" charset="-122"/>
                <a:cs typeface="Arial" pitchFamily="34" charset="-120"/>
              </a:rPr>
              <a:t>THREE-YEAR TOTAL</a:t>
            </a:r>
            <a:endParaRPr lang="en-US" sz="1500" dirty="0"/>
          </a:p>
        </p:txBody>
      </p:sp>
      <p:sp>
        <p:nvSpPr>
          <p:cNvPr id="25" name="Text 23"/>
          <p:cNvSpPr txBox="1"/>
          <p:nvPr/>
        </p:nvSpPr>
        <p:spPr>
          <a:xfrm>
            <a:off x="4196447" y="4297680"/>
            <a:ext cx="1938528" cy="402336"/>
          </a:xfrm>
          <a:prstGeom prst="rect">
            <a:avLst/>
          </a:prstGeom>
          <a:noFill/>
          <a:ln/>
        </p:spPr>
        <p:txBody>
          <a:bodyPr wrap="square" lIns="0" tIns="0" rIns="0" bIns="0" rtlCol="0" anchor="ctr"/>
          <a:lstStyle/>
          <a:p>
            <a:pPr algn="r" indent="0" marL="0">
              <a:buNone/>
            </a:pPr>
            <a:r>
              <a:rPr lang="en-US" sz="2200" b="1" dirty="0">
                <a:solidFill>
                  <a:srgbClr val="C00000"/>
                </a:solidFill>
                <a:latin typeface="Arial" pitchFamily="34" charset="0"/>
                <a:ea typeface="Arial" pitchFamily="34" charset="-122"/>
                <a:cs typeface="Arial" pitchFamily="34" charset="-120"/>
              </a:rPr>
              <a:t>₱2,049,954</a:t>
            </a:r>
            <a:endParaRPr lang="en-US" sz="2200" dirty="0"/>
          </a:p>
        </p:txBody>
      </p:sp>
      <p:sp>
        <p:nvSpPr>
          <p:cNvPr id="26" name="Text 24"/>
          <p:cNvSpPr txBox="1"/>
          <p:nvPr/>
        </p:nvSpPr>
        <p:spPr>
          <a:xfrm>
            <a:off x="859536" y="4700016"/>
            <a:ext cx="5275439" cy="237744"/>
          </a:xfrm>
          <a:prstGeom prst="rect">
            <a:avLst/>
          </a:prstGeom>
          <a:noFill/>
          <a:ln/>
        </p:spPr>
        <p:txBody>
          <a:bodyPr wrap="square" lIns="0" tIns="0" rIns="0" bIns="0" rtlCol="0" anchor="ctr"/>
          <a:lstStyle/>
          <a:p>
            <a:pPr indent="0" marL="0">
              <a:buNone/>
            </a:pPr>
            <a:r>
              <a:rPr lang="en-US" sz="1400" dirty="0">
                <a:solidFill>
                  <a:srgbClr val="858D9B"/>
                </a:solidFill>
                <a:latin typeface="Arial" pitchFamily="34" charset="0"/>
                <a:ea typeface="Arial" pitchFamily="34" charset="-122"/>
                <a:cs typeface="Arial" pitchFamily="34" charset="-120"/>
              </a:rPr>
              <a:t>US$33,606  ·  ₱614 per employee a year  ·  year 1 ₱1,536,351</a:t>
            </a:r>
            <a:endParaRPr lang="en-US" sz="1400" dirty="0"/>
          </a:p>
        </p:txBody>
      </p:sp>
      <p:sp>
        <p:nvSpPr>
          <p:cNvPr id="27" name="Shape 25"/>
          <p:cNvSpPr/>
          <p:nvPr/>
        </p:nvSpPr>
        <p:spPr>
          <a:xfrm>
            <a:off x="6793343" y="1920240"/>
            <a:ext cx="4831424" cy="950976"/>
          </a:xfrm>
          <a:prstGeom prst="roundRect">
            <a:avLst>
              <a:gd name="adj" fmla="val 3846"/>
            </a:avLst>
          </a:prstGeom>
          <a:solidFill>
            <a:srgbClr val="E8F4F0"/>
          </a:solidFill>
          <a:ln w="12700">
            <a:solidFill>
              <a:srgbClr val="333333"/>
            </a:solidFill>
            <a:prstDash val="solid"/>
          </a:ln>
        </p:spPr>
      </p:sp>
      <p:sp>
        <p:nvSpPr>
          <p:cNvPr id="28" name="Text 26"/>
          <p:cNvSpPr txBox="1"/>
          <p:nvPr/>
        </p:nvSpPr>
        <p:spPr>
          <a:xfrm>
            <a:off x="7067663" y="1975104"/>
            <a:ext cx="2103120" cy="566928"/>
          </a:xfrm>
          <a:prstGeom prst="rect">
            <a:avLst/>
          </a:prstGeom>
          <a:noFill/>
          <a:ln/>
        </p:spPr>
        <p:txBody>
          <a:bodyPr wrap="square" lIns="0" tIns="0" rIns="0" bIns="0" rtlCol="0" anchor="ctr"/>
          <a:lstStyle/>
          <a:p>
            <a:pPr indent="0" marL="0">
              <a:buNone/>
            </a:pPr>
            <a:r>
              <a:rPr lang="en-US" sz="2600" b="1" dirty="0">
                <a:solidFill>
                  <a:srgbClr val="0E7C66"/>
                </a:solidFill>
                <a:latin typeface="Arial" pitchFamily="34" charset="0"/>
                <a:ea typeface="Arial" pitchFamily="34" charset="-122"/>
                <a:cs typeface="Arial" pitchFamily="34" charset="-120"/>
              </a:rPr>
              <a:t>12 months</a:t>
            </a:r>
            <a:endParaRPr lang="en-US" sz="2600" dirty="0"/>
          </a:p>
        </p:txBody>
      </p:sp>
      <p:sp>
        <p:nvSpPr>
          <p:cNvPr id="29" name="Text 27"/>
          <p:cNvSpPr txBox="1"/>
          <p:nvPr/>
        </p:nvSpPr>
        <p:spPr>
          <a:xfrm>
            <a:off x="9225647" y="2029968"/>
            <a:ext cx="2124800" cy="292608"/>
          </a:xfrm>
          <a:prstGeom prst="rect">
            <a:avLst/>
          </a:prstGeom>
          <a:noFill/>
          <a:ln/>
        </p:spPr>
        <p:txBody>
          <a:bodyPr wrap="square" lIns="0" tIns="0" rIns="0" bIns="0" rtlCol="0" anchor="t"/>
          <a:lstStyle/>
          <a:p>
            <a:pPr indent="0" marL="0">
              <a:buNone/>
            </a:pPr>
            <a:r>
              <a:rPr lang="en-US" sz="1550" b="1" dirty="0">
                <a:solidFill>
                  <a:srgbClr val="222834"/>
                </a:solidFill>
                <a:latin typeface="Arial" pitchFamily="34" charset="0"/>
                <a:ea typeface="Arial" pitchFamily="34" charset="-122"/>
                <a:cs typeface="Arial" pitchFamily="34" charset="-120"/>
              </a:rPr>
              <a:t>to pay back</a:t>
            </a:r>
            <a:endParaRPr lang="en-US" sz="1550" dirty="0"/>
          </a:p>
        </p:txBody>
      </p:sp>
      <p:sp>
        <p:nvSpPr>
          <p:cNvPr id="30" name="Text 28"/>
          <p:cNvSpPr txBox="1"/>
          <p:nvPr/>
        </p:nvSpPr>
        <p:spPr>
          <a:xfrm>
            <a:off x="9225647" y="2340864"/>
            <a:ext cx="2124800" cy="402336"/>
          </a:xfrm>
          <a:prstGeom prst="rect">
            <a:avLst/>
          </a:prstGeom>
          <a:noFill/>
          <a:ln/>
        </p:spPr>
        <p:txBody>
          <a:bodyPr wrap="square" lIns="0" tIns="0" rIns="0" bIns="0" rtlCol="0" anchor="t"/>
          <a:lstStyle/>
          <a:p>
            <a:pPr indent="0" marL="0">
              <a:lnSpc>
                <a:spcPts val="1800"/>
              </a:lnSpc>
              <a:buNone/>
            </a:pPr>
            <a:r>
              <a:rPr lang="en-US" sz="1400" dirty="0">
                <a:solidFill>
                  <a:srgbClr val="858D9B"/>
                </a:solidFill>
                <a:latin typeface="Arial" pitchFamily="34" charset="0"/>
                <a:ea typeface="Arial" pitchFamily="34" charset="-122"/>
                <a:cs typeface="Arial" pitchFamily="34" charset="-120"/>
              </a:rPr>
              <a:t>expected case</a:t>
            </a:r>
            <a:endParaRPr lang="en-US" sz="1400" dirty="0"/>
          </a:p>
        </p:txBody>
      </p:sp>
      <p:sp>
        <p:nvSpPr>
          <p:cNvPr id="31" name="Shape 29"/>
          <p:cNvSpPr/>
          <p:nvPr/>
        </p:nvSpPr>
        <p:spPr>
          <a:xfrm>
            <a:off x="6793343" y="2980944"/>
            <a:ext cx="4831424" cy="950976"/>
          </a:xfrm>
          <a:prstGeom prst="roundRect">
            <a:avLst>
              <a:gd name="adj" fmla="val 3846"/>
            </a:avLst>
          </a:prstGeom>
          <a:solidFill>
            <a:srgbClr val="E8F4F0"/>
          </a:solidFill>
          <a:ln w="12700">
            <a:solidFill>
              <a:srgbClr val="333333"/>
            </a:solidFill>
            <a:prstDash val="solid"/>
          </a:ln>
        </p:spPr>
      </p:sp>
      <p:sp>
        <p:nvSpPr>
          <p:cNvPr id="32" name="Text 30"/>
          <p:cNvSpPr txBox="1"/>
          <p:nvPr/>
        </p:nvSpPr>
        <p:spPr>
          <a:xfrm>
            <a:off x="7067663" y="3035808"/>
            <a:ext cx="2103120" cy="566928"/>
          </a:xfrm>
          <a:prstGeom prst="rect">
            <a:avLst/>
          </a:prstGeom>
          <a:noFill/>
          <a:ln/>
        </p:spPr>
        <p:txBody>
          <a:bodyPr wrap="square" lIns="0" tIns="0" rIns="0" bIns="0" rtlCol="0" anchor="ctr"/>
          <a:lstStyle/>
          <a:p>
            <a:pPr indent="0" marL="0">
              <a:buNone/>
            </a:pPr>
            <a:r>
              <a:rPr lang="en-US" sz="2600" b="1" dirty="0">
                <a:solidFill>
                  <a:srgbClr val="0E7C66"/>
                </a:solidFill>
                <a:latin typeface="Arial" pitchFamily="34" charset="0"/>
                <a:ea typeface="Arial" pitchFamily="34" charset="-122"/>
                <a:cs typeface="Arial" pitchFamily="34" charset="-120"/>
              </a:rPr>
              <a:t>4.6</a:t>
            </a:r>
            <a:endParaRPr lang="en-US" sz="2600" dirty="0"/>
          </a:p>
        </p:txBody>
      </p:sp>
      <p:sp>
        <p:nvSpPr>
          <p:cNvPr id="33" name="Text 31"/>
          <p:cNvSpPr txBox="1"/>
          <p:nvPr/>
        </p:nvSpPr>
        <p:spPr>
          <a:xfrm>
            <a:off x="9225647" y="3090672"/>
            <a:ext cx="2124800" cy="292608"/>
          </a:xfrm>
          <a:prstGeom prst="rect">
            <a:avLst/>
          </a:prstGeom>
          <a:noFill/>
          <a:ln/>
        </p:spPr>
        <p:txBody>
          <a:bodyPr wrap="square" lIns="0" tIns="0" rIns="0" bIns="0" rtlCol="0" anchor="t"/>
          <a:lstStyle/>
          <a:p>
            <a:pPr indent="0" marL="0">
              <a:buNone/>
            </a:pPr>
            <a:r>
              <a:rPr lang="en-US" sz="1550" b="1" dirty="0">
                <a:solidFill>
                  <a:srgbClr val="222834"/>
                </a:solidFill>
                <a:latin typeface="Arial" pitchFamily="34" charset="0"/>
                <a:ea typeface="Arial" pitchFamily="34" charset="-122"/>
                <a:cs typeface="Arial" pitchFamily="34" charset="-120"/>
              </a:rPr>
              <a:t>benefit to cost</a:t>
            </a:r>
            <a:endParaRPr lang="en-US" sz="1550" dirty="0"/>
          </a:p>
        </p:txBody>
      </p:sp>
      <p:sp>
        <p:nvSpPr>
          <p:cNvPr id="34" name="Text 32"/>
          <p:cNvSpPr txBox="1"/>
          <p:nvPr/>
        </p:nvSpPr>
        <p:spPr>
          <a:xfrm>
            <a:off x="9225647" y="3401568"/>
            <a:ext cx="2124800" cy="402336"/>
          </a:xfrm>
          <a:prstGeom prst="rect">
            <a:avLst/>
          </a:prstGeom>
          <a:noFill/>
          <a:ln/>
        </p:spPr>
        <p:txBody>
          <a:bodyPr wrap="square" lIns="0" tIns="0" rIns="0" bIns="0" rtlCol="0" anchor="t"/>
          <a:lstStyle/>
          <a:p>
            <a:pPr indent="0" marL="0">
              <a:lnSpc>
                <a:spcPts val="1800"/>
              </a:lnSpc>
              <a:buNone/>
            </a:pPr>
            <a:r>
              <a:rPr lang="en-US" sz="1400" dirty="0">
                <a:solidFill>
                  <a:srgbClr val="858D9B"/>
                </a:solidFill>
                <a:latin typeface="Arial" pitchFamily="34" charset="0"/>
                <a:ea typeface="Arial" pitchFamily="34" charset="-122"/>
                <a:cs typeface="Arial" pitchFamily="34" charset="-120"/>
              </a:rPr>
              <a:t>over three years, NPV ₱5.84M</a:t>
            </a:r>
            <a:endParaRPr lang="en-US" sz="1400" dirty="0"/>
          </a:p>
        </p:txBody>
      </p:sp>
      <p:sp>
        <p:nvSpPr>
          <p:cNvPr id="35" name="Shape 33"/>
          <p:cNvSpPr/>
          <p:nvPr/>
        </p:nvSpPr>
        <p:spPr>
          <a:xfrm>
            <a:off x="6793343" y="4041648"/>
            <a:ext cx="4831424" cy="950976"/>
          </a:xfrm>
          <a:prstGeom prst="roundRect">
            <a:avLst>
              <a:gd name="adj" fmla="val 3846"/>
            </a:avLst>
          </a:prstGeom>
          <a:solidFill>
            <a:srgbClr val="FBF2E0"/>
          </a:solidFill>
          <a:ln w="12700">
            <a:solidFill>
              <a:srgbClr val="333333"/>
            </a:solidFill>
            <a:prstDash val="solid"/>
          </a:ln>
        </p:spPr>
      </p:sp>
      <p:sp>
        <p:nvSpPr>
          <p:cNvPr id="36" name="Text 34"/>
          <p:cNvSpPr txBox="1"/>
          <p:nvPr/>
        </p:nvSpPr>
        <p:spPr>
          <a:xfrm>
            <a:off x="7067663" y="4096512"/>
            <a:ext cx="2103120" cy="566928"/>
          </a:xfrm>
          <a:prstGeom prst="rect">
            <a:avLst/>
          </a:prstGeom>
          <a:noFill/>
          <a:ln/>
        </p:spPr>
        <p:txBody>
          <a:bodyPr wrap="square" lIns="0" tIns="0" rIns="0" bIns="0" rtlCol="0" anchor="ctr"/>
          <a:lstStyle/>
          <a:p>
            <a:pPr indent="0" marL="0">
              <a:buNone/>
            </a:pPr>
            <a:r>
              <a:rPr lang="en-US" sz="2600" b="1" dirty="0">
                <a:solidFill>
                  <a:srgbClr val="9E6B12"/>
                </a:solidFill>
                <a:latin typeface="Arial" pitchFamily="34" charset="0"/>
                <a:ea typeface="Arial" pitchFamily="34" charset="-122"/>
                <a:cs typeface="Arial" pitchFamily="34" charset="-120"/>
              </a:rPr>
              <a:t>1.1</a:t>
            </a:r>
            <a:endParaRPr lang="en-US" sz="2600" dirty="0"/>
          </a:p>
        </p:txBody>
      </p:sp>
      <p:sp>
        <p:nvSpPr>
          <p:cNvPr id="37" name="Text 35"/>
          <p:cNvSpPr txBox="1"/>
          <p:nvPr/>
        </p:nvSpPr>
        <p:spPr>
          <a:xfrm>
            <a:off x="9225647" y="4151376"/>
            <a:ext cx="2124800" cy="292608"/>
          </a:xfrm>
          <a:prstGeom prst="rect">
            <a:avLst/>
          </a:prstGeom>
          <a:noFill/>
          <a:ln/>
        </p:spPr>
        <p:txBody>
          <a:bodyPr wrap="square" lIns="0" tIns="0" rIns="0" bIns="0" rtlCol="0" anchor="t"/>
          <a:lstStyle/>
          <a:p>
            <a:pPr indent="0" marL="0">
              <a:buNone/>
            </a:pPr>
            <a:r>
              <a:rPr lang="en-US" sz="1550" b="1" dirty="0">
                <a:solidFill>
                  <a:srgbClr val="222834"/>
                </a:solidFill>
                <a:latin typeface="Arial" pitchFamily="34" charset="0"/>
                <a:ea typeface="Arial" pitchFamily="34" charset="-122"/>
                <a:cs typeface="Arial" pitchFamily="34" charset="-120"/>
              </a:rPr>
              <a:t>the measured floor</a:t>
            </a:r>
            <a:endParaRPr lang="en-US" sz="1550" dirty="0"/>
          </a:p>
        </p:txBody>
      </p:sp>
      <p:sp>
        <p:nvSpPr>
          <p:cNvPr id="38" name="Text 36"/>
          <p:cNvSpPr txBox="1"/>
          <p:nvPr/>
        </p:nvSpPr>
        <p:spPr>
          <a:xfrm>
            <a:off x="9225647" y="4462272"/>
            <a:ext cx="2124800" cy="402336"/>
          </a:xfrm>
          <a:prstGeom prst="rect">
            <a:avLst/>
          </a:prstGeom>
          <a:noFill/>
          <a:ln/>
        </p:spPr>
        <p:txBody>
          <a:bodyPr wrap="square" lIns="0" tIns="0" rIns="0" bIns="0" rtlCol="0" anchor="t"/>
          <a:lstStyle/>
          <a:p>
            <a:pPr indent="0" marL="0">
              <a:lnSpc>
                <a:spcPts val="1800"/>
              </a:lnSpc>
              <a:buNone/>
            </a:pPr>
            <a:r>
              <a:rPr lang="en-US" sz="1400" dirty="0">
                <a:solidFill>
                  <a:srgbClr val="858D9B"/>
                </a:solidFill>
                <a:latin typeface="Arial" pitchFamily="34" charset="0"/>
                <a:ea typeface="Arial" pitchFamily="34" charset="-122"/>
                <a:cs typeface="Arial" pitchFamily="34" charset="-120"/>
              </a:rPr>
              <a:t>if only proven benefits land</a:t>
            </a:r>
            <a:endParaRPr lang="en-US" sz="1400" dirty="0"/>
          </a:p>
        </p:txBody>
      </p:sp>
      <p:sp>
        <p:nvSpPr>
          <p:cNvPr id="39" name="Shape 37"/>
          <p:cNvSpPr/>
          <p:nvPr/>
        </p:nvSpPr>
        <p:spPr>
          <a:xfrm>
            <a:off x="6793343" y="5102352"/>
            <a:ext cx="4831424" cy="896112"/>
          </a:xfrm>
          <a:prstGeom prst="roundRect">
            <a:avLst>
              <a:gd name="adj" fmla="val 4082"/>
            </a:avLst>
          </a:prstGeom>
          <a:solidFill>
            <a:srgbClr val="F6F2EA"/>
          </a:solidFill>
          <a:ln w="12700">
            <a:solidFill>
              <a:srgbClr val="333333"/>
            </a:solidFill>
            <a:prstDash val="solid"/>
          </a:ln>
        </p:spPr>
      </p:sp>
      <p:sp>
        <p:nvSpPr>
          <p:cNvPr id="40" name="Text 38"/>
          <p:cNvSpPr txBox="1"/>
          <p:nvPr/>
        </p:nvSpPr>
        <p:spPr>
          <a:xfrm>
            <a:off x="7067663" y="5102352"/>
            <a:ext cx="4282784" cy="896112"/>
          </a:xfrm>
          <a:prstGeom prst="rect">
            <a:avLst/>
          </a:prstGeom>
          <a:noFill/>
          <a:ln/>
        </p:spPr>
        <p:txBody>
          <a:bodyPr wrap="square" lIns="0" tIns="0" rIns="0" bIns="0" rtlCol="0" anchor="ctr"/>
          <a:lstStyle/>
          <a:p>
            <a:pPr indent="0" marL="0">
              <a:lnSpc>
                <a:spcPts val="2100"/>
              </a:lnSpc>
              <a:buNone/>
            </a:pPr>
            <a:r>
              <a:rPr lang="en-US" sz="1500" b="1" dirty="0">
                <a:solidFill>
                  <a:srgbClr val="222834"/>
                </a:solidFill>
                <a:latin typeface="Arial" pitchFamily="34" charset="0"/>
                <a:ea typeface="Arial" pitchFamily="34" charset="-122"/>
                <a:cs typeface="Arial" pitchFamily="34" charset="-120"/>
              </a:rPr>
              <a:t>Break-even is 17 extra internal fills over three years — six a year, </a:t>
            </a:r>
            <a:pPr indent="0" marL="0">
              <a:lnSpc>
                <a:spcPts val="2100"/>
              </a:lnSpc>
              <a:buNone/>
            </a:pPr>
            <a:r>
              <a:rPr lang="en-US" sz="1500" dirty="0">
                <a:solidFill>
                  <a:srgbClr val="4B5363"/>
                </a:solidFill>
                <a:latin typeface="Arial" pitchFamily="34" charset="0"/>
                <a:ea typeface="Arial" pitchFamily="34" charset="-122"/>
                <a:cs typeface="Arial" pitchFamily="34" charset="-120"/>
              </a:rPr>
              <a:t>against roughly 60 internal requisitions a year in the pilot.</a:t>
            </a:r>
            <a:endParaRPr lang="en-US" sz="1500" dirty="0"/>
          </a:p>
        </p:txBody>
      </p:sp>
      <p:sp>
        <p:nvSpPr>
          <p:cNvPr id="41" name="Text 39"/>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Build costed by IT in man-hours, excluding AI. ₱61 = US$1, 10% discount. Year-one benefit ramped to 40%.</a:t>
            </a:r>
            <a:endParaRPr lang="en-US" sz="1400" dirty="0"/>
          </a:p>
        </p:txBody>
      </p:sp>
      <p:sp>
        <p:nvSpPr>
          <p:cNvPr id="42" name="Text 40"/>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SCALING UP</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All 20,470 people costs ₱5.26M — not ₱38M.</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The build is bought once. Only the run scales, by what actually drives each line.</a:t>
            </a:r>
            <a:endParaRPr lang="en-US" sz="1600" dirty="0"/>
          </a:p>
        </p:txBody>
      </p:sp>
      <p:sp>
        <p:nvSpPr>
          <p:cNvPr id="6" name="Text 4"/>
          <p:cNvSpPr txBox="1"/>
          <p:nvPr/>
        </p:nvSpPr>
        <p:spPr>
          <a:xfrm>
            <a:off x="566928" y="1920240"/>
            <a:ext cx="5860655"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THREE-YEAR COST, PILOT AND FULL ROLLOUT</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267712"/>
          <a:ext cx="5860655" cy="914400"/>
        </p:xfrm>
        <a:graphic>
          <a:graphicData uri="http://schemas.openxmlformats.org/drawingml/2006/table">
            <a:tbl>
              <a:tblPr/>
              <a:tblGrid>
                <a:gridCol w="2779776"/>
                <a:gridCol w="1645920"/>
                <a:gridCol w="1645920"/>
              </a:tblGrid>
              <a:tr h="310896">
                <a:tc>
                  <a:txBody>
                    <a:bodyPr/>
                    <a:lstStyle/>
                    <a:p>
                      <a:pPr indent="0" marL="0">
                        <a:buNone/>
                      </a:pP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b="1" dirty="0">
                          <a:solidFill>
                            <a:srgbClr val="858D9B"/>
                          </a:solidFill>
                          <a:latin typeface="Arial" pitchFamily="34" charset="0"/>
                          <a:ea typeface="Arial" pitchFamily="34" charset="-122"/>
                          <a:cs typeface="Arial" pitchFamily="34" charset="-120"/>
                        </a:rPr>
                        <a:t>Pilot · 1,113</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b="1" dirty="0">
                          <a:solidFill>
                            <a:srgbClr val="858D9B"/>
                          </a:solidFill>
                          <a:latin typeface="Arial" pitchFamily="34" charset="0"/>
                          <a:ea typeface="Arial" pitchFamily="34" charset="-122"/>
                          <a:cs typeface="Arial" pitchFamily="34" charset="-120"/>
                        </a:rPr>
                        <a:t>Full · 20,470</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310896">
                <a:tc>
                  <a:txBody>
                    <a:bodyPr/>
                    <a:lstStyle/>
                    <a:p>
                      <a:pPr indent="0" marL="0">
                        <a:buNone/>
                      </a:pPr>
                      <a:r>
                        <a:rPr lang="en-US" sz="1450" b="1" dirty="0">
                          <a:solidFill>
                            <a:srgbClr val="222834"/>
                          </a:solidFill>
                          <a:latin typeface="Arial" pitchFamily="34" charset="0"/>
                          <a:ea typeface="Arial" pitchFamily="34" charset="-122"/>
                          <a:cs typeface="Arial" pitchFamily="34" charset="-120"/>
                        </a:rPr>
                        <a:t>Build — bought once</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4B5363"/>
                          </a:solidFill>
                          <a:latin typeface="Arial" pitchFamily="34" charset="0"/>
                          <a:ea typeface="Arial" pitchFamily="34" charset="-122"/>
                          <a:cs typeface="Arial" pitchFamily="34" charset="-120"/>
                        </a:rPr>
                        <a:t>₱1,785,500</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b="1" dirty="0">
                          <a:solidFill>
                            <a:srgbClr val="0E7C66"/>
                          </a:solidFill>
                          <a:latin typeface="Arial" pitchFamily="34" charset="0"/>
                          <a:ea typeface="Arial" pitchFamily="34" charset="-122"/>
                          <a:cs typeface="Arial" pitchFamily="34" charset="-120"/>
                        </a:rPr>
                        <a:t>₱1,785,500</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310896">
                <a:tc>
                  <a:txBody>
                    <a:bodyPr/>
                    <a:lstStyle/>
                    <a:p>
                      <a:pPr indent="0" marL="0">
                        <a:buNone/>
                      </a:pPr>
                      <a:r>
                        <a:rPr lang="en-US" sz="1450" dirty="0">
                          <a:solidFill>
                            <a:srgbClr val="4B5363"/>
                          </a:solidFill>
                          <a:latin typeface="Arial" pitchFamily="34" charset="0"/>
                          <a:ea typeface="Arial" pitchFamily="34" charset="-122"/>
                          <a:cs typeface="Arial" pitchFamily="34" charset="-120"/>
                        </a:rPr>
                        <a:t>AI matching (Claude), a year</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4B5363"/>
                          </a:solidFill>
                          <a:latin typeface="Arial" pitchFamily="34" charset="0"/>
                          <a:ea typeface="Arial" pitchFamily="34" charset="-122"/>
                          <a:cs typeface="Arial" pitchFamily="34" charset="-120"/>
                        </a:rPr>
                        <a:t>₱40,544</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4B5363"/>
                          </a:solidFill>
                          <a:latin typeface="Arial" pitchFamily="34" charset="0"/>
                          <a:ea typeface="Arial" pitchFamily="34" charset="-122"/>
                          <a:cs typeface="Arial" pitchFamily="34" charset="-120"/>
                        </a:rPr>
                        <a:t>₱745,674</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310896">
                <a:tc>
                  <a:txBody>
                    <a:bodyPr/>
                    <a:lstStyle/>
                    <a:p>
                      <a:pPr indent="0" marL="0">
                        <a:buNone/>
                      </a:pPr>
                      <a:r>
                        <a:rPr lang="en-US" sz="1450" dirty="0">
                          <a:solidFill>
                            <a:srgbClr val="4B5363"/>
                          </a:solidFill>
                          <a:latin typeface="Arial" pitchFamily="34" charset="0"/>
                          <a:ea typeface="Arial" pitchFamily="34" charset="-122"/>
                          <a:cs typeface="Arial" pitchFamily="34" charset="-120"/>
                        </a:rPr>
                        <a:t>Email, a year</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4B5363"/>
                          </a:solidFill>
                          <a:latin typeface="Arial" pitchFamily="34" charset="0"/>
                          <a:ea typeface="Arial" pitchFamily="34" charset="-122"/>
                          <a:cs typeface="Arial" pitchFamily="34" charset="-120"/>
                        </a:rPr>
                        <a:t>₱15,987</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4B5363"/>
                          </a:solidFill>
                          <a:latin typeface="Arial" pitchFamily="34" charset="0"/>
                          <a:ea typeface="Arial" pitchFamily="34" charset="-122"/>
                          <a:cs typeface="Arial" pitchFamily="34" charset="-120"/>
                        </a:rPr>
                        <a:t>₱294,035</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310896">
                <a:tc>
                  <a:txBody>
                    <a:bodyPr/>
                    <a:lstStyle/>
                    <a:p>
                      <a:pPr indent="0" marL="0">
                        <a:buNone/>
                      </a:pPr>
                      <a:r>
                        <a:rPr lang="en-US" sz="1450" dirty="0">
                          <a:solidFill>
                            <a:srgbClr val="4B5363"/>
                          </a:solidFill>
                          <a:latin typeface="Arial" pitchFamily="34" charset="0"/>
                          <a:ea typeface="Arial" pitchFamily="34" charset="-122"/>
                          <a:cs typeface="Arial" pitchFamily="34" charset="-120"/>
                        </a:rPr>
                        <a:t>Platform and monitoring, a year</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4B5363"/>
                          </a:solidFill>
                          <a:latin typeface="Arial" pitchFamily="34" charset="0"/>
                          <a:ea typeface="Arial" pitchFamily="34" charset="-122"/>
                          <a:cs typeface="Arial" pitchFamily="34" charset="-120"/>
                        </a:rPr>
                        <a:t>₱25,620</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4B5363"/>
                          </a:solidFill>
                          <a:latin typeface="Arial" pitchFamily="34" charset="0"/>
                          <a:ea typeface="Arial" pitchFamily="34" charset="-122"/>
                          <a:cs typeface="Arial" pitchFamily="34" charset="-120"/>
                        </a:rPr>
                        <a:t>₱76,860</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310896">
                <a:tc>
                  <a:txBody>
                    <a:bodyPr/>
                    <a:lstStyle/>
                    <a:p>
                      <a:pPr indent="0" marL="0">
                        <a:buNone/>
                      </a:pPr>
                      <a:r>
                        <a:rPr lang="en-US" sz="1450" dirty="0">
                          <a:solidFill>
                            <a:srgbClr val="4B5363"/>
                          </a:solidFill>
                          <a:latin typeface="Arial" pitchFamily="34" charset="0"/>
                          <a:ea typeface="Arial" pitchFamily="34" charset="-122"/>
                          <a:cs typeface="Arial" pitchFamily="34" charset="-120"/>
                        </a:rPr>
                        <a:t>HR reconciliation, a year</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4B5363"/>
                          </a:solidFill>
                          <a:latin typeface="Arial" pitchFamily="34" charset="0"/>
                          <a:ea typeface="Arial" pitchFamily="34" charset="-122"/>
                          <a:cs typeface="Arial" pitchFamily="34" charset="-120"/>
                        </a:rPr>
                        <a:t>₱9,000</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4B5363"/>
                          </a:solidFill>
                          <a:latin typeface="Arial" pitchFamily="34" charset="0"/>
                          <a:ea typeface="Arial" pitchFamily="34" charset="-122"/>
                          <a:cs typeface="Arial" pitchFamily="34" charset="-120"/>
                        </a:rPr>
                        <a:t>₱60,000</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310896">
                <a:tc>
                  <a:txBody>
                    <a:bodyPr/>
                    <a:lstStyle/>
                    <a:p>
                      <a:pPr indent="0" marL="0">
                        <a:buNone/>
                      </a:pPr>
                      <a:r>
                        <a:rPr lang="en-US" sz="1450" b="1" dirty="0">
                          <a:solidFill>
                            <a:srgbClr val="222834"/>
                          </a:solidFill>
                          <a:latin typeface="Arial" pitchFamily="34" charset="0"/>
                          <a:ea typeface="Arial" pitchFamily="34" charset="-122"/>
                          <a:cs typeface="Arial" pitchFamily="34" charset="-120"/>
                        </a:rPr>
                        <a:t>THREE-YEAR TOTAL</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b="1" dirty="0">
                          <a:solidFill>
                            <a:srgbClr val="4B5363"/>
                          </a:solidFill>
                          <a:latin typeface="Arial" pitchFamily="34" charset="0"/>
                          <a:ea typeface="Arial" pitchFamily="34" charset="-122"/>
                          <a:cs typeface="Arial" pitchFamily="34" charset="-120"/>
                        </a:rPr>
                        <a:t>₱2,049,954</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b="1" dirty="0">
                          <a:solidFill>
                            <a:srgbClr val="C00000"/>
                          </a:solidFill>
                          <a:latin typeface="Arial" pitchFamily="34" charset="0"/>
                          <a:ea typeface="Arial" pitchFamily="34" charset="-122"/>
                          <a:cs typeface="Arial" pitchFamily="34" charset="-120"/>
                        </a:rPr>
                        <a:t>₱5,255,207</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310896">
                <a:tc>
                  <a:txBody>
                    <a:bodyPr/>
                    <a:lstStyle/>
                    <a:p>
                      <a:pPr indent="0" marL="0">
                        <a:buNone/>
                      </a:pPr>
                      <a:r>
                        <a:rPr lang="en-US" sz="1450" dirty="0">
                          <a:solidFill>
                            <a:srgbClr val="858D9B"/>
                          </a:solidFill>
                          <a:latin typeface="Arial" pitchFamily="34" charset="0"/>
                          <a:ea typeface="Arial" pitchFamily="34" charset="-122"/>
                          <a:cs typeface="Arial" pitchFamily="34" charset="-120"/>
                        </a:rPr>
                        <a:t>Per employee, a year</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dirty="0">
                          <a:solidFill>
                            <a:srgbClr val="858D9B"/>
                          </a:solidFill>
                          <a:latin typeface="Arial" pitchFamily="34" charset="0"/>
                          <a:ea typeface="Arial" pitchFamily="34" charset="-122"/>
                          <a:cs typeface="Arial" pitchFamily="34" charset="-120"/>
                        </a:rPr>
                        <a:t>₱614</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50" b="1" dirty="0">
                          <a:solidFill>
                            <a:srgbClr val="0E7C66"/>
                          </a:solidFill>
                          <a:latin typeface="Arial" pitchFamily="34" charset="0"/>
                          <a:ea typeface="Arial" pitchFamily="34" charset="-122"/>
                          <a:cs typeface="Arial" pitchFamily="34" charset="-120"/>
                        </a:rPr>
                        <a:t>₱86</a:t>
                      </a:r>
                      <a:endParaRPr lang="en-US" sz="145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bl>
          </a:graphicData>
        </a:graphic>
      </p:graphicFrame>
      <p:sp>
        <p:nvSpPr>
          <p:cNvPr id="8" name="Shape 5"/>
          <p:cNvSpPr/>
          <p:nvPr/>
        </p:nvSpPr>
        <p:spPr>
          <a:xfrm>
            <a:off x="566928" y="4901184"/>
            <a:ext cx="5860655" cy="768096"/>
          </a:xfrm>
          <a:prstGeom prst="roundRect">
            <a:avLst>
              <a:gd name="adj" fmla="val 4762"/>
            </a:avLst>
          </a:prstGeom>
          <a:solidFill>
            <a:srgbClr val="F6F2EA"/>
          </a:solidFill>
          <a:ln w="12700">
            <a:solidFill>
              <a:srgbClr val="333333"/>
            </a:solidFill>
            <a:prstDash val="solid"/>
          </a:ln>
        </p:spPr>
      </p:sp>
      <p:sp>
        <p:nvSpPr>
          <p:cNvPr id="9" name="Text 6"/>
          <p:cNvSpPr txBox="1"/>
          <p:nvPr/>
        </p:nvSpPr>
        <p:spPr>
          <a:xfrm>
            <a:off x="822960" y="4901184"/>
            <a:ext cx="5348591" cy="768096"/>
          </a:xfrm>
          <a:prstGeom prst="rect">
            <a:avLst/>
          </a:prstGeom>
          <a:noFill/>
          <a:ln/>
        </p:spPr>
        <p:txBody>
          <a:bodyPr wrap="square" lIns="0" tIns="0" rIns="0" bIns="0" rtlCol="0" anchor="ctr"/>
          <a:lstStyle/>
          <a:p>
            <a:pPr indent="0" marL="0">
              <a:lnSpc>
                <a:spcPts val="1900"/>
              </a:lnSpc>
              <a:buNone/>
            </a:pPr>
            <a:r>
              <a:rPr lang="en-US" sz="1450" b="1" dirty="0">
                <a:solidFill>
                  <a:srgbClr val="222834"/>
                </a:solidFill>
                <a:latin typeface="Arial" pitchFamily="34" charset="0"/>
                <a:ea typeface="Arial" pitchFamily="34" charset="-122"/>
                <a:cs typeface="Arial" pitchFamily="34" charset="-120"/>
              </a:rPr>
              <a:t>₱55 per extra employee a year. </a:t>
            </a:r>
            <a:pPr indent="0" marL="0">
              <a:lnSpc>
                <a:spcPts val="1900"/>
              </a:lnSpc>
              <a:buNone/>
            </a:pPr>
            <a:r>
              <a:rPr lang="en-US" sz="1450" dirty="0">
                <a:solidFill>
                  <a:srgbClr val="4B5363"/>
                </a:solidFill>
                <a:latin typeface="Arial" pitchFamily="34" charset="0"/>
                <a:ea typeface="Arial" pitchFamily="34" charset="-122"/>
                <a:cs typeface="Arial" pitchFamily="34" charset="-120"/>
              </a:rPr>
              <a:t>Going from 1,113 to 20,470 adds ₱3.21M over three years for 19,357 more people.</a:t>
            </a:r>
            <a:endParaRPr lang="en-US" sz="1450" dirty="0"/>
          </a:p>
        </p:txBody>
      </p:sp>
      <p:sp>
        <p:nvSpPr>
          <p:cNvPr id="10" name="Shape 7"/>
          <p:cNvSpPr/>
          <p:nvPr/>
        </p:nvSpPr>
        <p:spPr>
          <a:xfrm>
            <a:off x="566928" y="5760720"/>
            <a:ext cx="5860655" cy="530352"/>
          </a:xfrm>
          <a:prstGeom prst="roundRect">
            <a:avLst>
              <a:gd name="adj" fmla="val 6897"/>
            </a:avLst>
          </a:prstGeom>
          <a:solidFill>
            <a:srgbClr val="FBF2E0"/>
          </a:solidFill>
          <a:ln w="12700">
            <a:solidFill>
              <a:srgbClr val="333333"/>
            </a:solidFill>
            <a:prstDash val="solid"/>
          </a:ln>
        </p:spPr>
      </p:sp>
      <p:sp>
        <p:nvSpPr>
          <p:cNvPr id="11" name="Text 8"/>
          <p:cNvSpPr txBox="1"/>
          <p:nvPr/>
        </p:nvSpPr>
        <p:spPr>
          <a:xfrm>
            <a:off x="822960" y="5760720"/>
            <a:ext cx="5348591" cy="530352"/>
          </a:xfrm>
          <a:prstGeom prst="rect">
            <a:avLst/>
          </a:prstGeom>
          <a:noFill/>
          <a:ln/>
        </p:spPr>
        <p:txBody>
          <a:bodyPr wrap="square" lIns="0" tIns="0" rIns="0" bIns="0" rtlCol="0" anchor="ctr"/>
          <a:lstStyle/>
          <a:p>
            <a:pPr indent="0" marL="0">
              <a:buNone/>
            </a:pPr>
            <a:r>
              <a:rPr lang="en-US" sz="1450" b="1" dirty="0">
                <a:solidFill>
                  <a:srgbClr val="9E6B12"/>
                </a:solidFill>
                <a:latin typeface="Arial" pitchFamily="34" charset="0"/>
                <a:ea typeface="Arial" pitchFamily="34" charset="-122"/>
                <a:cs typeface="Arial" pitchFamily="34" charset="-120"/>
              </a:rPr>
              <a:t>Watch the AI line. </a:t>
            </a:r>
            <a:pPr indent="0" marL="0">
              <a:buNone/>
            </a:pPr>
            <a:r>
              <a:rPr lang="en-US" sz="1450" dirty="0">
                <a:solidFill>
                  <a:srgbClr val="4B5363"/>
                </a:solidFill>
                <a:latin typeface="Arial" pitchFamily="34" charset="0"/>
                <a:ea typeface="Arial" pitchFamily="34" charset="-122"/>
                <a:cs typeface="Arial" pitchFamily="34" charset="-120"/>
              </a:rPr>
              <a:t>63% of the full-org run, against 44% at the pilot.</a:t>
            </a:r>
            <a:endParaRPr lang="en-US" sz="1450" dirty="0"/>
          </a:p>
        </p:txBody>
      </p:sp>
      <p:sp>
        <p:nvSpPr>
          <p:cNvPr id="12" name="Text 9"/>
          <p:cNvSpPr txBox="1"/>
          <p:nvPr/>
        </p:nvSpPr>
        <p:spPr>
          <a:xfrm>
            <a:off x="6793343" y="1920240"/>
            <a:ext cx="4831424" cy="237744"/>
          </a:xfrm>
          <a:prstGeom prst="rect">
            <a:avLst/>
          </a:prstGeom>
          <a:noFill/>
          <a:ln/>
        </p:spPr>
        <p:txBody>
          <a:bodyPr wrap="square" lIns="0" tIns="0" rIns="0" bIns="0" rtlCol="0" anchor="ctr"/>
          <a:lstStyle/>
          <a:p>
            <a:pPr indent="0" marL="0">
              <a:buNone/>
            </a:pPr>
            <a:r>
              <a:rPr lang="en-US" sz="1400" b="1" spc="140" kern="0" dirty="0">
                <a:solidFill>
                  <a:srgbClr val="0E7C66"/>
                </a:solidFill>
                <a:latin typeface="Arial" pitchFamily="34" charset="0"/>
                <a:ea typeface="Arial" pitchFamily="34" charset="-122"/>
                <a:cs typeface="Arial" pitchFamily="34" charset="-120"/>
              </a:rPr>
              <a:t>AND THE BENEFIT SIDE GROWS FASTER</a:t>
            </a:r>
            <a:endParaRPr lang="en-US" sz="1400" dirty="0"/>
          </a:p>
        </p:txBody>
      </p:sp>
      <p:sp>
        <p:nvSpPr>
          <p:cNvPr id="13" name="Shape 10"/>
          <p:cNvSpPr/>
          <p:nvPr/>
        </p:nvSpPr>
        <p:spPr>
          <a:xfrm>
            <a:off x="6793343" y="2304288"/>
            <a:ext cx="4831424" cy="950976"/>
          </a:xfrm>
          <a:prstGeom prst="roundRect">
            <a:avLst>
              <a:gd name="adj" fmla="val 3846"/>
            </a:avLst>
          </a:prstGeom>
          <a:solidFill>
            <a:srgbClr val="F6F2EA"/>
          </a:solidFill>
          <a:ln w="12700">
            <a:solidFill>
              <a:srgbClr val="333333"/>
            </a:solidFill>
            <a:prstDash val="solid"/>
          </a:ln>
        </p:spPr>
      </p:sp>
      <p:sp>
        <p:nvSpPr>
          <p:cNvPr id="14" name="Text 11"/>
          <p:cNvSpPr txBox="1"/>
          <p:nvPr/>
        </p:nvSpPr>
        <p:spPr>
          <a:xfrm>
            <a:off x="7049375" y="2377440"/>
            <a:ext cx="4319360" cy="402336"/>
          </a:xfrm>
          <a:prstGeom prst="rect">
            <a:avLst/>
          </a:prstGeom>
          <a:noFill/>
          <a:ln/>
        </p:spPr>
        <p:txBody>
          <a:bodyPr wrap="square" lIns="0" tIns="0" rIns="0" bIns="0" rtlCol="0" anchor="ctr"/>
          <a:lstStyle/>
          <a:p>
            <a:pPr indent="0" marL="0">
              <a:buNone/>
            </a:pPr>
            <a:r>
              <a:rPr lang="en-US" sz="2600" b="1" dirty="0">
                <a:solidFill>
                  <a:srgbClr val="858D9B"/>
                </a:solidFill>
                <a:latin typeface="Arial" pitchFamily="34" charset="0"/>
                <a:ea typeface="Arial" pitchFamily="34" charset="-122"/>
                <a:cs typeface="Arial" pitchFamily="34" charset="-120"/>
              </a:rPr>
              <a:t>₱0.94M</a:t>
            </a:r>
            <a:endParaRPr lang="en-US" sz="2600" dirty="0"/>
          </a:p>
        </p:txBody>
      </p:sp>
      <p:sp>
        <p:nvSpPr>
          <p:cNvPr id="15" name="Text 12"/>
          <p:cNvSpPr txBox="1"/>
          <p:nvPr/>
        </p:nvSpPr>
        <p:spPr>
          <a:xfrm>
            <a:off x="7049375" y="2779776"/>
            <a:ext cx="4319360" cy="256032"/>
          </a:xfrm>
          <a:prstGeom prst="rect">
            <a:avLst/>
          </a:prstGeom>
          <a:noFill/>
          <a:ln/>
        </p:spPr>
        <p:txBody>
          <a:bodyPr wrap="square" lIns="0" tIns="0" rIns="0" bIns="0" rtlCol="0" anchor="t"/>
          <a:lstStyle/>
          <a:p>
            <a:pPr indent="0" marL="0">
              <a:buNone/>
            </a:pPr>
            <a:r>
              <a:rPr lang="en-US" sz="1500" b="1" dirty="0">
                <a:solidFill>
                  <a:srgbClr val="222834"/>
                </a:solidFill>
                <a:latin typeface="Arial" pitchFamily="34" charset="0"/>
                <a:ea typeface="Arial" pitchFamily="34" charset="-122"/>
                <a:cs typeface="Arial" pitchFamily="34" charset="-120"/>
              </a:rPr>
              <a:t>a year captured by the pilot</a:t>
            </a:r>
            <a:endParaRPr lang="en-US" sz="1500" dirty="0"/>
          </a:p>
        </p:txBody>
      </p:sp>
      <p:sp>
        <p:nvSpPr>
          <p:cNvPr id="16" name="Text 13"/>
          <p:cNvSpPr txBox="1"/>
          <p:nvPr/>
        </p:nvSpPr>
        <p:spPr>
          <a:xfrm>
            <a:off x="7049375" y="3017520"/>
            <a:ext cx="4319360" cy="219456"/>
          </a:xfrm>
          <a:prstGeom prst="rect">
            <a:avLst/>
          </a:prstGeom>
          <a:noFill/>
          <a:ln/>
        </p:spPr>
        <p:txBody>
          <a:bodyPr wrap="square" lIns="0" tIns="0" rIns="0" bIns="0" rtlCol="0" anchor="t"/>
          <a:lstStyle/>
          <a:p>
            <a:pPr indent="0" marL="0">
              <a:buNone/>
            </a:pPr>
            <a:r>
              <a:rPr lang="en-US" sz="1400" dirty="0">
                <a:solidFill>
                  <a:srgbClr val="858D9B"/>
                </a:solidFill>
                <a:latin typeface="Arial" pitchFamily="34" charset="0"/>
                <a:ea typeface="Arial" pitchFamily="34" charset="-122"/>
                <a:cs typeface="Arial" pitchFamily="34" charset="-120"/>
              </a:rPr>
              <a:t>its slice of the 60 requisitions</a:t>
            </a:r>
            <a:endParaRPr lang="en-US" sz="1400" dirty="0"/>
          </a:p>
        </p:txBody>
      </p:sp>
      <p:sp>
        <p:nvSpPr>
          <p:cNvPr id="17" name="Shape 14"/>
          <p:cNvSpPr/>
          <p:nvPr/>
        </p:nvSpPr>
        <p:spPr>
          <a:xfrm>
            <a:off x="6793343" y="3364992"/>
            <a:ext cx="4831424" cy="950976"/>
          </a:xfrm>
          <a:prstGeom prst="roundRect">
            <a:avLst>
              <a:gd name="adj" fmla="val 3846"/>
            </a:avLst>
          </a:prstGeom>
          <a:solidFill>
            <a:srgbClr val="E8F4F0"/>
          </a:solidFill>
          <a:ln w="12700">
            <a:solidFill>
              <a:srgbClr val="333333"/>
            </a:solidFill>
            <a:prstDash val="solid"/>
          </a:ln>
        </p:spPr>
      </p:sp>
      <p:sp>
        <p:nvSpPr>
          <p:cNvPr id="18" name="Text 15"/>
          <p:cNvSpPr txBox="1"/>
          <p:nvPr/>
        </p:nvSpPr>
        <p:spPr>
          <a:xfrm>
            <a:off x="7049375" y="3438144"/>
            <a:ext cx="4319360" cy="402336"/>
          </a:xfrm>
          <a:prstGeom prst="rect">
            <a:avLst/>
          </a:prstGeom>
          <a:noFill/>
          <a:ln/>
        </p:spPr>
        <p:txBody>
          <a:bodyPr wrap="square" lIns="0" tIns="0" rIns="0" bIns="0" rtlCol="0" anchor="ctr"/>
          <a:lstStyle/>
          <a:p>
            <a:pPr indent="0" marL="0">
              <a:buNone/>
            </a:pPr>
            <a:r>
              <a:rPr lang="en-US" sz="2600" b="1" dirty="0">
                <a:solidFill>
                  <a:srgbClr val="0E7C66"/>
                </a:solidFill>
                <a:latin typeface="Arial" pitchFamily="34" charset="0"/>
                <a:ea typeface="Arial" pitchFamily="34" charset="-122"/>
                <a:cs typeface="Arial" pitchFamily="34" charset="-120"/>
              </a:rPr>
              <a:t>₱5.29M</a:t>
            </a:r>
            <a:endParaRPr lang="en-US" sz="2600" dirty="0"/>
          </a:p>
        </p:txBody>
      </p:sp>
      <p:sp>
        <p:nvSpPr>
          <p:cNvPr id="19" name="Text 16"/>
          <p:cNvSpPr txBox="1"/>
          <p:nvPr/>
        </p:nvSpPr>
        <p:spPr>
          <a:xfrm>
            <a:off x="7049375" y="3840480"/>
            <a:ext cx="4319360" cy="256032"/>
          </a:xfrm>
          <a:prstGeom prst="rect">
            <a:avLst/>
          </a:prstGeom>
          <a:noFill/>
          <a:ln/>
        </p:spPr>
        <p:txBody>
          <a:bodyPr wrap="square" lIns="0" tIns="0" rIns="0" bIns="0" rtlCol="0" anchor="t"/>
          <a:lstStyle/>
          <a:p>
            <a:pPr indent="0" marL="0">
              <a:buNone/>
            </a:pPr>
            <a:r>
              <a:rPr lang="en-US" sz="1500" b="1" dirty="0">
                <a:solidFill>
                  <a:srgbClr val="222834"/>
                </a:solidFill>
                <a:latin typeface="Arial" pitchFamily="34" charset="0"/>
                <a:ea typeface="Arial" pitchFamily="34" charset="-122"/>
                <a:cs typeface="Arial" pitchFamily="34" charset="-120"/>
              </a:rPr>
              <a:t>a year at full rollout</a:t>
            </a:r>
            <a:endParaRPr lang="en-US" sz="1500" dirty="0"/>
          </a:p>
        </p:txBody>
      </p:sp>
      <p:sp>
        <p:nvSpPr>
          <p:cNvPr id="20" name="Text 17"/>
          <p:cNvSpPr txBox="1"/>
          <p:nvPr/>
        </p:nvSpPr>
        <p:spPr>
          <a:xfrm>
            <a:off x="7049375" y="4078224"/>
            <a:ext cx="4319360" cy="219456"/>
          </a:xfrm>
          <a:prstGeom prst="rect">
            <a:avLst/>
          </a:prstGeom>
          <a:noFill/>
          <a:ln/>
        </p:spPr>
        <p:txBody>
          <a:bodyPr wrap="square" lIns="0" tIns="0" rIns="0" bIns="0" rtlCol="0" anchor="t"/>
          <a:lstStyle/>
          <a:p>
            <a:pPr indent="0" marL="0">
              <a:buNone/>
            </a:pPr>
            <a:r>
              <a:rPr lang="en-US" sz="1400" dirty="0">
                <a:solidFill>
                  <a:srgbClr val="858D9B"/>
                </a:solidFill>
                <a:latin typeface="Arial" pitchFamily="34" charset="0"/>
                <a:ea typeface="Arial" pitchFamily="34" charset="-122"/>
                <a:cs typeface="Arial" pitchFamily="34" charset="-120"/>
              </a:rPr>
              <a:t>the whole ₱5.3M on slide 8</a:t>
            </a:r>
            <a:endParaRPr lang="en-US" sz="1400" dirty="0"/>
          </a:p>
        </p:txBody>
      </p:sp>
      <p:sp>
        <p:nvSpPr>
          <p:cNvPr id="21" name="Text 18"/>
          <p:cNvSpPr txBox="1"/>
          <p:nvPr/>
        </p:nvSpPr>
        <p:spPr>
          <a:xfrm>
            <a:off x="6793343" y="4498848"/>
            <a:ext cx="4831424" cy="310896"/>
          </a:xfrm>
          <a:prstGeom prst="rect">
            <a:avLst/>
          </a:prstGeom>
          <a:noFill/>
          <a:ln/>
        </p:spPr>
        <p:txBody>
          <a:bodyPr wrap="square" lIns="0" tIns="0" rIns="0" bIns="0" rtlCol="0" anchor="ctr"/>
          <a:lstStyle/>
          <a:p>
            <a:pPr indent="0" marL="0">
              <a:buNone/>
            </a:pPr>
            <a:r>
              <a:rPr lang="en-US" sz="1700" b="1" dirty="0">
                <a:solidFill>
                  <a:srgbClr val="222834"/>
                </a:solidFill>
                <a:latin typeface="Arial" pitchFamily="34" charset="0"/>
                <a:ea typeface="Arial" pitchFamily="34" charset="-122"/>
                <a:cs typeface="Arial" pitchFamily="34" charset="-120"/>
              </a:rPr>
              <a:t>2.6× the cost. 5.6× the mobility benefit.</a:t>
            </a:r>
            <a:endParaRPr lang="en-US" sz="1700" dirty="0"/>
          </a:p>
        </p:txBody>
      </p:sp>
      <p:sp>
        <p:nvSpPr>
          <p:cNvPr id="22" name="Text 19"/>
          <p:cNvSpPr txBox="1"/>
          <p:nvPr/>
        </p:nvSpPr>
        <p:spPr>
          <a:xfrm>
            <a:off x="6793343" y="4846320"/>
            <a:ext cx="4831424" cy="87782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The pilot is not where the money is — it is where the proof is. Benefit–cost at full rollout is 2.4 on measured mobility alone, before any shelf retention.</a:t>
            </a:r>
            <a:endParaRPr lang="en-US" sz="1450" dirty="0"/>
          </a:p>
        </p:txBody>
      </p:sp>
      <p:sp>
        <p:nvSpPr>
          <p:cNvPr id="23" name="Shape 20"/>
          <p:cNvSpPr/>
          <p:nvPr/>
        </p:nvSpPr>
        <p:spPr>
          <a:xfrm>
            <a:off x="6793343" y="5705856"/>
            <a:ext cx="4831424" cy="603504"/>
          </a:xfrm>
          <a:prstGeom prst="roundRect">
            <a:avLst>
              <a:gd name="adj" fmla="val 6061"/>
            </a:avLst>
          </a:prstGeom>
          <a:solidFill>
            <a:srgbClr val="FDF0F0"/>
          </a:solidFill>
          <a:ln w="12700">
            <a:solidFill>
              <a:srgbClr val="333333"/>
            </a:solidFill>
            <a:prstDash val="solid"/>
          </a:ln>
        </p:spPr>
      </p:sp>
      <p:sp>
        <p:nvSpPr>
          <p:cNvPr id="24" name="Text 21"/>
          <p:cNvSpPr txBox="1"/>
          <p:nvPr/>
        </p:nvSpPr>
        <p:spPr>
          <a:xfrm>
            <a:off x="7049375" y="5705856"/>
            <a:ext cx="4319360" cy="603504"/>
          </a:xfrm>
          <a:prstGeom prst="rect">
            <a:avLst/>
          </a:prstGeom>
          <a:noFill/>
          <a:ln/>
        </p:spPr>
        <p:txBody>
          <a:bodyPr wrap="square" lIns="0" tIns="0" rIns="0" bIns="0" rtlCol="0" anchor="ctr"/>
          <a:lstStyle/>
          <a:p>
            <a:pPr indent="0" marL="0">
              <a:buNone/>
            </a:pPr>
            <a:r>
              <a:rPr lang="en-US" sz="1450" b="1" dirty="0">
                <a:solidFill>
                  <a:srgbClr val="C00000"/>
                </a:solidFill>
                <a:latin typeface="Arial" pitchFamily="34" charset="0"/>
                <a:ea typeface="Arial" pitchFamily="34" charset="-122"/>
                <a:cs typeface="Arial" pitchFamily="34" charset="-120"/>
              </a:rPr>
              <a:t>Do not approve this scope today. Approve the pilot.</a:t>
            </a:r>
            <a:endParaRPr lang="en-US" sz="1450" dirty="0"/>
          </a:p>
        </p:txBody>
      </p:sp>
      <p:sp>
        <p:nvSpPr>
          <p:cNvPr id="25" name="Text 22"/>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Each run line scales by its own driver — Claude and email by headcount, the rest by tier or volume.</a:t>
            </a:r>
            <a:endParaRPr lang="en-US" sz="1400" dirty="0"/>
          </a:p>
        </p:txBody>
      </p:sp>
      <p:sp>
        <p:nvSpPr>
          <p:cNvPr id="26" name="Text 23"/>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HOW IT RUNS</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Where the data comes from, and where it stops.</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No new system of record. Growth reads from what we already run, and writes back one field.</a:t>
            </a:r>
            <a:endParaRPr lang="en-US" sz="1600" dirty="0"/>
          </a:p>
        </p:txBody>
      </p:sp>
      <p:sp>
        <p:nvSpPr>
          <p:cNvPr id="6" name="Shape 4"/>
          <p:cNvSpPr/>
          <p:nvPr/>
        </p:nvSpPr>
        <p:spPr>
          <a:xfrm>
            <a:off x="566928" y="1883664"/>
            <a:ext cx="2613584" cy="3401568"/>
          </a:xfrm>
          <a:prstGeom prst="roundRect">
            <a:avLst>
              <a:gd name="adj" fmla="val 1399"/>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7" name="Shape 5"/>
          <p:cNvSpPr/>
          <p:nvPr/>
        </p:nvSpPr>
        <p:spPr>
          <a:xfrm>
            <a:off x="566928" y="1883664"/>
            <a:ext cx="2613584" cy="68580"/>
          </a:xfrm>
          <a:prstGeom prst="rect">
            <a:avLst/>
          </a:prstGeom>
          <a:solidFill>
            <a:srgbClr val="C00000"/>
          </a:solidFill>
          <a:ln w="12700">
            <a:solidFill>
              <a:srgbClr val="333333"/>
            </a:solidFill>
            <a:prstDash val="solid"/>
          </a:ln>
        </p:spPr>
      </p:sp>
      <p:sp>
        <p:nvSpPr>
          <p:cNvPr id="8" name="Text 6"/>
          <p:cNvSpPr txBox="1"/>
          <p:nvPr/>
        </p:nvSpPr>
        <p:spPr>
          <a:xfrm>
            <a:off x="786384" y="2048256"/>
            <a:ext cx="2174672" cy="237744"/>
          </a:xfrm>
          <a:prstGeom prst="rect">
            <a:avLst/>
          </a:prstGeom>
          <a:noFill/>
          <a:ln/>
        </p:spPr>
        <p:txBody>
          <a:bodyPr wrap="square" lIns="0" tIns="0" rIns="0" bIns="0" rtlCol="0" anchor="ctr"/>
          <a:lstStyle/>
          <a:p>
            <a:pPr indent="0" marL="0">
              <a:buNone/>
            </a:pPr>
            <a:r>
              <a:rPr lang="en-US" sz="1400" b="1" spc="160" kern="0" dirty="0">
                <a:solidFill>
                  <a:srgbClr val="C00000"/>
                </a:solidFill>
                <a:latin typeface="Arial" pitchFamily="34" charset="0"/>
                <a:ea typeface="Arial" pitchFamily="34" charset="-122"/>
                <a:cs typeface="Arial" pitchFamily="34" charset="-120"/>
              </a:rPr>
              <a:t>SOURCES</a:t>
            </a:r>
            <a:endParaRPr lang="en-US" sz="1400" dirty="0"/>
          </a:p>
        </p:txBody>
      </p:sp>
      <p:sp>
        <p:nvSpPr>
          <p:cNvPr id="9" name="Text 7"/>
          <p:cNvSpPr txBox="1"/>
          <p:nvPr/>
        </p:nvSpPr>
        <p:spPr>
          <a:xfrm>
            <a:off x="786384" y="2395728"/>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HRIS</a:t>
            </a:r>
            <a:endParaRPr lang="en-US" sz="1450" dirty="0"/>
          </a:p>
        </p:txBody>
      </p:sp>
      <p:sp>
        <p:nvSpPr>
          <p:cNvPr id="10" name="Text 8"/>
          <p:cNvSpPr txBox="1"/>
          <p:nvPr/>
        </p:nvSpPr>
        <p:spPr>
          <a:xfrm>
            <a:off x="786384" y="2615184"/>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Band, function, manager. Nightly.</a:t>
            </a:r>
            <a:endParaRPr lang="en-US" sz="1400" dirty="0"/>
          </a:p>
        </p:txBody>
      </p:sp>
      <p:sp>
        <p:nvSpPr>
          <p:cNvPr id="11" name="Text 9"/>
          <p:cNvSpPr txBox="1"/>
          <p:nvPr/>
        </p:nvSpPr>
        <p:spPr>
          <a:xfrm>
            <a:off x="786384" y="3090672"/>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MyDevelopment</a:t>
            </a:r>
            <a:endParaRPr lang="en-US" sz="1450" dirty="0"/>
          </a:p>
        </p:txBody>
      </p:sp>
      <p:sp>
        <p:nvSpPr>
          <p:cNvPr id="12" name="Text 10"/>
          <p:cNvSpPr txBox="1"/>
          <p:nvPr/>
        </p:nvSpPr>
        <p:spPr>
          <a:xfrm>
            <a:off x="786384" y="3310128"/>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Learning and LinkedIn seed skills.</a:t>
            </a:r>
            <a:endParaRPr lang="en-US" sz="1400" dirty="0"/>
          </a:p>
        </p:txBody>
      </p:sp>
      <p:sp>
        <p:nvSpPr>
          <p:cNvPr id="13" name="Text 11"/>
          <p:cNvSpPr txBox="1"/>
          <p:nvPr/>
        </p:nvSpPr>
        <p:spPr>
          <a:xfrm>
            <a:off x="786384" y="3785616"/>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HC Connect</a:t>
            </a:r>
            <a:endParaRPr lang="en-US" sz="1450" dirty="0"/>
          </a:p>
        </p:txBody>
      </p:sp>
      <p:sp>
        <p:nvSpPr>
          <p:cNvPr id="14" name="Text 12"/>
          <p:cNvSpPr txBox="1"/>
          <p:nvPr/>
        </p:nvSpPr>
        <p:spPr>
          <a:xfrm>
            <a:off x="786384" y="4005072"/>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Open vacancies onto the shelf.</a:t>
            </a:r>
            <a:endParaRPr lang="en-US" sz="1400" dirty="0"/>
          </a:p>
        </p:txBody>
      </p:sp>
      <p:sp>
        <p:nvSpPr>
          <p:cNvPr id="15" name="Text 13"/>
          <p:cNvSpPr txBox="1"/>
          <p:nvPr/>
        </p:nvSpPr>
        <p:spPr>
          <a:xfrm>
            <a:off x="786384" y="4480560"/>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People</a:t>
            </a:r>
            <a:endParaRPr lang="en-US" sz="1450" dirty="0"/>
          </a:p>
        </p:txBody>
      </p:sp>
      <p:sp>
        <p:nvSpPr>
          <p:cNvPr id="16" name="Text 14"/>
          <p:cNvSpPr txBox="1"/>
          <p:nvPr/>
        </p:nvSpPr>
        <p:spPr>
          <a:xfrm>
            <a:off x="786384" y="4700016"/>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Employees correct. Managers post.</a:t>
            </a:r>
            <a:endParaRPr lang="en-US" sz="1400" dirty="0"/>
          </a:p>
        </p:txBody>
      </p:sp>
      <p:sp>
        <p:nvSpPr>
          <p:cNvPr id="17" name="Text 15"/>
          <p:cNvSpPr txBox="1"/>
          <p:nvPr/>
        </p:nvSpPr>
        <p:spPr>
          <a:xfrm>
            <a:off x="3198800" y="3401568"/>
            <a:ext cx="164592" cy="365760"/>
          </a:xfrm>
          <a:prstGeom prst="rect">
            <a:avLst/>
          </a:prstGeom>
          <a:noFill/>
          <a:ln/>
        </p:spPr>
        <p:txBody>
          <a:bodyPr wrap="square" lIns="0" tIns="0" rIns="0" bIns="0" rtlCol="0" anchor="ctr"/>
          <a:lstStyle/>
          <a:p>
            <a:pPr algn="ctr" indent="0" marL="0">
              <a:buNone/>
            </a:pPr>
            <a:r>
              <a:rPr lang="en-US" sz="2600" b="1" dirty="0">
                <a:solidFill>
                  <a:srgbClr val="C4BCAE"/>
                </a:solidFill>
                <a:latin typeface="Arial" pitchFamily="34" charset="0"/>
                <a:ea typeface="Arial" pitchFamily="34" charset="-122"/>
                <a:cs typeface="Arial" pitchFamily="34" charset="-120"/>
              </a:rPr>
              <a:t>›</a:t>
            </a:r>
            <a:endParaRPr lang="en-US" sz="2600" dirty="0"/>
          </a:p>
        </p:txBody>
      </p:sp>
      <p:sp>
        <p:nvSpPr>
          <p:cNvPr id="18" name="Shape 16"/>
          <p:cNvSpPr/>
          <p:nvPr/>
        </p:nvSpPr>
        <p:spPr>
          <a:xfrm>
            <a:off x="3381680" y="1883664"/>
            <a:ext cx="2613584" cy="3401568"/>
          </a:xfrm>
          <a:prstGeom prst="roundRect">
            <a:avLst>
              <a:gd name="adj" fmla="val 1399"/>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19" name="Shape 17"/>
          <p:cNvSpPr/>
          <p:nvPr/>
        </p:nvSpPr>
        <p:spPr>
          <a:xfrm>
            <a:off x="3381680" y="1883664"/>
            <a:ext cx="2613584" cy="68580"/>
          </a:xfrm>
          <a:prstGeom prst="rect">
            <a:avLst/>
          </a:prstGeom>
          <a:solidFill>
            <a:srgbClr val="5A6473"/>
          </a:solidFill>
          <a:ln w="12700">
            <a:solidFill>
              <a:srgbClr val="333333"/>
            </a:solidFill>
            <a:prstDash val="solid"/>
          </a:ln>
        </p:spPr>
      </p:sp>
      <p:sp>
        <p:nvSpPr>
          <p:cNvPr id="20" name="Text 18"/>
          <p:cNvSpPr txBox="1"/>
          <p:nvPr/>
        </p:nvSpPr>
        <p:spPr>
          <a:xfrm>
            <a:off x="3601136" y="2048256"/>
            <a:ext cx="2174672" cy="237744"/>
          </a:xfrm>
          <a:prstGeom prst="rect">
            <a:avLst/>
          </a:prstGeom>
          <a:noFill/>
          <a:ln/>
        </p:spPr>
        <p:txBody>
          <a:bodyPr wrap="square" lIns="0" tIns="0" rIns="0" bIns="0" rtlCol="0" anchor="ctr"/>
          <a:lstStyle/>
          <a:p>
            <a:pPr indent="0" marL="0">
              <a:buNone/>
            </a:pPr>
            <a:r>
              <a:rPr lang="en-US" sz="1400" b="1" spc="160" kern="0" dirty="0">
                <a:solidFill>
                  <a:srgbClr val="5A6473"/>
                </a:solidFill>
                <a:latin typeface="Arial" pitchFamily="34" charset="0"/>
                <a:ea typeface="Arial" pitchFamily="34" charset="-122"/>
                <a:cs typeface="Arial" pitchFamily="34" charset="-120"/>
              </a:rPr>
              <a:t>STORE</a:t>
            </a:r>
            <a:endParaRPr lang="en-US" sz="1400" dirty="0"/>
          </a:p>
        </p:txBody>
      </p:sp>
      <p:sp>
        <p:nvSpPr>
          <p:cNvPr id="21" name="Text 19"/>
          <p:cNvSpPr txBox="1"/>
          <p:nvPr/>
        </p:nvSpPr>
        <p:spPr>
          <a:xfrm>
            <a:off x="3601136" y="2395728"/>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Supabase Postgres</a:t>
            </a:r>
            <a:endParaRPr lang="en-US" sz="1450" dirty="0"/>
          </a:p>
        </p:txBody>
      </p:sp>
      <p:sp>
        <p:nvSpPr>
          <p:cNvPr id="22" name="Text 20"/>
          <p:cNvSpPr txBox="1"/>
          <p:nvPr/>
        </p:nvSpPr>
        <p:spPr>
          <a:xfrm>
            <a:off x="3601136" y="2615184"/>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Encrypted in transit and at rest.</a:t>
            </a:r>
            <a:endParaRPr lang="en-US" sz="1400" dirty="0"/>
          </a:p>
        </p:txBody>
      </p:sp>
      <p:sp>
        <p:nvSpPr>
          <p:cNvPr id="23" name="Text 21"/>
          <p:cNvSpPr txBox="1"/>
          <p:nvPr/>
        </p:nvSpPr>
        <p:spPr>
          <a:xfrm>
            <a:off x="3601136" y="3090672"/>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Row-level security</a:t>
            </a:r>
            <a:endParaRPr lang="en-US" sz="1450" dirty="0"/>
          </a:p>
        </p:txBody>
      </p:sp>
      <p:sp>
        <p:nvSpPr>
          <p:cNvPr id="24" name="Text 22"/>
          <p:cNvSpPr txBox="1"/>
          <p:nvPr/>
        </p:nvSpPr>
        <p:spPr>
          <a:xfrm>
            <a:off x="3601136" y="3310128"/>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You see yours. A manager sees theirs.</a:t>
            </a:r>
            <a:endParaRPr lang="en-US" sz="1400" dirty="0"/>
          </a:p>
        </p:txBody>
      </p:sp>
      <p:sp>
        <p:nvSpPr>
          <p:cNvPr id="25" name="Text 23"/>
          <p:cNvSpPr txBox="1"/>
          <p:nvPr/>
        </p:nvSpPr>
        <p:spPr>
          <a:xfrm>
            <a:off x="3601136" y="3785616"/>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SSO via Azure AD</a:t>
            </a:r>
            <a:endParaRPr lang="en-US" sz="1450" dirty="0"/>
          </a:p>
        </p:txBody>
      </p:sp>
      <p:sp>
        <p:nvSpPr>
          <p:cNvPr id="26" name="Text 24"/>
          <p:cNvSpPr txBox="1"/>
          <p:nvPr/>
        </p:nvSpPr>
        <p:spPr>
          <a:xfrm>
            <a:off x="3601136" y="4005072"/>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No separate password or leaver process.</a:t>
            </a:r>
            <a:endParaRPr lang="en-US" sz="1400" dirty="0"/>
          </a:p>
        </p:txBody>
      </p:sp>
      <p:sp>
        <p:nvSpPr>
          <p:cNvPr id="27" name="Text 25"/>
          <p:cNvSpPr txBox="1"/>
          <p:nvPr/>
        </p:nvSpPr>
        <p:spPr>
          <a:xfrm>
            <a:off x="3601136" y="4480560"/>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Retention</a:t>
            </a:r>
            <a:endParaRPr lang="en-US" sz="1450" dirty="0"/>
          </a:p>
        </p:txBody>
      </p:sp>
      <p:sp>
        <p:nvSpPr>
          <p:cNvPr id="28" name="Text 26"/>
          <p:cNvSpPr txBox="1"/>
          <p:nvPr/>
        </p:nvSpPr>
        <p:spPr>
          <a:xfrm>
            <a:off x="3601136" y="4700016"/>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Profile +12 months. Log 24 months.</a:t>
            </a:r>
            <a:endParaRPr lang="en-US" sz="1400" dirty="0"/>
          </a:p>
        </p:txBody>
      </p:sp>
      <p:sp>
        <p:nvSpPr>
          <p:cNvPr id="29" name="Text 27"/>
          <p:cNvSpPr txBox="1"/>
          <p:nvPr/>
        </p:nvSpPr>
        <p:spPr>
          <a:xfrm>
            <a:off x="6013552" y="3401568"/>
            <a:ext cx="164592" cy="365760"/>
          </a:xfrm>
          <a:prstGeom prst="rect">
            <a:avLst/>
          </a:prstGeom>
          <a:noFill/>
          <a:ln/>
        </p:spPr>
        <p:txBody>
          <a:bodyPr wrap="square" lIns="0" tIns="0" rIns="0" bIns="0" rtlCol="0" anchor="ctr"/>
          <a:lstStyle/>
          <a:p>
            <a:pPr algn="ctr" indent="0" marL="0">
              <a:buNone/>
            </a:pPr>
            <a:r>
              <a:rPr lang="en-US" sz="2600" b="1" dirty="0">
                <a:solidFill>
                  <a:srgbClr val="C4BCAE"/>
                </a:solidFill>
                <a:latin typeface="Arial" pitchFamily="34" charset="0"/>
                <a:ea typeface="Arial" pitchFamily="34" charset="-122"/>
                <a:cs typeface="Arial" pitchFamily="34" charset="-120"/>
              </a:rPr>
              <a:t>›</a:t>
            </a:r>
            <a:endParaRPr lang="en-US" sz="2600" dirty="0"/>
          </a:p>
        </p:txBody>
      </p:sp>
      <p:sp>
        <p:nvSpPr>
          <p:cNvPr id="30" name="Shape 28"/>
          <p:cNvSpPr/>
          <p:nvPr/>
        </p:nvSpPr>
        <p:spPr>
          <a:xfrm>
            <a:off x="6196432" y="1883664"/>
            <a:ext cx="2613584" cy="3401568"/>
          </a:xfrm>
          <a:prstGeom prst="roundRect">
            <a:avLst>
              <a:gd name="adj" fmla="val 1399"/>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31" name="Shape 29"/>
          <p:cNvSpPr/>
          <p:nvPr/>
        </p:nvSpPr>
        <p:spPr>
          <a:xfrm>
            <a:off x="6196432" y="1883664"/>
            <a:ext cx="2613584" cy="68580"/>
          </a:xfrm>
          <a:prstGeom prst="rect">
            <a:avLst/>
          </a:prstGeom>
          <a:solidFill>
            <a:srgbClr val="9E6B12"/>
          </a:solidFill>
          <a:ln w="12700">
            <a:solidFill>
              <a:srgbClr val="333333"/>
            </a:solidFill>
            <a:prstDash val="solid"/>
          </a:ln>
        </p:spPr>
      </p:sp>
      <p:sp>
        <p:nvSpPr>
          <p:cNvPr id="32" name="Text 30"/>
          <p:cNvSpPr txBox="1"/>
          <p:nvPr/>
        </p:nvSpPr>
        <p:spPr>
          <a:xfrm>
            <a:off x="6415888" y="2048256"/>
            <a:ext cx="2174672" cy="237744"/>
          </a:xfrm>
          <a:prstGeom prst="rect">
            <a:avLst/>
          </a:prstGeom>
          <a:noFill/>
          <a:ln/>
        </p:spPr>
        <p:txBody>
          <a:bodyPr wrap="square" lIns="0" tIns="0" rIns="0" bIns="0" rtlCol="0" anchor="ctr"/>
          <a:lstStyle/>
          <a:p>
            <a:pPr indent="0" marL="0">
              <a:buNone/>
            </a:pPr>
            <a:r>
              <a:rPr lang="en-US" sz="1400" b="1" spc="160" kern="0" dirty="0">
                <a:solidFill>
                  <a:srgbClr val="9E6B12"/>
                </a:solidFill>
                <a:latin typeface="Arial" pitchFamily="34" charset="0"/>
                <a:ea typeface="Arial" pitchFamily="34" charset="-122"/>
                <a:cs typeface="Arial" pitchFamily="34" charset="-120"/>
              </a:rPr>
              <a:t>MATCH</a:t>
            </a:r>
            <a:endParaRPr lang="en-US" sz="1400" dirty="0"/>
          </a:p>
        </p:txBody>
      </p:sp>
      <p:sp>
        <p:nvSpPr>
          <p:cNvPr id="33" name="Text 31"/>
          <p:cNvSpPr txBox="1"/>
          <p:nvPr/>
        </p:nvSpPr>
        <p:spPr>
          <a:xfrm>
            <a:off x="6415888" y="2395728"/>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Claude scores fit</a:t>
            </a:r>
            <a:endParaRPr lang="en-US" sz="1450" dirty="0"/>
          </a:p>
        </p:txBody>
      </p:sp>
      <p:sp>
        <p:nvSpPr>
          <p:cNvPr id="34" name="Text 32"/>
          <p:cNvSpPr txBox="1"/>
          <p:nvPr/>
        </p:nvSpPr>
        <p:spPr>
          <a:xfrm>
            <a:off x="6415888" y="2615184"/>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A score, plus its reasoning in words.</a:t>
            </a:r>
            <a:endParaRPr lang="en-US" sz="1400" dirty="0"/>
          </a:p>
        </p:txBody>
      </p:sp>
      <p:sp>
        <p:nvSpPr>
          <p:cNvPr id="35" name="Text 33"/>
          <p:cNvSpPr txBox="1"/>
          <p:nvPr/>
        </p:nvSpPr>
        <p:spPr>
          <a:xfrm>
            <a:off x="6415888" y="3090672"/>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Batch, on change</a:t>
            </a:r>
            <a:endParaRPr lang="en-US" sz="1450" dirty="0"/>
          </a:p>
        </p:txBody>
      </p:sp>
      <p:sp>
        <p:nvSpPr>
          <p:cNvPr id="36" name="Text 34"/>
          <p:cNvSpPr txBox="1"/>
          <p:nvPr/>
        </p:nvSpPr>
        <p:spPr>
          <a:xfrm>
            <a:off x="6415888" y="3310128"/>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Not per page view. The cost control.</a:t>
            </a:r>
            <a:endParaRPr lang="en-US" sz="1400" dirty="0"/>
          </a:p>
        </p:txBody>
      </p:sp>
      <p:sp>
        <p:nvSpPr>
          <p:cNvPr id="37" name="Text 35"/>
          <p:cNvSpPr txBox="1"/>
          <p:nvPr/>
        </p:nvSpPr>
        <p:spPr>
          <a:xfrm>
            <a:off x="6415888" y="3785616"/>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Four factors</a:t>
            </a:r>
            <a:endParaRPr lang="en-US" sz="1450" dirty="0"/>
          </a:p>
        </p:txBody>
      </p:sp>
      <p:sp>
        <p:nvSpPr>
          <p:cNvPr id="38" name="Text 36"/>
          <p:cNvSpPr txBox="1"/>
          <p:nvPr/>
        </p:nvSpPr>
        <p:spPr>
          <a:xfrm>
            <a:off x="6415888" y="4005072"/>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Verified 50 · claimed 20 · rest 30.</a:t>
            </a:r>
            <a:endParaRPr lang="en-US" sz="1400" dirty="0"/>
          </a:p>
        </p:txBody>
      </p:sp>
      <p:sp>
        <p:nvSpPr>
          <p:cNvPr id="39" name="Text 37"/>
          <p:cNvSpPr txBox="1"/>
          <p:nvPr/>
        </p:nvSpPr>
        <p:spPr>
          <a:xfrm>
            <a:off x="6415888" y="4480560"/>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What we send</a:t>
            </a:r>
            <a:endParaRPr lang="en-US" sz="1450" dirty="0"/>
          </a:p>
        </p:txBody>
      </p:sp>
      <p:sp>
        <p:nvSpPr>
          <p:cNvPr id="40" name="Text 38"/>
          <p:cNvSpPr txBox="1"/>
          <p:nvPr/>
        </p:nvSpPr>
        <p:spPr>
          <a:xfrm>
            <a:off x="6415888" y="4700016"/>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Skills and role text. No name or ID.</a:t>
            </a:r>
            <a:endParaRPr lang="en-US" sz="1400" dirty="0"/>
          </a:p>
        </p:txBody>
      </p:sp>
      <p:sp>
        <p:nvSpPr>
          <p:cNvPr id="41" name="Text 39"/>
          <p:cNvSpPr txBox="1"/>
          <p:nvPr/>
        </p:nvSpPr>
        <p:spPr>
          <a:xfrm>
            <a:off x="8828303" y="3401568"/>
            <a:ext cx="164592" cy="365760"/>
          </a:xfrm>
          <a:prstGeom prst="rect">
            <a:avLst/>
          </a:prstGeom>
          <a:noFill/>
          <a:ln/>
        </p:spPr>
        <p:txBody>
          <a:bodyPr wrap="square" lIns="0" tIns="0" rIns="0" bIns="0" rtlCol="0" anchor="ctr"/>
          <a:lstStyle/>
          <a:p>
            <a:pPr algn="ctr" indent="0" marL="0">
              <a:buNone/>
            </a:pPr>
            <a:r>
              <a:rPr lang="en-US" sz="2600" b="1" dirty="0">
                <a:solidFill>
                  <a:srgbClr val="C4BCAE"/>
                </a:solidFill>
                <a:latin typeface="Arial" pitchFamily="34" charset="0"/>
                <a:ea typeface="Arial" pitchFamily="34" charset="-122"/>
                <a:cs typeface="Arial" pitchFamily="34" charset="-120"/>
              </a:rPr>
              <a:t>›</a:t>
            </a:r>
            <a:endParaRPr lang="en-US" sz="2600" dirty="0"/>
          </a:p>
        </p:txBody>
      </p:sp>
      <p:sp>
        <p:nvSpPr>
          <p:cNvPr id="42" name="Shape 40"/>
          <p:cNvSpPr/>
          <p:nvPr/>
        </p:nvSpPr>
        <p:spPr>
          <a:xfrm>
            <a:off x="9011183" y="1883664"/>
            <a:ext cx="2613584" cy="3401568"/>
          </a:xfrm>
          <a:prstGeom prst="roundRect">
            <a:avLst>
              <a:gd name="adj" fmla="val 1399"/>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43" name="Shape 41"/>
          <p:cNvSpPr/>
          <p:nvPr/>
        </p:nvSpPr>
        <p:spPr>
          <a:xfrm>
            <a:off x="9011183" y="1883664"/>
            <a:ext cx="2613584" cy="68580"/>
          </a:xfrm>
          <a:prstGeom prst="rect">
            <a:avLst/>
          </a:prstGeom>
          <a:solidFill>
            <a:srgbClr val="0E7C66"/>
          </a:solidFill>
          <a:ln w="12700">
            <a:solidFill>
              <a:srgbClr val="333333"/>
            </a:solidFill>
            <a:prstDash val="solid"/>
          </a:ln>
        </p:spPr>
      </p:sp>
      <p:sp>
        <p:nvSpPr>
          <p:cNvPr id="44" name="Text 42"/>
          <p:cNvSpPr txBox="1"/>
          <p:nvPr/>
        </p:nvSpPr>
        <p:spPr>
          <a:xfrm>
            <a:off x="9230639" y="2048256"/>
            <a:ext cx="2174672" cy="237744"/>
          </a:xfrm>
          <a:prstGeom prst="rect">
            <a:avLst/>
          </a:prstGeom>
          <a:noFill/>
          <a:ln/>
        </p:spPr>
        <p:txBody>
          <a:bodyPr wrap="square" lIns="0" tIns="0" rIns="0" bIns="0" rtlCol="0" anchor="ctr"/>
          <a:lstStyle/>
          <a:p>
            <a:pPr indent="0" marL="0">
              <a:buNone/>
            </a:pPr>
            <a:r>
              <a:rPr lang="en-US" sz="1400" b="1" spc="160" kern="0" dirty="0">
                <a:solidFill>
                  <a:srgbClr val="0E7C66"/>
                </a:solidFill>
                <a:latin typeface="Arial" pitchFamily="34" charset="0"/>
                <a:ea typeface="Arial" pitchFamily="34" charset="-122"/>
                <a:cs typeface="Arial" pitchFamily="34" charset="-120"/>
              </a:rPr>
              <a:t>SURFACES</a:t>
            </a:r>
            <a:endParaRPr lang="en-US" sz="1400" dirty="0"/>
          </a:p>
        </p:txBody>
      </p:sp>
      <p:sp>
        <p:nvSpPr>
          <p:cNvPr id="45" name="Text 43"/>
          <p:cNvSpPr txBox="1"/>
          <p:nvPr/>
        </p:nvSpPr>
        <p:spPr>
          <a:xfrm>
            <a:off x="9230639" y="2395728"/>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My Matches</a:t>
            </a:r>
            <a:endParaRPr lang="en-US" sz="1450" dirty="0"/>
          </a:p>
        </p:txBody>
      </p:sp>
      <p:sp>
        <p:nvSpPr>
          <p:cNvPr id="46" name="Text 44"/>
          <p:cNvSpPr txBox="1"/>
          <p:nvPr/>
        </p:nvSpPr>
        <p:spPr>
          <a:xfrm>
            <a:off x="9230639" y="2615184"/>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Everything at 80% and above.</a:t>
            </a:r>
            <a:endParaRPr lang="en-US" sz="1400" dirty="0"/>
          </a:p>
        </p:txBody>
      </p:sp>
      <p:sp>
        <p:nvSpPr>
          <p:cNvPr id="47" name="Text 45"/>
          <p:cNvSpPr txBox="1"/>
          <p:nvPr/>
        </p:nvSpPr>
        <p:spPr>
          <a:xfrm>
            <a:off x="9230639" y="3090672"/>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Quarterly email</a:t>
            </a:r>
            <a:endParaRPr lang="en-US" sz="1450" dirty="0"/>
          </a:p>
        </p:txBody>
      </p:sp>
      <p:sp>
        <p:nvSpPr>
          <p:cNvPr id="48" name="Text 46"/>
          <p:cNvSpPr txBox="1"/>
          <p:nvPr/>
        </p:nvSpPr>
        <p:spPr>
          <a:xfrm>
            <a:off x="9230639" y="3310128"/>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Three best matches. One click.</a:t>
            </a:r>
            <a:endParaRPr lang="en-US" sz="1400" dirty="0"/>
          </a:p>
        </p:txBody>
      </p:sp>
      <p:sp>
        <p:nvSpPr>
          <p:cNvPr id="49" name="Text 47"/>
          <p:cNvSpPr txBox="1"/>
          <p:nvPr/>
        </p:nvSpPr>
        <p:spPr>
          <a:xfrm>
            <a:off x="9230639" y="3785616"/>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Manager shortlist</a:t>
            </a:r>
            <a:endParaRPr lang="en-US" sz="1450" dirty="0"/>
          </a:p>
        </p:txBody>
      </p:sp>
      <p:sp>
        <p:nvSpPr>
          <p:cNvPr id="50" name="Text 48"/>
          <p:cNvSpPr txBox="1"/>
          <p:nvPr/>
        </p:nvSpPr>
        <p:spPr>
          <a:xfrm>
            <a:off x="9230639" y="4005072"/>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Their own applicants, with evidence.</a:t>
            </a:r>
            <a:endParaRPr lang="en-US" sz="1400" dirty="0"/>
          </a:p>
        </p:txBody>
      </p:sp>
      <p:sp>
        <p:nvSpPr>
          <p:cNvPr id="51" name="Text 49"/>
          <p:cNvSpPr txBox="1"/>
          <p:nvPr/>
        </p:nvSpPr>
        <p:spPr>
          <a:xfrm>
            <a:off x="9230639" y="4480560"/>
            <a:ext cx="2174672" cy="219456"/>
          </a:xfrm>
          <a:prstGeom prst="rect">
            <a:avLst/>
          </a:prstGeom>
          <a:noFill/>
          <a:ln/>
        </p:spPr>
        <p:txBody>
          <a:bodyPr wrap="square" lIns="0" tIns="0" rIns="0" bIns="0" rtlCol="0" anchor="t"/>
          <a:lstStyle/>
          <a:p>
            <a:pPr indent="0" marL="0">
              <a:buNone/>
            </a:pPr>
            <a:r>
              <a:rPr lang="en-US" sz="1450" b="1" dirty="0">
                <a:solidFill>
                  <a:srgbClr val="222834"/>
                </a:solidFill>
                <a:latin typeface="Arial" pitchFamily="34" charset="0"/>
                <a:ea typeface="Arial" pitchFamily="34" charset="-122"/>
                <a:cs typeface="Arial" pitchFamily="34" charset="-120"/>
              </a:rPr>
              <a:t>Skills inventory</a:t>
            </a:r>
            <a:endParaRPr lang="en-US" sz="1450" dirty="0"/>
          </a:p>
        </p:txBody>
      </p:sp>
      <p:sp>
        <p:nvSpPr>
          <p:cNvPr id="52" name="Text 50"/>
          <p:cNvSpPr txBox="1"/>
          <p:nvPr/>
        </p:nvSpPr>
        <p:spPr>
          <a:xfrm>
            <a:off x="9230639" y="4700016"/>
            <a:ext cx="2174672" cy="457200"/>
          </a:xfrm>
          <a:prstGeom prst="rect">
            <a:avLst/>
          </a:prstGeom>
          <a:noFill/>
          <a:ln/>
        </p:spPr>
        <p:txBody>
          <a:bodyPr wrap="square" lIns="0" tIns="0" rIns="0" bIns="0" rtlCol="0" anchor="t"/>
          <a:lstStyle/>
          <a:p>
            <a:pPr indent="0" marL="0">
              <a:lnSpc>
                <a:spcPts val="1600"/>
              </a:lnSpc>
              <a:buNone/>
            </a:pPr>
            <a:r>
              <a:rPr lang="en-US" sz="1400" dirty="0">
                <a:solidFill>
                  <a:srgbClr val="858D9B"/>
                </a:solidFill>
                <a:latin typeface="Arial" pitchFamily="34" charset="0"/>
                <a:ea typeface="Arial" pitchFamily="34" charset="-122"/>
                <a:cs typeface="Arial" pitchFamily="34" charset="-120"/>
              </a:rPr>
              <a:t>The planning asset, kept current.</a:t>
            </a:r>
            <a:endParaRPr lang="en-US" sz="1400" dirty="0"/>
          </a:p>
        </p:txBody>
      </p:sp>
      <p:sp>
        <p:nvSpPr>
          <p:cNvPr id="53" name="Shape 51"/>
          <p:cNvSpPr/>
          <p:nvPr/>
        </p:nvSpPr>
        <p:spPr>
          <a:xfrm>
            <a:off x="566928" y="5376672"/>
            <a:ext cx="11057839" cy="914400"/>
          </a:xfrm>
          <a:prstGeom prst="roundRect">
            <a:avLst>
              <a:gd name="adj" fmla="val 4000"/>
            </a:avLst>
          </a:prstGeom>
          <a:solidFill>
            <a:srgbClr val="F6F2EA"/>
          </a:solidFill>
          <a:ln w="12700">
            <a:solidFill>
              <a:srgbClr val="333333"/>
            </a:solidFill>
            <a:prstDash val="solid"/>
          </a:ln>
        </p:spPr>
      </p:sp>
      <p:sp>
        <p:nvSpPr>
          <p:cNvPr id="54" name="Text 52"/>
          <p:cNvSpPr txBox="1"/>
          <p:nvPr/>
        </p:nvSpPr>
        <p:spPr>
          <a:xfrm>
            <a:off x="841248" y="5522976"/>
            <a:ext cx="1463040" cy="237744"/>
          </a:xfrm>
          <a:prstGeom prst="rect">
            <a:avLst/>
          </a:prstGeom>
          <a:noFill/>
          <a:ln/>
        </p:spPr>
        <p:txBody>
          <a:bodyPr wrap="square" lIns="0" tIns="0" rIns="0" bIns="0" rtlCol="0" anchor="ctr"/>
          <a:lstStyle/>
          <a:p>
            <a:pPr indent="0" marL="0">
              <a:buNone/>
            </a:pPr>
            <a:r>
              <a:rPr lang="en-US" sz="1400" b="1" spc="160" kern="0" dirty="0">
                <a:solidFill>
                  <a:srgbClr val="C00000"/>
                </a:solidFill>
                <a:latin typeface="Arial" pitchFamily="34" charset="0"/>
                <a:ea typeface="Arial" pitchFamily="34" charset="-122"/>
                <a:cs typeface="Arial" pitchFamily="34" charset="-120"/>
              </a:rPr>
              <a:t>GOVERNANCE</a:t>
            </a:r>
            <a:endParaRPr lang="en-US" sz="1400" dirty="0"/>
          </a:p>
        </p:txBody>
      </p:sp>
      <p:sp>
        <p:nvSpPr>
          <p:cNvPr id="55" name="Shape 53"/>
          <p:cNvSpPr/>
          <p:nvPr/>
        </p:nvSpPr>
        <p:spPr>
          <a:xfrm>
            <a:off x="2395728" y="5541264"/>
            <a:ext cx="36576" cy="530352"/>
          </a:xfrm>
          <a:prstGeom prst="rect">
            <a:avLst/>
          </a:prstGeom>
          <a:solidFill>
            <a:srgbClr val="0E7C66"/>
          </a:solidFill>
          <a:ln w="12700">
            <a:solidFill>
              <a:srgbClr val="333333"/>
            </a:solidFill>
            <a:prstDash val="solid"/>
          </a:ln>
        </p:spPr>
      </p:sp>
      <p:sp>
        <p:nvSpPr>
          <p:cNvPr id="56" name="Text 54"/>
          <p:cNvSpPr txBox="1"/>
          <p:nvPr/>
        </p:nvSpPr>
        <p:spPr>
          <a:xfrm>
            <a:off x="2542032" y="5504688"/>
            <a:ext cx="1645920" cy="603504"/>
          </a:xfrm>
          <a:prstGeom prst="rect">
            <a:avLst/>
          </a:prstGeom>
          <a:noFill/>
          <a:ln/>
        </p:spPr>
        <p:txBody>
          <a:bodyPr wrap="square" lIns="0" tIns="0" rIns="0" bIns="0" rtlCol="0" anchor="ctr"/>
          <a:lstStyle/>
          <a:p>
            <a:pPr indent="0" marL="0">
              <a:lnSpc>
                <a:spcPts val="1700"/>
              </a:lnSpc>
              <a:buNone/>
            </a:pPr>
            <a:r>
              <a:rPr lang="en-US" sz="1400" dirty="0">
                <a:solidFill>
                  <a:srgbClr val="4B5363"/>
                </a:solidFill>
                <a:latin typeface="Arial" pitchFamily="34" charset="0"/>
                <a:ea typeface="Arial" pitchFamily="34" charset="-122"/>
                <a:cs typeface="Arial" pitchFamily="34" charset="-120"/>
              </a:rPr>
              <a:t>DPIA signed before build starts</a:t>
            </a:r>
            <a:endParaRPr lang="en-US" sz="1400" dirty="0"/>
          </a:p>
        </p:txBody>
      </p:sp>
      <p:sp>
        <p:nvSpPr>
          <p:cNvPr id="57" name="Shape 55"/>
          <p:cNvSpPr/>
          <p:nvPr/>
        </p:nvSpPr>
        <p:spPr>
          <a:xfrm>
            <a:off x="4242816" y="5541264"/>
            <a:ext cx="36576" cy="530352"/>
          </a:xfrm>
          <a:prstGeom prst="rect">
            <a:avLst/>
          </a:prstGeom>
          <a:solidFill>
            <a:srgbClr val="0E7C66"/>
          </a:solidFill>
          <a:ln w="12700">
            <a:solidFill>
              <a:srgbClr val="333333"/>
            </a:solidFill>
            <a:prstDash val="solid"/>
          </a:ln>
        </p:spPr>
      </p:sp>
      <p:sp>
        <p:nvSpPr>
          <p:cNvPr id="58" name="Text 56"/>
          <p:cNvSpPr txBox="1"/>
          <p:nvPr/>
        </p:nvSpPr>
        <p:spPr>
          <a:xfrm>
            <a:off x="4389120" y="5504688"/>
            <a:ext cx="1645920" cy="603504"/>
          </a:xfrm>
          <a:prstGeom prst="rect">
            <a:avLst/>
          </a:prstGeom>
          <a:noFill/>
          <a:ln/>
        </p:spPr>
        <p:txBody>
          <a:bodyPr wrap="square" lIns="0" tIns="0" rIns="0" bIns="0" rtlCol="0" anchor="ctr"/>
          <a:lstStyle/>
          <a:p>
            <a:pPr indent="0" marL="0">
              <a:lnSpc>
                <a:spcPts val="1700"/>
              </a:lnSpc>
              <a:buNone/>
            </a:pPr>
            <a:r>
              <a:rPr lang="en-US" sz="1400" dirty="0">
                <a:solidFill>
                  <a:srgbClr val="4B5363"/>
                </a:solidFill>
                <a:latin typeface="Arial" pitchFamily="34" charset="0"/>
                <a:ea typeface="Arial" pitchFamily="34" charset="-122"/>
                <a:cs typeface="Arial" pitchFamily="34" charset="-120"/>
              </a:rPr>
              <a:t>Immersions governed by Policy 211_2021</a:t>
            </a:r>
            <a:endParaRPr lang="en-US" sz="1400" dirty="0"/>
          </a:p>
        </p:txBody>
      </p:sp>
      <p:sp>
        <p:nvSpPr>
          <p:cNvPr id="59" name="Shape 57"/>
          <p:cNvSpPr/>
          <p:nvPr/>
        </p:nvSpPr>
        <p:spPr>
          <a:xfrm>
            <a:off x="6089904" y="5541264"/>
            <a:ext cx="36576" cy="530352"/>
          </a:xfrm>
          <a:prstGeom prst="rect">
            <a:avLst/>
          </a:prstGeom>
          <a:solidFill>
            <a:srgbClr val="0E7C66"/>
          </a:solidFill>
          <a:ln w="12700">
            <a:solidFill>
              <a:srgbClr val="333333"/>
            </a:solidFill>
            <a:prstDash val="solid"/>
          </a:ln>
        </p:spPr>
      </p:sp>
      <p:sp>
        <p:nvSpPr>
          <p:cNvPr id="60" name="Text 58"/>
          <p:cNvSpPr txBox="1"/>
          <p:nvPr/>
        </p:nvSpPr>
        <p:spPr>
          <a:xfrm>
            <a:off x="6236208" y="5504688"/>
            <a:ext cx="1645920" cy="603504"/>
          </a:xfrm>
          <a:prstGeom prst="rect">
            <a:avLst/>
          </a:prstGeom>
          <a:noFill/>
          <a:ln/>
        </p:spPr>
        <p:txBody>
          <a:bodyPr wrap="square" lIns="0" tIns="0" rIns="0" bIns="0" rtlCol="0" anchor="ctr"/>
          <a:lstStyle/>
          <a:p>
            <a:pPr indent="0" marL="0">
              <a:lnSpc>
                <a:spcPts val="1700"/>
              </a:lnSpc>
              <a:buNone/>
            </a:pPr>
            <a:r>
              <a:rPr lang="en-US" sz="1400" dirty="0">
                <a:solidFill>
                  <a:srgbClr val="4B5363"/>
                </a:solidFill>
                <a:latin typeface="Arial" pitchFamily="34" charset="0"/>
                <a:ea typeface="Arial" pitchFamily="34" charset="-122"/>
                <a:cs typeface="Arial" pitchFamily="34" charset="-120"/>
              </a:rPr>
              <a:t>HR approves every post before it goes live</a:t>
            </a:r>
            <a:endParaRPr lang="en-US" sz="1400" dirty="0"/>
          </a:p>
        </p:txBody>
      </p:sp>
      <p:sp>
        <p:nvSpPr>
          <p:cNvPr id="61" name="Shape 59"/>
          <p:cNvSpPr/>
          <p:nvPr/>
        </p:nvSpPr>
        <p:spPr>
          <a:xfrm>
            <a:off x="7936992" y="5541264"/>
            <a:ext cx="36576" cy="530352"/>
          </a:xfrm>
          <a:prstGeom prst="rect">
            <a:avLst/>
          </a:prstGeom>
          <a:solidFill>
            <a:srgbClr val="0E7C66"/>
          </a:solidFill>
          <a:ln w="12700">
            <a:solidFill>
              <a:srgbClr val="333333"/>
            </a:solidFill>
            <a:prstDash val="solid"/>
          </a:ln>
        </p:spPr>
      </p:sp>
      <p:sp>
        <p:nvSpPr>
          <p:cNvPr id="62" name="Text 60"/>
          <p:cNvSpPr txBox="1"/>
          <p:nvPr/>
        </p:nvSpPr>
        <p:spPr>
          <a:xfrm>
            <a:off x="8083296" y="5504688"/>
            <a:ext cx="1645920" cy="603504"/>
          </a:xfrm>
          <a:prstGeom prst="rect">
            <a:avLst/>
          </a:prstGeom>
          <a:noFill/>
          <a:ln/>
        </p:spPr>
        <p:txBody>
          <a:bodyPr wrap="square" lIns="0" tIns="0" rIns="0" bIns="0" rtlCol="0" anchor="ctr"/>
          <a:lstStyle/>
          <a:p>
            <a:pPr indent="0" marL="0">
              <a:lnSpc>
                <a:spcPts val="1700"/>
              </a:lnSpc>
              <a:buNone/>
            </a:pPr>
            <a:r>
              <a:rPr lang="en-US" sz="1400" dirty="0">
                <a:solidFill>
                  <a:srgbClr val="4B5363"/>
                </a:solidFill>
                <a:latin typeface="Arial" pitchFamily="34" charset="0"/>
                <a:ea typeface="Arial" pitchFamily="34" charset="-122"/>
                <a:cs typeface="Arial" pitchFamily="34" charset="-120"/>
              </a:rPr>
              <a:t>The model never gates an application</a:t>
            </a:r>
            <a:endParaRPr lang="en-US" sz="1400" dirty="0"/>
          </a:p>
        </p:txBody>
      </p:sp>
      <p:sp>
        <p:nvSpPr>
          <p:cNvPr id="63" name="Shape 61"/>
          <p:cNvSpPr/>
          <p:nvPr/>
        </p:nvSpPr>
        <p:spPr>
          <a:xfrm>
            <a:off x="9784080" y="5541264"/>
            <a:ext cx="36576" cy="530352"/>
          </a:xfrm>
          <a:prstGeom prst="rect">
            <a:avLst/>
          </a:prstGeom>
          <a:solidFill>
            <a:srgbClr val="0E7C66"/>
          </a:solidFill>
          <a:ln w="12700">
            <a:solidFill>
              <a:srgbClr val="333333"/>
            </a:solidFill>
            <a:prstDash val="solid"/>
          </a:ln>
        </p:spPr>
      </p:sp>
      <p:sp>
        <p:nvSpPr>
          <p:cNvPr id="64" name="Text 62"/>
          <p:cNvSpPr txBox="1"/>
          <p:nvPr/>
        </p:nvSpPr>
        <p:spPr>
          <a:xfrm>
            <a:off x="9930384" y="5504688"/>
            <a:ext cx="1645920" cy="603504"/>
          </a:xfrm>
          <a:prstGeom prst="rect">
            <a:avLst/>
          </a:prstGeom>
          <a:noFill/>
          <a:ln/>
        </p:spPr>
        <p:txBody>
          <a:bodyPr wrap="square" lIns="0" tIns="0" rIns="0" bIns="0" rtlCol="0" anchor="ctr"/>
          <a:lstStyle/>
          <a:p>
            <a:pPr indent="0" marL="0">
              <a:lnSpc>
                <a:spcPts val="1700"/>
              </a:lnSpc>
              <a:buNone/>
            </a:pPr>
            <a:r>
              <a:rPr lang="en-US" sz="1400" dirty="0">
                <a:solidFill>
                  <a:srgbClr val="4B5363"/>
                </a:solidFill>
                <a:latin typeface="Arial" pitchFamily="34" charset="0"/>
                <a:ea typeface="Arial" pitchFamily="34" charset="-122"/>
                <a:cs typeface="Arial" pitchFamily="34" charset="-120"/>
              </a:rPr>
              <a:t>Audit trail on every match</a:t>
            </a:r>
            <a:endParaRPr lang="en-US" sz="1400" dirty="0"/>
          </a:p>
        </p:txBody>
      </p:sp>
      <p:sp>
        <p:nvSpPr>
          <p:cNvPr id="65" name="Text 63"/>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ADOPTION</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An empty marketplace dies in week one.</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So we stock the shelves and seed the profiles before anyone is invited in.</a:t>
            </a:r>
            <a:endParaRPr lang="en-US" sz="1600" dirty="0"/>
          </a:p>
        </p:txBody>
      </p:sp>
      <p:sp>
        <p:nvSpPr>
          <p:cNvPr id="6" name="Text 4"/>
          <p:cNvSpPr txBox="1"/>
          <p:nvPr/>
        </p:nvSpPr>
        <p:spPr>
          <a:xfrm>
            <a:off x="566928" y="2103120"/>
            <a:ext cx="5373472" cy="237744"/>
          </a:xfrm>
          <a:prstGeom prst="rect">
            <a:avLst/>
          </a:prstGeom>
          <a:noFill/>
          <a:ln/>
        </p:spPr>
        <p:txBody>
          <a:bodyPr wrap="square" lIns="0" tIns="0" rIns="0" bIns="0" rtlCol="0" anchor="ctr"/>
          <a:lstStyle/>
          <a:p>
            <a:pPr indent="0" marL="0">
              <a:buNone/>
            </a:pPr>
            <a:r>
              <a:rPr lang="en-US" sz="1400" b="1" spc="180" kern="0" dirty="0">
                <a:solidFill>
                  <a:srgbClr val="C00000"/>
                </a:solidFill>
                <a:latin typeface="Arial" pitchFamily="34" charset="0"/>
                <a:ea typeface="Arial" pitchFamily="34" charset="-122"/>
                <a:cs typeface="Arial" pitchFamily="34" charset="-120"/>
              </a:rPr>
              <a:t>BEFORE LAUNCH — 90 DAYS</a:t>
            </a:r>
            <a:endParaRPr lang="en-US" sz="1400" dirty="0"/>
          </a:p>
        </p:txBody>
      </p:sp>
      <p:sp>
        <p:nvSpPr>
          <p:cNvPr id="7" name="Shape 5"/>
          <p:cNvSpPr/>
          <p:nvPr/>
        </p:nvSpPr>
        <p:spPr>
          <a:xfrm>
            <a:off x="566928" y="2505456"/>
            <a:ext cx="365760" cy="365760"/>
          </a:xfrm>
          <a:prstGeom prst="ellipse">
            <a:avLst/>
          </a:prstGeom>
          <a:solidFill>
            <a:srgbClr val="C00000"/>
          </a:solidFill>
          <a:ln w="12700">
            <a:solidFill>
              <a:srgbClr val="333333"/>
            </a:solidFill>
            <a:prstDash val="solid"/>
          </a:ln>
        </p:spPr>
      </p:sp>
      <p:sp>
        <p:nvSpPr>
          <p:cNvPr id="8" name="Text 6"/>
          <p:cNvSpPr txBox="1"/>
          <p:nvPr/>
        </p:nvSpPr>
        <p:spPr>
          <a:xfrm>
            <a:off x="566928" y="250545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txBox="1"/>
          <p:nvPr/>
        </p:nvSpPr>
        <p:spPr>
          <a:xfrm>
            <a:off x="1097280" y="2487168"/>
            <a:ext cx="4843120" cy="310896"/>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Seed the shelves</a:t>
            </a:r>
            <a:endParaRPr lang="en-US" sz="1700" dirty="0"/>
          </a:p>
        </p:txBody>
      </p:sp>
      <p:sp>
        <p:nvSpPr>
          <p:cNvPr id="10" name="Text 8"/>
          <p:cNvSpPr txBox="1"/>
          <p:nvPr/>
        </p:nvSpPr>
        <p:spPr>
          <a:xfrm>
            <a:off x="1097280" y="2816352"/>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25 opportunities live before anyone is invited in, each committed by a named manager.</a:t>
            </a:r>
            <a:endParaRPr lang="en-US" sz="1500" dirty="0"/>
          </a:p>
        </p:txBody>
      </p:sp>
      <p:sp>
        <p:nvSpPr>
          <p:cNvPr id="11" name="Shape 9"/>
          <p:cNvSpPr/>
          <p:nvPr/>
        </p:nvSpPr>
        <p:spPr>
          <a:xfrm>
            <a:off x="566928" y="3657600"/>
            <a:ext cx="365760" cy="365760"/>
          </a:xfrm>
          <a:prstGeom prst="ellipse">
            <a:avLst/>
          </a:prstGeom>
          <a:solidFill>
            <a:srgbClr val="C00000"/>
          </a:solidFill>
          <a:ln w="12700">
            <a:solidFill>
              <a:srgbClr val="333333"/>
            </a:solidFill>
            <a:prstDash val="solid"/>
          </a:ln>
        </p:spPr>
      </p:sp>
      <p:sp>
        <p:nvSpPr>
          <p:cNvPr id="12" name="Text 10"/>
          <p:cNvSpPr txBox="1"/>
          <p:nvPr/>
        </p:nvSpPr>
        <p:spPr>
          <a:xfrm>
            <a:off x="566928" y="36576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1"/>
          <p:cNvSpPr txBox="1"/>
          <p:nvPr/>
        </p:nvSpPr>
        <p:spPr>
          <a:xfrm>
            <a:off x="1097280" y="3639312"/>
            <a:ext cx="4843120" cy="310896"/>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Seed the skills</a:t>
            </a:r>
            <a:endParaRPr lang="en-US" sz="1700" dirty="0"/>
          </a:p>
        </p:txBody>
      </p:sp>
      <p:sp>
        <p:nvSpPr>
          <p:cNvPr id="14" name="Text 12"/>
          <p:cNvSpPr txBox="1"/>
          <p:nvPr/>
        </p:nvSpPr>
        <p:spPr>
          <a:xfrm>
            <a:off x="1097280" y="3968496"/>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Pre-filled from MyDevelopment and LinkedIn. People correct a draft, not fill a blank page.</a:t>
            </a:r>
            <a:endParaRPr lang="en-US" sz="1500" dirty="0"/>
          </a:p>
        </p:txBody>
      </p:sp>
      <p:sp>
        <p:nvSpPr>
          <p:cNvPr id="15" name="Shape 13"/>
          <p:cNvSpPr/>
          <p:nvPr/>
        </p:nvSpPr>
        <p:spPr>
          <a:xfrm>
            <a:off x="566928" y="4809744"/>
            <a:ext cx="365760" cy="365760"/>
          </a:xfrm>
          <a:prstGeom prst="ellipse">
            <a:avLst/>
          </a:prstGeom>
          <a:solidFill>
            <a:srgbClr val="C00000"/>
          </a:solidFill>
          <a:ln w="12700">
            <a:solidFill>
              <a:srgbClr val="333333"/>
            </a:solidFill>
            <a:prstDash val="solid"/>
          </a:ln>
        </p:spPr>
      </p:sp>
      <p:sp>
        <p:nvSpPr>
          <p:cNvPr id="16" name="Text 14"/>
          <p:cNvSpPr txBox="1"/>
          <p:nvPr/>
        </p:nvSpPr>
        <p:spPr>
          <a:xfrm>
            <a:off x="566928" y="48097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txBox="1"/>
          <p:nvPr/>
        </p:nvSpPr>
        <p:spPr>
          <a:xfrm>
            <a:off x="1097280" y="4791456"/>
            <a:ext cx="4843120" cy="310896"/>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Recruit six champions</a:t>
            </a:r>
            <a:endParaRPr lang="en-US" sz="1700" dirty="0"/>
          </a:p>
        </p:txBody>
      </p:sp>
      <p:sp>
        <p:nvSpPr>
          <p:cNvPr id="18" name="Text 16"/>
          <p:cNvSpPr txBox="1"/>
          <p:nvPr/>
        </p:nvSpPr>
        <p:spPr>
          <a:xfrm>
            <a:off x="1097280" y="5120640"/>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Managers who post and hire early. "Talent Exporter" recognition to ExCo.</a:t>
            </a:r>
            <a:endParaRPr lang="en-US" sz="1500" dirty="0"/>
          </a:p>
        </p:txBody>
      </p:sp>
      <p:sp>
        <p:nvSpPr>
          <p:cNvPr id="19" name="Text 17"/>
          <p:cNvSpPr txBox="1"/>
          <p:nvPr/>
        </p:nvSpPr>
        <p:spPr>
          <a:xfrm>
            <a:off x="6251296" y="2103120"/>
            <a:ext cx="5373472" cy="237744"/>
          </a:xfrm>
          <a:prstGeom prst="rect">
            <a:avLst/>
          </a:prstGeom>
          <a:noFill/>
          <a:ln/>
        </p:spPr>
        <p:txBody>
          <a:bodyPr wrap="square" lIns="0" tIns="0" rIns="0" bIns="0" rtlCol="0" anchor="ctr"/>
          <a:lstStyle/>
          <a:p>
            <a:pPr indent="0" marL="0">
              <a:buNone/>
            </a:pPr>
            <a:r>
              <a:rPr lang="en-US" sz="1400" b="1" spc="180" kern="0" dirty="0">
                <a:solidFill>
                  <a:srgbClr val="0E7C66"/>
                </a:solidFill>
                <a:latin typeface="Arial" pitchFamily="34" charset="0"/>
                <a:ea typeface="Arial" pitchFamily="34" charset="-122"/>
                <a:cs typeface="Arial" pitchFamily="34" charset="-120"/>
              </a:rPr>
              <a:t>AT LAUNCH AND AFTER</a:t>
            </a:r>
            <a:endParaRPr lang="en-US" sz="1400" dirty="0"/>
          </a:p>
        </p:txBody>
      </p:sp>
      <p:sp>
        <p:nvSpPr>
          <p:cNvPr id="20" name="Shape 18"/>
          <p:cNvSpPr/>
          <p:nvPr/>
        </p:nvSpPr>
        <p:spPr>
          <a:xfrm>
            <a:off x="6251296" y="2505456"/>
            <a:ext cx="365760" cy="365760"/>
          </a:xfrm>
          <a:prstGeom prst="ellipse">
            <a:avLst/>
          </a:prstGeom>
          <a:solidFill>
            <a:srgbClr val="0E7C66"/>
          </a:solidFill>
          <a:ln w="12700">
            <a:solidFill>
              <a:srgbClr val="333333"/>
            </a:solidFill>
            <a:prstDash val="solid"/>
          </a:ln>
        </p:spPr>
      </p:sp>
      <p:sp>
        <p:nvSpPr>
          <p:cNvPr id="21" name="Text 19"/>
          <p:cNvSpPr txBox="1"/>
          <p:nvPr/>
        </p:nvSpPr>
        <p:spPr>
          <a:xfrm>
            <a:off x="6251296" y="250545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22" name="Text 20"/>
          <p:cNvSpPr txBox="1"/>
          <p:nvPr/>
        </p:nvSpPr>
        <p:spPr>
          <a:xfrm>
            <a:off x="6781648" y="2487168"/>
            <a:ext cx="4843120" cy="310896"/>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Launch comms</a:t>
            </a:r>
            <a:endParaRPr lang="en-US" sz="1700" dirty="0"/>
          </a:p>
        </p:txBody>
      </p:sp>
      <p:sp>
        <p:nvSpPr>
          <p:cNvPr id="23" name="Text 21"/>
          <p:cNvSpPr txBox="1"/>
          <p:nvPr/>
        </p:nvSpPr>
        <p:spPr>
          <a:xfrm>
            <a:off x="6781648" y="2816352"/>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Town hall demo, a film of one real internal move, and the CEO posting the first opportunity.</a:t>
            </a:r>
            <a:endParaRPr lang="en-US" sz="1500" dirty="0"/>
          </a:p>
        </p:txBody>
      </p:sp>
      <p:sp>
        <p:nvSpPr>
          <p:cNvPr id="24" name="Shape 22"/>
          <p:cNvSpPr/>
          <p:nvPr/>
        </p:nvSpPr>
        <p:spPr>
          <a:xfrm>
            <a:off x="6251296" y="3657600"/>
            <a:ext cx="365760" cy="365760"/>
          </a:xfrm>
          <a:prstGeom prst="ellipse">
            <a:avLst/>
          </a:prstGeom>
          <a:solidFill>
            <a:srgbClr val="0E7C66"/>
          </a:solidFill>
          <a:ln w="12700">
            <a:solidFill>
              <a:srgbClr val="333333"/>
            </a:solidFill>
            <a:prstDash val="solid"/>
          </a:ln>
        </p:spPr>
      </p:sp>
      <p:sp>
        <p:nvSpPr>
          <p:cNvPr id="25" name="Text 23"/>
          <p:cNvSpPr txBox="1"/>
          <p:nvPr/>
        </p:nvSpPr>
        <p:spPr>
          <a:xfrm>
            <a:off x="6251296" y="36576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6" name="Text 24"/>
          <p:cNvSpPr txBox="1"/>
          <p:nvPr/>
        </p:nvSpPr>
        <p:spPr>
          <a:xfrm>
            <a:off x="6781648" y="3639312"/>
            <a:ext cx="4843120" cy="310896"/>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Quarterly top-match email</a:t>
            </a:r>
            <a:endParaRPr lang="en-US" sz="1700" dirty="0"/>
          </a:p>
        </p:txBody>
      </p:sp>
      <p:sp>
        <p:nvSpPr>
          <p:cNvPr id="27" name="Text 25"/>
          <p:cNvSpPr txBox="1"/>
          <p:nvPr/>
        </p:nvSpPr>
        <p:spPr>
          <a:xfrm>
            <a:off x="6781648" y="3968496"/>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Your three best matches, by name, one click to apply. This is what doubles applications.</a:t>
            </a:r>
            <a:endParaRPr lang="en-US" sz="1500" dirty="0"/>
          </a:p>
        </p:txBody>
      </p:sp>
      <p:sp>
        <p:nvSpPr>
          <p:cNvPr id="28" name="Shape 26"/>
          <p:cNvSpPr/>
          <p:nvPr/>
        </p:nvSpPr>
        <p:spPr>
          <a:xfrm>
            <a:off x="6251296" y="4809744"/>
            <a:ext cx="365760" cy="365760"/>
          </a:xfrm>
          <a:prstGeom prst="ellipse">
            <a:avLst/>
          </a:prstGeom>
          <a:solidFill>
            <a:srgbClr val="0E7C66"/>
          </a:solidFill>
          <a:ln w="12700">
            <a:solidFill>
              <a:srgbClr val="333333"/>
            </a:solidFill>
            <a:prstDash val="solid"/>
          </a:ln>
        </p:spPr>
      </p:sp>
      <p:sp>
        <p:nvSpPr>
          <p:cNvPr id="29" name="Text 27"/>
          <p:cNvSpPr txBox="1"/>
          <p:nvPr/>
        </p:nvSpPr>
        <p:spPr>
          <a:xfrm>
            <a:off x="6251296" y="48097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30" name="Text 28"/>
          <p:cNvSpPr txBox="1"/>
          <p:nvPr/>
        </p:nvSpPr>
        <p:spPr>
          <a:xfrm>
            <a:off x="6781648" y="4791456"/>
            <a:ext cx="4843120" cy="310896"/>
          </a:xfrm>
          <a:prstGeom prst="rect">
            <a:avLst/>
          </a:prstGeom>
          <a:noFill/>
          <a:ln/>
        </p:spPr>
        <p:txBody>
          <a:bodyPr wrap="square" lIns="0" tIns="0" rIns="0" bIns="0" rtlCol="0" anchor="t"/>
          <a:lstStyle/>
          <a:p>
            <a:pPr indent="0" marL="0">
              <a:buNone/>
            </a:pPr>
            <a:r>
              <a:rPr lang="en-US" sz="1700" b="1" dirty="0">
                <a:solidFill>
                  <a:srgbClr val="222834"/>
                </a:solidFill>
                <a:latin typeface="Arial" pitchFamily="34" charset="0"/>
                <a:ea typeface="Arial" pitchFamily="34" charset="-122"/>
                <a:cs typeface="Arial" pitchFamily="34" charset="-120"/>
              </a:rPr>
              <a:t>Measure it properly</a:t>
            </a:r>
            <a:endParaRPr lang="en-US" sz="1700" dirty="0"/>
          </a:p>
        </p:txBody>
      </p:sp>
      <p:sp>
        <p:nvSpPr>
          <p:cNvPr id="31" name="Text 29"/>
          <p:cNvSpPr txBox="1"/>
          <p:nvPr/>
        </p:nvSpPr>
        <p:spPr>
          <a:xfrm>
            <a:off x="6781648" y="5120640"/>
            <a:ext cx="4806544" cy="603504"/>
          </a:xfrm>
          <a:prstGeom prst="rect">
            <a:avLst/>
          </a:prstGeom>
          <a:noFill/>
          <a:ln/>
        </p:spPr>
        <p:txBody>
          <a:bodyPr wrap="square" lIns="0" tIns="0" rIns="0" bIns="0" rtlCol="0" anchor="t"/>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Hold back half of requisitions from promotion for a quarter. That settles the retention claim.</a:t>
            </a:r>
            <a:endParaRPr lang="en-US" sz="1500" dirty="0"/>
          </a:p>
        </p:txBody>
      </p:sp>
      <p:sp>
        <p:nvSpPr>
          <p:cNvPr id="32" name="Shape 30"/>
          <p:cNvSpPr/>
          <p:nvPr/>
        </p:nvSpPr>
        <p:spPr>
          <a:xfrm>
            <a:off x="566928" y="5779008"/>
            <a:ext cx="11057839" cy="548640"/>
          </a:xfrm>
          <a:prstGeom prst="roundRect">
            <a:avLst>
              <a:gd name="adj" fmla="val 6667"/>
            </a:avLst>
          </a:prstGeom>
          <a:solidFill>
            <a:srgbClr val="F6F2EA"/>
          </a:solidFill>
          <a:ln w="12700">
            <a:solidFill>
              <a:srgbClr val="333333"/>
            </a:solidFill>
            <a:prstDash val="solid"/>
          </a:ln>
        </p:spPr>
      </p:sp>
      <p:sp>
        <p:nvSpPr>
          <p:cNvPr id="33" name="Text 31"/>
          <p:cNvSpPr txBox="1"/>
          <p:nvPr/>
        </p:nvSpPr>
        <p:spPr>
          <a:xfrm>
            <a:off x="841248" y="5779008"/>
            <a:ext cx="10509199" cy="548640"/>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Year-one target:  </a:t>
            </a:r>
            <a:pPr indent="0" marL="0">
              <a:buNone/>
            </a:pPr>
            <a:r>
              <a:rPr lang="en-US" sz="1500" dirty="0">
                <a:solidFill>
                  <a:srgbClr val="4B5363"/>
                </a:solidFill>
                <a:latin typeface="Arial" pitchFamily="34" charset="0"/>
                <a:ea typeface="Arial" pitchFamily="34" charset="-122"/>
                <a:cs typeface="Arial" pitchFamily="34" charset="-120"/>
              </a:rPr>
              <a:t>275 internal applications · 60% of the pilot with a populated profile · 25 opportunities live at any time.</a:t>
            </a:r>
            <a:endParaRPr lang="en-US" sz="1500" dirty="0"/>
          </a:p>
        </p:txBody>
      </p:sp>
      <p:sp>
        <p:nvSpPr>
          <p:cNvPr id="34" name="Text 32"/>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237744" cy="6858000"/>
          </a:xfrm>
          <a:prstGeom prst="rect">
            <a:avLst/>
          </a:prstGeom>
          <a:solidFill>
            <a:srgbClr val="C00000"/>
          </a:solidFill>
          <a:ln w="12700">
            <a:solidFill>
              <a:srgbClr val="333333"/>
            </a:solidFill>
            <a:prstDash val="solid"/>
          </a:ln>
        </p:spPr>
      </p:sp>
      <p:sp>
        <p:nvSpPr>
          <p:cNvPr id="3" name="Text 1"/>
          <p:cNvSpPr txBox="1"/>
          <p:nvPr/>
        </p:nvSpPr>
        <p:spPr>
          <a:xfrm>
            <a:off x="1051560" y="841248"/>
            <a:ext cx="7315200" cy="274320"/>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THE ASK</a:t>
            </a:r>
            <a:endParaRPr lang="en-US" sz="1400" dirty="0"/>
          </a:p>
        </p:txBody>
      </p:sp>
      <p:sp>
        <p:nvSpPr>
          <p:cNvPr id="4" name="Text 2"/>
          <p:cNvSpPr txBox="1"/>
          <p:nvPr/>
        </p:nvSpPr>
        <p:spPr>
          <a:xfrm>
            <a:off x="1051560" y="1207008"/>
            <a:ext cx="8229600" cy="658368"/>
          </a:xfrm>
          <a:prstGeom prst="rect">
            <a:avLst/>
          </a:prstGeom>
          <a:noFill/>
          <a:ln/>
        </p:spPr>
        <p:txBody>
          <a:bodyPr wrap="square" lIns="0" tIns="0" rIns="0" bIns="0" rtlCol="0" anchor="ctr"/>
          <a:lstStyle/>
          <a:p>
            <a:pPr indent="0" marL="0">
              <a:buNone/>
            </a:pPr>
            <a:r>
              <a:rPr lang="en-US" sz="3800" b="1" dirty="0">
                <a:solidFill>
                  <a:srgbClr val="222834"/>
                </a:solidFill>
                <a:latin typeface="Arial" pitchFamily="34" charset="0"/>
                <a:ea typeface="Arial" pitchFamily="34" charset="-122"/>
                <a:cs typeface="Arial" pitchFamily="34" charset="-120"/>
              </a:rPr>
              <a:t>Three decisions.</a:t>
            </a:r>
            <a:endParaRPr lang="en-US" sz="3800" dirty="0"/>
          </a:p>
        </p:txBody>
      </p:sp>
      <p:sp>
        <p:nvSpPr>
          <p:cNvPr id="5" name="Shape 3"/>
          <p:cNvSpPr/>
          <p:nvPr/>
        </p:nvSpPr>
        <p:spPr>
          <a:xfrm>
            <a:off x="1051560" y="2231136"/>
            <a:ext cx="365760" cy="365760"/>
          </a:xfrm>
          <a:prstGeom prst="ellipse">
            <a:avLst/>
          </a:prstGeom>
          <a:solidFill>
            <a:srgbClr val="C00000"/>
          </a:solidFill>
          <a:ln w="12700">
            <a:solidFill>
              <a:srgbClr val="333333"/>
            </a:solidFill>
            <a:prstDash val="solid"/>
          </a:ln>
        </p:spPr>
      </p:sp>
      <p:sp>
        <p:nvSpPr>
          <p:cNvPr id="6" name="Text 4"/>
          <p:cNvSpPr txBox="1"/>
          <p:nvPr/>
        </p:nvSpPr>
        <p:spPr>
          <a:xfrm>
            <a:off x="1051560" y="223113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1627632" y="2139696"/>
            <a:ext cx="4754880" cy="365760"/>
          </a:xfrm>
          <a:prstGeom prst="rect">
            <a:avLst/>
          </a:prstGeom>
          <a:noFill/>
          <a:ln/>
        </p:spPr>
        <p:txBody>
          <a:bodyPr wrap="square" lIns="0" tIns="0" rIns="0" bIns="0" rtlCol="0" anchor="ctr"/>
          <a:lstStyle/>
          <a:p>
            <a:pPr indent="0" marL="0">
              <a:buNone/>
            </a:pPr>
            <a:r>
              <a:rPr lang="en-US" sz="2100" b="1" dirty="0">
                <a:solidFill>
                  <a:srgbClr val="222834"/>
                </a:solidFill>
                <a:latin typeface="Arial" pitchFamily="34" charset="0"/>
                <a:ea typeface="Arial" pitchFamily="34" charset="-122"/>
                <a:cs typeface="Arial" pitchFamily="34" charset="-120"/>
              </a:rPr>
              <a:t>Approve the build</a:t>
            </a:r>
            <a:endParaRPr lang="en-US" sz="2100" dirty="0"/>
          </a:p>
        </p:txBody>
      </p:sp>
      <p:sp>
        <p:nvSpPr>
          <p:cNvPr id="8" name="Text 6"/>
          <p:cNvSpPr txBox="1"/>
          <p:nvPr/>
        </p:nvSpPr>
        <p:spPr>
          <a:xfrm>
            <a:off x="1627632" y="2523744"/>
            <a:ext cx="6949440" cy="694944"/>
          </a:xfrm>
          <a:prstGeom prst="rect">
            <a:avLst/>
          </a:prstGeom>
          <a:noFill/>
          <a:ln/>
        </p:spPr>
        <p:txBody>
          <a:bodyPr wrap="square" lIns="0" tIns="0" rIns="0" bIns="0" rtlCol="0" anchor="t"/>
          <a:lstStyle/>
          <a:p>
            <a:pPr indent="0" marL="0">
              <a:lnSpc>
                <a:spcPts val="2100"/>
              </a:lnSpc>
              <a:buNone/>
            </a:pPr>
            <a:r>
              <a:rPr lang="en-US" sz="1550" dirty="0">
                <a:solidFill>
                  <a:srgbClr val="4B5363"/>
                </a:solidFill>
                <a:latin typeface="Arial" pitchFamily="34" charset="0"/>
                <a:ea typeface="Arial" pitchFamily="34" charset="-122"/>
                <a:cs typeface="Arial" pitchFamily="34" charset="-120"/>
              </a:rPr>
              <a:t>₱1.54M in year one, ₱2.05M over three. Pilot goes live in IT, HR and Operations — 1,113 people.</a:t>
            </a:r>
            <a:endParaRPr lang="en-US" sz="1550" dirty="0"/>
          </a:p>
        </p:txBody>
      </p:sp>
      <p:sp>
        <p:nvSpPr>
          <p:cNvPr id="9" name="Shape 7"/>
          <p:cNvSpPr/>
          <p:nvPr/>
        </p:nvSpPr>
        <p:spPr>
          <a:xfrm>
            <a:off x="8796528" y="2176272"/>
            <a:ext cx="877824" cy="329184"/>
          </a:xfrm>
          <a:prstGeom prst="roundRect">
            <a:avLst>
              <a:gd name="adj" fmla="val 50000"/>
            </a:avLst>
          </a:prstGeom>
          <a:solidFill>
            <a:srgbClr val="F6F2EA"/>
          </a:solidFill>
          <a:ln w="12700">
            <a:solidFill>
              <a:srgbClr val="E9E1D3"/>
            </a:solidFill>
            <a:prstDash val="solid"/>
          </a:ln>
        </p:spPr>
      </p:sp>
      <p:sp>
        <p:nvSpPr>
          <p:cNvPr id="10" name="Text 8"/>
          <p:cNvSpPr txBox="1"/>
          <p:nvPr/>
        </p:nvSpPr>
        <p:spPr>
          <a:xfrm>
            <a:off x="8796528" y="2176272"/>
            <a:ext cx="877824" cy="329184"/>
          </a:xfrm>
          <a:prstGeom prst="rect">
            <a:avLst/>
          </a:prstGeom>
          <a:noFill/>
          <a:ln/>
        </p:spPr>
        <p:txBody>
          <a:bodyPr wrap="square" lIns="0" tIns="0" rIns="0" bIns="0" rtlCol="0" anchor="ctr"/>
          <a:lstStyle/>
          <a:p>
            <a:pPr algn="ctr" indent="0" marL="0">
              <a:buNone/>
            </a:pPr>
            <a:r>
              <a:rPr lang="en-US" sz="1400" b="1" dirty="0">
                <a:solidFill>
                  <a:srgbClr val="9E6B12"/>
                </a:solidFill>
                <a:latin typeface="Arial" pitchFamily="34" charset="0"/>
                <a:ea typeface="Arial" pitchFamily="34" charset="-122"/>
                <a:cs typeface="Arial" pitchFamily="34" charset="-120"/>
              </a:rPr>
              <a:t>CFO</a:t>
            </a:r>
            <a:endParaRPr lang="en-US" sz="1400" dirty="0"/>
          </a:p>
        </p:txBody>
      </p:sp>
      <p:sp>
        <p:nvSpPr>
          <p:cNvPr id="11" name="Shape 9"/>
          <p:cNvSpPr/>
          <p:nvPr/>
        </p:nvSpPr>
        <p:spPr>
          <a:xfrm>
            <a:off x="1051560" y="3255264"/>
            <a:ext cx="8622792" cy="0"/>
          </a:xfrm>
          <a:prstGeom prst="line">
            <a:avLst/>
          </a:prstGeom>
          <a:noFill/>
          <a:ln w="12700">
            <a:solidFill>
              <a:srgbClr val="E9E1D3"/>
            </a:solidFill>
            <a:prstDash val="solid"/>
          </a:ln>
        </p:spPr>
      </p:sp>
      <p:sp>
        <p:nvSpPr>
          <p:cNvPr id="12" name="Shape 10"/>
          <p:cNvSpPr/>
          <p:nvPr/>
        </p:nvSpPr>
        <p:spPr>
          <a:xfrm>
            <a:off x="1051560" y="3456432"/>
            <a:ext cx="365760" cy="365760"/>
          </a:xfrm>
          <a:prstGeom prst="ellipse">
            <a:avLst/>
          </a:prstGeom>
          <a:solidFill>
            <a:srgbClr val="C00000"/>
          </a:solidFill>
          <a:ln w="12700">
            <a:solidFill>
              <a:srgbClr val="333333"/>
            </a:solidFill>
            <a:prstDash val="solid"/>
          </a:ln>
        </p:spPr>
      </p:sp>
      <p:sp>
        <p:nvSpPr>
          <p:cNvPr id="13" name="Text 11"/>
          <p:cNvSpPr txBox="1"/>
          <p:nvPr/>
        </p:nvSpPr>
        <p:spPr>
          <a:xfrm>
            <a:off x="1051560" y="345643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2"/>
          <p:cNvSpPr txBox="1"/>
          <p:nvPr/>
        </p:nvSpPr>
        <p:spPr>
          <a:xfrm>
            <a:off x="1627632" y="3364992"/>
            <a:ext cx="4754880" cy="365760"/>
          </a:xfrm>
          <a:prstGeom prst="rect">
            <a:avLst/>
          </a:prstGeom>
          <a:noFill/>
          <a:ln/>
        </p:spPr>
        <p:txBody>
          <a:bodyPr wrap="square" lIns="0" tIns="0" rIns="0" bIns="0" rtlCol="0" anchor="ctr"/>
          <a:lstStyle/>
          <a:p>
            <a:pPr indent="0" marL="0">
              <a:buNone/>
            </a:pPr>
            <a:r>
              <a:rPr lang="en-US" sz="2100" b="1" dirty="0">
                <a:solidFill>
                  <a:srgbClr val="222834"/>
                </a:solidFill>
                <a:latin typeface="Arial" pitchFamily="34" charset="0"/>
                <a:ea typeface="Arial" pitchFamily="34" charset="-122"/>
                <a:cs typeface="Arial" pitchFamily="34" charset="-120"/>
              </a:rPr>
              <a:t>Commit the source field</a:t>
            </a:r>
            <a:endParaRPr lang="en-US" sz="2100" dirty="0"/>
          </a:p>
        </p:txBody>
      </p:sp>
      <p:sp>
        <p:nvSpPr>
          <p:cNvPr id="15" name="Text 13"/>
          <p:cNvSpPr txBox="1"/>
          <p:nvPr/>
        </p:nvSpPr>
        <p:spPr>
          <a:xfrm>
            <a:off x="1627632" y="3749040"/>
            <a:ext cx="6949440" cy="694944"/>
          </a:xfrm>
          <a:prstGeom prst="rect">
            <a:avLst/>
          </a:prstGeom>
          <a:noFill/>
          <a:ln/>
        </p:spPr>
        <p:txBody>
          <a:bodyPr wrap="square" lIns="0" tIns="0" rIns="0" bIns="0" rtlCol="0" anchor="t"/>
          <a:lstStyle/>
          <a:p>
            <a:pPr indent="0" marL="0">
              <a:lnSpc>
                <a:spcPts val="2100"/>
              </a:lnSpc>
              <a:buNone/>
            </a:pPr>
            <a:r>
              <a:rPr lang="en-US" sz="1550" dirty="0">
                <a:solidFill>
                  <a:srgbClr val="4B5363"/>
                </a:solidFill>
                <a:latin typeface="Arial" pitchFamily="34" charset="0"/>
                <a:ea typeface="Arial" pitchFamily="34" charset="-122"/>
                <a:cs typeface="Arial" pitchFamily="34" charset="-120"/>
              </a:rPr>
              <a:t>Recruitment adds a "Growth Marketplace" value to HC Connect. A form change, free, and without it no attributed hire can be proved.</a:t>
            </a:r>
            <a:endParaRPr lang="en-US" sz="1550" dirty="0"/>
          </a:p>
        </p:txBody>
      </p:sp>
      <p:sp>
        <p:nvSpPr>
          <p:cNvPr id="16" name="Shape 14"/>
          <p:cNvSpPr/>
          <p:nvPr/>
        </p:nvSpPr>
        <p:spPr>
          <a:xfrm>
            <a:off x="8796528" y="3401568"/>
            <a:ext cx="877824" cy="329184"/>
          </a:xfrm>
          <a:prstGeom prst="roundRect">
            <a:avLst>
              <a:gd name="adj" fmla="val 50000"/>
            </a:avLst>
          </a:prstGeom>
          <a:solidFill>
            <a:srgbClr val="F6F2EA"/>
          </a:solidFill>
          <a:ln w="12700">
            <a:solidFill>
              <a:srgbClr val="E9E1D3"/>
            </a:solidFill>
            <a:prstDash val="solid"/>
          </a:ln>
        </p:spPr>
      </p:sp>
      <p:sp>
        <p:nvSpPr>
          <p:cNvPr id="17" name="Text 15"/>
          <p:cNvSpPr txBox="1"/>
          <p:nvPr/>
        </p:nvSpPr>
        <p:spPr>
          <a:xfrm>
            <a:off x="8796528" y="3401568"/>
            <a:ext cx="877824" cy="329184"/>
          </a:xfrm>
          <a:prstGeom prst="rect">
            <a:avLst/>
          </a:prstGeom>
          <a:noFill/>
          <a:ln/>
        </p:spPr>
        <p:txBody>
          <a:bodyPr wrap="square" lIns="0" tIns="0" rIns="0" bIns="0" rtlCol="0" anchor="ctr"/>
          <a:lstStyle/>
          <a:p>
            <a:pPr algn="ctr" indent="0" marL="0">
              <a:buNone/>
            </a:pPr>
            <a:r>
              <a:rPr lang="en-US" sz="1400" b="1" dirty="0">
                <a:solidFill>
                  <a:srgbClr val="9E6B12"/>
                </a:solidFill>
                <a:latin typeface="Arial" pitchFamily="34" charset="0"/>
                <a:ea typeface="Arial" pitchFamily="34" charset="-122"/>
                <a:cs typeface="Arial" pitchFamily="34" charset="-120"/>
              </a:rPr>
              <a:t>CPO</a:t>
            </a:r>
            <a:endParaRPr lang="en-US" sz="1400" dirty="0"/>
          </a:p>
        </p:txBody>
      </p:sp>
      <p:sp>
        <p:nvSpPr>
          <p:cNvPr id="18" name="Shape 16"/>
          <p:cNvSpPr/>
          <p:nvPr/>
        </p:nvSpPr>
        <p:spPr>
          <a:xfrm>
            <a:off x="1051560" y="4480560"/>
            <a:ext cx="8622792" cy="0"/>
          </a:xfrm>
          <a:prstGeom prst="line">
            <a:avLst/>
          </a:prstGeom>
          <a:noFill/>
          <a:ln w="12700">
            <a:solidFill>
              <a:srgbClr val="E9E1D3"/>
            </a:solidFill>
            <a:prstDash val="solid"/>
          </a:ln>
        </p:spPr>
      </p:sp>
      <p:sp>
        <p:nvSpPr>
          <p:cNvPr id="19" name="Shape 17"/>
          <p:cNvSpPr/>
          <p:nvPr/>
        </p:nvSpPr>
        <p:spPr>
          <a:xfrm>
            <a:off x="1051560" y="4681728"/>
            <a:ext cx="365760" cy="365760"/>
          </a:xfrm>
          <a:prstGeom prst="ellipse">
            <a:avLst/>
          </a:prstGeom>
          <a:solidFill>
            <a:srgbClr val="C00000"/>
          </a:solidFill>
          <a:ln w="12700">
            <a:solidFill>
              <a:srgbClr val="333333"/>
            </a:solidFill>
            <a:prstDash val="solid"/>
          </a:ln>
        </p:spPr>
      </p:sp>
      <p:sp>
        <p:nvSpPr>
          <p:cNvPr id="20" name="Text 18"/>
          <p:cNvSpPr txBox="1"/>
          <p:nvPr/>
        </p:nvSpPr>
        <p:spPr>
          <a:xfrm>
            <a:off x="1051560" y="468172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9"/>
          <p:cNvSpPr txBox="1"/>
          <p:nvPr/>
        </p:nvSpPr>
        <p:spPr>
          <a:xfrm>
            <a:off x="1627632" y="4590288"/>
            <a:ext cx="4754880" cy="365760"/>
          </a:xfrm>
          <a:prstGeom prst="rect">
            <a:avLst/>
          </a:prstGeom>
          <a:noFill/>
          <a:ln/>
        </p:spPr>
        <p:txBody>
          <a:bodyPr wrap="square" lIns="0" tIns="0" rIns="0" bIns="0" rtlCol="0" anchor="ctr"/>
          <a:lstStyle/>
          <a:p>
            <a:pPr indent="0" marL="0">
              <a:buNone/>
            </a:pPr>
            <a:r>
              <a:rPr lang="en-US" sz="2100" b="1" dirty="0">
                <a:solidFill>
                  <a:srgbClr val="222834"/>
                </a:solidFill>
                <a:latin typeface="Arial" pitchFamily="34" charset="0"/>
                <a:ea typeface="Arial" pitchFamily="34" charset="-122"/>
                <a:cs typeface="Arial" pitchFamily="34" charset="-120"/>
              </a:rPr>
              <a:t>Name the six champion managers</a:t>
            </a:r>
            <a:endParaRPr lang="en-US" sz="2100" dirty="0"/>
          </a:p>
        </p:txBody>
      </p:sp>
      <p:sp>
        <p:nvSpPr>
          <p:cNvPr id="22" name="Text 20"/>
          <p:cNvSpPr txBox="1"/>
          <p:nvPr/>
        </p:nvSpPr>
        <p:spPr>
          <a:xfrm>
            <a:off x="1627632" y="4974336"/>
            <a:ext cx="6949440" cy="694944"/>
          </a:xfrm>
          <a:prstGeom prst="rect">
            <a:avLst/>
          </a:prstGeom>
          <a:noFill/>
          <a:ln/>
        </p:spPr>
        <p:txBody>
          <a:bodyPr wrap="square" lIns="0" tIns="0" rIns="0" bIns="0" rtlCol="0" anchor="t"/>
          <a:lstStyle/>
          <a:p>
            <a:pPr indent="0" marL="0">
              <a:lnSpc>
                <a:spcPts val="2100"/>
              </a:lnSpc>
              <a:buNone/>
            </a:pPr>
            <a:r>
              <a:rPr lang="en-US" sz="1550" dirty="0">
                <a:solidFill>
                  <a:srgbClr val="4B5363"/>
                </a:solidFill>
                <a:latin typeface="Arial" pitchFamily="34" charset="0"/>
                <a:ea typeface="Arial" pitchFamily="34" charset="-122"/>
                <a:cs typeface="Arial" pitchFamily="34" charset="-120"/>
              </a:rPr>
              <a:t>Six leaders who commit to posting a gig or an immersion before launch. Without stock on the shelves, nothing else here works.</a:t>
            </a:r>
            <a:endParaRPr lang="en-US" sz="1550" dirty="0"/>
          </a:p>
        </p:txBody>
      </p:sp>
      <p:sp>
        <p:nvSpPr>
          <p:cNvPr id="23" name="Shape 21"/>
          <p:cNvSpPr/>
          <p:nvPr/>
        </p:nvSpPr>
        <p:spPr>
          <a:xfrm>
            <a:off x="8796528" y="4626864"/>
            <a:ext cx="877824" cy="329184"/>
          </a:xfrm>
          <a:prstGeom prst="roundRect">
            <a:avLst>
              <a:gd name="adj" fmla="val 50000"/>
            </a:avLst>
          </a:prstGeom>
          <a:solidFill>
            <a:srgbClr val="F6F2EA"/>
          </a:solidFill>
          <a:ln w="12700">
            <a:solidFill>
              <a:srgbClr val="E9E1D3"/>
            </a:solidFill>
            <a:prstDash val="solid"/>
          </a:ln>
        </p:spPr>
      </p:sp>
      <p:sp>
        <p:nvSpPr>
          <p:cNvPr id="24" name="Text 22"/>
          <p:cNvSpPr txBox="1"/>
          <p:nvPr/>
        </p:nvSpPr>
        <p:spPr>
          <a:xfrm>
            <a:off x="8796528" y="4626864"/>
            <a:ext cx="877824" cy="329184"/>
          </a:xfrm>
          <a:prstGeom prst="rect">
            <a:avLst/>
          </a:prstGeom>
          <a:noFill/>
          <a:ln/>
        </p:spPr>
        <p:txBody>
          <a:bodyPr wrap="square" lIns="0" tIns="0" rIns="0" bIns="0" rtlCol="0" anchor="ctr"/>
          <a:lstStyle/>
          <a:p>
            <a:pPr algn="ctr" indent="0" marL="0">
              <a:buNone/>
            </a:pPr>
            <a:r>
              <a:rPr lang="en-US" sz="1400" b="1" dirty="0">
                <a:solidFill>
                  <a:srgbClr val="9E6B12"/>
                </a:solidFill>
                <a:latin typeface="Arial" pitchFamily="34" charset="0"/>
                <a:ea typeface="Arial" pitchFamily="34" charset="-122"/>
                <a:cs typeface="Arial" pitchFamily="34" charset="-120"/>
              </a:rPr>
              <a:t>ExCo</a:t>
            </a:r>
            <a:endParaRPr lang="en-US" sz="1400" dirty="0"/>
          </a:p>
        </p:txBody>
      </p:sp>
      <p:sp>
        <p:nvSpPr>
          <p:cNvPr id="25" name="Shape 23"/>
          <p:cNvSpPr/>
          <p:nvPr/>
        </p:nvSpPr>
        <p:spPr>
          <a:xfrm>
            <a:off x="1051560" y="5870448"/>
            <a:ext cx="1371600" cy="54864"/>
          </a:xfrm>
          <a:prstGeom prst="rect">
            <a:avLst/>
          </a:prstGeom>
          <a:solidFill>
            <a:srgbClr val="C00000"/>
          </a:solidFill>
          <a:ln w="12700">
            <a:solidFill>
              <a:srgbClr val="333333"/>
            </a:solidFill>
            <a:prstDash val="solid"/>
          </a:ln>
        </p:spPr>
      </p:sp>
      <p:sp>
        <p:nvSpPr>
          <p:cNvPr id="26" name="Text 24"/>
          <p:cNvSpPr txBox="1"/>
          <p:nvPr/>
        </p:nvSpPr>
        <p:spPr>
          <a:xfrm>
            <a:off x="1051560" y="6053328"/>
            <a:ext cx="10424160" cy="402336"/>
          </a:xfrm>
          <a:prstGeom prst="rect">
            <a:avLst/>
          </a:prstGeom>
          <a:noFill/>
          <a:ln/>
        </p:spPr>
        <p:txBody>
          <a:bodyPr wrap="square" lIns="0" tIns="0" rIns="0" bIns="0" rtlCol="0" anchor="ctr"/>
          <a:lstStyle/>
          <a:p>
            <a:pPr indent="0" marL="0">
              <a:buNone/>
            </a:pPr>
            <a:r>
              <a:rPr lang="en-US" sz="1700" b="1" dirty="0">
                <a:solidFill>
                  <a:srgbClr val="222834"/>
                </a:solidFill>
                <a:latin typeface="Arial" pitchFamily="34" charset="0"/>
                <a:ea typeface="Arial" pitchFamily="34" charset="-122"/>
                <a:cs typeface="Arial" pitchFamily="34" charset="-120"/>
              </a:rPr>
              <a:t>We are paying to find people we may already employ. ₱614 per employee a year stops that.</a:t>
            </a:r>
            <a:endParaRPr lang="en-US" sz="1700" dirty="0"/>
          </a:p>
        </p:txBody>
      </p:sp>
      <p:sp>
        <p:nvSpPr>
          <p:cNvPr id="27" name="Text 25"/>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APPENDIX</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2900" b="1" dirty="0">
                <a:solidFill>
                  <a:srgbClr val="222834"/>
                </a:solidFill>
                <a:latin typeface="Arial" pitchFamily="34" charset="0"/>
                <a:ea typeface="Arial" pitchFamily="34" charset="-122"/>
                <a:cs typeface="Arial" pitchFamily="34" charset="-120"/>
              </a:rPr>
              <a:t>What one internal fill is worth, net of the backfill.</a:t>
            </a:r>
            <a:endParaRPr lang="en-US" sz="29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The hiring-cost saving is smaller than it looks, and this is why.</a:t>
            </a:r>
            <a:endParaRPr lang="en-US" sz="1600" dirty="0"/>
          </a:p>
        </p:txBody>
      </p:sp>
      <p:sp>
        <p:nvSpPr>
          <p:cNvPr id="6" name="Text 4"/>
          <p:cNvSpPr txBox="1"/>
          <p:nvPr/>
        </p:nvSpPr>
        <p:spPr>
          <a:xfrm>
            <a:off x="566928" y="1920240"/>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We do not pay TA to hire a Band C from outside</a:t>
            </a:r>
            <a:endParaRPr lang="en-US" sz="1500" dirty="0"/>
          </a:p>
        </p:txBody>
      </p:sp>
      <p:sp>
        <p:nvSpPr>
          <p:cNvPr id="7" name="Text 5"/>
          <p:cNvSpPr txBox="1"/>
          <p:nvPr/>
        </p:nvSpPr>
        <p:spPr>
          <a:xfrm>
            <a:off x="5241414" y="1920240"/>
            <a:ext cx="1463040" cy="512064"/>
          </a:xfrm>
          <a:prstGeom prst="rect">
            <a:avLst/>
          </a:prstGeom>
          <a:noFill/>
          <a:ln/>
        </p:spPr>
        <p:txBody>
          <a:bodyPr wrap="square" lIns="0" tIns="0" rIns="0" bIns="0" rtlCol="0" anchor="ctr"/>
          <a:lstStyle/>
          <a:p>
            <a:pPr algn="r" indent="0" marL="0">
              <a:buNone/>
            </a:pPr>
            <a:r>
              <a:rPr lang="en-US" sz="1600" b="1" dirty="0">
                <a:solidFill>
                  <a:srgbClr val="0E7C66"/>
                </a:solidFill>
                <a:latin typeface="Arial" pitchFamily="34" charset="0"/>
                <a:ea typeface="Arial" pitchFamily="34" charset="-122"/>
                <a:cs typeface="Arial" pitchFamily="34" charset="-120"/>
              </a:rPr>
              <a:t>+₱35,367</a:t>
            </a:r>
            <a:endParaRPr lang="en-US" sz="1600" dirty="0"/>
          </a:p>
        </p:txBody>
      </p:sp>
      <p:sp>
        <p:nvSpPr>
          <p:cNvPr id="8" name="Shape 6"/>
          <p:cNvSpPr/>
          <p:nvPr/>
        </p:nvSpPr>
        <p:spPr>
          <a:xfrm>
            <a:off x="566928" y="2450592"/>
            <a:ext cx="6192390" cy="0"/>
          </a:xfrm>
          <a:prstGeom prst="line">
            <a:avLst/>
          </a:prstGeom>
          <a:noFill/>
          <a:ln w="12700">
            <a:solidFill>
              <a:srgbClr val="E7E1D7"/>
            </a:solidFill>
            <a:prstDash val="solid"/>
          </a:ln>
        </p:spPr>
      </p:sp>
      <p:sp>
        <p:nvSpPr>
          <p:cNvPr id="9" name="Text 7"/>
          <p:cNvSpPr txBox="1"/>
          <p:nvPr/>
        </p:nvSpPr>
        <p:spPr>
          <a:xfrm>
            <a:off x="566928" y="2523744"/>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But HR and TA still run the internal process</a:t>
            </a:r>
            <a:endParaRPr lang="en-US" sz="1500" dirty="0"/>
          </a:p>
        </p:txBody>
      </p:sp>
      <p:sp>
        <p:nvSpPr>
          <p:cNvPr id="10" name="Text 8"/>
          <p:cNvSpPr txBox="1"/>
          <p:nvPr/>
        </p:nvSpPr>
        <p:spPr>
          <a:xfrm>
            <a:off x="5241414" y="2523744"/>
            <a:ext cx="1463040" cy="512064"/>
          </a:xfrm>
          <a:prstGeom prst="rect">
            <a:avLst/>
          </a:prstGeom>
          <a:noFill/>
          <a:ln/>
        </p:spPr>
        <p:txBody>
          <a:bodyPr wrap="square" lIns="0" tIns="0" rIns="0" bIns="0" rtlCol="0" anchor="ctr"/>
          <a:lstStyle/>
          <a:p>
            <a:pPr algn="r" indent="0" marL="0">
              <a:buNone/>
            </a:pPr>
            <a:r>
              <a:rPr lang="en-US" sz="1600" b="1" dirty="0">
                <a:solidFill>
                  <a:srgbClr val="C00000"/>
                </a:solidFill>
                <a:latin typeface="Arial" pitchFamily="34" charset="0"/>
                <a:ea typeface="Arial" pitchFamily="34" charset="-122"/>
                <a:cs typeface="Arial" pitchFamily="34" charset="-120"/>
              </a:rPr>
              <a:t>−₱3,378</a:t>
            </a:r>
            <a:endParaRPr lang="en-US" sz="1600" dirty="0"/>
          </a:p>
        </p:txBody>
      </p:sp>
      <p:sp>
        <p:nvSpPr>
          <p:cNvPr id="11" name="Shape 9"/>
          <p:cNvSpPr/>
          <p:nvPr/>
        </p:nvSpPr>
        <p:spPr>
          <a:xfrm>
            <a:off x="566928" y="3054096"/>
            <a:ext cx="6192390" cy="0"/>
          </a:xfrm>
          <a:prstGeom prst="line">
            <a:avLst/>
          </a:prstGeom>
          <a:noFill/>
          <a:ln w="12700">
            <a:solidFill>
              <a:srgbClr val="E7E1D7"/>
            </a:solidFill>
            <a:prstDash val="solid"/>
          </a:ln>
        </p:spPr>
      </p:sp>
      <p:sp>
        <p:nvSpPr>
          <p:cNvPr id="12" name="Text 10"/>
          <p:cNvSpPr txBox="1"/>
          <p:nvPr/>
        </p:nvSpPr>
        <p:spPr>
          <a:xfrm>
            <a:off x="566928" y="3127248"/>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And the Band B seat they vacate is hired externally</a:t>
            </a:r>
            <a:endParaRPr lang="en-US" sz="1500" dirty="0"/>
          </a:p>
        </p:txBody>
      </p:sp>
      <p:sp>
        <p:nvSpPr>
          <p:cNvPr id="13" name="Text 11"/>
          <p:cNvSpPr txBox="1"/>
          <p:nvPr/>
        </p:nvSpPr>
        <p:spPr>
          <a:xfrm>
            <a:off x="5241414" y="3127248"/>
            <a:ext cx="1463040" cy="512064"/>
          </a:xfrm>
          <a:prstGeom prst="rect">
            <a:avLst/>
          </a:prstGeom>
          <a:noFill/>
          <a:ln/>
        </p:spPr>
        <p:txBody>
          <a:bodyPr wrap="square" lIns="0" tIns="0" rIns="0" bIns="0" rtlCol="0" anchor="ctr"/>
          <a:lstStyle/>
          <a:p>
            <a:pPr algn="r" indent="0" marL="0">
              <a:buNone/>
            </a:pPr>
            <a:r>
              <a:rPr lang="en-US" sz="1600" b="1" dirty="0">
                <a:solidFill>
                  <a:srgbClr val="C00000"/>
                </a:solidFill>
                <a:latin typeface="Arial" pitchFamily="34" charset="0"/>
                <a:ea typeface="Arial" pitchFamily="34" charset="-122"/>
                <a:cs typeface="Arial" pitchFamily="34" charset="-120"/>
              </a:rPr>
              <a:t>−₱6,977</a:t>
            </a:r>
            <a:endParaRPr lang="en-US" sz="1600" dirty="0"/>
          </a:p>
        </p:txBody>
      </p:sp>
      <p:sp>
        <p:nvSpPr>
          <p:cNvPr id="14" name="Shape 12"/>
          <p:cNvSpPr/>
          <p:nvPr/>
        </p:nvSpPr>
        <p:spPr>
          <a:xfrm>
            <a:off x="566928" y="3657600"/>
            <a:ext cx="6192390" cy="0"/>
          </a:xfrm>
          <a:prstGeom prst="line">
            <a:avLst/>
          </a:prstGeom>
          <a:noFill/>
          <a:ln w="12700">
            <a:solidFill>
              <a:srgbClr val="E7E1D7"/>
            </a:solidFill>
            <a:prstDash val="solid"/>
          </a:ln>
        </p:spPr>
      </p:sp>
      <p:sp>
        <p:nvSpPr>
          <p:cNvPr id="15" name="Text 13"/>
          <p:cNvSpPr txBox="1"/>
          <p:nvPr/>
        </p:nvSpPr>
        <p:spPr>
          <a:xfrm>
            <a:off x="566928" y="3730752"/>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Band C seat filled in 21 days, not 58 — output kept</a:t>
            </a:r>
            <a:endParaRPr lang="en-US" sz="1500" dirty="0"/>
          </a:p>
        </p:txBody>
      </p:sp>
      <p:sp>
        <p:nvSpPr>
          <p:cNvPr id="16" name="Text 14"/>
          <p:cNvSpPr txBox="1"/>
          <p:nvPr/>
        </p:nvSpPr>
        <p:spPr>
          <a:xfrm>
            <a:off x="5241414" y="3730752"/>
            <a:ext cx="1463040" cy="512064"/>
          </a:xfrm>
          <a:prstGeom prst="rect">
            <a:avLst/>
          </a:prstGeom>
          <a:noFill/>
          <a:ln/>
        </p:spPr>
        <p:txBody>
          <a:bodyPr wrap="square" lIns="0" tIns="0" rIns="0" bIns="0" rtlCol="0" anchor="ctr"/>
          <a:lstStyle/>
          <a:p>
            <a:pPr algn="r" indent="0" marL="0">
              <a:buNone/>
            </a:pPr>
            <a:r>
              <a:rPr lang="en-US" sz="1600" b="1" dirty="0">
                <a:solidFill>
                  <a:srgbClr val="0E7C66"/>
                </a:solidFill>
                <a:latin typeface="Arial" pitchFamily="34" charset="0"/>
                <a:ea typeface="Arial" pitchFamily="34" charset="-122"/>
                <a:cs typeface="Arial" pitchFamily="34" charset="-120"/>
              </a:rPr>
              <a:t>+₱158,510</a:t>
            </a:r>
            <a:endParaRPr lang="en-US" sz="1600" dirty="0"/>
          </a:p>
        </p:txBody>
      </p:sp>
      <p:sp>
        <p:nvSpPr>
          <p:cNvPr id="17" name="Shape 15"/>
          <p:cNvSpPr/>
          <p:nvPr/>
        </p:nvSpPr>
        <p:spPr>
          <a:xfrm>
            <a:off x="566928" y="4261104"/>
            <a:ext cx="6192390" cy="0"/>
          </a:xfrm>
          <a:prstGeom prst="line">
            <a:avLst/>
          </a:prstGeom>
          <a:noFill/>
          <a:ln w="12700">
            <a:solidFill>
              <a:srgbClr val="E7E1D7"/>
            </a:solidFill>
            <a:prstDash val="solid"/>
          </a:ln>
        </p:spPr>
      </p:sp>
      <p:sp>
        <p:nvSpPr>
          <p:cNvPr id="18" name="Text 16"/>
          <p:cNvSpPr txBox="1"/>
          <p:nvPr/>
        </p:nvSpPr>
        <p:spPr>
          <a:xfrm>
            <a:off x="566928" y="4334256"/>
            <a:ext cx="4637910" cy="512064"/>
          </a:xfrm>
          <a:prstGeom prst="rect">
            <a:avLst/>
          </a:prstGeom>
          <a:noFill/>
          <a:ln/>
        </p:spPr>
        <p:txBody>
          <a:bodyPr wrap="square" lIns="0" tIns="0" rIns="0" bIns="0" rtlCol="0" anchor="ctr"/>
          <a:lstStyle/>
          <a:p>
            <a:pPr indent="0" marL="0">
              <a:lnSpc>
                <a:spcPts val="2000"/>
              </a:lnSpc>
              <a:buNone/>
            </a:pPr>
            <a:r>
              <a:rPr lang="en-US" sz="1500" dirty="0">
                <a:solidFill>
                  <a:srgbClr val="4B5363"/>
                </a:solidFill>
                <a:latin typeface="Arial" pitchFamily="34" charset="0"/>
                <a:ea typeface="Arial" pitchFamily="34" charset="-122"/>
                <a:cs typeface="Arial" pitchFamily="34" charset="-120"/>
              </a:rPr>
              <a:t>The Band B seat is now empty for 58 days</a:t>
            </a:r>
            <a:endParaRPr lang="en-US" sz="1500" dirty="0"/>
          </a:p>
        </p:txBody>
      </p:sp>
      <p:sp>
        <p:nvSpPr>
          <p:cNvPr id="19" name="Text 17"/>
          <p:cNvSpPr txBox="1"/>
          <p:nvPr/>
        </p:nvSpPr>
        <p:spPr>
          <a:xfrm>
            <a:off x="5241414" y="4334256"/>
            <a:ext cx="1463040" cy="512064"/>
          </a:xfrm>
          <a:prstGeom prst="rect">
            <a:avLst/>
          </a:prstGeom>
          <a:noFill/>
          <a:ln/>
        </p:spPr>
        <p:txBody>
          <a:bodyPr wrap="square" lIns="0" tIns="0" rIns="0" bIns="0" rtlCol="0" anchor="ctr"/>
          <a:lstStyle/>
          <a:p>
            <a:pPr algn="r" indent="0" marL="0">
              <a:buNone/>
            </a:pPr>
            <a:r>
              <a:rPr lang="en-US" sz="1600" b="1" dirty="0">
                <a:solidFill>
                  <a:srgbClr val="C00000"/>
                </a:solidFill>
                <a:latin typeface="Arial" pitchFamily="34" charset="0"/>
                <a:ea typeface="Arial" pitchFamily="34" charset="-122"/>
                <a:cs typeface="Arial" pitchFamily="34" charset="-120"/>
              </a:rPr>
              <a:t>−₱97,266</a:t>
            </a:r>
            <a:endParaRPr lang="en-US" sz="1600" dirty="0"/>
          </a:p>
        </p:txBody>
      </p:sp>
      <p:sp>
        <p:nvSpPr>
          <p:cNvPr id="20" name="Shape 18"/>
          <p:cNvSpPr/>
          <p:nvPr/>
        </p:nvSpPr>
        <p:spPr>
          <a:xfrm>
            <a:off x="566928" y="4864608"/>
            <a:ext cx="6192390" cy="0"/>
          </a:xfrm>
          <a:prstGeom prst="line">
            <a:avLst/>
          </a:prstGeom>
          <a:noFill/>
          <a:ln w="12700">
            <a:solidFill>
              <a:srgbClr val="E7E1D7"/>
            </a:solidFill>
            <a:prstDash val="solid"/>
          </a:ln>
        </p:spPr>
      </p:sp>
      <p:sp>
        <p:nvSpPr>
          <p:cNvPr id="21" name="Shape 19"/>
          <p:cNvSpPr/>
          <p:nvPr/>
        </p:nvSpPr>
        <p:spPr>
          <a:xfrm>
            <a:off x="566928" y="5010912"/>
            <a:ext cx="6192390" cy="676656"/>
          </a:xfrm>
          <a:prstGeom prst="roundRect">
            <a:avLst>
              <a:gd name="adj" fmla="val 5405"/>
            </a:avLst>
          </a:prstGeom>
          <a:solidFill>
            <a:srgbClr val="C00000"/>
          </a:solidFill>
          <a:ln w="12700">
            <a:solidFill>
              <a:srgbClr val="333333"/>
            </a:solidFill>
            <a:prstDash val="solid"/>
          </a:ln>
        </p:spPr>
      </p:sp>
      <p:sp>
        <p:nvSpPr>
          <p:cNvPr id="22" name="Text 20"/>
          <p:cNvSpPr txBox="1"/>
          <p:nvPr/>
        </p:nvSpPr>
        <p:spPr>
          <a:xfrm>
            <a:off x="822960" y="5010912"/>
            <a:ext cx="4272150" cy="676656"/>
          </a:xfrm>
          <a:prstGeom prst="rect">
            <a:avLst/>
          </a:prstGeom>
          <a:noFill/>
          <a:ln/>
        </p:spPr>
        <p:txBody>
          <a:bodyPr wrap="square" lIns="0" tIns="0" rIns="0" bIns="0" rtlCol="0" anchor="ctr"/>
          <a:lstStyle/>
          <a:p>
            <a:pPr indent="0" marL="0">
              <a:buNone/>
            </a:pPr>
            <a:r>
              <a:rPr lang="en-US" sz="1500" b="1" spc="60" kern="0" dirty="0">
                <a:solidFill>
                  <a:srgbClr val="FFFFFF"/>
                </a:solidFill>
                <a:latin typeface="Arial" pitchFamily="34" charset="0"/>
                <a:ea typeface="Arial" pitchFamily="34" charset="-122"/>
                <a:cs typeface="Arial" pitchFamily="34" charset="-120"/>
              </a:rPr>
              <a:t>NET VALUE, ONE BAND C INTERNAL FILL</a:t>
            </a:r>
            <a:endParaRPr lang="en-US" sz="1500" dirty="0"/>
          </a:p>
        </p:txBody>
      </p:sp>
      <p:sp>
        <p:nvSpPr>
          <p:cNvPr id="23" name="Text 21"/>
          <p:cNvSpPr txBox="1"/>
          <p:nvPr/>
        </p:nvSpPr>
        <p:spPr>
          <a:xfrm>
            <a:off x="4875654" y="5010912"/>
            <a:ext cx="1645920" cy="676656"/>
          </a:xfrm>
          <a:prstGeom prst="rect">
            <a:avLst/>
          </a:prstGeom>
          <a:noFill/>
          <a:ln/>
        </p:spPr>
        <p:txBody>
          <a:bodyPr wrap="square" lIns="0" tIns="0" rIns="0" bIns="0" rtlCol="0" anchor="ctr"/>
          <a:lstStyle/>
          <a:p>
            <a:pPr algn="r" indent="0" marL="0">
              <a:buNone/>
            </a:pPr>
            <a:r>
              <a:rPr lang="en-US" sz="2200" b="1" dirty="0">
                <a:solidFill>
                  <a:srgbClr val="FFFFFF"/>
                </a:solidFill>
                <a:latin typeface="Arial" pitchFamily="34" charset="0"/>
                <a:ea typeface="Arial" pitchFamily="34" charset="-122"/>
                <a:cs typeface="Arial" pitchFamily="34" charset="-120"/>
              </a:rPr>
              <a:t>₱86,259</a:t>
            </a:r>
            <a:endParaRPr lang="en-US" sz="2200" dirty="0"/>
          </a:p>
        </p:txBody>
      </p:sp>
      <p:sp>
        <p:nvSpPr>
          <p:cNvPr id="24" name="Text 22"/>
          <p:cNvSpPr txBox="1"/>
          <p:nvPr/>
        </p:nvSpPr>
        <p:spPr>
          <a:xfrm>
            <a:off x="7125078" y="1847088"/>
            <a:ext cx="4499689"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BLENDED ON THE 2025 HIRING MIX</a:t>
            </a:r>
            <a:endParaRPr lang="en-US" sz="1400" dirty="0"/>
          </a:p>
        </p:txBody>
      </p:sp>
      <p:sp>
        <p:nvSpPr>
          <p:cNvPr id="25" name="Text 23"/>
          <p:cNvSpPr txBox="1"/>
          <p:nvPr/>
        </p:nvSpPr>
        <p:spPr>
          <a:xfrm>
            <a:off x="7125078" y="2231136"/>
            <a:ext cx="1799876" cy="457200"/>
          </a:xfrm>
          <a:prstGeom prst="rect">
            <a:avLst/>
          </a:prstGeom>
          <a:noFill/>
          <a:ln/>
        </p:spPr>
        <p:txBody>
          <a:bodyPr wrap="square" lIns="0" tIns="0" rIns="0" bIns="0" rtlCol="0" anchor="ctr"/>
          <a:lstStyle/>
          <a:p>
            <a:pPr indent="0" marL="0">
              <a:buNone/>
            </a:pPr>
            <a:r>
              <a:rPr lang="en-US" sz="1500" dirty="0">
                <a:solidFill>
                  <a:srgbClr val="222834"/>
                </a:solidFill>
                <a:latin typeface="Arial" pitchFamily="34" charset="0"/>
                <a:ea typeface="Arial" pitchFamily="34" charset="-122"/>
                <a:cs typeface="Arial" pitchFamily="34" charset="-120"/>
              </a:rPr>
              <a:t>Band B fills</a:t>
            </a:r>
            <a:endParaRPr lang="en-US" sz="1500" dirty="0"/>
          </a:p>
        </p:txBody>
      </p:sp>
      <p:sp>
        <p:nvSpPr>
          <p:cNvPr id="26" name="Text 24"/>
          <p:cNvSpPr txBox="1"/>
          <p:nvPr/>
        </p:nvSpPr>
        <p:spPr>
          <a:xfrm>
            <a:off x="8834960" y="2231136"/>
            <a:ext cx="1259913" cy="457200"/>
          </a:xfrm>
          <a:prstGeom prst="rect">
            <a:avLst/>
          </a:prstGeom>
          <a:noFill/>
          <a:ln/>
        </p:spPr>
        <p:txBody>
          <a:bodyPr wrap="square" lIns="0" tIns="0" rIns="0" bIns="0" rtlCol="0" anchor="ctr"/>
          <a:lstStyle/>
          <a:p>
            <a:pPr indent="0" marL="0">
              <a:buNone/>
            </a:pPr>
            <a:r>
              <a:rPr lang="en-US" sz="1450" dirty="0">
                <a:solidFill>
                  <a:srgbClr val="858D9B"/>
                </a:solidFill>
                <a:latin typeface="Arial" pitchFamily="34" charset="0"/>
                <a:ea typeface="Arial" pitchFamily="34" charset="-122"/>
                <a:cs typeface="Arial" pitchFamily="34" charset="-120"/>
              </a:rPr>
              <a:t>186 a year</a:t>
            </a:r>
            <a:endParaRPr lang="en-US" sz="1450" dirty="0"/>
          </a:p>
        </p:txBody>
      </p:sp>
      <p:sp>
        <p:nvSpPr>
          <p:cNvPr id="27" name="Text 25"/>
          <p:cNvSpPr txBox="1"/>
          <p:nvPr/>
        </p:nvSpPr>
        <p:spPr>
          <a:xfrm>
            <a:off x="9644904" y="2231136"/>
            <a:ext cx="1889869" cy="457200"/>
          </a:xfrm>
          <a:prstGeom prst="rect">
            <a:avLst/>
          </a:prstGeom>
          <a:noFill/>
          <a:ln/>
        </p:spPr>
        <p:txBody>
          <a:bodyPr wrap="square" lIns="0" tIns="0" rIns="0" bIns="0" rtlCol="0" anchor="ctr"/>
          <a:lstStyle/>
          <a:p>
            <a:pPr algn="r" indent="0" marL="0">
              <a:buNone/>
            </a:pPr>
            <a:r>
              <a:rPr lang="en-US" sz="1500" b="1" dirty="0">
                <a:solidFill>
                  <a:srgbClr val="4B5363"/>
                </a:solidFill>
                <a:latin typeface="Arial" pitchFamily="34" charset="0"/>
                <a:ea typeface="Arial" pitchFamily="34" charset="-122"/>
                <a:cs typeface="Arial" pitchFamily="34" charset="-120"/>
              </a:rPr>
              <a:t>₱19,967 each</a:t>
            </a:r>
            <a:endParaRPr lang="en-US" sz="1500" dirty="0"/>
          </a:p>
        </p:txBody>
      </p:sp>
      <p:sp>
        <p:nvSpPr>
          <p:cNvPr id="28" name="Text 26"/>
          <p:cNvSpPr txBox="1"/>
          <p:nvPr/>
        </p:nvSpPr>
        <p:spPr>
          <a:xfrm>
            <a:off x="7125078" y="2871216"/>
            <a:ext cx="1799876" cy="457200"/>
          </a:xfrm>
          <a:prstGeom prst="rect">
            <a:avLst/>
          </a:prstGeom>
          <a:noFill/>
          <a:ln/>
        </p:spPr>
        <p:txBody>
          <a:bodyPr wrap="square" lIns="0" tIns="0" rIns="0" bIns="0" rtlCol="0" anchor="ctr"/>
          <a:lstStyle/>
          <a:p>
            <a:pPr indent="0" marL="0">
              <a:buNone/>
            </a:pPr>
            <a:r>
              <a:rPr lang="en-US" sz="1500" dirty="0">
                <a:solidFill>
                  <a:srgbClr val="222834"/>
                </a:solidFill>
                <a:latin typeface="Arial" pitchFamily="34" charset="0"/>
                <a:ea typeface="Arial" pitchFamily="34" charset="-122"/>
                <a:cs typeface="Arial" pitchFamily="34" charset="-120"/>
              </a:rPr>
              <a:t>Band C fills</a:t>
            </a:r>
            <a:endParaRPr lang="en-US" sz="1500" dirty="0"/>
          </a:p>
        </p:txBody>
      </p:sp>
      <p:sp>
        <p:nvSpPr>
          <p:cNvPr id="29" name="Text 27"/>
          <p:cNvSpPr txBox="1"/>
          <p:nvPr/>
        </p:nvSpPr>
        <p:spPr>
          <a:xfrm>
            <a:off x="8834960" y="2871216"/>
            <a:ext cx="1259913" cy="457200"/>
          </a:xfrm>
          <a:prstGeom prst="rect">
            <a:avLst/>
          </a:prstGeom>
          <a:noFill/>
          <a:ln/>
        </p:spPr>
        <p:txBody>
          <a:bodyPr wrap="square" lIns="0" tIns="0" rIns="0" bIns="0" rtlCol="0" anchor="ctr"/>
          <a:lstStyle/>
          <a:p>
            <a:pPr indent="0" marL="0">
              <a:buNone/>
            </a:pPr>
            <a:r>
              <a:rPr lang="en-US" sz="1450" dirty="0">
                <a:solidFill>
                  <a:srgbClr val="858D9B"/>
                </a:solidFill>
                <a:latin typeface="Arial" pitchFamily="34" charset="0"/>
                <a:ea typeface="Arial" pitchFamily="34" charset="-122"/>
                <a:cs typeface="Arial" pitchFamily="34" charset="-120"/>
              </a:rPr>
              <a:t>103 a year</a:t>
            </a:r>
            <a:endParaRPr lang="en-US" sz="1450" dirty="0"/>
          </a:p>
        </p:txBody>
      </p:sp>
      <p:sp>
        <p:nvSpPr>
          <p:cNvPr id="30" name="Text 28"/>
          <p:cNvSpPr txBox="1"/>
          <p:nvPr/>
        </p:nvSpPr>
        <p:spPr>
          <a:xfrm>
            <a:off x="9644904" y="2871216"/>
            <a:ext cx="1889869" cy="457200"/>
          </a:xfrm>
          <a:prstGeom prst="rect">
            <a:avLst/>
          </a:prstGeom>
          <a:noFill/>
          <a:ln/>
        </p:spPr>
        <p:txBody>
          <a:bodyPr wrap="square" lIns="0" tIns="0" rIns="0" bIns="0" rtlCol="0" anchor="ctr"/>
          <a:lstStyle/>
          <a:p>
            <a:pPr algn="r" indent="0" marL="0">
              <a:buNone/>
            </a:pPr>
            <a:r>
              <a:rPr lang="en-US" sz="1500" b="1" dirty="0">
                <a:solidFill>
                  <a:srgbClr val="4B5363"/>
                </a:solidFill>
                <a:latin typeface="Arial" pitchFamily="34" charset="0"/>
                <a:ea typeface="Arial" pitchFamily="34" charset="-122"/>
                <a:cs typeface="Arial" pitchFamily="34" charset="-120"/>
              </a:rPr>
              <a:t>₱86,259 each</a:t>
            </a:r>
            <a:endParaRPr lang="en-US" sz="1500" dirty="0"/>
          </a:p>
        </p:txBody>
      </p:sp>
      <p:sp>
        <p:nvSpPr>
          <p:cNvPr id="31" name="Shape 29"/>
          <p:cNvSpPr/>
          <p:nvPr/>
        </p:nvSpPr>
        <p:spPr>
          <a:xfrm>
            <a:off x="6960486" y="3456432"/>
            <a:ext cx="4865449" cy="566928"/>
          </a:xfrm>
          <a:prstGeom prst="roundRect">
            <a:avLst>
              <a:gd name="adj" fmla="val 6452"/>
            </a:avLst>
          </a:prstGeom>
          <a:solidFill>
            <a:srgbClr val="F6F2EA"/>
          </a:solidFill>
          <a:ln w="12700">
            <a:solidFill>
              <a:srgbClr val="333333"/>
            </a:solidFill>
            <a:prstDash val="solid"/>
          </a:ln>
        </p:spPr>
      </p:sp>
      <p:sp>
        <p:nvSpPr>
          <p:cNvPr id="32" name="Text 30"/>
          <p:cNvSpPr txBox="1"/>
          <p:nvPr/>
        </p:nvSpPr>
        <p:spPr>
          <a:xfrm>
            <a:off x="7125078" y="3511296"/>
            <a:ext cx="1799876" cy="457200"/>
          </a:xfrm>
          <a:prstGeom prst="rect">
            <a:avLst/>
          </a:prstGeom>
          <a:noFill/>
          <a:ln/>
        </p:spPr>
        <p:txBody>
          <a:bodyPr wrap="square" lIns="0" tIns="0" rIns="0" bIns="0" rtlCol="0" anchor="ctr"/>
          <a:lstStyle/>
          <a:p>
            <a:pPr indent="0" marL="0">
              <a:buNone/>
            </a:pPr>
            <a:r>
              <a:rPr lang="en-US" sz="1500" b="1" dirty="0">
                <a:solidFill>
                  <a:srgbClr val="222834"/>
                </a:solidFill>
                <a:latin typeface="Arial" pitchFamily="34" charset="0"/>
                <a:ea typeface="Arial" pitchFamily="34" charset="-122"/>
                <a:cs typeface="Arial" pitchFamily="34" charset="-120"/>
              </a:rPr>
              <a:t>Blended</a:t>
            </a:r>
            <a:endParaRPr lang="en-US" sz="1500" dirty="0"/>
          </a:p>
        </p:txBody>
      </p:sp>
      <p:sp>
        <p:nvSpPr>
          <p:cNvPr id="33" name="Text 31"/>
          <p:cNvSpPr txBox="1"/>
          <p:nvPr/>
        </p:nvSpPr>
        <p:spPr>
          <a:xfrm>
            <a:off x="8834960" y="3511296"/>
            <a:ext cx="1259913" cy="457200"/>
          </a:xfrm>
          <a:prstGeom prst="rect">
            <a:avLst/>
          </a:prstGeom>
          <a:noFill/>
          <a:ln/>
        </p:spPr>
        <p:txBody>
          <a:bodyPr wrap="square" lIns="0" tIns="0" rIns="0" bIns="0" rtlCol="0" anchor="ctr"/>
          <a:lstStyle/>
          <a:p>
            <a:pPr indent="0" marL="0">
              <a:buNone/>
            </a:pPr>
            <a:r>
              <a:rPr lang="en-US" sz="1450" dirty="0">
                <a:solidFill>
                  <a:srgbClr val="858D9B"/>
                </a:solidFill>
                <a:latin typeface="Arial" pitchFamily="34" charset="0"/>
                <a:ea typeface="Arial" pitchFamily="34" charset="-122"/>
                <a:cs typeface="Arial" pitchFamily="34" charset="-120"/>
              </a:rPr>
              <a:t>289 a year</a:t>
            </a:r>
            <a:endParaRPr lang="en-US" sz="1450" dirty="0"/>
          </a:p>
        </p:txBody>
      </p:sp>
      <p:sp>
        <p:nvSpPr>
          <p:cNvPr id="34" name="Text 32"/>
          <p:cNvSpPr txBox="1"/>
          <p:nvPr/>
        </p:nvSpPr>
        <p:spPr>
          <a:xfrm>
            <a:off x="9644904" y="3511296"/>
            <a:ext cx="1889869" cy="457200"/>
          </a:xfrm>
          <a:prstGeom prst="rect">
            <a:avLst/>
          </a:prstGeom>
          <a:noFill/>
          <a:ln/>
        </p:spPr>
        <p:txBody>
          <a:bodyPr wrap="square" lIns="0" tIns="0" rIns="0" bIns="0" rtlCol="0" anchor="ctr"/>
          <a:lstStyle/>
          <a:p>
            <a:pPr algn="r" indent="0" marL="0">
              <a:buNone/>
            </a:pPr>
            <a:r>
              <a:rPr lang="en-US" sz="1500" b="1" dirty="0">
                <a:solidFill>
                  <a:srgbClr val="C00000"/>
                </a:solidFill>
                <a:latin typeface="Arial" pitchFamily="34" charset="0"/>
                <a:ea typeface="Arial" pitchFamily="34" charset="-122"/>
                <a:cs typeface="Arial" pitchFamily="34" charset="-120"/>
              </a:rPr>
              <a:t>₱43,593 each</a:t>
            </a:r>
            <a:endParaRPr lang="en-US" sz="1500" dirty="0"/>
          </a:p>
        </p:txBody>
      </p:sp>
      <p:sp>
        <p:nvSpPr>
          <p:cNvPr id="35" name="Shape 33"/>
          <p:cNvSpPr/>
          <p:nvPr/>
        </p:nvSpPr>
        <p:spPr>
          <a:xfrm>
            <a:off x="7125078" y="4224528"/>
            <a:ext cx="4499689" cy="0"/>
          </a:xfrm>
          <a:prstGeom prst="line">
            <a:avLst/>
          </a:prstGeom>
          <a:noFill/>
          <a:ln w="12700">
            <a:solidFill>
              <a:srgbClr val="E7E1D7"/>
            </a:solidFill>
            <a:prstDash val="solid"/>
          </a:ln>
        </p:spPr>
      </p:sp>
      <p:sp>
        <p:nvSpPr>
          <p:cNvPr id="36" name="Text 34"/>
          <p:cNvSpPr txBox="1"/>
          <p:nvPr/>
        </p:nvSpPr>
        <p:spPr>
          <a:xfrm>
            <a:off x="7125078" y="4352544"/>
            <a:ext cx="4499689" cy="274320"/>
          </a:xfrm>
          <a:prstGeom prst="rect">
            <a:avLst/>
          </a:prstGeom>
          <a:noFill/>
          <a:ln/>
        </p:spPr>
        <p:txBody>
          <a:bodyPr wrap="square" lIns="0" tIns="0" rIns="0" bIns="0" rtlCol="0" anchor="t"/>
          <a:lstStyle/>
          <a:p>
            <a:pPr indent="0" marL="0">
              <a:buNone/>
            </a:pPr>
            <a:r>
              <a:rPr lang="en-US" sz="1500" b="1" dirty="0">
                <a:solidFill>
                  <a:srgbClr val="222834"/>
                </a:solidFill>
                <a:latin typeface="Arial" pitchFamily="34" charset="0"/>
                <a:ea typeface="Arial" pitchFamily="34" charset="-122"/>
                <a:cs typeface="Arial" pitchFamily="34" charset="-120"/>
              </a:rPr>
              <a:t>Plus turnover we avoid</a:t>
            </a:r>
            <a:endParaRPr lang="en-US" sz="1500" dirty="0"/>
          </a:p>
        </p:txBody>
      </p:sp>
      <p:sp>
        <p:nvSpPr>
          <p:cNvPr id="37" name="Text 35"/>
          <p:cNvSpPr txBox="1"/>
          <p:nvPr/>
        </p:nvSpPr>
        <p:spPr>
          <a:xfrm>
            <a:off x="7125078" y="4645152"/>
            <a:ext cx="4499689" cy="731520"/>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15 points of excess attrition × ₱508,194 replacement cost = ₱76,229 for every person who gets the move.</a:t>
            </a:r>
            <a:endParaRPr lang="en-US" sz="1450" dirty="0"/>
          </a:p>
        </p:txBody>
      </p:sp>
      <p:sp>
        <p:nvSpPr>
          <p:cNvPr id="38" name="Shape 36"/>
          <p:cNvSpPr/>
          <p:nvPr/>
        </p:nvSpPr>
        <p:spPr>
          <a:xfrm>
            <a:off x="6978774" y="5413248"/>
            <a:ext cx="4682569" cy="658368"/>
          </a:xfrm>
          <a:prstGeom prst="roundRect">
            <a:avLst>
              <a:gd name="adj" fmla="val 5556"/>
            </a:avLst>
          </a:prstGeom>
          <a:solidFill>
            <a:srgbClr val="FDF0F0"/>
          </a:solidFill>
          <a:ln w="12700">
            <a:solidFill>
              <a:srgbClr val="333333"/>
            </a:solidFill>
            <a:prstDash val="solid"/>
          </a:ln>
        </p:spPr>
      </p:sp>
      <p:sp>
        <p:nvSpPr>
          <p:cNvPr id="39" name="Text 37"/>
          <p:cNvSpPr txBox="1"/>
          <p:nvPr/>
        </p:nvSpPr>
        <p:spPr>
          <a:xfrm>
            <a:off x="7125078" y="5413248"/>
            <a:ext cx="4499689" cy="658368"/>
          </a:xfrm>
          <a:prstGeom prst="rect">
            <a:avLst/>
          </a:prstGeom>
          <a:noFill/>
          <a:ln/>
        </p:spPr>
        <p:txBody>
          <a:bodyPr wrap="square" lIns="0" tIns="0" rIns="0" bIns="0" rtlCol="0" anchor="ctr"/>
          <a:lstStyle/>
          <a:p>
            <a:pPr indent="0" marL="0">
              <a:buNone/>
            </a:pPr>
            <a:r>
              <a:rPr lang="en-US" sz="2000" b="1" dirty="0">
                <a:solidFill>
                  <a:srgbClr val="C00000"/>
                </a:solidFill>
                <a:latin typeface="Arial" pitchFamily="34" charset="0"/>
                <a:ea typeface="Arial" pitchFamily="34" charset="-122"/>
                <a:cs typeface="Arial" pitchFamily="34" charset="-120"/>
              </a:rPr>
              <a:t>₱119,822  </a:t>
            </a:r>
            <a:pPr indent="0" marL="0">
              <a:buNone/>
            </a:pPr>
            <a:r>
              <a:rPr lang="en-US" sz="1450" dirty="0">
                <a:solidFill>
                  <a:srgbClr val="4B5363"/>
                </a:solidFill>
                <a:latin typeface="Arial" pitchFamily="34" charset="0"/>
                <a:ea typeface="Arial" pitchFamily="34" charset="-122"/>
                <a:cs typeface="Arial" pitchFamily="34" charset="-120"/>
              </a:rPr>
              <a:t>total, per extra internal fill</a:t>
            </a:r>
            <a:endParaRPr lang="en-US" sz="2000" dirty="0"/>
          </a:p>
        </p:txBody>
      </p:sp>
      <p:sp>
        <p:nvSpPr>
          <p:cNvPr id="40" name="Text 38"/>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APPENDIX</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The turnover line, and the number HR still owes us.</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The largest line in the case. Measured, derived and assumed, kept apart.</a:t>
            </a:r>
            <a:endParaRPr lang="en-US" sz="1600" dirty="0"/>
          </a:p>
        </p:txBody>
      </p:sp>
      <p:sp>
        <p:nvSpPr>
          <p:cNvPr id="6" name="Text 4"/>
          <p:cNvSpPr txBox="1"/>
          <p:nvPr/>
        </p:nvSpPr>
        <p:spPr>
          <a:xfrm>
            <a:off x="566928" y="1938528"/>
            <a:ext cx="5197184"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WHAT ₱508,194 IS</a:t>
            </a:r>
            <a:endParaRPr lang="en-US" sz="1400" dirty="0"/>
          </a:p>
        </p:txBody>
      </p:sp>
      <p:sp>
        <p:nvSpPr>
          <p:cNvPr id="7" name="Text 5"/>
          <p:cNvSpPr txBox="1"/>
          <p:nvPr/>
        </p:nvSpPr>
        <p:spPr>
          <a:xfrm>
            <a:off x="566928" y="2304288"/>
            <a:ext cx="2819744" cy="475488"/>
          </a:xfrm>
          <a:prstGeom prst="rect">
            <a:avLst/>
          </a:prstGeom>
          <a:noFill/>
          <a:ln/>
        </p:spPr>
        <p:txBody>
          <a:bodyPr wrap="square" lIns="0" tIns="0" rIns="0" bIns="0" rtlCol="0" anchor="ctr"/>
          <a:lstStyle/>
          <a:p>
            <a:pPr indent="0" marL="0">
              <a:lnSpc>
                <a:spcPts val="1900"/>
              </a:lnSpc>
              <a:buNone/>
            </a:pPr>
            <a:r>
              <a:rPr lang="en-US" sz="1450" dirty="0">
                <a:solidFill>
                  <a:srgbClr val="222834"/>
                </a:solidFill>
                <a:latin typeface="Arial" pitchFamily="34" charset="0"/>
                <a:ea typeface="Arial" pitchFamily="34" charset="-122"/>
                <a:cs typeface="Arial" pitchFamily="34" charset="-120"/>
              </a:rPr>
              <a:t>Band B average monthly basic</a:t>
            </a:r>
            <a:endParaRPr lang="en-US" sz="1450" dirty="0"/>
          </a:p>
        </p:txBody>
      </p:sp>
      <p:sp>
        <p:nvSpPr>
          <p:cNvPr id="8" name="Text 6"/>
          <p:cNvSpPr txBox="1"/>
          <p:nvPr/>
        </p:nvSpPr>
        <p:spPr>
          <a:xfrm>
            <a:off x="3368384" y="2304288"/>
            <a:ext cx="1280160" cy="475488"/>
          </a:xfrm>
          <a:prstGeom prst="rect">
            <a:avLst/>
          </a:prstGeom>
          <a:noFill/>
          <a:ln/>
        </p:spPr>
        <p:txBody>
          <a:bodyPr wrap="square" lIns="0" tIns="0" rIns="0" bIns="0" rtlCol="0" anchor="ctr"/>
          <a:lstStyle/>
          <a:p>
            <a:pPr algn="r" indent="0" marL="0">
              <a:buNone/>
            </a:pPr>
            <a:r>
              <a:rPr lang="en-US" sz="1550" b="1" dirty="0">
                <a:solidFill>
                  <a:srgbClr val="222834"/>
                </a:solidFill>
                <a:latin typeface="Arial" pitchFamily="34" charset="0"/>
                <a:ea typeface="Arial" pitchFamily="34" charset="-122"/>
                <a:cs typeface="Arial" pitchFamily="34" charset="-120"/>
              </a:rPr>
              <a:t>₱36,333.85</a:t>
            </a:r>
            <a:endParaRPr lang="en-US" sz="1550" dirty="0"/>
          </a:p>
        </p:txBody>
      </p:sp>
      <p:sp>
        <p:nvSpPr>
          <p:cNvPr id="9" name="Text 7"/>
          <p:cNvSpPr txBox="1"/>
          <p:nvPr/>
        </p:nvSpPr>
        <p:spPr>
          <a:xfrm>
            <a:off x="4703408" y="2304288"/>
            <a:ext cx="1060704" cy="475488"/>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Payroll</a:t>
            </a:r>
            <a:endParaRPr lang="en-US" sz="1400" dirty="0"/>
          </a:p>
        </p:txBody>
      </p:sp>
      <p:sp>
        <p:nvSpPr>
          <p:cNvPr id="10" name="Shape 8"/>
          <p:cNvSpPr/>
          <p:nvPr/>
        </p:nvSpPr>
        <p:spPr>
          <a:xfrm>
            <a:off x="566928" y="2798064"/>
            <a:ext cx="5197184" cy="0"/>
          </a:xfrm>
          <a:prstGeom prst="line">
            <a:avLst/>
          </a:prstGeom>
          <a:noFill/>
          <a:ln w="12700">
            <a:solidFill>
              <a:srgbClr val="E7E1D7"/>
            </a:solidFill>
            <a:prstDash val="solid"/>
          </a:ln>
        </p:spPr>
      </p:sp>
      <p:sp>
        <p:nvSpPr>
          <p:cNvPr id="11" name="Text 9"/>
          <p:cNvSpPr txBox="1"/>
          <p:nvPr/>
        </p:nvSpPr>
        <p:spPr>
          <a:xfrm>
            <a:off x="566928" y="2871216"/>
            <a:ext cx="2819744" cy="475488"/>
          </a:xfrm>
          <a:prstGeom prst="rect">
            <a:avLst/>
          </a:prstGeom>
          <a:noFill/>
          <a:ln/>
        </p:spPr>
        <p:txBody>
          <a:bodyPr wrap="square" lIns="0" tIns="0" rIns="0" bIns="0" rtlCol="0" anchor="ctr"/>
          <a:lstStyle/>
          <a:p>
            <a:pPr indent="0" marL="0">
              <a:lnSpc>
                <a:spcPts val="1900"/>
              </a:lnSpc>
              <a:buNone/>
            </a:pPr>
            <a:r>
              <a:rPr lang="en-US" sz="1450" dirty="0">
                <a:solidFill>
                  <a:srgbClr val="222834"/>
                </a:solidFill>
                <a:latin typeface="Arial" pitchFamily="34" charset="0"/>
                <a:ea typeface="Arial" pitchFamily="34" charset="-122"/>
                <a:cs typeface="Arial" pitchFamily="34" charset="-120"/>
              </a:rPr>
              <a:t>Band C average monthly basic</a:t>
            </a:r>
            <a:endParaRPr lang="en-US" sz="1450" dirty="0"/>
          </a:p>
        </p:txBody>
      </p:sp>
      <p:sp>
        <p:nvSpPr>
          <p:cNvPr id="12" name="Text 10"/>
          <p:cNvSpPr txBox="1"/>
          <p:nvPr/>
        </p:nvSpPr>
        <p:spPr>
          <a:xfrm>
            <a:off x="3368384" y="2871216"/>
            <a:ext cx="1280160" cy="475488"/>
          </a:xfrm>
          <a:prstGeom prst="rect">
            <a:avLst/>
          </a:prstGeom>
          <a:noFill/>
          <a:ln/>
        </p:spPr>
        <p:txBody>
          <a:bodyPr wrap="square" lIns="0" tIns="0" rIns="0" bIns="0" rtlCol="0" anchor="ctr"/>
          <a:lstStyle/>
          <a:p>
            <a:pPr algn="r" indent="0" marL="0">
              <a:buNone/>
            </a:pPr>
            <a:r>
              <a:rPr lang="en-US" sz="1550" b="1" dirty="0">
                <a:solidFill>
                  <a:srgbClr val="222834"/>
                </a:solidFill>
                <a:latin typeface="Arial" pitchFamily="34" charset="0"/>
                <a:ea typeface="Arial" pitchFamily="34" charset="-122"/>
                <a:cs typeface="Arial" pitchFamily="34" charset="-120"/>
              </a:rPr>
              <a:t>₱92,821.09</a:t>
            </a:r>
            <a:endParaRPr lang="en-US" sz="1550" dirty="0"/>
          </a:p>
        </p:txBody>
      </p:sp>
      <p:sp>
        <p:nvSpPr>
          <p:cNvPr id="13" name="Text 11"/>
          <p:cNvSpPr txBox="1"/>
          <p:nvPr/>
        </p:nvSpPr>
        <p:spPr>
          <a:xfrm>
            <a:off x="4703408" y="2871216"/>
            <a:ext cx="1060704" cy="475488"/>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Payroll</a:t>
            </a:r>
            <a:endParaRPr lang="en-US" sz="1400" dirty="0"/>
          </a:p>
        </p:txBody>
      </p:sp>
      <p:sp>
        <p:nvSpPr>
          <p:cNvPr id="14" name="Shape 12"/>
          <p:cNvSpPr/>
          <p:nvPr/>
        </p:nvSpPr>
        <p:spPr>
          <a:xfrm>
            <a:off x="566928" y="3364992"/>
            <a:ext cx="5197184" cy="0"/>
          </a:xfrm>
          <a:prstGeom prst="line">
            <a:avLst/>
          </a:prstGeom>
          <a:noFill/>
          <a:ln w="12700">
            <a:solidFill>
              <a:srgbClr val="E7E1D7"/>
            </a:solidFill>
            <a:prstDash val="solid"/>
          </a:ln>
        </p:spPr>
      </p:sp>
      <p:sp>
        <p:nvSpPr>
          <p:cNvPr id="15" name="Text 13"/>
          <p:cNvSpPr txBox="1"/>
          <p:nvPr/>
        </p:nvSpPr>
        <p:spPr>
          <a:xfrm>
            <a:off x="566928" y="3438144"/>
            <a:ext cx="2819744" cy="475488"/>
          </a:xfrm>
          <a:prstGeom prst="rect">
            <a:avLst/>
          </a:prstGeom>
          <a:noFill/>
          <a:ln/>
        </p:spPr>
        <p:txBody>
          <a:bodyPr wrap="square" lIns="0" tIns="0" rIns="0" bIns="0" rtlCol="0" anchor="ctr"/>
          <a:lstStyle/>
          <a:p>
            <a:pPr indent="0" marL="0">
              <a:lnSpc>
                <a:spcPts val="1900"/>
              </a:lnSpc>
              <a:buNone/>
            </a:pPr>
            <a:r>
              <a:rPr lang="en-US" sz="1450" dirty="0">
                <a:solidFill>
                  <a:srgbClr val="222834"/>
                </a:solidFill>
                <a:latin typeface="Arial" pitchFamily="34" charset="0"/>
                <a:ea typeface="Arial" pitchFamily="34" charset="-122"/>
                <a:cs typeface="Arial" pitchFamily="34" charset="-120"/>
              </a:rPr>
              <a:t>Blended on 186 B / 103 C hires</a:t>
            </a:r>
            <a:endParaRPr lang="en-US" sz="1450" dirty="0"/>
          </a:p>
        </p:txBody>
      </p:sp>
      <p:sp>
        <p:nvSpPr>
          <p:cNvPr id="16" name="Text 14"/>
          <p:cNvSpPr txBox="1"/>
          <p:nvPr/>
        </p:nvSpPr>
        <p:spPr>
          <a:xfrm>
            <a:off x="3368384" y="3438144"/>
            <a:ext cx="1280160" cy="475488"/>
          </a:xfrm>
          <a:prstGeom prst="rect">
            <a:avLst/>
          </a:prstGeom>
          <a:noFill/>
          <a:ln/>
        </p:spPr>
        <p:txBody>
          <a:bodyPr wrap="square" lIns="0" tIns="0" rIns="0" bIns="0" rtlCol="0" anchor="ctr"/>
          <a:lstStyle/>
          <a:p>
            <a:pPr algn="r" indent="0" marL="0">
              <a:buNone/>
            </a:pPr>
            <a:r>
              <a:rPr lang="en-US" sz="1550" b="1" dirty="0">
                <a:solidFill>
                  <a:srgbClr val="222834"/>
                </a:solidFill>
                <a:latin typeface="Arial" pitchFamily="34" charset="0"/>
                <a:ea typeface="Arial" pitchFamily="34" charset="-122"/>
                <a:cs typeface="Arial" pitchFamily="34" charset="-120"/>
              </a:rPr>
              <a:t>₱56,465.98</a:t>
            </a:r>
            <a:endParaRPr lang="en-US" sz="1550" dirty="0"/>
          </a:p>
        </p:txBody>
      </p:sp>
      <p:sp>
        <p:nvSpPr>
          <p:cNvPr id="17" name="Text 15"/>
          <p:cNvSpPr txBox="1"/>
          <p:nvPr/>
        </p:nvSpPr>
        <p:spPr>
          <a:xfrm>
            <a:off x="4703408" y="3438144"/>
            <a:ext cx="1060704" cy="475488"/>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2025 mix</a:t>
            </a:r>
            <a:endParaRPr lang="en-US" sz="1400" dirty="0"/>
          </a:p>
        </p:txBody>
      </p:sp>
      <p:sp>
        <p:nvSpPr>
          <p:cNvPr id="18" name="Shape 16"/>
          <p:cNvSpPr/>
          <p:nvPr/>
        </p:nvSpPr>
        <p:spPr>
          <a:xfrm>
            <a:off x="566928" y="3931920"/>
            <a:ext cx="5197184" cy="0"/>
          </a:xfrm>
          <a:prstGeom prst="line">
            <a:avLst/>
          </a:prstGeom>
          <a:noFill/>
          <a:ln w="12700">
            <a:solidFill>
              <a:srgbClr val="E7E1D7"/>
            </a:solidFill>
            <a:prstDash val="solid"/>
          </a:ln>
        </p:spPr>
      </p:sp>
      <p:sp>
        <p:nvSpPr>
          <p:cNvPr id="19" name="Text 17"/>
          <p:cNvSpPr txBox="1"/>
          <p:nvPr/>
        </p:nvSpPr>
        <p:spPr>
          <a:xfrm>
            <a:off x="566928" y="4005072"/>
            <a:ext cx="2819744" cy="475488"/>
          </a:xfrm>
          <a:prstGeom prst="rect">
            <a:avLst/>
          </a:prstGeom>
          <a:noFill/>
          <a:ln/>
        </p:spPr>
        <p:txBody>
          <a:bodyPr wrap="square" lIns="0" tIns="0" rIns="0" bIns="0" rtlCol="0" anchor="ctr"/>
          <a:lstStyle/>
          <a:p>
            <a:pPr indent="0" marL="0">
              <a:lnSpc>
                <a:spcPts val="1900"/>
              </a:lnSpc>
              <a:buNone/>
            </a:pPr>
            <a:r>
              <a:rPr lang="en-US" sz="1450" dirty="0">
                <a:solidFill>
                  <a:srgbClr val="222834"/>
                </a:solidFill>
                <a:latin typeface="Arial" pitchFamily="34" charset="0"/>
                <a:ea typeface="Arial" pitchFamily="34" charset="-122"/>
                <a:cs typeface="Arial" pitchFamily="34" charset="-120"/>
              </a:rPr>
              <a:t>Annualised ×12, basic only</a:t>
            </a:r>
            <a:endParaRPr lang="en-US" sz="1450" dirty="0"/>
          </a:p>
        </p:txBody>
      </p:sp>
      <p:sp>
        <p:nvSpPr>
          <p:cNvPr id="20" name="Text 18"/>
          <p:cNvSpPr txBox="1"/>
          <p:nvPr/>
        </p:nvSpPr>
        <p:spPr>
          <a:xfrm>
            <a:off x="3368384" y="4005072"/>
            <a:ext cx="1280160" cy="475488"/>
          </a:xfrm>
          <a:prstGeom prst="rect">
            <a:avLst/>
          </a:prstGeom>
          <a:noFill/>
          <a:ln/>
        </p:spPr>
        <p:txBody>
          <a:bodyPr wrap="square" lIns="0" tIns="0" rIns="0" bIns="0" rtlCol="0" anchor="ctr"/>
          <a:lstStyle/>
          <a:p>
            <a:pPr algn="r" indent="0" marL="0">
              <a:buNone/>
            </a:pPr>
            <a:r>
              <a:rPr lang="en-US" sz="1550" b="1" dirty="0">
                <a:solidFill>
                  <a:srgbClr val="222834"/>
                </a:solidFill>
                <a:latin typeface="Arial" pitchFamily="34" charset="0"/>
                <a:ea typeface="Arial" pitchFamily="34" charset="-122"/>
                <a:cs typeface="Arial" pitchFamily="34" charset="-120"/>
              </a:rPr>
              <a:t>₱677,592</a:t>
            </a:r>
            <a:endParaRPr lang="en-US" sz="1550" dirty="0"/>
          </a:p>
        </p:txBody>
      </p:sp>
      <p:sp>
        <p:nvSpPr>
          <p:cNvPr id="21" name="Text 19"/>
          <p:cNvSpPr txBox="1"/>
          <p:nvPr/>
        </p:nvSpPr>
        <p:spPr>
          <a:xfrm>
            <a:off x="4703408" y="4005072"/>
            <a:ext cx="1060704" cy="475488"/>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a year</a:t>
            </a:r>
            <a:endParaRPr lang="en-US" sz="1400" dirty="0"/>
          </a:p>
        </p:txBody>
      </p:sp>
      <p:sp>
        <p:nvSpPr>
          <p:cNvPr id="22" name="Shape 20"/>
          <p:cNvSpPr/>
          <p:nvPr/>
        </p:nvSpPr>
        <p:spPr>
          <a:xfrm>
            <a:off x="566928" y="4498848"/>
            <a:ext cx="5197184" cy="0"/>
          </a:xfrm>
          <a:prstGeom prst="line">
            <a:avLst/>
          </a:prstGeom>
          <a:noFill/>
          <a:ln w="12700">
            <a:solidFill>
              <a:srgbClr val="E7E1D7"/>
            </a:solidFill>
            <a:prstDash val="solid"/>
          </a:ln>
        </p:spPr>
      </p:sp>
      <p:sp>
        <p:nvSpPr>
          <p:cNvPr id="23" name="Shape 21"/>
          <p:cNvSpPr/>
          <p:nvPr/>
        </p:nvSpPr>
        <p:spPr>
          <a:xfrm>
            <a:off x="438912" y="4526280"/>
            <a:ext cx="5453216" cy="566928"/>
          </a:xfrm>
          <a:prstGeom prst="roundRect">
            <a:avLst>
              <a:gd name="adj" fmla="val 6452"/>
            </a:avLst>
          </a:prstGeom>
          <a:solidFill>
            <a:srgbClr val="FDF0F0"/>
          </a:solidFill>
          <a:ln w="12700">
            <a:solidFill>
              <a:srgbClr val="333333"/>
            </a:solidFill>
            <a:prstDash val="solid"/>
          </a:ln>
        </p:spPr>
      </p:sp>
      <p:sp>
        <p:nvSpPr>
          <p:cNvPr id="24" name="Text 22"/>
          <p:cNvSpPr txBox="1"/>
          <p:nvPr/>
        </p:nvSpPr>
        <p:spPr>
          <a:xfrm>
            <a:off x="566928" y="4572000"/>
            <a:ext cx="2819744" cy="475488"/>
          </a:xfrm>
          <a:prstGeom prst="rect">
            <a:avLst/>
          </a:prstGeom>
          <a:noFill/>
          <a:ln/>
        </p:spPr>
        <p:txBody>
          <a:bodyPr wrap="square" lIns="0" tIns="0" rIns="0" bIns="0" rtlCol="0" anchor="ctr"/>
          <a:lstStyle/>
          <a:p>
            <a:pPr indent="0" marL="0">
              <a:lnSpc>
                <a:spcPts val="1900"/>
              </a:lnSpc>
              <a:buNone/>
            </a:pPr>
            <a:r>
              <a:rPr lang="en-US" sz="1450" b="1" dirty="0">
                <a:solidFill>
                  <a:srgbClr val="222834"/>
                </a:solidFill>
                <a:latin typeface="Arial" pitchFamily="34" charset="0"/>
                <a:ea typeface="Arial" pitchFamily="34" charset="-122"/>
                <a:cs typeface="Arial" pitchFamily="34" charset="-120"/>
              </a:rPr>
              <a:t>Replacement at 75% of that</a:t>
            </a:r>
            <a:endParaRPr lang="en-US" sz="1450" dirty="0"/>
          </a:p>
        </p:txBody>
      </p:sp>
      <p:sp>
        <p:nvSpPr>
          <p:cNvPr id="25" name="Text 23"/>
          <p:cNvSpPr txBox="1"/>
          <p:nvPr/>
        </p:nvSpPr>
        <p:spPr>
          <a:xfrm>
            <a:off x="3368384" y="4572000"/>
            <a:ext cx="1280160" cy="475488"/>
          </a:xfrm>
          <a:prstGeom prst="rect">
            <a:avLst/>
          </a:prstGeom>
          <a:noFill/>
          <a:ln/>
        </p:spPr>
        <p:txBody>
          <a:bodyPr wrap="square" lIns="0" tIns="0" rIns="0" bIns="0" rtlCol="0" anchor="ctr"/>
          <a:lstStyle/>
          <a:p>
            <a:pPr algn="r" indent="0" marL="0">
              <a:buNone/>
            </a:pPr>
            <a:r>
              <a:rPr lang="en-US" sz="1550" b="1" dirty="0">
                <a:solidFill>
                  <a:srgbClr val="C00000"/>
                </a:solidFill>
                <a:latin typeface="Arial" pitchFamily="34" charset="0"/>
                <a:ea typeface="Arial" pitchFamily="34" charset="-122"/>
                <a:cs typeface="Arial" pitchFamily="34" charset="-120"/>
              </a:rPr>
              <a:t>₱508,194</a:t>
            </a:r>
            <a:endParaRPr lang="en-US" sz="1550" dirty="0"/>
          </a:p>
        </p:txBody>
      </p:sp>
      <p:sp>
        <p:nvSpPr>
          <p:cNvPr id="26" name="Text 24"/>
          <p:cNvSpPr txBox="1"/>
          <p:nvPr/>
        </p:nvSpPr>
        <p:spPr>
          <a:xfrm>
            <a:off x="4703408" y="4572000"/>
            <a:ext cx="1060704" cy="475488"/>
          </a:xfrm>
          <a:prstGeom prst="rect">
            <a:avLst/>
          </a:prstGeom>
          <a:noFill/>
          <a:ln/>
        </p:spPr>
        <p:txBody>
          <a:bodyPr wrap="square" lIns="0" tIns="0" rIns="0" bIns="0" rtlCol="0" anchor="ctr"/>
          <a:lstStyle/>
          <a:p>
            <a:pPr algn="r" indent="0" marL="0">
              <a:buNone/>
            </a:pPr>
            <a:r>
              <a:rPr lang="en-US" sz="1400" dirty="0">
                <a:solidFill>
                  <a:srgbClr val="858D9B"/>
                </a:solidFill>
                <a:latin typeface="Arial" pitchFamily="34" charset="0"/>
                <a:ea typeface="Arial" pitchFamily="34" charset="-122"/>
                <a:cs typeface="Arial" pitchFamily="34" charset="-120"/>
              </a:rPr>
              <a:t>assumed</a:t>
            </a:r>
            <a:endParaRPr lang="en-US" sz="1400" dirty="0"/>
          </a:p>
        </p:txBody>
      </p:sp>
      <p:sp>
        <p:nvSpPr>
          <p:cNvPr id="27" name="Shape 25"/>
          <p:cNvSpPr/>
          <p:nvPr/>
        </p:nvSpPr>
        <p:spPr>
          <a:xfrm>
            <a:off x="566928" y="5285232"/>
            <a:ext cx="5197184" cy="1005840"/>
          </a:xfrm>
          <a:prstGeom prst="roundRect">
            <a:avLst>
              <a:gd name="adj" fmla="val 3636"/>
            </a:avLst>
          </a:prstGeom>
          <a:solidFill>
            <a:srgbClr val="F6F2EA"/>
          </a:solidFill>
          <a:ln w="12700">
            <a:solidFill>
              <a:srgbClr val="333333"/>
            </a:solidFill>
            <a:prstDash val="solid"/>
          </a:ln>
        </p:spPr>
      </p:sp>
      <p:sp>
        <p:nvSpPr>
          <p:cNvPr id="28" name="Text 26"/>
          <p:cNvSpPr txBox="1"/>
          <p:nvPr/>
        </p:nvSpPr>
        <p:spPr>
          <a:xfrm>
            <a:off x="822960" y="5285232"/>
            <a:ext cx="4685120" cy="1005840"/>
          </a:xfrm>
          <a:prstGeom prst="rect">
            <a:avLst/>
          </a:prstGeom>
          <a:noFill/>
          <a:ln/>
        </p:spPr>
        <p:txBody>
          <a:bodyPr wrap="square" lIns="0" tIns="0" rIns="0" bIns="0" rtlCol="0" anchor="ctr"/>
          <a:lstStyle/>
          <a:p>
            <a:pPr indent="0" marL="0">
              <a:lnSpc>
                <a:spcPts val="1900"/>
              </a:lnSpc>
              <a:buNone/>
            </a:pPr>
            <a:r>
              <a:rPr lang="en-US" sz="1450" b="1" dirty="0">
                <a:solidFill>
                  <a:srgbClr val="222834"/>
                </a:solidFill>
                <a:latin typeface="Arial" pitchFamily="34" charset="0"/>
                <a:ea typeface="Arial" pitchFamily="34" charset="-122"/>
                <a:cs typeface="Arial" pitchFamily="34" charset="-120"/>
              </a:rPr>
              <a:t>The 75% is not a Home Credit figure. </a:t>
            </a:r>
            <a:pPr indent="0" marL="0">
              <a:lnSpc>
                <a:spcPts val="1900"/>
              </a:lnSpc>
              <a:buNone/>
            </a:pPr>
            <a:r>
              <a:rPr lang="en-US" sz="1450" dirty="0">
                <a:solidFill>
                  <a:srgbClr val="4B5363"/>
                </a:solidFill>
                <a:latin typeface="Arial" pitchFamily="34" charset="0"/>
                <a:ea typeface="Arial" pitchFamily="34" charset="-122"/>
                <a:cs typeface="Arial" pitchFamily="34" charset="-120"/>
              </a:rPr>
              <a:t>Published ranges run 50–200% of salary by level. 75% of basic is at the low end, and basic excludes the 13th month.</a:t>
            </a:r>
            <a:endParaRPr lang="en-US" sz="1450" dirty="0"/>
          </a:p>
        </p:txBody>
      </p:sp>
      <p:sp>
        <p:nvSpPr>
          <p:cNvPr id="29" name="Text 27"/>
          <p:cNvSpPr txBox="1"/>
          <p:nvPr/>
        </p:nvSpPr>
        <p:spPr>
          <a:xfrm>
            <a:off x="6148160" y="1938528"/>
            <a:ext cx="5476607" cy="237744"/>
          </a:xfrm>
          <a:prstGeom prst="rect">
            <a:avLst/>
          </a:prstGeom>
          <a:noFill/>
          <a:ln/>
        </p:spPr>
        <p:txBody>
          <a:bodyPr wrap="square" lIns="0" tIns="0" rIns="0" bIns="0" rtlCol="0" anchor="ctr"/>
          <a:lstStyle/>
          <a:p>
            <a:pPr indent="0" marL="0">
              <a:buNone/>
            </a:pPr>
            <a:r>
              <a:rPr lang="en-US" sz="1400" b="1" spc="140" kern="0" dirty="0">
                <a:solidFill>
                  <a:srgbClr val="9E6B12"/>
                </a:solidFill>
                <a:latin typeface="Arial" pitchFamily="34" charset="0"/>
                <a:ea typeface="Arial" pitchFamily="34" charset="-122"/>
                <a:cs typeface="Arial" pitchFamily="34" charset="-120"/>
              </a:rPr>
              <a:t>THE COMPARATOR WE DO NOT YET HAVE</a:t>
            </a:r>
            <a:endParaRPr lang="en-US" sz="1400" dirty="0"/>
          </a:p>
        </p:txBody>
      </p:sp>
      <p:sp>
        <p:nvSpPr>
          <p:cNvPr id="30" name="Text 28"/>
          <p:cNvSpPr txBox="1"/>
          <p:nvPr/>
        </p:nvSpPr>
        <p:spPr>
          <a:xfrm>
            <a:off x="6148160" y="2267712"/>
            <a:ext cx="5476607" cy="786384"/>
          </a:xfrm>
          <a:prstGeom prst="rect">
            <a:avLst/>
          </a:prstGeom>
          <a:noFill/>
          <a:ln/>
        </p:spPr>
        <p:txBody>
          <a:bodyPr wrap="square" lIns="0" tIns="0" rIns="0" bIns="0" rtlCol="0" anchor="t"/>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43% of the 2025 turned-down cohort has left. Against what? Earlier drafts used 19%, which traced to a placeholder tile in the v1 prototype, not to Payroll. It is withdrawn.</a:t>
            </a:r>
            <a:endParaRPr lang="en-US" sz="1450" dirty="0"/>
          </a:p>
        </p:txBody>
      </p:sp>
      <p:sp>
        <p:nvSpPr>
          <p:cNvPr id="31" name="Text 29"/>
          <p:cNvSpPr txBox="1"/>
          <p:nvPr/>
        </p:nvSpPr>
        <p:spPr>
          <a:xfrm>
            <a:off x="6148160" y="3108960"/>
            <a:ext cx="5476607" cy="548640"/>
          </a:xfrm>
          <a:prstGeom prst="rect">
            <a:avLst/>
          </a:prstGeom>
          <a:noFill/>
          <a:ln/>
        </p:spPr>
        <p:txBody>
          <a:bodyPr wrap="square" lIns="0" tIns="0" rIns="0" bIns="0" rtlCol="0" anchor="t"/>
          <a:lstStyle/>
          <a:p>
            <a:pPr indent="0" marL="0">
              <a:lnSpc>
                <a:spcPts val="1900"/>
              </a:lnSpc>
              <a:buNone/>
            </a:pPr>
            <a:r>
              <a:rPr lang="en-US" sz="1450" b="1" dirty="0">
                <a:solidFill>
                  <a:srgbClr val="222834"/>
                </a:solidFill>
                <a:latin typeface="Arial" pitchFamily="34" charset="0"/>
                <a:ea typeface="Arial" pitchFamily="34" charset="-122"/>
                <a:cs typeface="Arial" pitchFamily="34" charset="-120"/>
              </a:rPr>
              <a:t>THE ASK: band B and C non-mass attrition, 2025. Not the company rate — mass operations would drag it up.</a:t>
            </a:r>
            <a:endParaRPr lang="en-US" sz="14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148160" y="3840480"/>
          <a:ext cx="5476607" cy="914400"/>
        </p:xfrm>
        <a:graphic>
          <a:graphicData uri="http://schemas.openxmlformats.org/drawingml/2006/table">
            <a:tbl>
              <a:tblPr/>
              <a:tblGrid>
                <a:gridCol w="1591056"/>
                <a:gridCol w="868680"/>
                <a:gridCol w="1243584"/>
                <a:gridCol w="731520"/>
                <a:gridCol w="841248"/>
              </a:tblGrid>
              <a:tr h="274320">
                <a:tc>
                  <a:txBody>
                    <a:bodyPr/>
                    <a:lstStyle/>
                    <a:p>
                      <a:pPr indent="0" marL="0">
                        <a:buNone/>
                      </a:pPr>
                      <a:r>
                        <a:rPr lang="en-US" sz="1400" b="1" dirty="0">
                          <a:solidFill>
                            <a:srgbClr val="858D9B"/>
                          </a:solidFill>
                          <a:latin typeface="Arial" pitchFamily="34" charset="0"/>
                          <a:ea typeface="Arial" pitchFamily="34" charset="-122"/>
                          <a:cs typeface="Arial" pitchFamily="34" charset="-120"/>
                        </a:rPr>
                        <a:t>comparator</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858D9B"/>
                          </a:solidFill>
                          <a:latin typeface="Arial" pitchFamily="34" charset="0"/>
                          <a:ea typeface="Arial" pitchFamily="34" charset="-122"/>
                          <a:cs typeface="Arial" pitchFamily="34" charset="-120"/>
                        </a:rPr>
                        <a:t>excess</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858D9B"/>
                          </a:solidFill>
                          <a:latin typeface="Arial" pitchFamily="34" charset="0"/>
                          <a:ea typeface="Arial" pitchFamily="34" charset="-122"/>
                          <a:cs typeface="Arial" pitchFamily="34" charset="-120"/>
                        </a:rPr>
                        <a:t>per fill</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858D9B"/>
                          </a:solidFill>
                          <a:latin typeface="Arial" pitchFamily="34" charset="0"/>
                          <a:ea typeface="Arial" pitchFamily="34" charset="-122"/>
                          <a:cs typeface="Arial" pitchFamily="34" charset="-120"/>
                        </a:rPr>
                        <a:t>floor</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858D9B"/>
                          </a:solidFill>
                          <a:latin typeface="Arial" pitchFamily="34" charset="0"/>
                          <a:ea typeface="Arial" pitchFamily="34" charset="-122"/>
                          <a:cs typeface="Arial" pitchFamily="34" charset="-120"/>
                        </a:rPr>
                        <a:t>exp.</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274320">
                <a:tc>
                  <a:txBody>
                    <a:bodyPr/>
                    <a:lstStyle/>
                    <a:p>
                      <a:pPr indent="0" marL="0">
                        <a:buNone/>
                      </a:pPr>
                      <a:r>
                        <a:rPr lang="en-US" sz="1400" dirty="0">
                          <a:solidFill>
                            <a:srgbClr val="4B5363"/>
                          </a:solidFill>
                          <a:latin typeface="Arial" pitchFamily="34" charset="0"/>
                          <a:ea typeface="Arial" pitchFamily="34" charset="-122"/>
                          <a:cs typeface="Arial" pitchFamily="34" charset="-120"/>
                        </a:rPr>
                        <a:t>20%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23 pt</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₱161,919</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1.5</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5.0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274320">
                <a:tc>
                  <a:txBody>
                    <a:bodyPr/>
                    <a:lstStyle/>
                    <a:p>
                      <a:pPr indent="0" marL="0">
                        <a:buNone/>
                      </a:pPr>
                      <a:r>
                        <a:rPr lang="en-US" sz="1400" dirty="0">
                          <a:solidFill>
                            <a:srgbClr val="4B5363"/>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18 pt</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₱136,509</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1.3</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4.8</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274320">
                <a:tc>
                  <a:txBody>
                    <a:bodyPr/>
                    <a:lstStyle/>
                    <a:p>
                      <a:pPr indent="0" marL="0">
                        <a:buNone/>
                      </a:pPr>
                      <a:r>
                        <a:rPr lang="en-US" sz="1400" b="1" dirty="0">
                          <a:solidFill>
                            <a:srgbClr val="222834"/>
                          </a:solidFill>
                          <a:latin typeface="Arial" pitchFamily="34" charset="0"/>
                          <a:ea typeface="Arial" pitchFamily="34" charset="-122"/>
                          <a:cs typeface="Arial" pitchFamily="34" charset="-120"/>
                        </a:rPr>
                        <a:t>28%  modelled</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4B5363"/>
                          </a:solidFill>
                          <a:latin typeface="Arial" pitchFamily="34" charset="0"/>
                          <a:ea typeface="Arial" pitchFamily="34" charset="-122"/>
                          <a:cs typeface="Arial" pitchFamily="34" charset="-120"/>
                        </a:rPr>
                        <a:t>15 pt</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4B5363"/>
                          </a:solidFill>
                          <a:latin typeface="Arial" pitchFamily="34" charset="0"/>
                          <a:ea typeface="Arial" pitchFamily="34" charset="-122"/>
                          <a:cs typeface="Arial" pitchFamily="34" charset="-120"/>
                        </a:rPr>
                        <a:t>₱121,263</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C00000"/>
                          </a:solidFill>
                          <a:latin typeface="Arial" pitchFamily="34" charset="0"/>
                          <a:ea typeface="Arial" pitchFamily="34" charset="-122"/>
                          <a:cs typeface="Arial" pitchFamily="34" charset="-120"/>
                        </a:rPr>
                        <a:t>1.1</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b="1" dirty="0">
                          <a:solidFill>
                            <a:srgbClr val="0E7C66"/>
                          </a:solidFill>
                          <a:latin typeface="Arial" pitchFamily="34" charset="0"/>
                          <a:ea typeface="Arial" pitchFamily="34" charset="-122"/>
                          <a:cs typeface="Arial" pitchFamily="34" charset="-120"/>
                        </a:rPr>
                        <a:t>4.6</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274320">
                <a:tc>
                  <a:txBody>
                    <a:bodyPr/>
                    <a:lstStyle/>
                    <a:p>
                      <a:pPr indent="0" marL="0">
                        <a:buNone/>
                      </a:pPr>
                      <a:r>
                        <a:rPr lang="en-US" sz="1400" dirty="0">
                          <a:solidFill>
                            <a:srgbClr val="4B5363"/>
                          </a:solidFill>
                          <a:latin typeface="Arial" pitchFamily="34" charset="0"/>
                          <a:ea typeface="Arial" pitchFamily="34" charset="-122"/>
                          <a:cs typeface="Arial" pitchFamily="34" charset="-120"/>
                        </a:rPr>
                        <a:t>30%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13 pt</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₱111,100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1.0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4.5</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r h="274320">
                <a:tc>
                  <a:txBody>
                    <a:bodyPr/>
                    <a:lstStyle/>
                    <a:p>
                      <a:pPr indent="0" marL="0">
                        <a:buNone/>
                      </a:pPr>
                      <a:r>
                        <a:rPr lang="en-US" sz="1400" dirty="0">
                          <a:solidFill>
                            <a:srgbClr val="4B5363"/>
                          </a:solidFill>
                          <a:latin typeface="Arial" pitchFamily="34" charset="0"/>
                          <a:ea typeface="Arial" pitchFamily="34" charset="-122"/>
                          <a:cs typeface="Arial" pitchFamily="34" charset="-120"/>
                        </a:rPr>
                        <a:t>35%</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8 pt</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₱85,690</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0.8</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c>
                  <a:txBody>
                    <a:bodyPr/>
                    <a:lstStyle/>
                    <a:p>
                      <a:pPr algn="r" indent="0" marL="0">
                        <a:buNone/>
                      </a:pPr>
                      <a:r>
                        <a:rPr lang="en-US" sz="1400" dirty="0">
                          <a:solidFill>
                            <a:srgbClr val="4B5363"/>
                          </a:solidFill>
                          <a:latin typeface="Arial" pitchFamily="34" charset="0"/>
                          <a:ea typeface="Arial" pitchFamily="34" charset="-122"/>
                          <a:cs typeface="Arial" pitchFamily="34" charset="-120"/>
                        </a:rPr>
                        <a:t>4.3</a:t>
                      </a:r>
                      <a:endParaRPr lang="en-US" sz="1400" dirty="0">
                        <a:latin typeface="Arial" charset="0"/>
                        <a:ea typeface="Arial" charset="0"/>
                        <a:cs typeface="Arial" charset="0"/>
                      </a:endParaRPr>
                    </a:p>
                  </a:txBody>
                  <a:tcPr marL="91440" marR="91440" marT="45720" marB="45720" anchor="ctr">
                    <a:lnL w="12700" cap="flat" cmpd="sng" algn="ctr">
                      <a:solidFill>
                        <a:srgbClr val="E7E1D7"/>
                      </a:solidFill>
                      <a:prstDash val="solid"/>
                      <a:round/>
                      <a:headEnd type="none" w="med" len="med"/>
                      <a:tailEnd type="none" w="med" len="med"/>
                    </a:lnL>
                    <a:lnR w="12700" cap="flat" cmpd="sng" algn="ctr">
                      <a:solidFill>
                        <a:srgbClr val="E7E1D7"/>
                      </a:solidFill>
                      <a:prstDash val="solid"/>
                      <a:round/>
                      <a:headEnd type="none" w="med" len="med"/>
                      <a:tailEnd type="none" w="med" len="med"/>
                    </a:lnR>
                    <a:lnT w="12700" cap="flat" cmpd="sng" algn="ctr">
                      <a:solidFill>
                        <a:srgbClr val="E7E1D7"/>
                      </a:solidFill>
                      <a:prstDash val="solid"/>
                      <a:round/>
                      <a:headEnd type="none" w="med" len="med"/>
                      <a:tailEnd type="none" w="med" len="med"/>
                    </a:lnT>
                    <a:lnB w="12700" cap="flat" cmpd="sng" algn="ctr">
                      <a:solidFill>
                        <a:srgbClr val="E7E1D7"/>
                      </a:solidFill>
                      <a:prstDash val="solid"/>
                      <a:round/>
                      <a:headEnd type="none" w="med" len="med"/>
                      <a:tailEnd type="none" w="med" len="med"/>
                    </a:lnB>
                  </a:tcPr>
                </a:tc>
              </a:tr>
            </a:tbl>
          </a:graphicData>
        </a:graphic>
      </p:graphicFrame>
      <p:sp>
        <p:nvSpPr>
          <p:cNvPr id="33" name="Text 30"/>
          <p:cNvSpPr txBox="1"/>
          <p:nvPr/>
        </p:nvSpPr>
        <p:spPr>
          <a:xfrm>
            <a:off x="6148160" y="5650992"/>
            <a:ext cx="5476607" cy="548640"/>
          </a:xfrm>
          <a:prstGeom prst="rect">
            <a:avLst/>
          </a:prstGeom>
          <a:noFill/>
          <a:ln/>
        </p:spPr>
        <p:txBody>
          <a:bodyPr wrap="square" lIns="0" tIns="0" rIns="0" bIns="0" rtlCol="0" anchor="t"/>
          <a:lstStyle/>
          <a:p>
            <a:pPr indent="0" marL="0">
              <a:lnSpc>
                <a:spcPts val="1900"/>
              </a:lnSpc>
              <a:buNone/>
            </a:pPr>
            <a:r>
              <a:rPr lang="en-US" sz="1450" b="1" dirty="0">
                <a:solidFill>
                  <a:srgbClr val="222834"/>
                </a:solidFill>
                <a:latin typeface="Arial" pitchFamily="34" charset="0"/>
                <a:ea typeface="Arial" pitchFamily="34" charset="-122"/>
                <a:cs typeface="Arial" pitchFamily="34" charset="-120"/>
              </a:rPr>
              <a:t>Even at a 35% comparator the expected case clears 4.3. It is the floor that moves.</a:t>
            </a:r>
            <a:endParaRPr lang="en-US" sz="1450" dirty="0"/>
          </a:p>
        </p:txBody>
      </p:sp>
      <p:sp>
        <p:nvSpPr>
          <p:cNvPr id="34" name="Text 31"/>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APPENDIX</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Every number, and where it came from.</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Anything marked as a planning assumption has not been measured and should be challenged.</a:t>
            </a:r>
            <a:endParaRPr lang="en-US" sz="1600" dirty="0"/>
          </a:p>
        </p:txBody>
      </p:sp>
      <p:sp>
        <p:nvSpPr>
          <p:cNvPr id="6" name="Shape 4"/>
          <p:cNvSpPr/>
          <p:nvPr/>
        </p:nvSpPr>
        <p:spPr>
          <a:xfrm>
            <a:off x="566928" y="1828800"/>
            <a:ext cx="5373472" cy="4261104"/>
          </a:xfrm>
          <a:prstGeom prst="roundRect">
            <a:avLst>
              <a:gd name="adj" fmla="val 858"/>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7" name="Shape 5"/>
          <p:cNvSpPr/>
          <p:nvPr/>
        </p:nvSpPr>
        <p:spPr>
          <a:xfrm>
            <a:off x="566928" y="1828800"/>
            <a:ext cx="5373472" cy="68580"/>
          </a:xfrm>
          <a:prstGeom prst="rect">
            <a:avLst/>
          </a:prstGeom>
          <a:solidFill>
            <a:srgbClr val="C00000"/>
          </a:solidFill>
          <a:ln w="12700">
            <a:solidFill>
              <a:srgbClr val="333333"/>
            </a:solidFill>
            <a:prstDash val="solid"/>
          </a:ln>
        </p:spPr>
      </p:sp>
      <p:sp>
        <p:nvSpPr>
          <p:cNvPr id="8" name="Text 6"/>
          <p:cNvSpPr txBox="1"/>
          <p:nvPr/>
        </p:nvSpPr>
        <p:spPr>
          <a:xfrm>
            <a:off x="841248" y="2029968"/>
            <a:ext cx="4824832" cy="237744"/>
          </a:xfrm>
          <a:prstGeom prst="rect">
            <a:avLst/>
          </a:prstGeom>
          <a:noFill/>
          <a:ln/>
        </p:spPr>
        <p:txBody>
          <a:bodyPr wrap="square" lIns="0" tIns="0" rIns="0" bIns="0" rtlCol="0" anchor="ctr"/>
          <a:lstStyle/>
          <a:p>
            <a:pPr indent="0" marL="0">
              <a:buNone/>
            </a:pPr>
            <a:r>
              <a:rPr lang="en-US" sz="1400" b="1" spc="140" kern="0" dirty="0">
                <a:solidFill>
                  <a:srgbClr val="C00000"/>
                </a:solidFill>
                <a:latin typeface="Arial" pitchFamily="34" charset="0"/>
                <a:ea typeface="Arial" pitchFamily="34" charset="-122"/>
                <a:cs typeface="Arial" pitchFamily="34" charset="-120"/>
              </a:rPr>
              <a:t>MEASURED — HOME CREDIT DATA</a:t>
            </a:r>
            <a:endParaRPr lang="en-US" sz="1400" dirty="0"/>
          </a:p>
        </p:txBody>
      </p:sp>
      <p:sp>
        <p:nvSpPr>
          <p:cNvPr id="9" name="Text 7"/>
          <p:cNvSpPr txBox="1"/>
          <p:nvPr/>
        </p:nvSpPr>
        <p:spPr>
          <a:xfrm>
            <a:off x="841248" y="2359152"/>
            <a:ext cx="4824832" cy="3602736"/>
          </a:xfrm>
          <a:prstGeom prst="rect">
            <a:avLst/>
          </a:prstGeom>
          <a:noFill/>
          <a:ln/>
        </p:spPr>
        <p:txBody>
          <a:bodyPr wrap="square" lIns="0" tIns="0" rIns="0" bIns="0" rtlCol="0" anchor="t"/>
          <a:lstStyle/>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Internal job posting, 2024–2026: 1,008 vacancies, 463 internal applicants, 170 accepted. Internal fill rate 17%.</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2025 turned-down cohort: 67 applicants, 38 still employed as of September 2026 — 43% of the cohort has left.</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TA cost per hire, 2025: ₱5,140 band M, ₱6,977 band B, ₱35,367 band C. HR/TA cost per hire ₱3,378, incurred on internal fills too.</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2025 external hires: 186 band B, 103 band C.</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Payroll average monthly basic, September 2026: ₱15,144 band M, ₱36,334 band B, ₱92,821 band C.</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Build: ₱1,785,500, costed by IT in man-hours, excluding AI.</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HRIS headcount: 1,113 in the pilot scope.</a:t>
            </a:r>
            <a:endParaRPr lang="en-US" sz="1400" dirty="0"/>
          </a:p>
        </p:txBody>
      </p:sp>
      <p:sp>
        <p:nvSpPr>
          <p:cNvPr id="10" name="Shape 8"/>
          <p:cNvSpPr/>
          <p:nvPr/>
        </p:nvSpPr>
        <p:spPr>
          <a:xfrm>
            <a:off x="6251296" y="1828800"/>
            <a:ext cx="5373472" cy="4261104"/>
          </a:xfrm>
          <a:prstGeom prst="roundRect">
            <a:avLst>
              <a:gd name="adj" fmla="val 858"/>
            </a:avLst>
          </a:prstGeom>
          <a:solidFill>
            <a:srgbClr val="FFFFFF"/>
          </a:solidFill>
          <a:ln w="12700">
            <a:solidFill>
              <a:srgbClr val="E7E1D7"/>
            </a:solidFill>
            <a:prstDash val="solid"/>
          </a:ln>
          <a:effectLst>
            <a:outerShdw sx="100000" sy="100000" kx="0" ky="0" algn="bl" rotWithShape="0" blurRad="152400" dist="25400" dir="5400000">
              <a:srgbClr val="8A7A62">
                <a:alpha val="11000"/>
              </a:srgbClr>
            </a:outerShdw>
          </a:effectLst>
        </p:spPr>
      </p:sp>
      <p:sp>
        <p:nvSpPr>
          <p:cNvPr id="11" name="Shape 9"/>
          <p:cNvSpPr/>
          <p:nvPr/>
        </p:nvSpPr>
        <p:spPr>
          <a:xfrm>
            <a:off x="6251296" y="1828800"/>
            <a:ext cx="5373472" cy="68580"/>
          </a:xfrm>
          <a:prstGeom prst="rect">
            <a:avLst/>
          </a:prstGeom>
          <a:solidFill>
            <a:srgbClr val="9E6B12"/>
          </a:solidFill>
          <a:ln w="12700">
            <a:solidFill>
              <a:srgbClr val="333333"/>
            </a:solidFill>
            <a:prstDash val="solid"/>
          </a:ln>
        </p:spPr>
      </p:sp>
      <p:sp>
        <p:nvSpPr>
          <p:cNvPr id="12" name="Text 10"/>
          <p:cNvSpPr txBox="1"/>
          <p:nvPr/>
        </p:nvSpPr>
        <p:spPr>
          <a:xfrm>
            <a:off x="6525616" y="2029968"/>
            <a:ext cx="4824832" cy="237744"/>
          </a:xfrm>
          <a:prstGeom prst="rect">
            <a:avLst/>
          </a:prstGeom>
          <a:noFill/>
          <a:ln/>
        </p:spPr>
        <p:txBody>
          <a:bodyPr wrap="square" lIns="0" tIns="0" rIns="0" bIns="0" rtlCol="0" anchor="ctr"/>
          <a:lstStyle/>
          <a:p>
            <a:pPr indent="0" marL="0">
              <a:buNone/>
            </a:pPr>
            <a:r>
              <a:rPr lang="en-US" sz="1400" b="1" spc="140" kern="0" dirty="0">
                <a:solidFill>
                  <a:srgbClr val="9E6B12"/>
                </a:solidFill>
                <a:latin typeface="Arial" pitchFamily="34" charset="0"/>
                <a:ea typeface="Arial" pitchFamily="34" charset="-122"/>
                <a:cs typeface="Arial" pitchFamily="34" charset="-120"/>
              </a:rPr>
              <a:t>MODELLED — AND HOW HARD</a:t>
            </a:r>
            <a:endParaRPr lang="en-US" sz="1400" dirty="0"/>
          </a:p>
        </p:txBody>
      </p:sp>
      <p:sp>
        <p:nvSpPr>
          <p:cNvPr id="13" name="Text 11"/>
          <p:cNvSpPr txBox="1"/>
          <p:nvPr/>
        </p:nvSpPr>
        <p:spPr>
          <a:xfrm>
            <a:off x="6525616" y="2359152"/>
            <a:ext cx="4824832" cy="3602736"/>
          </a:xfrm>
          <a:prstGeom prst="rect">
            <a:avLst/>
          </a:prstGeom>
          <a:noFill/>
          <a:ln/>
        </p:spPr>
        <p:txBody>
          <a:bodyPr wrap="square" lIns="0" tIns="0" rIns="0" bIns="0" rtlCol="0" anchor="t"/>
          <a:lstStyle/>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Salaries annualised ×12, basic only — 13th month and contributions excluded.</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Replacement at 75% of annual basic = ₱508,194 blended band B/C.</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Comparator attrition NOT confirmed. The 19% in earlier drafts is withdrawn. Modelled at 15 points.</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Days to fill: 58 external, 21 internal. Backfill assumed one band down and hired externally.</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336 vacancies a year company-wide; 60 internal requisitions a year in the pilot (BRD).</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Shelf retention: 174 participants a year at a 3-point lift, cut from 13 observed in v1.</a:t>
            </a:r>
            <a:endParaRPr lang="en-US" sz="1400" dirty="0"/>
          </a:p>
          <a:p>
            <a:pPr marL="342900" indent="-342900">
              <a:lnSpc>
                <a:spcPts val="1800"/>
              </a:lnSpc>
              <a:spcAft>
                <a:spcPts val="500"/>
              </a:spcAft>
              <a:buSzPct val="100000"/>
              <a:buChar char="•"/>
            </a:pPr>
            <a:r>
              <a:rPr lang="en-US" sz="1400" dirty="0">
                <a:solidFill>
                  <a:srgbClr val="4B5363"/>
                </a:solidFill>
                <a:latin typeface="Arial" pitchFamily="34" charset="0"/>
                <a:ea typeface="Arial" pitchFamily="34" charset="-122"/>
                <a:cs typeface="Arial" pitchFamily="34" charset="-120"/>
              </a:rPr>
              <a:t>Vendor band is an RFP planning range, not a quote. ₱61 = US$1, 10% discount.</a:t>
            </a:r>
            <a:endParaRPr lang="en-US" sz="1400" dirty="0"/>
          </a:p>
        </p:txBody>
      </p:sp>
      <p:sp>
        <p:nvSpPr>
          <p:cNvPr id="14" name="Text 12"/>
          <p:cNvSpPr txBox="1"/>
          <p:nvPr/>
        </p:nvSpPr>
        <p:spPr>
          <a:xfrm>
            <a:off x="566928" y="6345936"/>
            <a:ext cx="10417759" cy="329184"/>
          </a:xfrm>
          <a:prstGeom prst="rect">
            <a:avLst/>
          </a:prstGeom>
          <a:noFill/>
          <a:ln/>
        </p:spPr>
        <p:txBody>
          <a:bodyPr wrap="square" lIns="0" tIns="0" rIns="0" bIns="0" rtlCol="0" anchor="t"/>
          <a:lstStyle/>
          <a:p>
            <a:pPr indent="0" marL="0">
              <a:lnSpc>
                <a:spcPts val="1700"/>
              </a:lnSpc>
              <a:buNone/>
            </a:pPr>
            <a:r>
              <a:rPr lang="en-US" sz="1400" dirty="0">
                <a:solidFill>
                  <a:srgbClr val="A69E92"/>
                </a:solidFill>
                <a:latin typeface="Arial" pitchFamily="34" charset="0"/>
                <a:ea typeface="Arial" pitchFamily="34" charset="-122"/>
                <a:cs typeface="Arial" pitchFamily="34" charset="-120"/>
              </a:rPr>
              <a:t>Working model: exec-model.py · Full CBA: V2_CBA.md · Internal — do not distribute outside the organization.</a:t>
            </a:r>
            <a:endParaRPr lang="en-US" sz="1400" dirty="0"/>
          </a:p>
        </p:txBody>
      </p:sp>
      <p:sp>
        <p:nvSpPr>
          <p:cNvPr id="15" name="Text 13"/>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420624" cy="68580"/>
          </a:xfrm>
          <a:prstGeom prst="rect">
            <a:avLst/>
          </a:prstGeom>
          <a:solidFill>
            <a:srgbClr val="C00000"/>
          </a:solidFill>
          <a:ln w="12700">
            <a:solidFill>
              <a:srgbClr val="333333"/>
            </a:solidFill>
            <a:prstDash val="solid"/>
          </a:ln>
        </p:spPr>
      </p:sp>
      <p:sp>
        <p:nvSpPr>
          <p:cNvPr id="3" name="Text 1"/>
          <p:cNvSpPr txBox="1"/>
          <p:nvPr/>
        </p:nvSpPr>
        <p:spPr>
          <a:xfrm>
            <a:off x="1115568" y="338328"/>
            <a:ext cx="10509199" cy="237744"/>
          </a:xfrm>
          <a:prstGeom prst="rect">
            <a:avLst/>
          </a:prstGeom>
          <a:noFill/>
          <a:ln/>
        </p:spPr>
        <p:txBody>
          <a:bodyPr wrap="square" lIns="0" tIns="0" rIns="0" bIns="0" rtlCol="0" anchor="ctr"/>
          <a:lstStyle/>
          <a:p>
            <a:pPr indent="0" marL="0">
              <a:buNone/>
            </a:pPr>
            <a:r>
              <a:rPr lang="en-US" sz="1400" b="1" spc="240" kern="0" dirty="0">
                <a:solidFill>
                  <a:srgbClr val="C00000"/>
                </a:solidFill>
                <a:latin typeface="Arial" pitchFamily="34" charset="0"/>
                <a:ea typeface="Arial" pitchFamily="34" charset="-122"/>
                <a:cs typeface="Arial" pitchFamily="34" charset="-120"/>
              </a:rPr>
              <a:t>APPENDIX</a:t>
            </a:r>
            <a:endParaRPr lang="en-US" sz="1400" dirty="0"/>
          </a:p>
        </p:txBody>
      </p:sp>
      <p:sp>
        <p:nvSpPr>
          <p:cNvPr id="4" name="Text 2"/>
          <p:cNvSpPr txBox="1"/>
          <p:nvPr/>
        </p:nvSpPr>
        <p:spPr>
          <a:xfrm>
            <a:off x="566928" y="694944"/>
            <a:ext cx="11057839" cy="566928"/>
          </a:xfrm>
          <a:prstGeom prst="rect">
            <a:avLst/>
          </a:prstGeom>
          <a:noFill/>
          <a:ln/>
        </p:spPr>
        <p:txBody>
          <a:bodyPr wrap="square" lIns="0" tIns="0" rIns="0" bIns="0" rtlCol="0" anchor="t"/>
          <a:lstStyle/>
          <a:p>
            <a:pPr indent="0" marL="0">
              <a:buNone/>
            </a:pPr>
            <a:r>
              <a:rPr lang="en-US" sz="3300" b="1" dirty="0">
                <a:solidFill>
                  <a:srgbClr val="222834"/>
                </a:solidFill>
                <a:latin typeface="Arial" pitchFamily="34" charset="0"/>
                <a:ea typeface="Arial" pitchFamily="34" charset="-122"/>
                <a:cs typeface="Arial" pitchFamily="34" charset="-120"/>
              </a:rPr>
              <a:t>What could go wrong, and what we have done about it.</a:t>
            </a:r>
            <a:endParaRPr lang="en-US" sz="3300" dirty="0"/>
          </a:p>
        </p:txBody>
      </p:sp>
      <p:sp>
        <p:nvSpPr>
          <p:cNvPr id="5" name="Text 3"/>
          <p:cNvSpPr txBox="1"/>
          <p:nvPr/>
        </p:nvSpPr>
        <p:spPr>
          <a:xfrm>
            <a:off x="566928" y="1298448"/>
            <a:ext cx="9509742" cy="310896"/>
          </a:xfrm>
          <a:prstGeom prst="rect">
            <a:avLst/>
          </a:prstGeom>
          <a:noFill/>
          <a:ln/>
        </p:spPr>
        <p:txBody>
          <a:bodyPr wrap="square" lIns="0" tIns="0" rIns="0" bIns="0" rtlCol="0" anchor="t"/>
          <a:lstStyle/>
          <a:p>
            <a:pPr indent="0" marL="0">
              <a:buNone/>
            </a:pPr>
            <a:r>
              <a:rPr lang="en-US" sz="1600" dirty="0">
                <a:solidFill>
                  <a:srgbClr val="858D9B"/>
                </a:solidFill>
                <a:latin typeface="Arial" pitchFamily="34" charset="0"/>
                <a:ea typeface="Arial" pitchFamily="34" charset="-122"/>
                <a:cs typeface="Arial" pitchFamily="34" charset="-120"/>
              </a:rPr>
              <a:t>The two gates are free — both are decisions, not budget.</a:t>
            </a:r>
            <a:endParaRPr lang="en-US" sz="1600" dirty="0"/>
          </a:p>
        </p:txBody>
      </p:sp>
      <p:sp>
        <p:nvSpPr>
          <p:cNvPr id="6" name="Text 4"/>
          <p:cNvSpPr txBox="1"/>
          <p:nvPr/>
        </p:nvSpPr>
        <p:spPr>
          <a:xfrm>
            <a:off x="585216" y="1975104"/>
            <a:ext cx="3017520" cy="219456"/>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RISK</a:t>
            </a:r>
            <a:endParaRPr lang="en-US" sz="1400" dirty="0"/>
          </a:p>
        </p:txBody>
      </p:sp>
      <p:sp>
        <p:nvSpPr>
          <p:cNvPr id="7" name="Text 5"/>
          <p:cNvSpPr txBox="1"/>
          <p:nvPr/>
        </p:nvSpPr>
        <p:spPr>
          <a:xfrm>
            <a:off x="4480560" y="1975104"/>
            <a:ext cx="3017520" cy="219456"/>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IMPACT</a:t>
            </a:r>
            <a:endParaRPr lang="en-US" sz="1400" dirty="0"/>
          </a:p>
        </p:txBody>
      </p:sp>
      <p:sp>
        <p:nvSpPr>
          <p:cNvPr id="8" name="Text 6"/>
          <p:cNvSpPr txBox="1"/>
          <p:nvPr/>
        </p:nvSpPr>
        <p:spPr>
          <a:xfrm>
            <a:off x="7863840" y="1975104"/>
            <a:ext cx="3657600" cy="219456"/>
          </a:xfrm>
          <a:prstGeom prst="rect">
            <a:avLst/>
          </a:prstGeom>
          <a:noFill/>
          <a:ln/>
        </p:spPr>
        <p:txBody>
          <a:bodyPr wrap="square" lIns="0" tIns="0" rIns="0" bIns="0" rtlCol="0" anchor="ctr"/>
          <a:lstStyle/>
          <a:p>
            <a:pPr indent="0" marL="0">
              <a:buNone/>
            </a:pPr>
            <a:r>
              <a:rPr lang="en-US" sz="1400" b="1" spc="140" kern="0" dirty="0">
                <a:solidFill>
                  <a:srgbClr val="858D9B"/>
                </a:solidFill>
                <a:latin typeface="Arial" pitchFamily="34" charset="0"/>
                <a:ea typeface="Arial" pitchFamily="34" charset="-122"/>
                <a:cs typeface="Arial" pitchFamily="34" charset="-120"/>
              </a:rPr>
              <a:t>WHAT WE HAVE DONE</a:t>
            </a:r>
            <a:endParaRPr lang="en-US" sz="1400" dirty="0"/>
          </a:p>
        </p:txBody>
      </p:sp>
      <p:sp>
        <p:nvSpPr>
          <p:cNvPr id="9" name="Shape 7"/>
          <p:cNvSpPr/>
          <p:nvPr/>
        </p:nvSpPr>
        <p:spPr>
          <a:xfrm>
            <a:off x="566928" y="2487168"/>
            <a:ext cx="676656" cy="274320"/>
          </a:xfrm>
          <a:prstGeom prst="roundRect">
            <a:avLst>
              <a:gd name="adj" fmla="val 50000"/>
            </a:avLst>
          </a:prstGeom>
          <a:solidFill>
            <a:srgbClr val="FDF0F0"/>
          </a:solidFill>
          <a:ln w="12700">
            <a:solidFill>
              <a:srgbClr val="333333"/>
            </a:solidFill>
            <a:prstDash val="solid"/>
          </a:ln>
        </p:spPr>
      </p:sp>
      <p:sp>
        <p:nvSpPr>
          <p:cNvPr id="10" name="Text 8"/>
          <p:cNvSpPr txBox="1"/>
          <p:nvPr/>
        </p:nvSpPr>
        <p:spPr>
          <a:xfrm>
            <a:off x="566928" y="2487168"/>
            <a:ext cx="676656" cy="274320"/>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GATE</a:t>
            </a:r>
            <a:endParaRPr lang="en-US" sz="1400" dirty="0"/>
          </a:p>
        </p:txBody>
      </p:sp>
      <p:sp>
        <p:nvSpPr>
          <p:cNvPr id="11" name="Text 9"/>
          <p:cNvSpPr txBox="1"/>
          <p:nvPr/>
        </p:nvSpPr>
        <p:spPr>
          <a:xfrm>
            <a:off x="1371600" y="2304288"/>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222834"/>
                </a:solidFill>
                <a:latin typeface="Arial" pitchFamily="34" charset="0"/>
                <a:ea typeface="Arial" pitchFamily="34" charset="-122"/>
                <a:cs typeface="Arial" pitchFamily="34" charset="-120"/>
              </a:rPr>
              <a:t>Managers do not post</a:t>
            </a:r>
            <a:endParaRPr lang="en-US" sz="1550" dirty="0"/>
          </a:p>
        </p:txBody>
      </p:sp>
      <p:sp>
        <p:nvSpPr>
          <p:cNvPr id="12" name="Text 10"/>
          <p:cNvSpPr txBox="1"/>
          <p:nvPr/>
        </p:nvSpPr>
        <p:spPr>
          <a:xfrm>
            <a:off x="4480560" y="2304288"/>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Empty shelves, and the marketplace dies in week one.</a:t>
            </a:r>
            <a:endParaRPr lang="en-US" sz="1450" dirty="0"/>
          </a:p>
        </p:txBody>
      </p:sp>
      <p:sp>
        <p:nvSpPr>
          <p:cNvPr id="13" name="Text 11"/>
          <p:cNvSpPr txBox="1"/>
          <p:nvPr/>
        </p:nvSpPr>
        <p:spPr>
          <a:xfrm>
            <a:off x="7863840" y="2304288"/>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Twenty-five opportunities committed before launch. Six named champions. "Talent Exporter" recognition to ExCo.</a:t>
            </a:r>
            <a:endParaRPr lang="en-US" sz="1450" dirty="0"/>
          </a:p>
        </p:txBody>
      </p:sp>
      <p:sp>
        <p:nvSpPr>
          <p:cNvPr id="14" name="Shape 12"/>
          <p:cNvSpPr/>
          <p:nvPr/>
        </p:nvSpPr>
        <p:spPr>
          <a:xfrm>
            <a:off x="566928" y="3017520"/>
            <a:ext cx="11057839" cy="0"/>
          </a:xfrm>
          <a:prstGeom prst="line">
            <a:avLst/>
          </a:prstGeom>
          <a:noFill/>
          <a:ln w="12700">
            <a:solidFill>
              <a:srgbClr val="E7E1D7"/>
            </a:solidFill>
            <a:prstDash val="solid"/>
          </a:ln>
        </p:spPr>
      </p:sp>
      <p:sp>
        <p:nvSpPr>
          <p:cNvPr id="15" name="Shape 13"/>
          <p:cNvSpPr/>
          <p:nvPr/>
        </p:nvSpPr>
        <p:spPr>
          <a:xfrm>
            <a:off x="566928" y="3273552"/>
            <a:ext cx="676656" cy="274320"/>
          </a:xfrm>
          <a:prstGeom prst="roundRect">
            <a:avLst>
              <a:gd name="adj" fmla="val 50000"/>
            </a:avLst>
          </a:prstGeom>
          <a:solidFill>
            <a:srgbClr val="FDF0F0"/>
          </a:solidFill>
          <a:ln w="12700">
            <a:solidFill>
              <a:srgbClr val="333333"/>
            </a:solidFill>
            <a:prstDash val="solid"/>
          </a:ln>
        </p:spPr>
      </p:sp>
      <p:sp>
        <p:nvSpPr>
          <p:cNvPr id="16" name="Text 14"/>
          <p:cNvSpPr txBox="1"/>
          <p:nvPr/>
        </p:nvSpPr>
        <p:spPr>
          <a:xfrm>
            <a:off x="566928" y="3273552"/>
            <a:ext cx="676656" cy="274320"/>
          </a:xfrm>
          <a:prstGeom prst="rect">
            <a:avLst/>
          </a:prstGeom>
          <a:noFill/>
          <a:ln/>
        </p:spPr>
        <p:txBody>
          <a:bodyPr wrap="square" lIns="0" tIns="0" rIns="0" bIns="0" rtlCol="0" anchor="ctr"/>
          <a:lstStyle/>
          <a:p>
            <a:pPr algn="ctr" indent="0" marL="0">
              <a:buNone/>
            </a:pPr>
            <a:r>
              <a:rPr lang="en-US" sz="1400" b="1" dirty="0">
                <a:solidFill>
                  <a:srgbClr val="C00000"/>
                </a:solidFill>
                <a:latin typeface="Arial" pitchFamily="34" charset="0"/>
                <a:ea typeface="Arial" pitchFamily="34" charset="-122"/>
                <a:cs typeface="Arial" pitchFamily="34" charset="-120"/>
              </a:rPr>
              <a:t>GATE</a:t>
            </a:r>
            <a:endParaRPr lang="en-US" sz="1400" dirty="0"/>
          </a:p>
        </p:txBody>
      </p:sp>
      <p:sp>
        <p:nvSpPr>
          <p:cNvPr id="17" name="Text 15"/>
          <p:cNvSpPr txBox="1"/>
          <p:nvPr/>
        </p:nvSpPr>
        <p:spPr>
          <a:xfrm>
            <a:off x="1371600" y="3090672"/>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222834"/>
                </a:solidFill>
                <a:latin typeface="Arial" pitchFamily="34" charset="0"/>
                <a:ea typeface="Arial" pitchFamily="34" charset="-122"/>
                <a:cs typeface="Arial" pitchFamily="34" charset="-120"/>
              </a:rPr>
              <a:t>Recruitment declines the source field</a:t>
            </a:r>
            <a:endParaRPr lang="en-US" sz="1550" dirty="0"/>
          </a:p>
        </p:txBody>
      </p:sp>
      <p:sp>
        <p:nvSpPr>
          <p:cNvPr id="18" name="Text 16"/>
          <p:cNvSpPr txBox="1"/>
          <p:nvPr/>
        </p:nvSpPr>
        <p:spPr>
          <a:xfrm>
            <a:off x="4480560" y="3090672"/>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No attributed hire can be proved. We come back in a year with anecdotes.</a:t>
            </a:r>
            <a:endParaRPr lang="en-US" sz="1450" dirty="0"/>
          </a:p>
        </p:txBody>
      </p:sp>
      <p:sp>
        <p:nvSpPr>
          <p:cNvPr id="19" name="Text 17"/>
          <p:cNvSpPr txBox="1"/>
          <p:nvPr/>
        </p:nvSpPr>
        <p:spPr>
          <a:xfrm>
            <a:off x="7863840" y="3090672"/>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Secure it before the build starts. It is a form configuration, not an integration.</a:t>
            </a:r>
            <a:endParaRPr lang="en-US" sz="1450" dirty="0"/>
          </a:p>
        </p:txBody>
      </p:sp>
      <p:sp>
        <p:nvSpPr>
          <p:cNvPr id="20" name="Shape 18"/>
          <p:cNvSpPr/>
          <p:nvPr/>
        </p:nvSpPr>
        <p:spPr>
          <a:xfrm>
            <a:off x="566928" y="3803904"/>
            <a:ext cx="11057839" cy="0"/>
          </a:xfrm>
          <a:prstGeom prst="line">
            <a:avLst/>
          </a:prstGeom>
          <a:noFill/>
          <a:ln w="12700">
            <a:solidFill>
              <a:srgbClr val="E7E1D7"/>
            </a:solidFill>
            <a:prstDash val="solid"/>
          </a:ln>
        </p:spPr>
      </p:sp>
      <p:sp>
        <p:nvSpPr>
          <p:cNvPr id="21" name="Shape 19"/>
          <p:cNvSpPr/>
          <p:nvPr/>
        </p:nvSpPr>
        <p:spPr>
          <a:xfrm>
            <a:off x="566928" y="4059936"/>
            <a:ext cx="676656" cy="274320"/>
          </a:xfrm>
          <a:prstGeom prst="roundRect">
            <a:avLst>
              <a:gd name="adj" fmla="val 50000"/>
            </a:avLst>
          </a:prstGeom>
          <a:solidFill>
            <a:srgbClr val="FBF2E0"/>
          </a:solidFill>
          <a:ln w="12700">
            <a:solidFill>
              <a:srgbClr val="333333"/>
            </a:solidFill>
            <a:prstDash val="solid"/>
          </a:ln>
        </p:spPr>
      </p:sp>
      <p:sp>
        <p:nvSpPr>
          <p:cNvPr id="22" name="Text 20"/>
          <p:cNvSpPr txBox="1"/>
          <p:nvPr/>
        </p:nvSpPr>
        <p:spPr>
          <a:xfrm>
            <a:off x="566928" y="4059936"/>
            <a:ext cx="676656" cy="274320"/>
          </a:xfrm>
          <a:prstGeom prst="rect">
            <a:avLst/>
          </a:prstGeom>
          <a:noFill/>
          <a:ln/>
        </p:spPr>
        <p:txBody>
          <a:bodyPr wrap="square" lIns="0" tIns="0" rIns="0" bIns="0" rtlCol="0" anchor="ctr"/>
          <a:lstStyle/>
          <a:p>
            <a:pPr algn="ctr" indent="0" marL="0">
              <a:buNone/>
            </a:pPr>
            <a:r>
              <a:rPr lang="en-US" sz="1400" b="1" dirty="0">
                <a:solidFill>
                  <a:srgbClr val="9E6B12"/>
                </a:solidFill>
                <a:latin typeface="Arial" pitchFamily="34" charset="0"/>
                <a:ea typeface="Arial" pitchFamily="34" charset="-122"/>
                <a:cs typeface="Arial" pitchFamily="34" charset="-120"/>
              </a:rPr>
              <a:t>HIGH</a:t>
            </a:r>
            <a:endParaRPr lang="en-US" sz="1400" dirty="0"/>
          </a:p>
        </p:txBody>
      </p:sp>
      <p:sp>
        <p:nvSpPr>
          <p:cNvPr id="23" name="Text 21"/>
          <p:cNvSpPr txBox="1"/>
          <p:nvPr/>
        </p:nvSpPr>
        <p:spPr>
          <a:xfrm>
            <a:off x="1371600" y="3877056"/>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222834"/>
                </a:solidFill>
                <a:latin typeface="Arial" pitchFamily="34" charset="0"/>
                <a:ea typeface="Arial" pitchFamily="34" charset="-122"/>
                <a:cs typeface="Arial" pitchFamily="34" charset="-120"/>
              </a:rPr>
              <a:t>Employees arrive to an empty profile</a:t>
            </a:r>
            <a:endParaRPr lang="en-US" sz="1550" dirty="0"/>
          </a:p>
        </p:txBody>
      </p:sp>
      <p:sp>
        <p:nvSpPr>
          <p:cNvPr id="24" name="Text 22"/>
          <p:cNvSpPr txBox="1"/>
          <p:nvPr/>
        </p:nvSpPr>
        <p:spPr>
          <a:xfrm>
            <a:off x="4480560" y="3877056"/>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No skills on file means no matches, an empty board, and no second visit.</a:t>
            </a:r>
            <a:endParaRPr lang="en-US" sz="1450" dirty="0"/>
          </a:p>
        </p:txBody>
      </p:sp>
      <p:sp>
        <p:nvSpPr>
          <p:cNvPr id="25" name="Text 23"/>
          <p:cNvSpPr txBox="1"/>
          <p:nvPr/>
        </p:nvSpPr>
        <p:spPr>
          <a:xfrm>
            <a:off x="7863840" y="3877056"/>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Pre-load from MyDevelopment and LinkedIn. Correcting a draft beats authoring one.</a:t>
            </a:r>
            <a:endParaRPr lang="en-US" sz="1450" dirty="0"/>
          </a:p>
        </p:txBody>
      </p:sp>
      <p:sp>
        <p:nvSpPr>
          <p:cNvPr id="26" name="Shape 24"/>
          <p:cNvSpPr/>
          <p:nvPr/>
        </p:nvSpPr>
        <p:spPr>
          <a:xfrm>
            <a:off x="566928" y="4590288"/>
            <a:ext cx="11057839" cy="0"/>
          </a:xfrm>
          <a:prstGeom prst="line">
            <a:avLst/>
          </a:prstGeom>
          <a:noFill/>
          <a:ln w="12700">
            <a:solidFill>
              <a:srgbClr val="E7E1D7"/>
            </a:solidFill>
            <a:prstDash val="solid"/>
          </a:ln>
        </p:spPr>
      </p:sp>
      <p:sp>
        <p:nvSpPr>
          <p:cNvPr id="27" name="Shape 25"/>
          <p:cNvSpPr/>
          <p:nvPr/>
        </p:nvSpPr>
        <p:spPr>
          <a:xfrm>
            <a:off x="566928" y="4846320"/>
            <a:ext cx="676656" cy="274320"/>
          </a:xfrm>
          <a:prstGeom prst="roundRect">
            <a:avLst>
              <a:gd name="adj" fmla="val 50000"/>
            </a:avLst>
          </a:prstGeom>
          <a:solidFill>
            <a:srgbClr val="FBF2E0"/>
          </a:solidFill>
          <a:ln w="12700">
            <a:solidFill>
              <a:srgbClr val="333333"/>
            </a:solidFill>
            <a:prstDash val="solid"/>
          </a:ln>
        </p:spPr>
      </p:sp>
      <p:sp>
        <p:nvSpPr>
          <p:cNvPr id="28" name="Text 26"/>
          <p:cNvSpPr txBox="1"/>
          <p:nvPr/>
        </p:nvSpPr>
        <p:spPr>
          <a:xfrm>
            <a:off x="566928" y="4846320"/>
            <a:ext cx="676656" cy="274320"/>
          </a:xfrm>
          <a:prstGeom prst="rect">
            <a:avLst/>
          </a:prstGeom>
          <a:noFill/>
          <a:ln/>
        </p:spPr>
        <p:txBody>
          <a:bodyPr wrap="square" lIns="0" tIns="0" rIns="0" bIns="0" rtlCol="0" anchor="ctr"/>
          <a:lstStyle/>
          <a:p>
            <a:pPr algn="ctr" indent="0" marL="0">
              <a:buNone/>
            </a:pPr>
            <a:r>
              <a:rPr lang="en-US" sz="1400" b="1" dirty="0">
                <a:solidFill>
                  <a:srgbClr val="9E6B12"/>
                </a:solidFill>
                <a:latin typeface="Arial" pitchFamily="34" charset="0"/>
                <a:ea typeface="Arial" pitchFamily="34" charset="-122"/>
                <a:cs typeface="Arial" pitchFamily="34" charset="-120"/>
              </a:rPr>
              <a:t>HIGH</a:t>
            </a:r>
            <a:endParaRPr lang="en-US" sz="1400" dirty="0"/>
          </a:p>
        </p:txBody>
      </p:sp>
      <p:sp>
        <p:nvSpPr>
          <p:cNvPr id="29" name="Text 27"/>
          <p:cNvSpPr txBox="1"/>
          <p:nvPr/>
        </p:nvSpPr>
        <p:spPr>
          <a:xfrm>
            <a:off x="1371600" y="4663440"/>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222834"/>
                </a:solidFill>
                <a:latin typeface="Arial" pitchFamily="34" charset="0"/>
                <a:ea typeface="Arial" pitchFamily="34" charset="-122"/>
                <a:cs typeface="Arial" pitchFamily="34" charset="-120"/>
              </a:rPr>
              <a:t>The retention lift is smaller than modelled</a:t>
            </a:r>
            <a:endParaRPr lang="en-US" sz="1550" dirty="0"/>
          </a:p>
        </p:txBody>
      </p:sp>
      <p:sp>
        <p:nvSpPr>
          <p:cNvPr id="30" name="Text 28"/>
          <p:cNvSpPr txBox="1"/>
          <p:nvPr/>
        </p:nvSpPr>
        <p:spPr>
          <a:xfrm>
            <a:off x="4480560" y="4663440"/>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The benefit case thins. At zero it falls back to the measured floor.</a:t>
            </a:r>
            <a:endParaRPr lang="en-US" sz="1450" dirty="0"/>
          </a:p>
        </p:txBody>
      </p:sp>
      <p:sp>
        <p:nvSpPr>
          <p:cNvPr id="31" name="Text 29"/>
          <p:cNvSpPr txBox="1"/>
          <p:nvPr/>
        </p:nvSpPr>
        <p:spPr>
          <a:xfrm>
            <a:off x="7863840" y="4663440"/>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Already halved from what the data shows. The year-one holdout settles it either way.</a:t>
            </a:r>
            <a:endParaRPr lang="en-US" sz="1450" dirty="0"/>
          </a:p>
        </p:txBody>
      </p:sp>
      <p:sp>
        <p:nvSpPr>
          <p:cNvPr id="32" name="Shape 30"/>
          <p:cNvSpPr/>
          <p:nvPr/>
        </p:nvSpPr>
        <p:spPr>
          <a:xfrm>
            <a:off x="566928" y="5376672"/>
            <a:ext cx="11057839" cy="0"/>
          </a:xfrm>
          <a:prstGeom prst="line">
            <a:avLst/>
          </a:prstGeom>
          <a:noFill/>
          <a:ln w="12700">
            <a:solidFill>
              <a:srgbClr val="E7E1D7"/>
            </a:solidFill>
            <a:prstDash val="solid"/>
          </a:ln>
        </p:spPr>
      </p:sp>
      <p:sp>
        <p:nvSpPr>
          <p:cNvPr id="33" name="Shape 31"/>
          <p:cNvSpPr/>
          <p:nvPr/>
        </p:nvSpPr>
        <p:spPr>
          <a:xfrm>
            <a:off x="566928" y="5632704"/>
            <a:ext cx="676656" cy="274320"/>
          </a:xfrm>
          <a:prstGeom prst="roundRect">
            <a:avLst>
              <a:gd name="adj" fmla="val 50000"/>
            </a:avLst>
          </a:prstGeom>
          <a:solidFill>
            <a:srgbClr val="ECEAE5"/>
          </a:solidFill>
          <a:ln w="12700">
            <a:solidFill>
              <a:srgbClr val="333333"/>
            </a:solidFill>
            <a:prstDash val="solid"/>
          </a:ln>
        </p:spPr>
      </p:sp>
      <p:sp>
        <p:nvSpPr>
          <p:cNvPr id="34" name="Text 32"/>
          <p:cNvSpPr txBox="1"/>
          <p:nvPr/>
        </p:nvSpPr>
        <p:spPr>
          <a:xfrm>
            <a:off x="566928" y="5632704"/>
            <a:ext cx="676656" cy="274320"/>
          </a:xfrm>
          <a:prstGeom prst="rect">
            <a:avLst/>
          </a:prstGeom>
          <a:noFill/>
          <a:ln/>
        </p:spPr>
        <p:txBody>
          <a:bodyPr wrap="square" lIns="0" tIns="0" rIns="0" bIns="0" rtlCol="0" anchor="ctr"/>
          <a:lstStyle/>
          <a:p>
            <a:pPr algn="ctr" indent="0" marL="0">
              <a:buNone/>
            </a:pPr>
            <a:r>
              <a:rPr lang="en-US" sz="1400" b="1" dirty="0">
                <a:solidFill>
                  <a:srgbClr val="858D9B"/>
                </a:solidFill>
                <a:latin typeface="Arial" pitchFamily="34" charset="0"/>
                <a:ea typeface="Arial" pitchFamily="34" charset="-122"/>
                <a:cs typeface="Arial" pitchFamily="34" charset="-120"/>
              </a:rPr>
              <a:t>MED</a:t>
            </a:r>
            <a:endParaRPr lang="en-US" sz="1400" dirty="0"/>
          </a:p>
        </p:txBody>
      </p:sp>
      <p:sp>
        <p:nvSpPr>
          <p:cNvPr id="35" name="Text 33"/>
          <p:cNvSpPr txBox="1"/>
          <p:nvPr/>
        </p:nvSpPr>
        <p:spPr>
          <a:xfrm>
            <a:off x="1371600" y="5449824"/>
            <a:ext cx="2962656" cy="658368"/>
          </a:xfrm>
          <a:prstGeom prst="rect">
            <a:avLst/>
          </a:prstGeom>
          <a:noFill/>
          <a:ln/>
        </p:spPr>
        <p:txBody>
          <a:bodyPr wrap="square" lIns="0" tIns="0" rIns="0" bIns="0" rtlCol="0" anchor="ctr"/>
          <a:lstStyle/>
          <a:p>
            <a:pPr indent="0" marL="0">
              <a:lnSpc>
                <a:spcPts val="2000"/>
              </a:lnSpc>
              <a:buNone/>
            </a:pPr>
            <a:r>
              <a:rPr lang="en-US" sz="1550" b="1" dirty="0">
                <a:solidFill>
                  <a:srgbClr val="222834"/>
                </a:solidFill>
                <a:latin typeface="Arial" pitchFamily="34" charset="0"/>
                <a:ea typeface="Arial" pitchFamily="34" charset="-122"/>
                <a:cs typeface="Arial" pitchFamily="34" charset="-120"/>
              </a:rPr>
              <a:t>Build overruns</a:t>
            </a:r>
            <a:endParaRPr lang="en-US" sz="1550" dirty="0"/>
          </a:p>
        </p:txBody>
      </p:sp>
      <p:sp>
        <p:nvSpPr>
          <p:cNvPr id="36" name="Text 34"/>
          <p:cNvSpPr txBox="1"/>
          <p:nvPr/>
        </p:nvSpPr>
        <p:spPr>
          <a:xfrm>
            <a:off x="4480560" y="5449824"/>
            <a:ext cx="320040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Three-year cost rises toward ₱2.9M; ratio falls to about 3.2.</a:t>
            </a:r>
            <a:endParaRPr lang="en-US" sz="1450" dirty="0"/>
          </a:p>
        </p:txBody>
      </p:sp>
      <p:sp>
        <p:nvSpPr>
          <p:cNvPr id="37" name="Text 35"/>
          <p:cNvSpPr txBox="1"/>
          <p:nvPr/>
        </p:nvSpPr>
        <p:spPr>
          <a:xfrm>
            <a:off x="7863840" y="5449824"/>
            <a:ext cx="3703320" cy="658368"/>
          </a:xfrm>
          <a:prstGeom prst="rect">
            <a:avLst/>
          </a:prstGeom>
          <a:noFill/>
          <a:ln/>
        </p:spPr>
        <p:txBody>
          <a:bodyPr wrap="square" lIns="0" tIns="0" rIns="0" bIns="0" rtlCol="0" anchor="ctr"/>
          <a:lstStyle/>
          <a:p>
            <a:pPr indent="0" marL="0">
              <a:lnSpc>
                <a:spcPts val="1900"/>
              </a:lnSpc>
              <a:buNone/>
            </a:pPr>
            <a:r>
              <a:rPr lang="en-US" sz="1450" dirty="0">
                <a:solidFill>
                  <a:srgbClr val="4B5363"/>
                </a:solidFill>
                <a:latin typeface="Arial" pitchFamily="34" charset="0"/>
                <a:ea typeface="Arial" pitchFamily="34" charset="-122"/>
                <a:cs typeface="Arial" pitchFamily="34" charset="-120"/>
              </a:rPr>
              <a:t>Still clears, and still far under the vendor bands.</a:t>
            </a:r>
            <a:endParaRPr lang="en-US" sz="1450" dirty="0"/>
          </a:p>
        </p:txBody>
      </p:sp>
      <p:sp>
        <p:nvSpPr>
          <p:cNvPr id="38" name="Text 36"/>
          <p:cNvSpPr txBox="1"/>
          <p:nvPr/>
        </p:nvSpPr>
        <p:spPr>
          <a:xfrm>
            <a:off x="11167567" y="6382512"/>
            <a:ext cx="457200" cy="256032"/>
          </a:xfrm>
          <a:prstGeom prst="rect">
            <a:avLst/>
          </a:prstGeom>
          <a:noFill/>
          <a:ln/>
        </p:spPr>
        <p:txBody>
          <a:bodyPr wrap="square" lIns="0" tIns="0" rIns="0" bIns="0" rtlCol="0" anchor="ctr"/>
          <a:lstStyle/>
          <a:p>
            <a:pPr algn="r" indent="0" marL="0">
              <a:buNone/>
            </a:pPr>
            <a:r>
              <a:rPr lang="en-US" sz="1400" dirty="0">
                <a:solidFill>
                  <a:srgbClr val="ADA69A"/>
                </a:solidFill>
                <a:latin typeface="Arial" pitchFamily="34" charset="0"/>
                <a:ea typeface="Arial" pitchFamily="34" charset="-122"/>
                <a:cs typeface="Arial" pitchFamily="34" charset="-120"/>
              </a:rPr>
              <a:t>20</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Home Credit Philippines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Growth — a talent marketplace for Home Credit PH</dc:title>
  <dc:subject>PptxGenJS Presentation</dc:subject>
  <dc:creator>Ruffa Gayla Gonzales</dc:creator>
  <cp:lastModifiedBy>Ruffa Gayla Gonzales</cp:lastModifiedBy>
  <cp:revision>1</cp:revision>
  <dcterms:created xsi:type="dcterms:W3CDTF">2026-09-14T17:00:48Z</dcterms:created>
  <dcterms:modified xsi:type="dcterms:W3CDTF">2026-09-14T17:00:48Z</dcterms:modified>
</cp:coreProperties>
</file>